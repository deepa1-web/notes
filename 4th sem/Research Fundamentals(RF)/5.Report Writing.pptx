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0" r:id="rId4"/>
    <p:sldId id="258" r:id="rId5"/>
    <p:sldId id="259"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0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6/23/2025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6/23/2025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6/23/2025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6/23/2025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6/23/2025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6/23/2025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33400" y="1143000"/>
            <a:ext cx="7854696" cy="1752600"/>
          </a:xfrm>
        </p:spPr>
        <p:txBody>
          <a:bodyPr>
            <a:normAutofit/>
          </a:bodyPr>
          <a:lstStyle/>
          <a:p>
            <a:pPr algn="l"/>
            <a:r>
              <a:rPr lang="en-US" sz="4000" b="1" dirty="0" smtClean="0"/>
              <a:t>Unit-5 Report Writing </a:t>
            </a:r>
            <a:endParaRPr lang="en-US" sz="4000" b="1" dirty="0"/>
          </a:p>
        </p:txBody>
      </p:sp>
    </p:spTree>
    <p:extLst>
      <p:ext uri="{BB962C8B-B14F-4D97-AF65-F5344CB8AC3E}">
        <p14:creationId xmlns:p14="http://schemas.microsoft.com/office/powerpoint/2010/main" val="1352279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4389120"/>
          </a:xfrm>
        </p:spPr>
        <p:txBody>
          <a:bodyPr>
            <a:noAutofit/>
          </a:bodyPr>
          <a:lstStyle/>
          <a:p>
            <a:pPr fontAlgn="base"/>
            <a:r>
              <a:rPr lang="en-US" sz="2000" b="1" dirty="0">
                <a:solidFill>
                  <a:srgbClr val="FF0000"/>
                </a:solidFill>
              </a:rPr>
              <a:t>What is Research Report?</a:t>
            </a:r>
          </a:p>
          <a:p>
            <a:pPr fontAlgn="base"/>
            <a:r>
              <a:rPr lang="en-US" sz="2000" dirty="0"/>
              <a:t>A research report is a document that presents the findings of a research study or </a:t>
            </a:r>
            <a:r>
              <a:rPr lang="en-US" sz="2000" dirty="0" smtClean="0"/>
              <a:t>project</a:t>
            </a:r>
          </a:p>
          <a:p>
            <a:pPr fontAlgn="base"/>
            <a:r>
              <a:rPr lang="en-US" sz="2000" dirty="0" smtClean="0"/>
              <a:t>Research </a:t>
            </a:r>
            <a:r>
              <a:rPr lang="en-US" sz="2000" dirty="0"/>
              <a:t>reporting is the oral or written presentation of the findings in such detail and form as to be readily understood and assessed by the society, economy or particularly by the researchers.</a:t>
            </a:r>
          </a:p>
          <a:p>
            <a:pPr fontAlgn="base"/>
            <a:r>
              <a:rPr lang="en-US" sz="2000" dirty="0"/>
              <a:t>I</a:t>
            </a:r>
            <a:r>
              <a:rPr lang="en-US" sz="2000" dirty="0" smtClean="0"/>
              <a:t>t </a:t>
            </a:r>
            <a:r>
              <a:rPr lang="en-US" sz="2000" dirty="0"/>
              <a:t>is the final stage of the research process and its purpose is to convey to interested persons the whole result of the study. </a:t>
            </a:r>
            <a:endParaRPr lang="en-US" sz="2000" dirty="0" smtClean="0"/>
          </a:p>
          <a:p>
            <a:pPr fontAlgn="base"/>
            <a:r>
              <a:rPr lang="en-US" sz="2000" dirty="0" smtClean="0"/>
              <a:t>Report </a:t>
            </a:r>
            <a:r>
              <a:rPr lang="en-US" sz="2000" dirty="0"/>
              <a:t>writing is common to both academic and managerial situations. </a:t>
            </a:r>
            <a:endParaRPr lang="en-US" sz="2000" dirty="0" smtClean="0"/>
          </a:p>
          <a:p>
            <a:pPr fontAlgn="base"/>
            <a:r>
              <a:rPr lang="en-US" sz="2000" dirty="0" smtClean="0"/>
              <a:t>In </a:t>
            </a:r>
            <a:r>
              <a:rPr lang="en-US" sz="2000" dirty="0"/>
              <a:t>academics, a research report is prepared for comprehensive and application-oriented learning. </a:t>
            </a:r>
            <a:endParaRPr lang="en-US" sz="2000" dirty="0" smtClean="0"/>
          </a:p>
          <a:p>
            <a:pPr fontAlgn="base"/>
            <a:r>
              <a:rPr lang="en-US" sz="2000" dirty="0" smtClean="0"/>
              <a:t>In </a:t>
            </a:r>
            <a:r>
              <a:rPr lang="en-US" sz="2000" dirty="0"/>
              <a:t>businesses or </a:t>
            </a:r>
            <a:r>
              <a:rPr lang="en-US" sz="2000" dirty="0" smtClean="0"/>
              <a:t>organizations, </a:t>
            </a:r>
            <a:r>
              <a:rPr lang="en-US" sz="2000" dirty="0"/>
              <a:t>reports are used for the basis of decision making</a:t>
            </a:r>
            <a:r>
              <a:rPr lang="en-US" sz="2000" dirty="0" smtClean="0"/>
              <a:t>.</a:t>
            </a:r>
            <a:endParaRPr lang="en-US" sz="2000" b="1" dirty="0"/>
          </a:p>
        </p:txBody>
      </p:sp>
    </p:spTree>
    <p:extLst>
      <p:ext uri="{BB962C8B-B14F-4D97-AF65-F5344CB8AC3E}">
        <p14:creationId xmlns:p14="http://schemas.microsoft.com/office/powerpoint/2010/main" val="3690127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389120"/>
          </a:xfrm>
        </p:spPr>
        <p:txBody>
          <a:bodyPr>
            <a:normAutofit/>
          </a:bodyPr>
          <a:lstStyle/>
          <a:p>
            <a:pPr marL="0" indent="0" fontAlgn="base">
              <a:buNone/>
            </a:pPr>
            <a:endParaRPr lang="en-US" sz="2800" dirty="0"/>
          </a:p>
          <a:p>
            <a:pPr fontAlgn="base"/>
            <a:r>
              <a:rPr lang="en-US" sz="2800" b="1" dirty="0"/>
              <a:t>According to Goode and </a:t>
            </a:r>
            <a:r>
              <a:rPr lang="en-US" sz="2800" b="1" dirty="0" err="1"/>
              <a:t>Hatt</a:t>
            </a:r>
            <a:r>
              <a:rPr lang="en-US" sz="2800" dirty="0"/>
              <a:t>, “The preparation of report is the final stage of research, and </a:t>
            </a:r>
            <a:r>
              <a:rPr lang="en-US" sz="2800" dirty="0" smtClean="0"/>
              <a:t>its </a:t>
            </a:r>
            <a:r>
              <a:rPr lang="en-US" sz="2800" dirty="0"/>
              <a:t>purpose is to convey to the interested persons the whole result of the study, in sufficient detail and so arranged as to enable each reader to comprehend the data and to determine for himself the validity of the conclusions.”</a:t>
            </a:r>
          </a:p>
          <a:p>
            <a:endParaRPr lang="en-US" sz="2800" dirty="0"/>
          </a:p>
          <a:p>
            <a:endParaRPr lang="en-US" dirty="0"/>
          </a:p>
        </p:txBody>
      </p:sp>
    </p:spTree>
    <p:extLst>
      <p:ext uri="{BB962C8B-B14F-4D97-AF65-F5344CB8AC3E}">
        <p14:creationId xmlns:p14="http://schemas.microsoft.com/office/powerpoint/2010/main" val="2620966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4389120"/>
          </a:xfrm>
        </p:spPr>
        <p:txBody>
          <a:bodyPr>
            <a:noAutofit/>
          </a:bodyPr>
          <a:lstStyle/>
          <a:p>
            <a:pPr marL="274320" lvl="1" indent="-274320">
              <a:buClr>
                <a:schemeClr val="accent3"/>
              </a:buClr>
              <a:buSzPct val="95000"/>
            </a:pPr>
            <a:r>
              <a:rPr lang="en-US" dirty="0">
                <a:solidFill>
                  <a:srgbClr val="FF0000"/>
                </a:solidFill>
              </a:rPr>
              <a:t>Need of a Research Report</a:t>
            </a:r>
            <a:endParaRPr lang="en-US" sz="2000" dirty="0">
              <a:solidFill>
                <a:srgbClr val="FF0000"/>
              </a:solidFill>
            </a:endParaRPr>
          </a:p>
          <a:p>
            <a:pPr marL="0" indent="0">
              <a:buNone/>
            </a:pPr>
            <a:r>
              <a:rPr lang="en-US" sz="1800" b="1" dirty="0" smtClean="0">
                <a:solidFill>
                  <a:srgbClr val="00B0F0"/>
                </a:solidFill>
              </a:rPr>
              <a:t>1) Communication </a:t>
            </a:r>
            <a:r>
              <a:rPr lang="en-US" sz="1800" b="1" dirty="0">
                <a:solidFill>
                  <a:srgbClr val="00B0F0"/>
                </a:solidFill>
              </a:rPr>
              <a:t>of </a:t>
            </a:r>
            <a:r>
              <a:rPr lang="en-US" sz="1800" b="1" dirty="0" smtClean="0">
                <a:solidFill>
                  <a:srgbClr val="00B0F0"/>
                </a:solidFill>
              </a:rPr>
              <a:t>Findings</a:t>
            </a:r>
            <a:endParaRPr lang="en-US" sz="1800" dirty="0">
              <a:solidFill>
                <a:srgbClr val="00B0F0"/>
              </a:solidFill>
            </a:endParaRPr>
          </a:p>
          <a:p>
            <a:pPr lvl="1"/>
            <a:r>
              <a:rPr lang="en-US" sz="1800" dirty="0"/>
              <a:t>Ensure others understand the study</a:t>
            </a:r>
          </a:p>
          <a:p>
            <a:pPr lvl="1"/>
            <a:r>
              <a:rPr lang="en-US" sz="1800" dirty="0"/>
              <a:t>Evaluate validity and relevance</a:t>
            </a:r>
          </a:p>
          <a:p>
            <a:pPr marL="0" indent="0">
              <a:buNone/>
            </a:pPr>
            <a:r>
              <a:rPr lang="en-US" sz="1800" b="1" dirty="0" smtClean="0">
                <a:solidFill>
                  <a:srgbClr val="00B0F0"/>
                </a:solidFill>
              </a:rPr>
              <a:t>2)  </a:t>
            </a:r>
            <a:r>
              <a:rPr lang="en-US" sz="1800" b="1" dirty="0">
                <a:solidFill>
                  <a:srgbClr val="00B0F0"/>
                </a:solidFill>
              </a:rPr>
              <a:t>Knowledge </a:t>
            </a:r>
            <a:r>
              <a:rPr lang="en-US" sz="1800" b="1" dirty="0" smtClean="0">
                <a:solidFill>
                  <a:srgbClr val="00B0F0"/>
                </a:solidFill>
              </a:rPr>
              <a:t>Dissemination</a:t>
            </a:r>
            <a:endParaRPr lang="en-US" sz="1800" dirty="0">
              <a:solidFill>
                <a:srgbClr val="00B0F0"/>
              </a:solidFill>
            </a:endParaRPr>
          </a:p>
          <a:p>
            <a:pPr lvl="1"/>
            <a:r>
              <a:rPr lang="en-US" sz="1800" dirty="0"/>
              <a:t>Share new findings and insights</a:t>
            </a:r>
          </a:p>
          <a:p>
            <a:pPr lvl="1"/>
            <a:r>
              <a:rPr lang="en-US" sz="1800" dirty="0"/>
              <a:t>Advance understanding in the field</a:t>
            </a:r>
          </a:p>
          <a:p>
            <a:pPr lvl="1"/>
            <a:r>
              <a:rPr lang="en-US" sz="1800" dirty="0"/>
              <a:t>Inspire further </a:t>
            </a:r>
            <a:r>
              <a:rPr lang="en-US" sz="1800" dirty="0" smtClean="0"/>
              <a:t> research</a:t>
            </a:r>
            <a:endParaRPr lang="en-US" sz="1800" dirty="0"/>
          </a:p>
          <a:p>
            <a:pPr marL="0" indent="0">
              <a:buNone/>
            </a:pPr>
            <a:r>
              <a:rPr lang="en-US" sz="1800" b="1" dirty="0" smtClean="0">
                <a:solidFill>
                  <a:srgbClr val="00B0F0"/>
                </a:solidFill>
              </a:rPr>
              <a:t>3) Peer Review</a:t>
            </a:r>
            <a:endParaRPr lang="en-US" sz="1800" dirty="0">
              <a:solidFill>
                <a:srgbClr val="00B0F0"/>
              </a:solidFill>
            </a:endParaRPr>
          </a:p>
          <a:p>
            <a:pPr lvl="1"/>
            <a:r>
              <a:rPr lang="en-US" sz="1800" dirty="0"/>
              <a:t>Experts evaluate methodology, </a:t>
            </a:r>
            <a:r>
              <a:rPr lang="en-US" sz="1800" dirty="0" smtClean="0"/>
              <a:t>results  </a:t>
            </a:r>
            <a:r>
              <a:rPr lang="en-US" sz="1800" dirty="0"/>
              <a:t>and conclusions</a:t>
            </a:r>
          </a:p>
          <a:p>
            <a:pPr lvl="1"/>
            <a:r>
              <a:rPr lang="en-US" sz="1800" dirty="0"/>
              <a:t>Ensures research quality and validity</a:t>
            </a:r>
          </a:p>
          <a:p>
            <a:pPr lvl="1"/>
            <a:r>
              <a:rPr lang="en-US" sz="1800" dirty="0"/>
              <a:t>Provides feedback for </a:t>
            </a:r>
            <a:r>
              <a:rPr lang="en-US" sz="1800" dirty="0" smtClean="0"/>
              <a:t>improvement</a:t>
            </a:r>
          </a:p>
        </p:txBody>
      </p:sp>
    </p:spTree>
    <p:extLst>
      <p:ext uri="{BB962C8B-B14F-4D97-AF65-F5344CB8AC3E}">
        <p14:creationId xmlns:p14="http://schemas.microsoft.com/office/powerpoint/2010/main" val="1931788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389120"/>
          </a:xfrm>
        </p:spPr>
        <p:txBody>
          <a:bodyPr/>
          <a:lstStyle/>
          <a:p>
            <a:pPr marL="393192" lvl="1" indent="0">
              <a:buNone/>
            </a:pPr>
            <a:r>
              <a:rPr lang="en-US" sz="1800" b="1" dirty="0" smtClean="0">
                <a:solidFill>
                  <a:srgbClr val="00B0F0"/>
                </a:solidFill>
              </a:rPr>
              <a:t>4) Reference </a:t>
            </a:r>
            <a:r>
              <a:rPr lang="en-US" sz="1800" b="1" dirty="0">
                <a:solidFill>
                  <a:srgbClr val="00B0F0"/>
                </a:solidFill>
              </a:rPr>
              <a:t>for Future Research</a:t>
            </a:r>
            <a:endParaRPr lang="en-US" sz="1800" dirty="0">
              <a:solidFill>
                <a:srgbClr val="00B0F0"/>
              </a:solidFill>
            </a:endParaRPr>
          </a:p>
          <a:p>
            <a:pPr lvl="1"/>
            <a:r>
              <a:rPr lang="en-US" sz="1800" dirty="0"/>
              <a:t>Background information and methodology details</a:t>
            </a:r>
          </a:p>
          <a:p>
            <a:pPr lvl="1"/>
            <a:r>
              <a:rPr lang="en-US" sz="1800" dirty="0"/>
              <a:t>Informs and guides future research efforts</a:t>
            </a:r>
          </a:p>
          <a:p>
            <a:pPr marL="0" indent="0">
              <a:buNone/>
            </a:pPr>
            <a:r>
              <a:rPr lang="en-US" sz="1800" b="1" dirty="0">
                <a:solidFill>
                  <a:srgbClr val="00B0F0"/>
                </a:solidFill>
              </a:rPr>
              <a:t>5) Decision-Making</a:t>
            </a:r>
            <a:endParaRPr lang="en-US" sz="1800" dirty="0">
              <a:solidFill>
                <a:srgbClr val="00B0F0"/>
              </a:solidFill>
            </a:endParaRPr>
          </a:p>
          <a:p>
            <a:pPr lvl="1"/>
            <a:r>
              <a:rPr lang="en-US" sz="1800" dirty="0"/>
              <a:t>Influences policy development</a:t>
            </a:r>
          </a:p>
          <a:p>
            <a:pPr lvl="1"/>
            <a:r>
              <a:rPr lang="en-US" sz="1800" dirty="0"/>
              <a:t>Guides business strategy</a:t>
            </a:r>
          </a:p>
          <a:p>
            <a:pPr lvl="1"/>
            <a:r>
              <a:rPr lang="en-US" sz="1800" dirty="0"/>
              <a:t>Supports clinical practice</a:t>
            </a:r>
          </a:p>
          <a:p>
            <a:pPr lvl="1"/>
            <a:r>
              <a:rPr lang="en-US" sz="1800" dirty="0"/>
              <a:t>Enables evidence-based practices</a:t>
            </a:r>
          </a:p>
          <a:p>
            <a:pPr marL="0" indent="0">
              <a:buNone/>
            </a:pPr>
            <a:r>
              <a:rPr lang="en-US" sz="1800" b="1" dirty="0" smtClean="0">
                <a:solidFill>
                  <a:srgbClr val="00B0F0"/>
                </a:solidFill>
              </a:rPr>
              <a:t>6) Accountability </a:t>
            </a:r>
            <a:r>
              <a:rPr lang="en-US" sz="1800" b="1" dirty="0">
                <a:solidFill>
                  <a:srgbClr val="00B0F0"/>
                </a:solidFill>
              </a:rPr>
              <a:t>and </a:t>
            </a:r>
            <a:r>
              <a:rPr lang="en-US" sz="1800" b="1" dirty="0" smtClean="0">
                <a:solidFill>
                  <a:srgbClr val="00B0F0"/>
                </a:solidFill>
              </a:rPr>
              <a:t>Transparency</a:t>
            </a:r>
            <a:endParaRPr lang="en-US" sz="1800" dirty="0">
              <a:solidFill>
                <a:srgbClr val="00B0F0"/>
              </a:solidFill>
            </a:endParaRPr>
          </a:p>
          <a:p>
            <a:pPr lvl="1"/>
            <a:r>
              <a:rPr lang="en-US" sz="1800" dirty="0"/>
              <a:t>Document the research process transparently</a:t>
            </a:r>
          </a:p>
          <a:p>
            <a:pPr lvl="1"/>
            <a:r>
              <a:rPr lang="en-US" sz="1800" dirty="0"/>
              <a:t>Allows verification of results and conclusions</a:t>
            </a:r>
          </a:p>
          <a:p>
            <a:endParaRPr lang="en-US" sz="1800" dirty="0"/>
          </a:p>
          <a:p>
            <a:endParaRPr lang="en-US" dirty="0"/>
          </a:p>
        </p:txBody>
      </p:sp>
    </p:spTree>
    <p:extLst>
      <p:ext uri="{BB962C8B-B14F-4D97-AF65-F5344CB8AC3E}">
        <p14:creationId xmlns:p14="http://schemas.microsoft.com/office/powerpoint/2010/main" val="1023550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389120"/>
          </a:xfrm>
        </p:spPr>
        <p:txBody>
          <a:bodyPr>
            <a:normAutofit fontScale="92500"/>
          </a:bodyPr>
          <a:lstStyle/>
          <a:p>
            <a:r>
              <a:rPr lang="en-US" sz="3000" b="1" dirty="0">
                <a:solidFill>
                  <a:srgbClr val="FF0000"/>
                </a:solidFill>
              </a:rPr>
              <a:t>Format of a long report </a:t>
            </a:r>
            <a:endParaRPr lang="en-US" sz="3000" dirty="0">
              <a:solidFill>
                <a:srgbClr val="FF0000"/>
              </a:solidFill>
            </a:endParaRPr>
          </a:p>
          <a:p>
            <a:pPr lvl="0"/>
            <a:r>
              <a:rPr lang="en-US" sz="3000" b="1" dirty="0">
                <a:solidFill>
                  <a:srgbClr val="FF0000"/>
                </a:solidFill>
              </a:rPr>
              <a:t>Title Fly or page:</a:t>
            </a:r>
            <a:r>
              <a:rPr lang="en-US" sz="3000" dirty="0">
                <a:solidFill>
                  <a:srgbClr val="FF0000"/>
                </a:solidFill>
              </a:rPr>
              <a:t> </a:t>
            </a:r>
            <a:r>
              <a:rPr lang="en-US" dirty="0"/>
              <a:t>Title fly is the first page or cover of the report that contains  the title of the report. </a:t>
            </a:r>
          </a:p>
          <a:p>
            <a:pPr lvl="0"/>
            <a:r>
              <a:rPr lang="en-US" dirty="0"/>
              <a:t> It displays information essential to report's identification. </a:t>
            </a:r>
          </a:p>
          <a:p>
            <a:pPr lvl="0"/>
            <a:r>
              <a:rPr lang="en-US" dirty="0"/>
              <a:t>It also includes report writer’s name, receiver’s name and submission date of the report.</a:t>
            </a:r>
            <a:r>
              <a:rPr lang="en-US" dirty="0">
                <a:solidFill>
                  <a:srgbClr val="FF0000"/>
                </a:solidFill>
              </a:rPr>
              <a:t> </a:t>
            </a:r>
          </a:p>
          <a:p>
            <a:pPr lvl="0"/>
            <a:r>
              <a:rPr lang="en-US" sz="3000" b="1" dirty="0">
                <a:solidFill>
                  <a:srgbClr val="FF0000"/>
                </a:solidFill>
              </a:rPr>
              <a:t>Acknowledgements:</a:t>
            </a:r>
            <a:r>
              <a:rPr lang="en-US" sz="3000" dirty="0">
                <a:solidFill>
                  <a:srgbClr val="FF0000"/>
                </a:solidFill>
              </a:rPr>
              <a:t> </a:t>
            </a:r>
            <a:r>
              <a:rPr lang="en-US" dirty="0"/>
              <a:t>Briefly thank people who help to complete the report. </a:t>
            </a:r>
          </a:p>
          <a:p>
            <a:pPr lvl="0"/>
            <a:r>
              <a:rPr lang="en-US" dirty="0"/>
              <a:t>This help may be from guider, librarians, technicians, computer center staff, friends, family members and others.</a:t>
            </a:r>
          </a:p>
          <a:p>
            <a:endParaRPr lang="en-US" dirty="0"/>
          </a:p>
        </p:txBody>
      </p:sp>
    </p:spTree>
    <p:extLst>
      <p:ext uri="{BB962C8B-B14F-4D97-AF65-F5344CB8AC3E}">
        <p14:creationId xmlns:p14="http://schemas.microsoft.com/office/powerpoint/2010/main" val="1822451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389120"/>
          </a:xfrm>
        </p:spPr>
        <p:txBody>
          <a:bodyPr>
            <a:normAutofit fontScale="85000" lnSpcReduction="20000"/>
          </a:bodyPr>
          <a:lstStyle/>
          <a:p>
            <a:pPr lvl="0"/>
            <a:r>
              <a:rPr lang="en-US" sz="3000" b="1" dirty="0">
                <a:solidFill>
                  <a:srgbClr val="FF0000"/>
                </a:solidFill>
              </a:rPr>
              <a:t>Abstract or executive summary:</a:t>
            </a:r>
            <a:r>
              <a:rPr lang="en-US" sz="3000" dirty="0">
                <a:solidFill>
                  <a:srgbClr val="FF0000"/>
                </a:solidFill>
              </a:rPr>
              <a:t> </a:t>
            </a:r>
            <a:r>
              <a:rPr lang="en-US" dirty="0"/>
              <a:t>it provides a summary of the entire work in brief.</a:t>
            </a:r>
          </a:p>
          <a:p>
            <a:pPr lvl="0"/>
            <a:r>
              <a:rPr lang="en-US" dirty="0"/>
              <a:t> It should include a short statement of the main task, the methods used, conclusion reached and any recommendations to be made. </a:t>
            </a:r>
          </a:p>
          <a:p>
            <a:pPr lvl="0"/>
            <a:r>
              <a:rPr lang="en-US" dirty="0"/>
              <a:t>It should be concise, informative and independent by highlighting purpose, findings and results.</a:t>
            </a:r>
            <a:endParaRPr lang="en-US" dirty="0">
              <a:solidFill>
                <a:srgbClr val="FF0000"/>
              </a:solidFill>
            </a:endParaRPr>
          </a:p>
          <a:p>
            <a:pPr lvl="0"/>
            <a:r>
              <a:rPr lang="en-US" sz="3000" b="1" dirty="0">
                <a:solidFill>
                  <a:srgbClr val="FF0000"/>
                </a:solidFill>
              </a:rPr>
              <a:t>Table of contents:</a:t>
            </a:r>
            <a:r>
              <a:rPr lang="en-US" dirty="0"/>
              <a:t> It is the list of main sections with their page numbers. </a:t>
            </a:r>
          </a:p>
          <a:p>
            <a:pPr lvl="0"/>
            <a:r>
              <a:rPr lang="en-US" dirty="0"/>
              <a:t>They help direct the reader to the key sections in the report and show the contents of the report in logical order. </a:t>
            </a:r>
            <a:endParaRPr lang="en-US" sz="3000" dirty="0">
              <a:solidFill>
                <a:srgbClr val="FF0000"/>
              </a:solidFill>
            </a:endParaRPr>
          </a:p>
          <a:p>
            <a:pPr lvl="0"/>
            <a:r>
              <a:rPr lang="en-US" sz="3000" b="1" dirty="0">
                <a:solidFill>
                  <a:srgbClr val="FF0000"/>
                </a:solidFill>
              </a:rPr>
              <a:t>List of tables and illustrations:</a:t>
            </a:r>
            <a:r>
              <a:rPr lang="en-US" dirty="0"/>
              <a:t> list any illustrations, graphs, tables, charts </a:t>
            </a:r>
            <a:r>
              <a:rPr lang="en-US" dirty="0" err="1"/>
              <a:t>etc</a:t>
            </a:r>
            <a:r>
              <a:rPr lang="en-US" dirty="0"/>
              <a:t> and their page numbers.</a:t>
            </a:r>
          </a:p>
          <a:p>
            <a:endParaRPr lang="en-US" dirty="0"/>
          </a:p>
          <a:p>
            <a:endParaRPr lang="en-US" dirty="0"/>
          </a:p>
        </p:txBody>
      </p:sp>
    </p:spTree>
    <p:extLst>
      <p:ext uri="{BB962C8B-B14F-4D97-AF65-F5344CB8AC3E}">
        <p14:creationId xmlns:p14="http://schemas.microsoft.com/office/powerpoint/2010/main" val="2700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389120"/>
          </a:xfrm>
        </p:spPr>
        <p:txBody>
          <a:bodyPr/>
          <a:lstStyle/>
          <a:p>
            <a:pPr lvl="0"/>
            <a:r>
              <a:rPr lang="en-US" sz="2800" b="1" dirty="0">
                <a:solidFill>
                  <a:srgbClr val="FF0000"/>
                </a:solidFill>
              </a:rPr>
              <a:t>Introduction:</a:t>
            </a:r>
            <a:r>
              <a:rPr lang="en-US" sz="2800" dirty="0">
                <a:solidFill>
                  <a:srgbClr val="FF0000"/>
                </a:solidFill>
              </a:rPr>
              <a:t> </a:t>
            </a:r>
            <a:r>
              <a:rPr lang="en-US" dirty="0"/>
              <a:t>This is the background that may describe how the project came into being. </a:t>
            </a:r>
          </a:p>
          <a:p>
            <a:pPr lvl="0"/>
            <a:r>
              <a:rPr lang="en-US" dirty="0"/>
              <a:t>It  is the description of the report in detail.</a:t>
            </a:r>
          </a:p>
          <a:p>
            <a:pPr lvl="0"/>
            <a:r>
              <a:rPr lang="en-US" sz="2800" b="1" dirty="0">
                <a:solidFill>
                  <a:srgbClr val="FF0000"/>
                </a:solidFill>
              </a:rPr>
              <a:t>Objective:</a:t>
            </a:r>
            <a:r>
              <a:rPr lang="en-US" dirty="0"/>
              <a:t> this section describes the main motto or objective to write the report.</a:t>
            </a:r>
          </a:p>
          <a:p>
            <a:pPr lvl="0"/>
            <a:r>
              <a:rPr lang="en-US" dirty="0"/>
              <a:t> Mention the aims and objectives to clarify the context of the report. </a:t>
            </a:r>
          </a:p>
          <a:p>
            <a:pPr lvl="0"/>
            <a:r>
              <a:rPr lang="en-US" dirty="0"/>
              <a:t>Explain why the report is requested and describe the scope of the subject matter in detail.</a:t>
            </a:r>
          </a:p>
          <a:p>
            <a:pPr lvl="0">
              <a:buNone/>
            </a:pPr>
            <a:endParaRPr lang="en-US" dirty="0"/>
          </a:p>
          <a:p>
            <a:pPr lvl="0"/>
            <a:endParaRPr lang="en-US" dirty="0"/>
          </a:p>
          <a:p>
            <a:endParaRPr lang="en-US" dirty="0"/>
          </a:p>
          <a:p>
            <a:endParaRPr lang="en-US" dirty="0"/>
          </a:p>
          <a:p>
            <a:endParaRPr lang="en-US" dirty="0"/>
          </a:p>
        </p:txBody>
      </p:sp>
    </p:spTree>
    <p:extLst>
      <p:ext uri="{BB962C8B-B14F-4D97-AF65-F5344CB8AC3E}">
        <p14:creationId xmlns:p14="http://schemas.microsoft.com/office/powerpoint/2010/main" val="2361218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389120"/>
          </a:xfrm>
        </p:spPr>
        <p:txBody>
          <a:bodyPr>
            <a:normAutofit fontScale="92500" lnSpcReduction="10000"/>
          </a:bodyPr>
          <a:lstStyle/>
          <a:p>
            <a:pPr lvl="0"/>
            <a:r>
              <a:rPr lang="en-US" sz="3200" b="1" dirty="0">
                <a:solidFill>
                  <a:srgbClr val="FF0000"/>
                </a:solidFill>
              </a:rPr>
              <a:t>Methodology:</a:t>
            </a:r>
            <a:r>
              <a:rPr lang="en-US" sz="3200" dirty="0"/>
              <a:t> </a:t>
            </a:r>
            <a:r>
              <a:rPr lang="en-US" sz="2800" dirty="0"/>
              <a:t>This section clearly states the method used for your investigation, identifying the design of your research and why this method applied. </a:t>
            </a:r>
          </a:p>
          <a:p>
            <a:pPr lvl="0"/>
            <a:r>
              <a:rPr lang="en-US" sz="2800" dirty="0"/>
              <a:t>It explains how data was gathered (interviews, surveys, observations, discussions etc.) so readers can see how relevant and thorough the writer has been in research.</a:t>
            </a:r>
            <a:endParaRPr lang="en-US" sz="3200" dirty="0">
              <a:solidFill>
                <a:srgbClr val="FF0000"/>
              </a:solidFill>
            </a:endParaRPr>
          </a:p>
          <a:p>
            <a:pPr lvl="0"/>
            <a:r>
              <a:rPr lang="en-US" sz="3200" b="1" dirty="0">
                <a:solidFill>
                  <a:srgbClr val="FF0000"/>
                </a:solidFill>
              </a:rPr>
              <a:t>Results or findings:</a:t>
            </a:r>
            <a:r>
              <a:rPr lang="en-US" sz="3200" dirty="0">
                <a:solidFill>
                  <a:srgbClr val="FF0000"/>
                </a:solidFill>
              </a:rPr>
              <a:t> </a:t>
            </a:r>
            <a:r>
              <a:rPr lang="en-US" sz="2800" dirty="0"/>
              <a:t>This section objectively reports the findings or results such as descriptions, statistical data, charts and graphs. </a:t>
            </a:r>
          </a:p>
          <a:p>
            <a:pPr lvl="0"/>
            <a:r>
              <a:rPr lang="en-US" sz="2800" dirty="0"/>
              <a:t>Some of the ways to present result are: tables, graphs, pie charts, bar charts, diagrams etc.</a:t>
            </a:r>
          </a:p>
          <a:p>
            <a:pPr lvl="0">
              <a:buNone/>
            </a:pPr>
            <a:endParaRPr lang="en-US" sz="2800" dirty="0"/>
          </a:p>
          <a:p>
            <a:endParaRPr lang="en-US" sz="2800" dirty="0"/>
          </a:p>
          <a:p>
            <a:endParaRPr lang="en-US" dirty="0"/>
          </a:p>
        </p:txBody>
      </p:sp>
    </p:spTree>
    <p:extLst>
      <p:ext uri="{BB962C8B-B14F-4D97-AF65-F5344CB8AC3E}">
        <p14:creationId xmlns:p14="http://schemas.microsoft.com/office/powerpoint/2010/main" val="855244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389120"/>
          </a:xfrm>
        </p:spPr>
        <p:txBody>
          <a:bodyPr>
            <a:noAutofit/>
          </a:bodyPr>
          <a:lstStyle/>
          <a:p>
            <a:pPr lvl="0"/>
            <a:r>
              <a:rPr lang="en-US" sz="2400" b="1" dirty="0">
                <a:solidFill>
                  <a:srgbClr val="FF0000"/>
                </a:solidFill>
              </a:rPr>
              <a:t>Discussion:</a:t>
            </a:r>
            <a:r>
              <a:rPr lang="en-US" sz="2400" dirty="0"/>
              <a:t> This is the section in which results can be interpreted and analyzed drawing from the collected information.</a:t>
            </a:r>
          </a:p>
          <a:p>
            <a:pPr lvl="0"/>
            <a:r>
              <a:rPr lang="en-US" sz="2400" dirty="0"/>
              <a:t> Here is the identification of important issues, suggestions and explanation of findings.</a:t>
            </a:r>
          </a:p>
          <a:p>
            <a:pPr lvl="0"/>
            <a:endParaRPr lang="en-US" sz="2400" b="1" dirty="0">
              <a:solidFill>
                <a:srgbClr val="FF0000"/>
              </a:solidFill>
            </a:endParaRPr>
          </a:p>
          <a:p>
            <a:pPr lvl="0"/>
            <a:r>
              <a:rPr lang="en-US" sz="2400" b="1" dirty="0">
                <a:solidFill>
                  <a:srgbClr val="FF0000"/>
                </a:solidFill>
              </a:rPr>
              <a:t>Conclusion and recommendation:</a:t>
            </a:r>
            <a:r>
              <a:rPr lang="en-US" sz="2400" dirty="0">
                <a:solidFill>
                  <a:srgbClr val="FF0000"/>
                </a:solidFill>
              </a:rPr>
              <a:t> </a:t>
            </a:r>
            <a:r>
              <a:rPr lang="en-US" sz="2400" dirty="0"/>
              <a:t>This  section draws together the main issues. </a:t>
            </a:r>
          </a:p>
          <a:p>
            <a:pPr lvl="0"/>
            <a:r>
              <a:rPr lang="en-US" sz="2400" dirty="0"/>
              <a:t>It wraps up the report by summarizing key points but not introducing any new material.</a:t>
            </a:r>
          </a:p>
          <a:p>
            <a:pPr lvl="0"/>
            <a:r>
              <a:rPr lang="en-US" sz="2400" dirty="0"/>
              <a:t> It includes the writer's logical assessment of what has been discovered. </a:t>
            </a:r>
          </a:p>
          <a:p>
            <a:pPr lvl="0"/>
            <a:r>
              <a:rPr lang="en-US" sz="2400" dirty="0"/>
              <a:t>In recommendation there is the possible solution of the problems identified in the report from the side of readers.</a:t>
            </a:r>
          </a:p>
          <a:p>
            <a:endParaRPr lang="en-US" sz="2400" dirty="0"/>
          </a:p>
          <a:p>
            <a:endParaRPr lang="en-US" sz="2400" dirty="0"/>
          </a:p>
        </p:txBody>
      </p:sp>
    </p:spTree>
    <p:extLst>
      <p:ext uri="{BB962C8B-B14F-4D97-AF65-F5344CB8AC3E}">
        <p14:creationId xmlns:p14="http://schemas.microsoft.com/office/powerpoint/2010/main" val="1823190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389120"/>
          </a:xfrm>
        </p:spPr>
        <p:txBody>
          <a:bodyPr>
            <a:normAutofit fontScale="92500" lnSpcReduction="10000"/>
          </a:bodyPr>
          <a:lstStyle/>
          <a:p>
            <a:pPr lvl="0"/>
            <a:r>
              <a:rPr lang="en-US" sz="3200" b="1" dirty="0">
                <a:solidFill>
                  <a:srgbClr val="FF0000"/>
                </a:solidFill>
              </a:rPr>
              <a:t>References:</a:t>
            </a:r>
            <a:r>
              <a:rPr lang="en-US" sz="3200" dirty="0">
                <a:solidFill>
                  <a:srgbClr val="FF0000"/>
                </a:solidFill>
              </a:rPr>
              <a:t> </a:t>
            </a:r>
            <a:r>
              <a:rPr lang="en-US" sz="2400" dirty="0"/>
              <a:t>There are the full list of books, articles, and internet sources you cite to write the report.</a:t>
            </a:r>
          </a:p>
          <a:p>
            <a:pPr lvl="0"/>
            <a:r>
              <a:rPr lang="en-US" sz="2400" dirty="0"/>
              <a:t> Here includes: author's name and initials, date of publication, title of the book, publisher, place of publication, page numbers.</a:t>
            </a:r>
            <a:endParaRPr lang="en-US" sz="2400" dirty="0">
              <a:solidFill>
                <a:srgbClr val="FF0000"/>
              </a:solidFill>
            </a:endParaRPr>
          </a:p>
          <a:p>
            <a:pPr lvl="0"/>
            <a:r>
              <a:rPr lang="en-US" sz="3200" b="1" dirty="0">
                <a:solidFill>
                  <a:srgbClr val="FF0000"/>
                </a:solidFill>
              </a:rPr>
              <a:t>Appendices:</a:t>
            </a:r>
            <a:r>
              <a:rPr lang="en-US" sz="2400" dirty="0">
                <a:solidFill>
                  <a:srgbClr val="FF0000"/>
                </a:solidFill>
              </a:rPr>
              <a:t> </a:t>
            </a:r>
            <a:r>
              <a:rPr lang="en-US" sz="2400" dirty="0"/>
              <a:t>It contains additional information related to the report. </a:t>
            </a:r>
          </a:p>
          <a:p>
            <a:pPr lvl="0"/>
            <a:r>
              <a:rPr lang="en-US" sz="2400" dirty="0"/>
              <a:t>This can be consulted if the reader wishes but the report should not depend on this. </a:t>
            </a:r>
          </a:p>
          <a:p>
            <a:pPr lvl="0"/>
            <a:r>
              <a:rPr lang="en-US" sz="2400" dirty="0"/>
              <a:t>If you use supplementary materials in the process of research or writing the report such as questionnaires, interview transcript, list of interviewees, survey forms, letters, maps, graphics and photos, you will need appendices.</a:t>
            </a:r>
          </a:p>
          <a:p>
            <a:endParaRPr lang="en-US" dirty="0"/>
          </a:p>
          <a:p>
            <a:endParaRPr lang="en-US" dirty="0"/>
          </a:p>
          <a:p>
            <a:endParaRPr lang="en-US" dirty="0"/>
          </a:p>
        </p:txBody>
      </p:sp>
    </p:spTree>
    <p:extLst>
      <p:ext uri="{BB962C8B-B14F-4D97-AF65-F5344CB8AC3E}">
        <p14:creationId xmlns:p14="http://schemas.microsoft.com/office/powerpoint/2010/main" val="2533335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r>
              <a:rPr lang="en-US" sz="8000" b="1" dirty="0" smtClean="0">
                <a:solidFill>
                  <a:srgbClr val="FF0000"/>
                </a:solidFill>
              </a:rPr>
              <a:t>THANK YOU</a:t>
            </a:r>
            <a:endParaRPr lang="en-US" sz="8000" b="1" dirty="0">
              <a:solidFill>
                <a:srgbClr val="FF0000"/>
              </a:solidFill>
            </a:endParaRPr>
          </a:p>
        </p:txBody>
      </p:sp>
    </p:spTree>
    <p:extLst>
      <p:ext uri="{BB962C8B-B14F-4D97-AF65-F5344CB8AC3E}">
        <p14:creationId xmlns:p14="http://schemas.microsoft.com/office/powerpoint/2010/main" val="145250084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27</TotalTime>
  <Words>882</Words>
  <Application>Microsoft Office PowerPoint</Application>
  <PresentationFormat>On-screen Show (4:3)</PresentationFormat>
  <Paragraphs>72</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JOSHI SHANKAR</dc:creator>
  <cp:lastModifiedBy>lenovo</cp:lastModifiedBy>
  <cp:revision>9</cp:revision>
  <dcterms:created xsi:type="dcterms:W3CDTF">2006-08-16T00:00:00Z</dcterms:created>
  <dcterms:modified xsi:type="dcterms:W3CDTF">2025-06-23T16:04:37Z</dcterms:modified>
</cp:coreProperties>
</file>