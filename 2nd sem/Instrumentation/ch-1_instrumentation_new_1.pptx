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71" r:id="rId2"/>
    <p:sldId id="269" r:id="rId3"/>
    <p:sldId id="268" r:id="rId4"/>
    <p:sldId id="267" r:id="rId5"/>
    <p:sldId id="266" r:id="rId6"/>
    <p:sldId id="265" r:id="rId7"/>
    <p:sldId id="264" r:id="rId8"/>
    <p:sldId id="263" r:id="rId9"/>
    <p:sldId id="262" r:id="rId10"/>
    <p:sldId id="261" r:id="rId11"/>
    <p:sldId id="260" r:id="rId12"/>
    <p:sldId id="257" r:id="rId13"/>
    <p:sldId id="259" r:id="rId14"/>
    <p:sldId id="258" r:id="rId15"/>
    <p:sldId id="272" r:id="rId16"/>
    <p:sldId id="273" r:id="rId17"/>
    <p:sldId id="274" r:id="rId18"/>
    <p:sldId id="275" r:id="rId19"/>
    <p:sldId id="276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84444E-5A08-41F8-A7E5-7704124917E7}" type="datetimeFigureOut">
              <a:rPr lang="en-GB" smtClean="0"/>
              <a:t>20/04/2025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A39D7-D16F-49C8-96BA-D33418A8C9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19555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37C83-8D16-451D-B4E2-4893949490C5}" type="datetimeFigureOut">
              <a:rPr lang="en-GB" smtClean="0"/>
              <a:t>20/04/2025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1EA2C-4DB1-4C83-BFF9-43C5FEE79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0034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1EA2C-4DB1-4C83-BFF9-43C5FEE79B01}" type="slidenum">
              <a:rPr lang="en-GB" smtClean="0"/>
              <a:t>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030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6D7F-E5D6-45B2-8DE9-2755E06E25BD}" type="datetime1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E6D89-9CE9-41F2-8422-103816E58B24}" type="datetime1">
              <a:rPr lang="en-US" smtClean="0"/>
              <a:t>4/20/2025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356350"/>
            <a:ext cx="3048000" cy="349249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Anil Kumar </a:t>
            </a:r>
            <a:r>
              <a:rPr lang="en-US" dirty="0" err="1" smtClean="0"/>
              <a:t>Yadav</a:t>
            </a:r>
            <a:r>
              <a:rPr lang="en-US" dirty="0" smtClean="0"/>
              <a:t>, </a:t>
            </a:r>
            <a:r>
              <a:rPr lang="en-US" dirty="0" err="1" smtClean="0"/>
              <a:t>nec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5A05E-9EDF-4187-982F-0FEF48ABFAE1}" type="datetime1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72792-A618-4CAE-AD5E-ECC90B9FBF87}" type="datetime1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08DC-92A2-4A97-9BFF-92BC74631615}" type="datetime1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A235F-D3E4-48F4-A809-8798B6B0F319}" type="datetime1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B21C-81E0-44BE-B829-4831039F5199}" type="datetime1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</a:t>
            </a:r>
            <a:r>
              <a:rPr lang="en-US" dirty="0" err="1" smtClean="0"/>
              <a:t>Yadav</a:t>
            </a:r>
            <a:r>
              <a:rPr lang="en-US" dirty="0" smtClean="0"/>
              <a:t>, </a:t>
            </a:r>
            <a:r>
              <a:rPr lang="en-US" dirty="0" err="1" smtClean="0"/>
              <a:t>nec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D811-3D07-46FD-8AC9-91C4F3275F17}" type="datetime1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D451D-9DD4-4CA8-8367-4CFB80FBE4C9}" type="datetime1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7FAD7-1A11-401F-A62A-9A4A48C78CDF}" type="datetime1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D0D3-EC30-43DB-816F-889D9565B274}" type="datetime1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A36DE-BD7F-428C-B3B0-AC71B4EE7129}" type="datetime1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71800" y="6356351"/>
            <a:ext cx="3048000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Anil Kumar </a:t>
            </a:r>
            <a:r>
              <a:rPr lang="en-US" dirty="0" err="1" smtClean="0"/>
              <a:t>Yadav</a:t>
            </a:r>
            <a:r>
              <a:rPr lang="en-US" dirty="0" smtClean="0"/>
              <a:t>, </a:t>
            </a:r>
            <a:r>
              <a:rPr lang="en-US" dirty="0" err="1" smtClean="0"/>
              <a:t>nec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10600" cy="66294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3600" b="1" dirty="0" smtClean="0"/>
              <a:t>INSTRUMENTATION</a:t>
            </a:r>
            <a:r>
              <a:rPr lang="en-US" dirty="0" smtClean="0"/>
              <a:t>                                           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1447800"/>
          <a:ext cx="3581400" cy="4122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467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Internal (30)marks Evaluation 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454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Attendance -4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454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Unit test -8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454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Final Assessment -12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454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Tutorials -6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454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Can be modified and changed.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454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Prepared By: Anil</a:t>
                      </a:r>
                      <a:r>
                        <a:rPr lang="en-US" sz="2000" b="1" baseline="0" dirty="0" smtClean="0"/>
                        <a:t> Kumar </a:t>
                      </a:r>
                      <a:r>
                        <a:rPr lang="en-US" sz="2000" b="1" baseline="0" dirty="0" err="1" smtClean="0"/>
                        <a:t>yadav</a:t>
                      </a:r>
                      <a:r>
                        <a:rPr lang="en-US" sz="2000" b="1" baseline="0" dirty="0" smtClean="0"/>
                        <a:t> </a:t>
                      </a:r>
                    </a:p>
                    <a:p>
                      <a:r>
                        <a:rPr lang="en-US" sz="2000" b="1" dirty="0" smtClean="0"/>
                        <a:t>                     Assistant Professor Nepal Engineering College (</a:t>
                      </a:r>
                      <a:r>
                        <a:rPr lang="en-US" sz="2000" b="1" dirty="0" err="1" smtClean="0"/>
                        <a:t>nec</a:t>
                      </a:r>
                      <a:r>
                        <a:rPr lang="en-US" sz="2000" b="1" dirty="0" smtClean="0"/>
                        <a:t>)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567239"/>
              </p:ext>
            </p:extLst>
          </p:nvPr>
        </p:nvGraphicFramePr>
        <p:xfrm>
          <a:off x="3886200" y="1447800"/>
          <a:ext cx="4953000" cy="49617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114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References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635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“Electronics and Electrical</a:t>
                      </a:r>
                      <a:r>
                        <a:rPr lang="en-US" sz="2000" baseline="0" dirty="0" smtClean="0"/>
                        <a:t> Measurement and Instrumentation System</a:t>
                      </a:r>
                      <a:r>
                        <a:rPr lang="en-US" sz="2000" dirty="0" smtClean="0"/>
                        <a:t>”-A.K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Sawhney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635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“Electronics and Electrical</a:t>
                      </a:r>
                      <a:r>
                        <a:rPr lang="en-US" sz="2000" baseline="0" dirty="0" smtClean="0"/>
                        <a:t> Measurement and Instrumentation System</a:t>
                      </a:r>
                      <a:r>
                        <a:rPr lang="en-US" sz="2000" dirty="0" smtClean="0"/>
                        <a:t>”-J.B.</a:t>
                      </a:r>
                      <a:r>
                        <a:rPr lang="en-US" sz="2000" baseline="0" dirty="0" smtClean="0"/>
                        <a:t> Gupta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01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“Electrical instrumentation”-</a:t>
                      </a:r>
                      <a:r>
                        <a:rPr lang="en-US" sz="2000" dirty="0" err="1" smtClean="0"/>
                        <a:t>Bakshi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930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“modern</a:t>
                      </a:r>
                      <a:r>
                        <a:rPr lang="en-US" sz="2000" baseline="0" dirty="0" smtClean="0"/>
                        <a:t> Electronic Instrumentation and Measurement Techniques”-A.D. </a:t>
                      </a:r>
                      <a:r>
                        <a:rPr lang="en-US" sz="2000" baseline="0" dirty="0" err="1" smtClean="0"/>
                        <a:t>Helfrick</a:t>
                      </a:r>
                      <a:r>
                        <a:rPr lang="en-US" sz="2000" baseline="0" dirty="0" smtClean="0"/>
                        <a:t> and </a:t>
                      </a:r>
                      <a:r>
                        <a:rPr lang="en-US" sz="2000" baseline="0" dirty="0" err="1" smtClean="0"/>
                        <a:t>W.D.Cooper</a:t>
                      </a:r>
                      <a:r>
                        <a:rPr lang="en-US" sz="2000" baseline="0" dirty="0" smtClean="0"/>
                        <a:t> 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4665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“Digital and Analogue Instrumentation testing and measurement”-</a:t>
                      </a:r>
                      <a:r>
                        <a:rPr lang="en-US" sz="2000" dirty="0" err="1" smtClean="0"/>
                        <a:t>Nihal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Kularatna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635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1"/>
            <a:ext cx="8229600" cy="761999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INSTRUMENTATION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066800"/>
            <a:ext cx="8229600" cy="5486400"/>
          </a:xfrm>
        </p:spPr>
        <p:txBody>
          <a:bodyPr/>
          <a:lstStyle/>
          <a:p>
            <a:pPr algn="l"/>
            <a:r>
              <a:rPr lang="en-US" sz="2800" b="1" u="sng" dirty="0" smtClean="0">
                <a:solidFill>
                  <a:schemeClr val="tx1"/>
                </a:solidFill>
              </a:rPr>
              <a:t>Course Contents:</a:t>
            </a:r>
            <a:endParaRPr lang="en-US" sz="2800" u="sng" dirty="0" smtClean="0">
              <a:solidFill>
                <a:schemeClr val="tx1"/>
              </a:solidFill>
            </a:endParaRPr>
          </a:p>
          <a:p>
            <a:pPr marL="514350" indent="-514350" algn="l">
              <a:buAutoNum type="arabicPeriod"/>
            </a:pPr>
            <a:r>
              <a:rPr lang="en-US" sz="2800" dirty="0" smtClean="0">
                <a:solidFill>
                  <a:schemeClr val="tx1"/>
                </a:solidFill>
              </a:rPr>
              <a:t>Introduction to Instrumentation System.  [10 hrs] 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Principle of Analog Instruments . </a:t>
            </a:r>
            <a:r>
              <a:rPr lang="en-US" sz="2800" dirty="0" smtClean="0">
                <a:solidFill>
                  <a:schemeClr val="tx1"/>
                </a:solidFill>
              </a:rPr>
              <a:t>              [7hrs]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Electrical Signal Processing and </a:t>
            </a:r>
            <a:r>
              <a:rPr lang="en-US" sz="2800" dirty="0" smtClean="0">
                <a:solidFill>
                  <a:schemeClr val="tx1"/>
                </a:solidFill>
              </a:rPr>
              <a:t>Data Acquisition                      							[</a:t>
            </a:r>
            <a:r>
              <a:rPr lang="en-US" sz="2800" dirty="0">
                <a:solidFill>
                  <a:schemeClr val="tx1"/>
                </a:solidFill>
              </a:rPr>
              <a:t>7</a:t>
            </a:r>
            <a:r>
              <a:rPr lang="en-US" sz="2800" dirty="0" smtClean="0">
                <a:solidFill>
                  <a:schemeClr val="tx1"/>
                </a:solidFill>
              </a:rPr>
              <a:t> hrs] </a:t>
            </a:r>
          </a:p>
          <a:p>
            <a:pPr marL="514350" indent="-514350" algn="l">
              <a:buAutoNum type="arabicPeriod"/>
            </a:pPr>
            <a:r>
              <a:rPr lang="en-US" sz="2800" dirty="0" smtClean="0">
                <a:solidFill>
                  <a:schemeClr val="tx1"/>
                </a:solidFill>
              </a:rPr>
              <a:t> Data </a:t>
            </a:r>
            <a:r>
              <a:rPr lang="en-US" sz="2800" dirty="0">
                <a:solidFill>
                  <a:schemeClr val="tx1"/>
                </a:solidFill>
              </a:rPr>
              <a:t>Converter and Connectors </a:t>
            </a:r>
            <a:r>
              <a:rPr lang="en-US" sz="2800" dirty="0" smtClean="0">
                <a:solidFill>
                  <a:schemeClr val="tx1"/>
                </a:solidFill>
              </a:rPr>
              <a:t>               [8 hrs] 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Wave Analyzers and Digital Instruments </a:t>
            </a:r>
            <a:r>
              <a:rPr lang="en-US" sz="2800" dirty="0" smtClean="0">
                <a:solidFill>
                  <a:schemeClr val="tx1"/>
                </a:solidFill>
              </a:rPr>
              <a:t>  [</a:t>
            </a:r>
            <a:r>
              <a:rPr lang="en-US" sz="2800" dirty="0">
                <a:solidFill>
                  <a:schemeClr val="tx1"/>
                </a:solidFill>
              </a:rPr>
              <a:t>8</a:t>
            </a:r>
            <a:r>
              <a:rPr lang="en-US" sz="2800" dirty="0" smtClean="0">
                <a:solidFill>
                  <a:schemeClr val="tx1"/>
                </a:solidFill>
              </a:rPr>
              <a:t> hrs] 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Recorders, Displays and Storage Devices </a:t>
            </a:r>
            <a:r>
              <a:rPr lang="en-US" sz="2800" dirty="0" smtClean="0">
                <a:solidFill>
                  <a:schemeClr val="tx1"/>
                </a:solidFill>
              </a:rPr>
              <a:t> [</a:t>
            </a:r>
            <a:r>
              <a:rPr lang="en-US" sz="2800" dirty="0">
                <a:solidFill>
                  <a:schemeClr val="tx1"/>
                </a:solidFill>
              </a:rPr>
              <a:t>5</a:t>
            </a:r>
            <a:r>
              <a:rPr lang="en-US" sz="2800" dirty="0" smtClean="0">
                <a:solidFill>
                  <a:schemeClr val="tx1"/>
                </a:solidFill>
              </a:rPr>
              <a:t> hrs] 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1"/>
            <a:ext cx="8229600" cy="761999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Ch-1 Introduction to instrumentation system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990600"/>
            <a:ext cx="8229600" cy="55626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400" b="1" u="sng" dirty="0" smtClean="0">
                <a:solidFill>
                  <a:schemeClr val="tx1"/>
                </a:solidFill>
              </a:rPr>
              <a:t>Some Definitions</a:t>
            </a:r>
          </a:p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Measurements: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  -means to monitor a process or a operation and using an instrument ,express the parameter, quantity or a variable in terms of meaningful  numbers 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-measurement of a given quantity is essentially an act or the result of the comparison  between the quantity(whose magnitude is unknown) and a predefined standard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 -For the result to be meaningful, there are two basic requirement:</a:t>
            </a:r>
          </a:p>
          <a:p>
            <a:pPr marL="457200" indent="-457200" algn="l">
              <a:buAutoNum type="arabicPeriod"/>
            </a:pPr>
            <a:r>
              <a:rPr lang="en-US" sz="2400" dirty="0" smtClean="0">
                <a:solidFill>
                  <a:schemeClr val="tx1"/>
                </a:solidFill>
              </a:rPr>
              <a:t>The comparison standard is accurately defined and commonly  accepted</a:t>
            </a:r>
          </a:p>
          <a:p>
            <a:pPr marL="457200" indent="-457200" algn="l"/>
            <a:r>
              <a:rPr lang="en-US" sz="2400" dirty="0" smtClean="0">
                <a:solidFill>
                  <a:schemeClr val="tx1"/>
                </a:solidFill>
              </a:rPr>
              <a:t>2.  The procedure and the instrument used for obtaining the comparison must be provable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"/>
            <a:ext cx="8305800" cy="5410200"/>
          </a:xfrm>
        </p:spPr>
        <p:txBody>
          <a:bodyPr>
            <a:normAutofit/>
          </a:bodyPr>
          <a:lstStyle/>
          <a:p>
            <a:pPr algn="l"/>
            <a:endParaRPr lang="en-US" sz="2400" dirty="0" smtClean="0">
              <a:solidFill>
                <a:schemeClr val="tx1"/>
              </a:solidFill>
            </a:endParaRP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Statement by famous Physicist Lord Kelvin:</a:t>
            </a:r>
          </a:p>
          <a:p>
            <a:pPr algn="l"/>
            <a:r>
              <a:rPr lang="en-US" sz="2200" dirty="0" smtClean="0">
                <a:solidFill>
                  <a:schemeClr val="tx1"/>
                </a:solidFill>
              </a:rPr>
              <a:t>“</a:t>
            </a:r>
            <a:r>
              <a:rPr lang="en-US" sz="2200" i="1" dirty="0" smtClean="0">
                <a:solidFill>
                  <a:schemeClr val="tx1"/>
                </a:solidFill>
              </a:rPr>
              <a:t>I often say that when you can measure what you are speaking about and can express  it in number ,you know something  about it ; When you can not express it in number your knowledge is of unsatisfactory kind”</a:t>
            </a:r>
          </a:p>
          <a:p>
            <a:pPr algn="l"/>
            <a:endParaRPr lang="en-US" sz="2200" i="1" dirty="0" smtClean="0">
              <a:solidFill>
                <a:schemeClr val="tx1"/>
              </a:solidFill>
            </a:endParaRPr>
          </a:p>
          <a:p>
            <a:pPr algn="l"/>
            <a:r>
              <a:rPr lang="en-US" sz="2400" b="1" dirty="0" err="1" smtClean="0">
                <a:solidFill>
                  <a:schemeClr val="tx1"/>
                </a:solidFill>
              </a:rPr>
              <a:t>Measurand</a:t>
            </a:r>
            <a:r>
              <a:rPr lang="en-US" sz="2400" b="1" dirty="0" smtClean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-The physical, chemical, electrical quantity, property, process, variable or a condition to be measured is referred to as </a:t>
            </a:r>
            <a:r>
              <a:rPr lang="en-US" sz="2400" dirty="0" err="1" smtClean="0">
                <a:solidFill>
                  <a:schemeClr val="tx1"/>
                </a:solidFill>
              </a:rPr>
              <a:t>measurand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</a:t>
            </a:r>
            <a:r>
              <a:rPr lang="en-US" sz="2400" dirty="0" err="1" smtClean="0">
                <a:solidFill>
                  <a:schemeClr val="tx1"/>
                </a:solidFill>
              </a:rPr>
              <a:t>eg</a:t>
            </a:r>
            <a:r>
              <a:rPr lang="en-US" sz="2400" dirty="0" smtClean="0">
                <a:solidFill>
                  <a:schemeClr val="tx1"/>
                </a:solidFill>
              </a:rPr>
              <a:t>.  Physical-</a:t>
            </a:r>
            <a:r>
              <a:rPr lang="en-US" sz="2400" dirty="0" err="1" smtClean="0">
                <a:solidFill>
                  <a:schemeClr val="tx1"/>
                </a:solidFill>
              </a:rPr>
              <a:t>length,force,mass</a:t>
            </a:r>
            <a:r>
              <a:rPr lang="en-US" sz="2400" dirty="0" smtClean="0">
                <a:solidFill>
                  <a:schemeClr val="tx1"/>
                </a:solidFill>
              </a:rPr>
              <a:t>    electrical- </a:t>
            </a:r>
            <a:r>
              <a:rPr lang="en-US" sz="2400" dirty="0" err="1" smtClean="0">
                <a:solidFill>
                  <a:schemeClr val="tx1"/>
                </a:solidFill>
              </a:rPr>
              <a:t>voltage,current</a:t>
            </a:r>
            <a:r>
              <a:rPr lang="en-US" sz="2400" dirty="0" smtClean="0">
                <a:solidFill>
                  <a:schemeClr val="tx1"/>
                </a:solidFill>
              </a:rPr>
              <a:t> ,power </a:t>
            </a:r>
          </a:p>
          <a:p>
            <a:pPr algn="l"/>
            <a:endParaRPr lang="en-US" sz="2400" dirty="0" smtClean="0">
              <a:solidFill>
                <a:schemeClr val="tx1"/>
              </a:solidFill>
            </a:endParaRPr>
          </a:p>
          <a:p>
            <a:pPr algn="l"/>
            <a:endParaRPr lang="en-US" sz="2200" dirty="0" smtClean="0">
              <a:solidFill>
                <a:schemeClr val="tx1"/>
              </a:solidFill>
            </a:endParaRPr>
          </a:p>
          <a:p>
            <a:endParaRPr lang="en-US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52400"/>
            <a:ext cx="8153400" cy="6400800"/>
          </a:xfrm>
        </p:spPr>
        <p:txBody>
          <a:bodyPr>
            <a:normAutofit/>
          </a:bodyPr>
          <a:lstStyle/>
          <a:p>
            <a:pPr algn="l"/>
            <a:endParaRPr lang="en-US" sz="2400" b="1" dirty="0" smtClean="0">
              <a:solidFill>
                <a:schemeClr val="tx1"/>
              </a:solidFill>
            </a:endParaRPr>
          </a:p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Measurement system: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-Consists of a </a:t>
            </a:r>
            <a:r>
              <a:rPr lang="en-US" sz="2400" dirty="0" err="1" smtClean="0">
                <a:solidFill>
                  <a:schemeClr val="tx1"/>
                </a:solidFill>
              </a:rPr>
              <a:t>transducing</a:t>
            </a:r>
            <a:r>
              <a:rPr lang="en-US" sz="2400" dirty="0" smtClean="0">
                <a:solidFill>
                  <a:schemeClr val="tx1"/>
                </a:solidFill>
              </a:rPr>
              <a:t> element which convert the quantity to be measured in an analogous form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-The analogous signal is then processed by some intermediate means and 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-is then fed to the end device which present the result of measurement for the  purpose of display or control</a:t>
            </a:r>
          </a:p>
          <a:p>
            <a:pPr algn="l"/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838200" y="4038600"/>
            <a:ext cx="7848600" cy="1447800"/>
            <a:chOff x="838200" y="4038600"/>
            <a:chExt cx="7848600" cy="1447800"/>
          </a:xfrm>
        </p:grpSpPr>
        <p:sp>
          <p:nvSpPr>
            <p:cNvPr id="5" name="Rectangle 4"/>
            <p:cNvSpPr/>
            <p:nvPr/>
          </p:nvSpPr>
          <p:spPr>
            <a:xfrm>
              <a:off x="1981200" y="4038600"/>
              <a:ext cx="1752600" cy="1447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 smtClean="0">
                  <a:solidFill>
                    <a:srgbClr val="C00000"/>
                  </a:solidFill>
                </a:rPr>
                <a:t>Transducing</a:t>
              </a:r>
              <a:r>
                <a:rPr lang="en-US" sz="2400" dirty="0" smtClean="0">
                  <a:solidFill>
                    <a:srgbClr val="C00000"/>
                  </a:solidFill>
                </a:rPr>
                <a:t> Element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419600" y="4038600"/>
              <a:ext cx="1828800" cy="1371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srgbClr val="C00000"/>
                  </a:solidFill>
                </a:rPr>
                <a:t>Intermediate   Means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010400" y="4038600"/>
              <a:ext cx="1676400" cy="1371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srgbClr val="C00000"/>
                  </a:solidFill>
                </a:rPr>
                <a:t>End Device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cxnSp>
          <p:nvCxnSpPr>
            <p:cNvPr id="9" name="Straight Arrow Connector 8"/>
            <p:cNvCxnSpPr>
              <a:endCxn id="6" idx="1"/>
            </p:cNvCxnSpPr>
            <p:nvPr/>
          </p:nvCxnSpPr>
          <p:spPr>
            <a:xfrm>
              <a:off x="3733800" y="4686300"/>
              <a:ext cx="6858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6" idx="3"/>
              <a:endCxn id="7" idx="1"/>
            </p:cNvCxnSpPr>
            <p:nvPr/>
          </p:nvCxnSpPr>
          <p:spPr>
            <a:xfrm>
              <a:off x="6248400" y="4724400"/>
              <a:ext cx="762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838200" y="4648200"/>
              <a:ext cx="1143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609600" y="41910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measurand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Anil Kumar </a:t>
            </a:r>
            <a:r>
              <a:rPr lang="en-US" dirty="0" err="1" smtClean="0"/>
              <a:t>Yadav</a:t>
            </a:r>
            <a:r>
              <a:rPr lang="en-US" dirty="0" smtClean="0"/>
              <a:t>, </a:t>
            </a:r>
            <a:r>
              <a:rPr lang="en-US" dirty="0" err="1" smtClean="0"/>
              <a:t>nec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"/>
            <a:ext cx="8305800" cy="63246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Instrument:    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     -Device for determining the magnitude of a quantity or   	variables.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      -Physical means of determining quantities or variables.</a:t>
            </a:r>
          </a:p>
          <a:p>
            <a:pPr algn="l"/>
            <a:r>
              <a:rPr lang="en-US" sz="2400" b="1" i="1" dirty="0" smtClean="0">
                <a:solidFill>
                  <a:schemeClr val="tx1"/>
                </a:solidFill>
              </a:rPr>
              <a:t>Instrument Types</a:t>
            </a:r>
            <a:r>
              <a:rPr lang="en-US" sz="2400" b="1" dirty="0" smtClean="0">
                <a:solidFill>
                  <a:schemeClr val="tx1"/>
                </a:solidFill>
              </a:rPr>
              <a:t>: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</a:rPr>
              <a:t>   Mechanical instruments.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</a:rPr>
              <a:t>   Electrical instruments.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</a:rPr>
              <a:t>   Electronics instruments.</a:t>
            </a:r>
          </a:p>
          <a:p>
            <a:pPr algn="l"/>
            <a:r>
              <a:rPr lang="en-US" sz="2300" b="1" dirty="0" smtClean="0">
                <a:solidFill>
                  <a:schemeClr val="tx1"/>
                </a:solidFill>
              </a:rPr>
              <a:t>1</a:t>
            </a:r>
            <a:r>
              <a:rPr lang="en-US" sz="2300" b="1" i="1" dirty="0" smtClean="0">
                <a:solidFill>
                  <a:schemeClr val="tx1"/>
                </a:solidFill>
              </a:rPr>
              <a:t>. Mechanical Instruments:</a:t>
            </a:r>
          </a:p>
          <a:p>
            <a:pPr algn="l">
              <a:buFont typeface="Wingdings" pitchFamily="2" charset="2"/>
              <a:buChar char="Ø"/>
            </a:pPr>
            <a:r>
              <a:rPr lang="en-US" sz="2300" dirty="0" smtClean="0">
                <a:solidFill>
                  <a:schemeClr val="tx1"/>
                </a:solidFill>
              </a:rPr>
              <a:t>Very reliable for static and stable conditions.</a:t>
            </a:r>
          </a:p>
          <a:p>
            <a:pPr algn="l">
              <a:buFont typeface="Wingdings" pitchFamily="2" charset="2"/>
              <a:buChar char="Ø"/>
            </a:pPr>
            <a:r>
              <a:rPr lang="en-US" sz="2300" dirty="0" smtClean="0">
                <a:solidFill>
                  <a:schemeClr val="tx1"/>
                </a:solidFill>
              </a:rPr>
              <a:t>Unable to respond rapidly for dynamic and transient conditions.</a:t>
            </a:r>
          </a:p>
          <a:p>
            <a:pPr algn="l">
              <a:buFont typeface="Wingdings" pitchFamily="2" charset="2"/>
              <a:buChar char="Ø"/>
            </a:pPr>
            <a:r>
              <a:rPr lang="en-US" sz="2300" dirty="0" smtClean="0">
                <a:solidFill>
                  <a:schemeClr val="tx1"/>
                </a:solidFill>
              </a:rPr>
              <a:t>Instrument moving part is rigid, heavy, bulky &amp; have large mass etc.</a:t>
            </a:r>
          </a:p>
          <a:p>
            <a:pPr algn="l">
              <a:buFont typeface="Wingdings" pitchFamily="2" charset="2"/>
              <a:buChar char="Ø"/>
            </a:pPr>
            <a:r>
              <a:rPr lang="en-US" sz="2300" dirty="0" smtClean="0">
                <a:solidFill>
                  <a:schemeClr val="tx1"/>
                </a:solidFill>
              </a:rPr>
              <a:t>It causes obstacle to rapid change in dynamic conditions.</a:t>
            </a:r>
          </a:p>
          <a:p>
            <a:pPr algn="l">
              <a:buFont typeface="Wingdings" pitchFamily="2" charset="2"/>
              <a:buChar char="Ø"/>
            </a:pPr>
            <a:r>
              <a:rPr lang="en-US" sz="2300" dirty="0" smtClean="0">
                <a:solidFill>
                  <a:schemeClr val="tx1"/>
                </a:solidFill>
              </a:rPr>
              <a:t>Mechanical instruments creates noise pollution.</a:t>
            </a:r>
          </a:p>
          <a:p>
            <a:pPr algn="l"/>
            <a:endParaRPr lang="en-US" sz="2400" dirty="0" smtClean="0">
              <a:solidFill>
                <a:schemeClr val="tx1"/>
              </a:solidFill>
            </a:endParaRPr>
          </a:p>
          <a:p>
            <a:pPr algn="l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52400"/>
            <a:ext cx="8458200" cy="6400800"/>
          </a:xfrm>
        </p:spPr>
        <p:txBody>
          <a:bodyPr>
            <a:normAutofit/>
          </a:bodyPr>
          <a:lstStyle/>
          <a:p>
            <a:pPr algn="l"/>
            <a:endParaRPr lang="en-US" sz="2400" b="1" dirty="0" smtClean="0">
              <a:solidFill>
                <a:schemeClr val="tx1"/>
              </a:solidFill>
            </a:endParaRPr>
          </a:p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2</a:t>
            </a:r>
            <a:r>
              <a:rPr lang="en-US" sz="2400" dirty="0" smtClean="0">
                <a:solidFill>
                  <a:schemeClr val="tx1"/>
                </a:solidFill>
              </a:rPr>
              <a:t>. </a:t>
            </a:r>
            <a:r>
              <a:rPr lang="en-US" sz="2400" b="1" i="1" dirty="0" smtClean="0">
                <a:solidFill>
                  <a:schemeClr val="tx1"/>
                </a:solidFill>
              </a:rPr>
              <a:t>Electrical Instruments</a:t>
            </a:r>
          </a:p>
          <a:p>
            <a:pPr algn="l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</a:rPr>
              <a:t>Comparatively rapid than mechanical method.</a:t>
            </a:r>
          </a:p>
          <a:p>
            <a:pPr algn="l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</a:rPr>
              <a:t>Normally, electrical system depends upon mechanical system which has some inertia.</a:t>
            </a:r>
          </a:p>
          <a:p>
            <a:pPr algn="l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</a:rPr>
              <a:t>Therefore, electrical instruments have limited time response.</a:t>
            </a:r>
          </a:p>
          <a:p>
            <a:pPr algn="l">
              <a:buAutoNum type="arabicPeriod" startAt="3"/>
            </a:pPr>
            <a:r>
              <a:rPr lang="en-US" sz="2400" b="1" i="1" dirty="0" smtClean="0">
                <a:solidFill>
                  <a:schemeClr val="tx1"/>
                </a:solidFill>
              </a:rPr>
              <a:t>Electronic Instruments</a:t>
            </a:r>
          </a:p>
          <a:p>
            <a:pPr algn="l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</a:rPr>
              <a:t>In electronic device, the only movement involved is that of electrons.</a:t>
            </a:r>
          </a:p>
          <a:p>
            <a:pPr algn="l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</a:rPr>
              <a:t>Since electrons have very small inertia, the response time becomes very fast. (</a:t>
            </a:r>
            <a:r>
              <a:rPr lang="en-US" sz="2400" dirty="0" err="1" smtClean="0">
                <a:solidFill>
                  <a:schemeClr val="tx1"/>
                </a:solidFill>
              </a:rPr>
              <a:t>eg</a:t>
            </a:r>
            <a:r>
              <a:rPr lang="en-US" sz="2400" dirty="0" smtClean="0">
                <a:solidFill>
                  <a:schemeClr val="tx1"/>
                </a:solidFill>
              </a:rPr>
              <a:t>. CRO yields response in ns)</a:t>
            </a:r>
          </a:p>
          <a:p>
            <a:pPr algn="l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</a:rPr>
              <a:t>In general electronics have: </a:t>
            </a:r>
            <a:r>
              <a:rPr lang="en-US" sz="2400" dirty="0" err="1" smtClean="0">
                <a:solidFill>
                  <a:schemeClr val="tx1"/>
                </a:solidFill>
              </a:rPr>
              <a:t>i</a:t>
            </a:r>
            <a:r>
              <a:rPr lang="en-US" sz="2400" dirty="0" smtClean="0">
                <a:solidFill>
                  <a:schemeClr val="tx1"/>
                </a:solidFill>
              </a:rPr>
              <a:t>) Higher sensitivity ii) Faster response iii) Greater flexibility  iv) Small in size &amp; less in weight v) Lower power consumption vi) Higher reliability etc.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1"/>
            <a:ext cx="8229600" cy="685799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/>
              <a:t>Classification of instruments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762000"/>
            <a:ext cx="8305800" cy="5791200"/>
          </a:xfrm>
        </p:spPr>
        <p:txBody>
          <a:bodyPr>
            <a:normAutofit lnSpcReduction="10000"/>
          </a:bodyPr>
          <a:lstStyle/>
          <a:p>
            <a:pPr algn="l">
              <a:buFont typeface="+mj-lt"/>
              <a:buAutoNum type="arabicParenR"/>
            </a:pPr>
            <a:r>
              <a:rPr lang="en-US" sz="2400" dirty="0" smtClean="0">
                <a:solidFill>
                  <a:schemeClr val="tx1"/>
                </a:solidFill>
              </a:rPr>
              <a:t>Absolute Instruments</a:t>
            </a:r>
          </a:p>
          <a:p>
            <a:pPr algn="l">
              <a:buFont typeface="+mj-lt"/>
              <a:buAutoNum type="arabicParenR"/>
            </a:pPr>
            <a:r>
              <a:rPr lang="en-US" sz="2400" dirty="0" smtClean="0">
                <a:solidFill>
                  <a:schemeClr val="tx1"/>
                </a:solidFill>
              </a:rPr>
              <a:t>Secondary Instruments</a:t>
            </a:r>
          </a:p>
          <a:p>
            <a:pPr algn="l">
              <a:buAutoNum type="arabicPeriod"/>
            </a:pPr>
            <a:r>
              <a:rPr lang="en-US" sz="2400" b="1" dirty="0" smtClean="0">
                <a:solidFill>
                  <a:schemeClr val="tx1"/>
                </a:solidFill>
              </a:rPr>
              <a:t>Absolute Instruments</a:t>
            </a:r>
          </a:p>
          <a:p>
            <a:pPr algn="l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</a:rPr>
              <a:t>Provide the magnitude of quantity under measurement in terms of physical constants of instrument.</a:t>
            </a:r>
          </a:p>
          <a:p>
            <a:pPr algn="l">
              <a:buFont typeface="Wingdings" pitchFamily="2" charset="2"/>
              <a:buChar char="Ø"/>
            </a:pPr>
            <a:r>
              <a:rPr lang="en-US" sz="2400" dirty="0" err="1" smtClean="0">
                <a:solidFill>
                  <a:schemeClr val="tx1"/>
                </a:solidFill>
              </a:rPr>
              <a:t>eg</a:t>
            </a:r>
            <a:r>
              <a:rPr lang="en-US" sz="2400" dirty="0" smtClean="0">
                <a:solidFill>
                  <a:schemeClr val="tx1"/>
                </a:solidFill>
              </a:rPr>
              <a:t>. Tangent galvanometer, Rayleigh’s current balance.</a:t>
            </a:r>
          </a:p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2</a:t>
            </a:r>
            <a:r>
              <a:rPr lang="en-US" sz="2400" dirty="0" smtClean="0">
                <a:solidFill>
                  <a:schemeClr val="tx1"/>
                </a:solidFill>
              </a:rPr>
              <a:t>. </a:t>
            </a:r>
            <a:r>
              <a:rPr lang="en-US" sz="2400" b="1" dirty="0" smtClean="0">
                <a:solidFill>
                  <a:schemeClr val="tx1"/>
                </a:solidFill>
              </a:rPr>
              <a:t>Secondary Instruments</a:t>
            </a:r>
          </a:p>
          <a:p>
            <a:pPr algn="l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</a:rPr>
              <a:t>It is so designed that the quantity being measured can be measured by observing the output indicated by instrument.</a:t>
            </a:r>
          </a:p>
          <a:p>
            <a:pPr algn="l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</a:rPr>
              <a:t>It is calibrated by comparison with an absolute instrument or secondary instrument which already calibrated against absolute instruments.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	</a:t>
            </a:r>
            <a:r>
              <a:rPr lang="en-US" sz="2400" dirty="0" err="1" smtClean="0">
                <a:solidFill>
                  <a:schemeClr val="tx1"/>
                </a:solidFill>
              </a:rPr>
              <a:t>eg</a:t>
            </a:r>
            <a:r>
              <a:rPr lang="en-US" sz="2400" dirty="0" smtClean="0">
                <a:solidFill>
                  <a:schemeClr val="tx1"/>
                </a:solidFill>
              </a:rPr>
              <a:t>. A voltmeter, A glass thermometer, &amp; A pressure gauge etc. </a:t>
            </a:r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1"/>
            <a:ext cx="8229600" cy="533399"/>
          </a:xfrm>
        </p:spPr>
        <p:txBody>
          <a:bodyPr>
            <a:normAutofit/>
          </a:bodyPr>
          <a:lstStyle/>
          <a:p>
            <a:pPr algn="l"/>
            <a:r>
              <a:rPr lang="en-US" sz="2400" b="1" u="sng" dirty="0" smtClean="0"/>
              <a:t>Instrumentation System:</a:t>
            </a:r>
            <a:endParaRPr lang="en-US" sz="24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685800"/>
            <a:ext cx="8382000" cy="58674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-It consists of different components which together are used to perform a measurement and record the results.</a:t>
            </a:r>
          </a:p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Generalized block Diagram of Instrumentation System</a:t>
            </a:r>
          </a:p>
          <a:p>
            <a:pPr algn="l"/>
            <a:r>
              <a:rPr lang="en-US" sz="2400" b="1" dirty="0" smtClean="0">
                <a:solidFill>
                  <a:srgbClr val="C00000"/>
                </a:solidFill>
              </a:rPr>
              <a:t>(Functional element of instrumentation s/m or Measurement s/m)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4" name="Picture 3" descr="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667000"/>
            <a:ext cx="8382000" cy="344805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52400"/>
            <a:ext cx="8305800" cy="6400800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1.Primary Sensing Element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-The quantity under measurement makes its first contact with primary sensing element called as transducer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-A transducer is a device which converts a physical (non electrical) quantity into an electrical quantity. e.g. Microphone, LDR etc.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2. </a:t>
            </a:r>
            <a:r>
              <a:rPr lang="en-US" sz="2400" b="1" dirty="0" smtClean="0">
                <a:solidFill>
                  <a:schemeClr val="tx1"/>
                </a:solidFill>
              </a:rPr>
              <a:t>Variable Conversion Element</a:t>
            </a:r>
          </a:p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     -</a:t>
            </a:r>
            <a:r>
              <a:rPr lang="en-US" sz="2400" dirty="0" smtClean="0">
                <a:solidFill>
                  <a:schemeClr val="tx1"/>
                </a:solidFill>
              </a:rPr>
              <a:t>The output of the primary sensing element may be electrical signal of any forms.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-It may be voltage or current or other electrical parameters.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 -Sometimes this input is not suited to the system.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-For digital system, this analog signal will have to be converted into digital form.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         -For example: ADC (Analog to Digital Converter)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28600"/>
            <a:ext cx="8382000" cy="6324600"/>
          </a:xfrm>
        </p:spPr>
        <p:txBody>
          <a:bodyPr>
            <a:normAutofit/>
          </a:bodyPr>
          <a:lstStyle/>
          <a:p>
            <a:pPr algn="l"/>
            <a:endParaRPr lang="en-US" sz="2400" b="1" dirty="0" smtClean="0">
              <a:solidFill>
                <a:schemeClr val="tx1"/>
              </a:solidFill>
            </a:endParaRPr>
          </a:p>
          <a:p>
            <a:pPr algn="just"/>
            <a:r>
              <a:rPr lang="en-US" sz="2400" b="1" dirty="0" smtClean="0">
                <a:solidFill>
                  <a:schemeClr val="tx1"/>
                </a:solidFill>
              </a:rPr>
              <a:t>3. Variable Manipulation Element</a:t>
            </a:r>
          </a:p>
          <a:p>
            <a:pPr algn="just"/>
            <a:r>
              <a:rPr lang="en-US" sz="2400" b="1" dirty="0" smtClean="0">
                <a:solidFill>
                  <a:schemeClr val="tx1"/>
                </a:solidFill>
              </a:rPr>
              <a:t>       -</a:t>
            </a:r>
            <a:r>
              <a:rPr lang="en-US" sz="2400" dirty="0" smtClean="0">
                <a:solidFill>
                  <a:schemeClr val="tx1"/>
                </a:solidFill>
              </a:rPr>
              <a:t>The function of this element is to manipulate the signal present to it preserving the original nature of the signal.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      -Manipulation here means only a change in numerical values of the signal.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         -e.g. Electronic Amplifier which accepts a small voltage signal and produces an output signal of greater magnitude.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       -Signal amplification and attenuation task is performed in variable manipulation element </a:t>
            </a:r>
          </a:p>
          <a:p>
            <a:pPr algn="just"/>
            <a:r>
              <a:rPr lang="en-US" sz="2400" i="1" dirty="0" smtClean="0">
                <a:solidFill>
                  <a:schemeClr val="tx1"/>
                </a:solidFill>
              </a:rPr>
              <a:t>            -Combined form of variable conversion  and  variable manipulation is known as signal conditioning element </a:t>
            </a:r>
            <a:endParaRPr lang="en-US" sz="2400" i="1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28600"/>
            <a:ext cx="8458200" cy="6324600"/>
          </a:xfrm>
        </p:spPr>
        <p:txBody>
          <a:bodyPr>
            <a:normAutofit/>
          </a:bodyPr>
          <a:lstStyle/>
          <a:p>
            <a:pPr algn="l"/>
            <a:endParaRPr lang="en-US" sz="2400" b="1" dirty="0" smtClean="0">
              <a:solidFill>
                <a:schemeClr val="tx1"/>
              </a:solidFill>
            </a:endParaRPr>
          </a:p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4. Data Transmission Element</a:t>
            </a:r>
          </a:p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      -</a:t>
            </a:r>
            <a:r>
              <a:rPr lang="en-US" sz="2400" dirty="0" smtClean="0">
                <a:solidFill>
                  <a:schemeClr val="tx1"/>
                </a:solidFill>
              </a:rPr>
              <a:t>When the elements of an instrument are actually physically separated, it becomes necessary to transmit data from one point to another.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-The element that performs this task is called data transmission element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   -For example, space crafts are physically separated from the earth station where the control stations guiding their movements are located.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  -Therefore, control signals are sent from these stations to space craft by telemetry system using radio signals.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      -</a:t>
            </a:r>
            <a:r>
              <a:rPr lang="en-US" sz="2400" i="1" dirty="0" smtClean="0">
                <a:solidFill>
                  <a:schemeClr val="tx1"/>
                </a:solidFill>
              </a:rPr>
              <a:t>The signal conditioning and transmission stage is commonly known as  intermediate stage </a:t>
            </a:r>
            <a:endParaRPr lang="en-US" sz="2400" i="1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"/>
            <a:ext cx="8305800" cy="6324600"/>
          </a:xfrm>
        </p:spPr>
        <p:txBody>
          <a:bodyPr>
            <a:normAutofit/>
          </a:bodyPr>
          <a:lstStyle/>
          <a:p>
            <a:pPr algn="l"/>
            <a:endParaRPr lang="en-US" sz="2400" b="1" dirty="0" smtClean="0">
              <a:solidFill>
                <a:schemeClr val="tx1"/>
              </a:solidFill>
            </a:endParaRPr>
          </a:p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5. Data Presentation Element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   -The information about the quantity being measured should be displayed appropriately for monitoring, control and analysis purpose.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  -In this case, data to be monitored needs visual devices. </a:t>
            </a:r>
            <a:r>
              <a:rPr lang="en-US" sz="2400" dirty="0" err="1" smtClean="0">
                <a:solidFill>
                  <a:schemeClr val="tx1"/>
                </a:solidFill>
              </a:rPr>
              <a:t>e.g</a:t>
            </a:r>
            <a:r>
              <a:rPr lang="en-US" sz="2400" dirty="0" smtClean="0">
                <a:solidFill>
                  <a:schemeClr val="tx1"/>
                </a:solidFill>
              </a:rPr>
              <a:t> Ammeter, voltmeter, LCD Display ,VDU(video display unit)etc.</a:t>
            </a:r>
          </a:p>
          <a:p>
            <a:pPr algn="l"/>
            <a:r>
              <a:rPr lang="en-US" sz="2400" i="1" dirty="0" smtClean="0">
                <a:solidFill>
                  <a:schemeClr val="tx1"/>
                </a:solidFill>
              </a:rPr>
              <a:t>        -also called terminating stage of instrumentation system</a:t>
            </a:r>
            <a:endParaRPr lang="en-US" sz="2400" i="1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1"/>
            <a:ext cx="8229600" cy="380999"/>
          </a:xfrm>
        </p:spPr>
        <p:txBody>
          <a:bodyPr>
            <a:normAutofit fontScale="90000"/>
          </a:bodyPr>
          <a:lstStyle/>
          <a:p>
            <a:pPr algn="l"/>
            <a:r>
              <a:rPr lang="en-US" sz="2800" b="1" dirty="0" smtClean="0"/>
              <a:t>Types of signal in instrumentation system</a:t>
            </a:r>
            <a:endParaRPr lang="en-US"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533400"/>
            <a:ext cx="8305800" cy="6019800"/>
          </a:xfrm>
        </p:spPr>
        <p:txBody>
          <a:bodyPr>
            <a:normAutofit/>
          </a:bodyPr>
          <a:lstStyle/>
          <a:p>
            <a:pPr algn="l"/>
            <a:r>
              <a:rPr lang="en-US" sz="2400" b="1" u="sng" dirty="0" smtClean="0">
                <a:solidFill>
                  <a:schemeClr val="tx1"/>
                </a:solidFill>
              </a:rPr>
              <a:t>Signal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             - A function of one or more independent variable which contains information is called signal</a:t>
            </a:r>
          </a:p>
          <a:p>
            <a:pPr algn="l"/>
            <a:r>
              <a:rPr lang="en-US" sz="2400" b="1" u="sng" dirty="0" smtClean="0">
                <a:solidFill>
                  <a:schemeClr val="tx1"/>
                </a:solidFill>
              </a:rPr>
              <a:t>Types of signals:</a:t>
            </a:r>
          </a:p>
          <a:p>
            <a:pPr marL="514350" indent="-514350" algn="l">
              <a:buAutoNum type="romanLcParenR"/>
            </a:pPr>
            <a:r>
              <a:rPr lang="en-US" sz="2400" b="1" dirty="0" smtClean="0">
                <a:solidFill>
                  <a:schemeClr val="tx1"/>
                </a:solidFill>
              </a:rPr>
              <a:t>Continuous time and Discrete time signal:</a:t>
            </a:r>
          </a:p>
          <a:p>
            <a:pPr marL="514350" indent="-514350" algn="l"/>
            <a:r>
              <a:rPr lang="en-US" sz="2400" dirty="0" smtClean="0">
                <a:solidFill>
                  <a:srgbClr val="C00000"/>
                </a:solidFill>
              </a:rPr>
              <a:t>Continuous signal   </a:t>
            </a:r>
          </a:p>
          <a:p>
            <a:pPr marL="514350" indent="-514350" algn="l"/>
            <a:r>
              <a:rPr lang="en-US" sz="2400" dirty="0" smtClean="0">
                <a:solidFill>
                  <a:schemeClr val="tx1"/>
                </a:solidFill>
              </a:rPr>
              <a:t>-is defined continuously in time domain</a:t>
            </a:r>
          </a:p>
          <a:p>
            <a:pPr marL="514350" indent="-514350" algn="l"/>
            <a:r>
              <a:rPr lang="en-US" sz="2400" dirty="0" smtClean="0">
                <a:solidFill>
                  <a:schemeClr val="tx1"/>
                </a:solidFill>
              </a:rPr>
              <a:t>-independent variable is ‘t’</a:t>
            </a:r>
          </a:p>
          <a:p>
            <a:pPr marL="514350" indent="-514350" algn="l"/>
            <a:r>
              <a:rPr lang="en-US" sz="2400" dirty="0" smtClean="0">
                <a:solidFill>
                  <a:schemeClr val="tx1"/>
                </a:solidFill>
              </a:rPr>
              <a:t>-represented by x(t)</a:t>
            </a:r>
          </a:p>
          <a:p>
            <a:pPr marL="514350" indent="-514350" algn="l"/>
            <a:r>
              <a:rPr lang="en-US" sz="2400" dirty="0" smtClean="0">
                <a:solidFill>
                  <a:srgbClr val="C00000"/>
                </a:solidFill>
              </a:rPr>
              <a:t>Discrete signal</a:t>
            </a:r>
          </a:p>
          <a:p>
            <a:pPr marL="514350" indent="-514350" algn="l"/>
            <a:r>
              <a:rPr lang="en-US" sz="2400" dirty="0" smtClean="0">
                <a:solidFill>
                  <a:schemeClr val="tx1"/>
                </a:solidFill>
              </a:rPr>
              <a:t>-is defined only at certain time interval</a:t>
            </a:r>
          </a:p>
          <a:p>
            <a:pPr marL="514350" indent="-514350" algn="l"/>
            <a:r>
              <a:rPr lang="en-US" sz="2400" dirty="0" smtClean="0">
                <a:solidFill>
                  <a:schemeClr val="tx1"/>
                </a:solidFill>
              </a:rPr>
              <a:t>-independent variable is ‘n’</a:t>
            </a:r>
          </a:p>
          <a:p>
            <a:pPr marL="514350" indent="-514350" algn="l"/>
            <a:r>
              <a:rPr lang="en-US" sz="2400" dirty="0" smtClean="0">
                <a:solidFill>
                  <a:schemeClr val="tx1"/>
                </a:solidFill>
              </a:rPr>
              <a:t>-represented by x[n]</a:t>
            </a:r>
          </a:p>
        </p:txBody>
      </p:sp>
      <p:pic>
        <p:nvPicPr>
          <p:cNvPr id="1026" name="Picture 2" descr="C:\Users\Anil\Desktop\New folder\c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0" y="2971800"/>
            <a:ext cx="2238375" cy="1609725"/>
          </a:xfrm>
          <a:prstGeom prst="rect">
            <a:avLst/>
          </a:prstGeom>
          <a:noFill/>
        </p:spPr>
      </p:pic>
      <p:pic>
        <p:nvPicPr>
          <p:cNvPr id="1027" name="Picture 3" descr="C:\Users\Anil\Desktop\New folder\d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3600" y="4800600"/>
            <a:ext cx="2314575" cy="1390650"/>
          </a:xfrm>
          <a:prstGeom prst="rect">
            <a:avLst/>
          </a:prstGeom>
          <a:noFill/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/>
              <a:t>ii) Deterministic and Non Deterministic  signal: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Deterministic Signal</a:t>
            </a:r>
          </a:p>
          <a:p>
            <a:pPr>
              <a:buNone/>
            </a:pPr>
            <a:r>
              <a:rPr lang="en-US" sz="2400" dirty="0" smtClean="0"/>
              <a:t>-are those signal which can be completely specified in time </a:t>
            </a:r>
          </a:p>
          <a:p>
            <a:pPr>
              <a:buNone/>
            </a:pPr>
            <a:r>
              <a:rPr lang="en-US" sz="2400" dirty="0" smtClean="0"/>
              <a:t>-pattern is regular </a:t>
            </a:r>
          </a:p>
          <a:p>
            <a:pPr>
              <a:buNone/>
            </a:pPr>
            <a:r>
              <a:rPr lang="en-US" sz="2400" dirty="0" smtClean="0"/>
              <a:t>-nature and amplitude at any time can be predicted </a:t>
            </a:r>
          </a:p>
          <a:p>
            <a:pPr>
              <a:buNone/>
            </a:pPr>
            <a:r>
              <a:rPr lang="en-US" sz="2400" dirty="0" smtClean="0"/>
              <a:t>-</a:t>
            </a:r>
            <a:r>
              <a:rPr lang="en-US" sz="2400" dirty="0" err="1" smtClean="0"/>
              <a:t>Eg</a:t>
            </a:r>
            <a:r>
              <a:rPr lang="en-US" sz="2400" dirty="0" smtClean="0"/>
              <a:t>. X(t)=3sin(4t)</a:t>
            </a:r>
          </a:p>
          <a:p>
            <a:pPr>
              <a:buNone/>
            </a:pPr>
            <a:endParaRPr lang="en-US" sz="24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Non Deterministic  signal     </a:t>
            </a:r>
          </a:p>
          <a:p>
            <a:pPr>
              <a:buNone/>
            </a:pPr>
            <a:r>
              <a:rPr lang="en-US" sz="2400" dirty="0" smtClean="0"/>
              <a:t>-is one whose occurrence is always random in nature </a:t>
            </a:r>
          </a:p>
          <a:p>
            <a:pPr>
              <a:buNone/>
            </a:pPr>
            <a:r>
              <a:rPr lang="en-US" sz="2400" dirty="0" smtClean="0"/>
              <a:t>-pattern is quite irregular </a:t>
            </a:r>
          </a:p>
          <a:p>
            <a:pPr>
              <a:buNone/>
            </a:pPr>
            <a:r>
              <a:rPr lang="en-US" sz="2400" dirty="0" smtClean="0"/>
              <a:t>-also called random signal</a:t>
            </a:r>
          </a:p>
          <a:p>
            <a:pPr>
              <a:buNone/>
            </a:pPr>
            <a:r>
              <a:rPr lang="en-US" sz="2400" dirty="0" smtClean="0"/>
              <a:t>-</a:t>
            </a:r>
            <a:r>
              <a:rPr lang="en-US" sz="2400" dirty="0" err="1" smtClean="0"/>
              <a:t>Eg</a:t>
            </a:r>
            <a:r>
              <a:rPr lang="en-US" sz="2400" dirty="0" smtClean="0"/>
              <a:t>. Thermal noise </a:t>
            </a:r>
            <a:endParaRPr lang="en-US" sz="2400" dirty="0"/>
          </a:p>
        </p:txBody>
      </p:sp>
      <p:pic>
        <p:nvPicPr>
          <p:cNvPr id="9" name="Picture 5" descr="C:\Users\Anil\Desktop\New folder\dete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6200" y="2438400"/>
            <a:ext cx="3324225" cy="962025"/>
          </a:xfrm>
          <a:prstGeom prst="rect">
            <a:avLst/>
          </a:prstGeom>
          <a:noFill/>
        </p:spPr>
      </p:pic>
      <p:pic>
        <p:nvPicPr>
          <p:cNvPr id="2063" name="Picture 15" descr="C:\Users\Anil\Desktop\New folder\non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91000" y="4343400"/>
            <a:ext cx="3295650" cy="828675"/>
          </a:xfrm>
          <a:prstGeom prst="rect">
            <a:avLst/>
          </a:prstGeom>
          <a:noFill/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/>
              <a:t>iii) Periodic &amp; Non Periodic Signal:</a:t>
            </a:r>
          </a:p>
          <a:p>
            <a:pPr>
              <a:buNone/>
            </a:pPr>
            <a:r>
              <a:rPr lang="en-US" sz="2400" dirty="0" smtClean="0"/>
              <a:t>          -Periodic signal is that which repeats itself over a certain interval of time regularly. </a:t>
            </a:r>
          </a:p>
          <a:p>
            <a:pPr>
              <a:buNone/>
            </a:pPr>
            <a:r>
              <a:rPr lang="en-US" sz="2400" dirty="0" smtClean="0"/>
              <a:t>           -signal x(t) is said to be periodic with T: If x(t + T) = x(t)</a:t>
            </a:r>
          </a:p>
          <a:p>
            <a:pPr>
              <a:buNone/>
            </a:pPr>
            <a:r>
              <a:rPr lang="en-US" sz="2400" dirty="0" smtClean="0"/>
              <a:t>        </a:t>
            </a:r>
          </a:p>
          <a:p>
            <a:pPr>
              <a:buNone/>
            </a:pPr>
            <a:r>
              <a:rPr lang="en-US" sz="2400" dirty="0" smtClean="0"/>
              <a:t>  - If the signal violates the above condition, then it is called non periodic signal. i.e. x(t + T) ≠ x(t)</a:t>
            </a:r>
          </a:p>
          <a:p>
            <a:pPr>
              <a:buNone/>
            </a:pPr>
            <a:endParaRPr lang="en-US" sz="2400" dirty="0"/>
          </a:p>
        </p:txBody>
      </p:sp>
      <p:pic>
        <p:nvPicPr>
          <p:cNvPr id="4" name="Picture 3" descr="p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352800"/>
            <a:ext cx="4343400" cy="160020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382000" cy="5973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/>
              <a:t>iv)Even &amp; Odd Signal: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Even Signal       </a:t>
            </a:r>
          </a:p>
          <a:p>
            <a:pPr>
              <a:buNone/>
            </a:pPr>
            <a:r>
              <a:rPr lang="en-US" sz="2400" dirty="0" smtClean="0"/>
              <a:t>-Exhibits symmetry in time domain</a:t>
            </a:r>
          </a:p>
          <a:p>
            <a:pPr>
              <a:buNone/>
            </a:pPr>
            <a:r>
              <a:rPr lang="en-US" sz="2400" dirty="0" smtClean="0"/>
              <a:t>-signal is identical about origin</a:t>
            </a:r>
          </a:p>
          <a:p>
            <a:pPr>
              <a:buFontTx/>
              <a:buChar char="-"/>
            </a:pPr>
            <a:r>
              <a:rPr lang="en-US" sz="2400" dirty="0" smtClean="0"/>
              <a:t>x(t) = x(-t)  </a:t>
            </a:r>
            <a:r>
              <a:rPr lang="en-US" sz="2400" dirty="0" err="1" smtClean="0"/>
              <a:t>eg</a:t>
            </a:r>
            <a:r>
              <a:rPr lang="en-US" sz="2400" dirty="0" smtClean="0"/>
              <a:t>. Cosine wave series </a:t>
            </a:r>
          </a:p>
          <a:p>
            <a:pPr>
              <a:buFontTx/>
              <a:buChar char="-"/>
            </a:pPr>
            <a:r>
              <a:rPr lang="en-US" sz="2400" dirty="0" smtClean="0">
                <a:solidFill>
                  <a:srgbClr val="C00000"/>
                </a:solidFill>
              </a:rPr>
              <a:t>  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Odd Signal       </a:t>
            </a:r>
          </a:p>
          <a:p>
            <a:pPr>
              <a:buFontTx/>
              <a:buChar char="-"/>
            </a:pPr>
            <a:r>
              <a:rPr lang="en-US" sz="2400" dirty="0" smtClean="0"/>
              <a:t>Exhibits anti-symmetry in time domain</a:t>
            </a:r>
          </a:p>
          <a:p>
            <a:pPr>
              <a:buFontTx/>
              <a:buChar char="-"/>
            </a:pPr>
            <a:r>
              <a:rPr lang="en-US" sz="2400" dirty="0" smtClean="0"/>
              <a:t>x(t) = -x(-t) </a:t>
            </a:r>
            <a:r>
              <a:rPr lang="en-US" sz="2400" dirty="0" err="1" smtClean="0"/>
              <a:t>eg</a:t>
            </a:r>
            <a:r>
              <a:rPr lang="en-US" sz="2400" dirty="0" smtClean="0"/>
              <a:t>. sine wave series </a:t>
            </a:r>
          </a:p>
          <a:p>
            <a:pPr>
              <a:buNone/>
            </a:pPr>
            <a:r>
              <a:rPr lang="en-US" sz="2400" dirty="0" smtClean="0"/>
              <a:t>  </a:t>
            </a:r>
            <a:endParaRPr lang="en-US" sz="2400" dirty="0"/>
          </a:p>
        </p:txBody>
      </p:sp>
      <p:pic>
        <p:nvPicPr>
          <p:cNvPr id="10" name="Picture 7" descr="C:\Users\Anil\Desktop\New folder\ev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400" y="838200"/>
            <a:ext cx="3598517" cy="1676400"/>
          </a:xfrm>
          <a:prstGeom prst="rect">
            <a:avLst/>
          </a:prstGeom>
          <a:noFill/>
        </p:spPr>
      </p:pic>
      <p:pic>
        <p:nvPicPr>
          <p:cNvPr id="16" name="Picture 12" descr="C:\Users\Anil\Desktop\New folder\od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3962400"/>
            <a:ext cx="3276600" cy="1828800"/>
          </a:xfrm>
          <a:prstGeom prst="rect">
            <a:avLst/>
          </a:prstGeom>
          <a:noFill/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/>
              <a:t>v)Energy and power signal: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Energy Signal</a:t>
            </a:r>
          </a:p>
          <a:p>
            <a:pPr>
              <a:buNone/>
            </a:pPr>
            <a:r>
              <a:rPr lang="en-US" sz="2400" dirty="0" smtClean="0"/>
              <a:t>-Has finite energy and zero average power </a:t>
            </a:r>
          </a:p>
          <a:p>
            <a:pPr>
              <a:buNone/>
            </a:pPr>
            <a:r>
              <a:rPr lang="en-US" sz="2400" dirty="0" smtClean="0"/>
              <a:t>       0&lt;E&lt;∞    and P=0</a:t>
            </a:r>
          </a:p>
          <a:p>
            <a:pPr>
              <a:buNone/>
            </a:pPr>
            <a:r>
              <a:rPr lang="en-US" sz="2400" dirty="0" smtClean="0"/>
              <a:t>-</a:t>
            </a:r>
            <a:r>
              <a:rPr lang="en-US" sz="2400" dirty="0" err="1" smtClean="0"/>
              <a:t>eg</a:t>
            </a:r>
            <a:r>
              <a:rPr lang="en-US" sz="2400" dirty="0" smtClean="0"/>
              <a:t>. Non periodic signal</a:t>
            </a:r>
          </a:p>
          <a:p>
            <a:pPr>
              <a:buNone/>
            </a:pPr>
            <a:r>
              <a:rPr lang="en-US" sz="2400" dirty="0" smtClean="0"/>
              <a:t>-are time connected 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Power  Signal</a:t>
            </a:r>
          </a:p>
          <a:p>
            <a:pPr>
              <a:buNone/>
            </a:pPr>
            <a:r>
              <a:rPr lang="en-US" sz="2400" dirty="0" smtClean="0"/>
              <a:t>-has finite average power and infinite energy</a:t>
            </a:r>
          </a:p>
          <a:p>
            <a:pPr>
              <a:buNone/>
            </a:pPr>
            <a:r>
              <a:rPr lang="en-US" sz="2400" dirty="0" smtClean="0"/>
              <a:t>       0&lt;P&lt;∞    and E= ∞ </a:t>
            </a:r>
          </a:p>
          <a:p>
            <a:pPr>
              <a:buNone/>
            </a:pPr>
            <a:r>
              <a:rPr lang="en-US" sz="2400" dirty="0" smtClean="0"/>
              <a:t>-</a:t>
            </a:r>
            <a:r>
              <a:rPr lang="en-US" sz="2400" dirty="0" err="1" smtClean="0"/>
              <a:t>eg</a:t>
            </a:r>
            <a:r>
              <a:rPr lang="en-US" sz="2400" dirty="0" smtClean="0"/>
              <a:t>. Practical periodic signal</a:t>
            </a:r>
          </a:p>
          <a:p>
            <a:pPr>
              <a:buNone/>
            </a:pPr>
            <a:r>
              <a:rPr lang="en-US" sz="2400" dirty="0" smtClean="0"/>
              <a:t>-exists over infinite period of time 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"/>
            <a:ext cx="8305800" cy="5973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/>
              <a:t>vi)Unit step signal:</a:t>
            </a:r>
          </a:p>
          <a:p>
            <a:pPr>
              <a:buFontTx/>
              <a:buChar char="-"/>
            </a:pPr>
            <a:r>
              <a:rPr lang="en-US" sz="2400" dirty="0" smtClean="0"/>
              <a:t>It has constant amplitude of unity for the zero or positive values of time whereas zero value for negative value of time. </a:t>
            </a:r>
          </a:p>
          <a:p>
            <a:pPr>
              <a:buNone/>
            </a:pPr>
            <a:r>
              <a:rPr lang="en-US" sz="2400" dirty="0" smtClean="0"/>
              <a:t>    u(t)  =   { 1   for t≥0           </a:t>
            </a:r>
          </a:p>
          <a:p>
            <a:pPr>
              <a:buNone/>
            </a:pPr>
            <a:r>
              <a:rPr lang="en-US" sz="2400" dirty="0" smtClean="0"/>
              <a:t>                  { 0  otherwise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b="1" dirty="0" smtClean="0"/>
              <a:t>vii)Unit  ramp signal:</a:t>
            </a:r>
          </a:p>
          <a:p>
            <a:pPr>
              <a:buNone/>
            </a:pPr>
            <a:r>
              <a:rPr lang="en-US" sz="2400" dirty="0" smtClean="0"/>
              <a:t>-The value of unit ramp signal increases linearly with increase in time.</a:t>
            </a:r>
          </a:p>
          <a:p>
            <a:pPr>
              <a:buNone/>
            </a:pPr>
            <a:r>
              <a:rPr lang="en-US" sz="2400" dirty="0" smtClean="0"/>
              <a:t>    r(t)   =     {  t   for   t≥0     </a:t>
            </a:r>
          </a:p>
          <a:p>
            <a:pPr>
              <a:buNone/>
            </a:pPr>
            <a:r>
              <a:rPr lang="en-US" sz="2400" dirty="0" smtClean="0"/>
              <a:t>                    {  0    otherwise</a:t>
            </a:r>
          </a:p>
          <a:p>
            <a:pPr>
              <a:buNone/>
            </a:pPr>
            <a:endParaRPr lang="en-US" sz="2400" dirty="0"/>
          </a:p>
        </p:txBody>
      </p:sp>
      <p:pic>
        <p:nvPicPr>
          <p:cNvPr id="5" name="Picture 2" descr="C:\Users\Anil\Desktop\New folder\u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1371600"/>
            <a:ext cx="2728965" cy="1514243"/>
          </a:xfrm>
          <a:prstGeom prst="rect">
            <a:avLst/>
          </a:prstGeom>
          <a:noFill/>
        </p:spPr>
      </p:pic>
      <p:pic>
        <p:nvPicPr>
          <p:cNvPr id="7" name="Picture 3" descr="C:\Users\Anil\Desktop\New folder\ramp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4191000"/>
            <a:ext cx="3072384" cy="1600200"/>
          </a:xfrm>
          <a:prstGeom prst="rect">
            <a:avLst/>
          </a:prstGeo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/>
              <a:t>viii) Delta/Unit Impulse Function:</a:t>
            </a:r>
          </a:p>
          <a:p>
            <a:pPr>
              <a:buFontTx/>
              <a:buChar char="-"/>
            </a:pPr>
            <a:r>
              <a:rPr lang="en-US" sz="2400" dirty="0" smtClean="0"/>
              <a:t>A delta function is defined only at t = 0 with width tends to zero.</a:t>
            </a:r>
          </a:p>
          <a:p>
            <a:pPr>
              <a:buNone/>
            </a:pPr>
            <a:r>
              <a:rPr lang="en-US" sz="2400" dirty="0" smtClean="0"/>
              <a:t>      </a:t>
            </a:r>
            <a:r>
              <a:rPr lang="el-GR" sz="2400" dirty="0" smtClean="0"/>
              <a:t>δ</a:t>
            </a:r>
            <a:r>
              <a:rPr lang="en-US" sz="2400" dirty="0" smtClean="0"/>
              <a:t>(t)   =   {  1   for   t=0   </a:t>
            </a:r>
          </a:p>
          <a:p>
            <a:pPr>
              <a:buNone/>
            </a:pPr>
            <a:r>
              <a:rPr lang="en-US" sz="2400" dirty="0" smtClean="0"/>
              <a:t>                     {  0    Otherwise</a:t>
            </a:r>
          </a:p>
          <a:p>
            <a:pPr>
              <a:buNone/>
            </a:pPr>
            <a:r>
              <a:rPr lang="en-US" sz="2400" b="1" dirty="0" smtClean="0"/>
              <a:t>ix) </a:t>
            </a:r>
            <a:r>
              <a:rPr lang="en-US" sz="2400" b="1" dirty="0" err="1" smtClean="0"/>
              <a:t>Signum</a:t>
            </a:r>
            <a:r>
              <a:rPr lang="en-US" sz="2400" b="1" dirty="0" smtClean="0"/>
              <a:t> Function:</a:t>
            </a:r>
          </a:p>
          <a:p>
            <a:pPr>
              <a:buFontTx/>
              <a:buChar char="-"/>
            </a:pPr>
            <a:r>
              <a:rPr lang="en-US" sz="2400" dirty="0" smtClean="0"/>
              <a:t>A </a:t>
            </a:r>
            <a:r>
              <a:rPr lang="en-US" sz="2400" dirty="0" err="1" smtClean="0"/>
              <a:t>Signum</a:t>
            </a:r>
            <a:r>
              <a:rPr lang="en-US" sz="2400" dirty="0" smtClean="0"/>
              <a:t> function is an odd or asymmetrical function guided by the following mathematical equation</a:t>
            </a:r>
          </a:p>
          <a:p>
            <a:pPr>
              <a:buNone/>
            </a:pPr>
            <a:r>
              <a:rPr lang="en-US" sz="2400" dirty="0" smtClean="0"/>
              <a:t>       </a:t>
            </a:r>
            <a:r>
              <a:rPr lang="en-US" sz="2400" dirty="0" err="1" smtClean="0"/>
              <a:t>sgn</a:t>
            </a:r>
            <a:r>
              <a:rPr lang="en-US" sz="2400" dirty="0" smtClean="0"/>
              <a:t>(t)    =    { 1    for    t&gt;0</a:t>
            </a:r>
          </a:p>
          <a:p>
            <a:pPr>
              <a:buNone/>
            </a:pPr>
            <a:r>
              <a:rPr lang="en-US" sz="2400" dirty="0" smtClean="0"/>
              <a:t>                            { 0    for    t=0   </a:t>
            </a:r>
          </a:p>
          <a:p>
            <a:pPr>
              <a:buNone/>
            </a:pPr>
            <a:r>
              <a:rPr lang="en-US" sz="2400" dirty="0" smtClean="0"/>
              <a:t>                            { −1  for    t&lt;0</a:t>
            </a:r>
          </a:p>
          <a:p>
            <a:pPr>
              <a:buNone/>
            </a:pPr>
            <a:endParaRPr lang="en-US" sz="2400" dirty="0"/>
          </a:p>
        </p:txBody>
      </p:sp>
      <p:pic>
        <p:nvPicPr>
          <p:cNvPr id="5" name="Picture 2" descr="C:\Users\Anil\Desktop\New folder\del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1142999"/>
            <a:ext cx="2667000" cy="1687593"/>
          </a:xfrm>
          <a:prstGeom prst="rect">
            <a:avLst/>
          </a:prstGeom>
          <a:noFill/>
        </p:spPr>
      </p:pic>
      <p:pic>
        <p:nvPicPr>
          <p:cNvPr id="7" name="Picture 3" descr="C:\Users\Anil\Desktop\New folder\signm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3429000"/>
            <a:ext cx="3621617" cy="2209800"/>
          </a:xfrm>
          <a:prstGeom prst="rect">
            <a:avLst/>
          </a:prstGeo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Anil Kumar Yadav, nec 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2329</TotalTime>
  <Words>1590</Words>
  <Application>Microsoft Office PowerPoint</Application>
  <PresentationFormat>On-screen Show (4:3)</PresentationFormat>
  <Paragraphs>222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Wingdings</vt:lpstr>
      <vt:lpstr>Office Theme</vt:lpstr>
      <vt:lpstr>PowerPoint Presentation</vt:lpstr>
      <vt:lpstr> INSTRUMENTATION </vt:lpstr>
      <vt:lpstr>Ch-1 Introduction to instrumentation system</vt:lpstr>
      <vt:lpstr>PowerPoint Presentation</vt:lpstr>
      <vt:lpstr>PowerPoint Presentation</vt:lpstr>
      <vt:lpstr>PowerPoint Presentation</vt:lpstr>
      <vt:lpstr>PowerPoint Presentation</vt:lpstr>
      <vt:lpstr>Classification of instruments</vt:lpstr>
      <vt:lpstr>Instrumentation System:</vt:lpstr>
      <vt:lpstr>PowerPoint Presentation</vt:lpstr>
      <vt:lpstr>PowerPoint Presentation</vt:lpstr>
      <vt:lpstr>PowerPoint Presentation</vt:lpstr>
      <vt:lpstr>PowerPoint Presentation</vt:lpstr>
      <vt:lpstr>Types of signal in instrumentation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Anil</dc:creator>
  <cp:lastModifiedBy>Dell</cp:lastModifiedBy>
  <cp:revision>140</cp:revision>
  <dcterms:created xsi:type="dcterms:W3CDTF">2006-08-16T00:00:00Z</dcterms:created>
  <dcterms:modified xsi:type="dcterms:W3CDTF">2025-04-20T15:47:19Z</dcterms:modified>
</cp:coreProperties>
</file>