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74" r:id="rId5"/>
    <p:sldId id="280" r:id="rId6"/>
    <p:sldId id="281" r:id="rId7"/>
    <p:sldId id="282" r:id="rId8"/>
    <p:sldId id="283" r:id="rId9"/>
    <p:sldId id="284" r:id="rId10"/>
    <p:sldId id="285" r:id="rId11"/>
    <p:sldId id="287" r:id="rId12"/>
    <p:sldId id="288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294" r:id="rId22"/>
    <p:sldId id="295" r:id="rId23"/>
    <p:sldId id="296" r:id="rId24"/>
    <p:sldId id="297" r:id="rId25"/>
    <p:sldId id="298" r:id="rId26"/>
    <p:sldId id="299" r:id="rId27"/>
    <p:sldId id="289" r:id="rId28"/>
    <p:sldId id="290" r:id="rId29"/>
    <p:sldId id="291" r:id="rId30"/>
    <p:sldId id="292" r:id="rId31"/>
    <p:sldId id="293" r:id="rId32"/>
    <p:sldId id="26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91" autoAdjust="0"/>
  </p:normalViewPr>
  <p:slideViewPr>
    <p:cSldViewPr snapToGrid="0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950" y="240665"/>
            <a:ext cx="12084050" cy="1574165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sz="5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Unit 4</a:t>
            </a:r>
            <a:br>
              <a:rPr lang="en-US" sz="5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5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Polymorphism 	</a:t>
            </a:r>
            <a:endParaRPr lang="en-US" sz="5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5090" y="3156585"/>
            <a:ext cx="9144000" cy="2934325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/>
              <a:t>Pre</a:t>
            </a:r>
            <a:r>
              <a:rPr lang="en-US" altLang="en-GB" sz="3600" b="1" dirty="0"/>
              <a:t>pare</a:t>
            </a:r>
            <a:r>
              <a:rPr lang="en-GB" sz="3600" b="1" dirty="0"/>
              <a:t>d by</a:t>
            </a:r>
            <a:endParaRPr lang="en-GB" sz="3600" b="1" dirty="0"/>
          </a:p>
          <a:p>
            <a:r>
              <a:rPr lang="en-GB" sz="2800" dirty="0">
                <a:solidFill>
                  <a:srgbClr val="FF0000"/>
                </a:solidFill>
              </a:rPr>
              <a:t>Er.Harendra Bikram Shah</a:t>
            </a:r>
            <a:endParaRPr lang="en-GB" sz="2800" dirty="0">
              <a:solidFill>
                <a:srgbClr val="FF0000"/>
              </a:solidFill>
            </a:endParaRPr>
          </a:p>
          <a:p>
            <a:r>
              <a:rPr lang="en-US" altLang="en-GB" sz="2800" dirty="0">
                <a:solidFill>
                  <a:srgbClr val="00B050"/>
                </a:solidFill>
              </a:rPr>
              <a:t>[</a:t>
            </a:r>
            <a:r>
              <a:rPr lang="en-GB" sz="2800" dirty="0">
                <a:solidFill>
                  <a:srgbClr val="00B050"/>
                </a:solidFill>
              </a:rPr>
              <a:t>Lecturer</a:t>
            </a:r>
            <a:r>
              <a:rPr lang="en-US" altLang="en-GB" sz="2800" dirty="0">
                <a:solidFill>
                  <a:srgbClr val="00B050"/>
                </a:solidFill>
              </a:rPr>
              <a:t>]</a:t>
            </a:r>
            <a:endParaRPr lang="en-GB" sz="2800" dirty="0">
              <a:solidFill>
                <a:srgbClr val="FF0000"/>
              </a:solidFill>
            </a:endParaRPr>
          </a:p>
          <a:p>
            <a:r>
              <a:rPr lang="en-US" altLang="en-GB" sz="2800" dirty="0">
                <a:solidFill>
                  <a:srgbClr val="7030A0"/>
                </a:solidFill>
              </a:rPr>
              <a:t>   </a:t>
            </a:r>
            <a:r>
              <a:rPr lang="en-GB" sz="2800" dirty="0">
                <a:solidFill>
                  <a:srgbClr val="7030A0"/>
                </a:solidFill>
              </a:rPr>
              <a:t>Department of BE Computer</a:t>
            </a:r>
            <a:endParaRPr lang="en-GB" sz="2800" dirty="0">
              <a:solidFill>
                <a:srgbClr val="7030A0"/>
              </a:solidFill>
            </a:endParaRPr>
          </a:p>
          <a:p>
            <a:r>
              <a:rPr lang="en-US" altLang="en-IN" b="1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NAST,</a:t>
            </a:r>
            <a:r>
              <a:rPr lang="en-US" altLang="en-IN" b="1" i="1" dirty="0">
                <a:solidFill>
                  <a:srgbClr val="00B0F0"/>
                </a:solidFill>
              </a:rPr>
              <a:t>Dhangadhi</a:t>
            </a:r>
            <a:endParaRPr lang="en-US" altLang="en-IN" b="1" i="1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12161" y="2018568"/>
            <a:ext cx="28784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Lecture Hour:</a:t>
            </a:r>
            <a:r>
              <a:rPr lang="en-US" altLang="en-GB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GB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hrs</a:t>
            </a:r>
            <a:endParaRPr lang="en-GB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645160"/>
            <a:ext cx="12026900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n>
                  <a:noFill/>
                </a:ln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endParaRPr lang="en-IN" b="1" dirty="0">
              <a:ln>
                <a:noFill/>
              </a:ln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u="none" strike="noStrike" kern="0" spc="0" dirty="0">
                <a:ln>
                  <a:noFill/>
                </a:ln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to Polymorphism</a:t>
            </a:r>
            <a:endParaRPr lang="en-IN" u="none" strike="noStrike" kern="0" spc="0" dirty="0">
              <a:ln>
                <a:noFill/>
              </a:ln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u="none" strike="noStrike" kern="0" spc="0" dirty="0">
                <a:ln>
                  <a:noFill/>
                </a:ln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Types of Polymorphism: Compile Time Polymorphism: Function Overloading, Operator Overloading Runtime Polymorphism: Virtual Function</a:t>
            </a:r>
            <a:endParaRPr lang="en-IN" u="none" strike="noStrike" kern="0" spc="0" dirty="0">
              <a:ln>
                <a:noFill/>
              </a:ln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u="none" strike="noStrike" kern="0" spc="0" dirty="0">
                <a:ln>
                  <a:noFill/>
                </a:ln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Overloading Unary and Binary Operators</a:t>
            </a:r>
            <a:endParaRPr lang="en-IN" u="none" strike="noStrike" kern="0" spc="0" dirty="0">
              <a:ln>
                <a:noFill/>
              </a:ln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u="none" strike="noStrike" kern="0" spc="0" dirty="0">
                <a:ln>
                  <a:noFill/>
                </a:ln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 Overriding</a:t>
            </a:r>
            <a:endParaRPr lang="en-IN" u="none" strike="noStrike" kern="0" spc="0" dirty="0">
              <a:ln>
                <a:noFill/>
              </a:ln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u="none" strike="noStrike" kern="0" spc="0" dirty="0">
                <a:ln>
                  <a:noFill/>
                </a:ln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this Pointer and Object Pointer</a:t>
            </a:r>
            <a:endParaRPr lang="en-IN" u="none" strike="noStrike" kern="0" spc="0" dirty="0">
              <a:ln>
                <a:noFill/>
              </a:ln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u="none" strike="noStrike" kern="0" spc="0" dirty="0">
                <a:ln>
                  <a:noFill/>
                </a:ln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Pure Virtual Function, Abstract Class</a:t>
            </a:r>
            <a:endParaRPr lang="en-IN" u="none" strike="noStrike" kern="0" spc="0" dirty="0">
              <a:ln>
                <a:noFill/>
              </a:ln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u="none" strike="noStrike" kern="0" spc="0" dirty="0">
                <a:ln>
                  <a:noFill/>
                </a:ln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Virtual Destructor</a:t>
            </a:r>
            <a:endParaRPr lang="en-IN" u="none" strike="noStrike" kern="0" spc="0" dirty="0">
              <a:ln>
                <a:noFill/>
              </a:ln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u="none" strike="noStrike" kern="0" spc="0" dirty="0">
                <a:ln>
                  <a:noFill/>
                </a:ln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Type Conversion: Basic to User-Defined, User-Defined to Basic, User-defined to User-Defined</a:t>
            </a:r>
            <a:endParaRPr lang="en-IN" u="none" strike="noStrike" kern="0" spc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Arial Unicode MS" panose="020B0604020202020204" charset="-122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826000" y="0"/>
            <a:ext cx="2750820" cy="70675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OUTLINES</a:t>
            </a:r>
            <a:endParaRPr lang="en-US" sz="4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892300" y="0"/>
            <a:ext cx="8500110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lvl="1" indent="0" algn="ctr" fontAlgn="base">
              <a:lnSpc>
                <a:spcPct val="150000"/>
              </a:lnSpc>
              <a:buFont typeface="+mj-lt"/>
              <a:buNone/>
            </a:pPr>
            <a:r>
              <a:rPr lang="en-US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Introduction to Polymorphism</a:t>
            </a:r>
            <a:endParaRPr lang="en-US" sz="4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445" y="1309053"/>
            <a:ext cx="9144000" cy="1655762"/>
          </a:xfrm>
        </p:spPr>
        <p:txBody>
          <a:bodyPr>
            <a:normAutofit fontScale="60000"/>
          </a:bodyPr>
          <a:p>
            <a:pPr marL="285750" indent="-285750" algn="l">
              <a:buFont typeface="Wingdings" panose="05000000000000000000" charset="0"/>
              <a:buChar char=""/>
            </a:pPr>
            <a:r>
              <a:rPr lang="en-GB" sz="2700" b="1" dirty="0"/>
              <a:t> Greek word :</a:t>
            </a:r>
            <a:endParaRPr lang="en-GB" sz="2700" b="1" dirty="0"/>
          </a:p>
          <a:p>
            <a:pPr marL="285750" indent="-285750" algn="l">
              <a:buFont typeface="Wingdings" panose="05000000000000000000" charset="0"/>
              <a:buChar char=""/>
            </a:pPr>
            <a:r>
              <a:rPr lang="en-GB" dirty="0"/>
              <a:t>Poly=man</a:t>
            </a:r>
            <a:r>
              <a:rPr lang="en-US" altLang="en-GB" dirty="0"/>
              <a:t>y</a:t>
            </a:r>
            <a:endParaRPr lang="en-US" altLang="en-GB" dirty="0"/>
          </a:p>
          <a:p>
            <a:pPr marL="285750" indent="-285750" algn="l">
              <a:buFont typeface="Wingdings" panose="05000000000000000000" charset="0"/>
              <a:buChar char=""/>
            </a:pPr>
            <a:r>
              <a:rPr lang="en-GB" dirty="0"/>
              <a:t>Morphos=Forms</a:t>
            </a:r>
            <a:endParaRPr lang="en-GB" dirty="0"/>
          </a:p>
          <a:p>
            <a:pPr algn="l"/>
            <a:r>
              <a:rPr lang="en-GB" b="1" dirty="0"/>
              <a:t>Same object with different behaviour</a:t>
            </a:r>
            <a:endParaRPr lang="en-GB" b="1" dirty="0"/>
          </a:p>
          <a:p>
            <a:pPr algn="l"/>
            <a:r>
              <a:rPr lang="en-GB" dirty="0"/>
              <a:t>Function overloading ,Operator overloading and Virtual Function are part of Polymorphism</a:t>
            </a:r>
            <a:endParaRPr lang="en-GB" dirty="0"/>
          </a:p>
          <a:p>
            <a:pPr marL="0" indent="0" algn="l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2085"/>
            <a:ext cx="12192635" cy="634365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I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Types of Polymorphism </a:t>
            </a:r>
            <a:endParaRPr lang="en-IN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pic>
        <p:nvPicPr>
          <p:cNvPr id="1026" name="Picture 2" descr="C++ Polymorphism with Examp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975" y="942975"/>
            <a:ext cx="8835390" cy="575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20842" y="940433"/>
            <a:ext cx="4957011" cy="5262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#include&lt;iostream.h&gt;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using namespace std;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class demo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{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public: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   // Function with 1 int parameter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   void fun(int x)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   {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       </a:t>
            </a:r>
            <a:r>
              <a:rPr lang="en-US" altLang="en-US" dirty="0" err="1"/>
              <a:t>cout</a:t>
            </a:r>
            <a:r>
              <a:rPr lang="en-US" altLang="en-US" dirty="0"/>
              <a:t> &lt;&lt; "value of x is " &lt;&lt; x &lt;&lt; </a:t>
            </a:r>
            <a:r>
              <a:rPr lang="en-US" altLang="en-US" dirty="0" err="1"/>
              <a:t>endl</a:t>
            </a:r>
            <a:r>
              <a:rPr lang="en-US" altLang="en-US" dirty="0"/>
              <a:t>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   }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   // Function with same name but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   // 1 double parameter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   void fun(double x)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   {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       </a:t>
            </a:r>
            <a:r>
              <a:rPr lang="en-US" altLang="en-US" dirty="0" err="1"/>
              <a:t>cout</a:t>
            </a:r>
            <a:r>
              <a:rPr lang="en-US" altLang="en-US" dirty="0"/>
              <a:t> &lt;&lt; "value of x is " &lt;&lt; x &lt;&lt; </a:t>
            </a:r>
            <a:r>
              <a:rPr lang="en-US" altLang="en-US" dirty="0" err="1"/>
              <a:t>endl</a:t>
            </a:r>
            <a:r>
              <a:rPr lang="en-US" altLang="en-US" dirty="0"/>
              <a:t>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   }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</a:t>
            </a:r>
            <a:endParaRPr lang="en-US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96000" y="1672441"/>
            <a:ext cx="434741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//Main function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int main()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{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   demo obj1;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      obj1.fun(5);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  // fun() is called with double value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   obj1.fun(5.1);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    return 0;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</a:t>
            </a:r>
            <a:endParaRPr lang="en-US" alt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3349" y="101938"/>
            <a:ext cx="10515600" cy="713758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Function</a:t>
            </a:r>
            <a:r>
              <a:rPr lang="en-US" altLang="en-GB" b="1" dirty="0">
                <a:solidFill>
                  <a:srgbClr val="FF0000"/>
                </a:solidFill>
              </a:rPr>
              <a:t>/Method</a:t>
            </a:r>
            <a:r>
              <a:rPr lang="en-GB" b="1" dirty="0">
                <a:solidFill>
                  <a:srgbClr val="FF0000"/>
                </a:solidFill>
              </a:rPr>
              <a:t> Overloading</a:t>
            </a:r>
            <a:endParaRPr lang="en-GB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3349" y="101938"/>
            <a:ext cx="10515600" cy="713758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Operator Overloading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513349" y="975393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 Unary and Binary Operator overloading</a:t>
            </a:r>
            <a:endParaRPr lang="en-GB" dirty="0"/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Can be achieved using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Class function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Friend function</a:t>
            </a:r>
            <a:endParaRPr lang="en-GB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We cannot overload these operator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. Dot Operator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:: Scope resolution operator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?: Conditional operator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Sizeof() operator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3349" y="101938"/>
            <a:ext cx="10515600" cy="713758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Operator Overloading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6885" y="815696"/>
            <a:ext cx="5759116" cy="563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#include&lt;iostream&gt;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class demo{</a:t>
            </a:r>
            <a:endParaRPr lang="en-IN" dirty="0"/>
          </a:p>
          <a:p>
            <a:r>
              <a:rPr lang="en-IN" dirty="0"/>
              <a:t>int a,b;</a:t>
            </a:r>
            <a:endParaRPr lang="en-IN" dirty="0"/>
          </a:p>
          <a:p>
            <a:r>
              <a:rPr lang="en-IN" dirty="0"/>
              <a:t>public:</a:t>
            </a:r>
            <a:endParaRPr lang="en-IN" dirty="0"/>
          </a:p>
          <a:p>
            <a:r>
              <a:rPr lang="en-IN" dirty="0"/>
              <a:t>demo(int x,int y)</a:t>
            </a:r>
            <a:endParaRPr lang="en-IN" dirty="0"/>
          </a:p>
          <a:p>
            <a:r>
              <a:rPr lang="en-IN" dirty="0"/>
              <a:t>{ </a:t>
            </a:r>
            <a:endParaRPr lang="en-IN" dirty="0"/>
          </a:p>
          <a:p>
            <a:r>
              <a:rPr lang="en-IN" dirty="0"/>
              <a:t>	a=x;</a:t>
            </a:r>
            <a:endParaRPr lang="en-IN" dirty="0"/>
          </a:p>
          <a:p>
            <a:r>
              <a:rPr lang="en-IN" dirty="0"/>
              <a:t>	b=y;</a:t>
            </a:r>
            <a:endParaRPr lang="en-IN" dirty="0"/>
          </a:p>
          <a:p>
            <a:r>
              <a:rPr lang="en-IN" dirty="0"/>
              <a:t>	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  <a:p>
            <a:endParaRPr lang="en-IN" dirty="0"/>
          </a:p>
          <a:p>
            <a:r>
              <a:rPr lang="en-IN" dirty="0"/>
              <a:t>void operator -()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	a--;</a:t>
            </a:r>
            <a:endParaRPr lang="en-IN" dirty="0"/>
          </a:p>
          <a:p>
            <a:r>
              <a:rPr lang="en-IN" dirty="0"/>
              <a:t>	b--;</a:t>
            </a:r>
            <a:endParaRPr lang="en-IN" dirty="0"/>
          </a:p>
          <a:p>
            <a:r>
              <a:rPr lang="en-IN" dirty="0"/>
              <a:t>cout&lt;&lt;"A="&lt;&lt;a&lt;&lt;" "&lt;&lt;"B="&lt;&lt;b&lt;&lt;endl;</a:t>
            </a:r>
            <a:endParaRPr lang="en-IN" dirty="0"/>
          </a:p>
          <a:p>
            <a:r>
              <a:rPr lang="en-IN" dirty="0"/>
              <a:t>}	</a:t>
            </a:r>
            <a:endParaRPr lang="en-IN" dirty="0"/>
          </a:p>
          <a:p>
            <a:r>
              <a:rPr lang="en-IN" dirty="0"/>
              <a:t>};</a:t>
            </a:r>
            <a:endParaRPr lang="en-IN" dirty="0"/>
          </a:p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589296" y="1514253"/>
            <a:ext cx="3946358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ym typeface="+mn-ea"/>
              </a:rPr>
              <a:t>int main()</a:t>
            </a:r>
            <a:endParaRPr lang="en-IN" dirty="0"/>
          </a:p>
          <a:p>
            <a:r>
              <a:rPr lang="en-IN" dirty="0">
                <a:sym typeface="+mn-ea"/>
              </a:rPr>
              <a:t>{</a:t>
            </a:r>
            <a:endParaRPr lang="en-IN" dirty="0"/>
          </a:p>
          <a:p>
            <a:r>
              <a:rPr lang="en-IN" dirty="0">
                <a:sym typeface="+mn-ea"/>
              </a:rPr>
              <a:t>demo d(10,20);</a:t>
            </a:r>
            <a:endParaRPr lang="en-IN" dirty="0"/>
          </a:p>
          <a:p>
            <a:r>
              <a:rPr lang="en-IN" dirty="0">
                <a:sym typeface="+mn-ea"/>
              </a:rPr>
              <a:t>-d;</a:t>
            </a:r>
            <a:endParaRPr lang="en-IN" dirty="0"/>
          </a:p>
          <a:p>
            <a:r>
              <a:rPr lang="en-IN" dirty="0">
                <a:sym typeface="+mn-ea"/>
              </a:rPr>
              <a:t>	return 0;</a:t>
            </a:r>
            <a:endParaRPr lang="en-IN" dirty="0"/>
          </a:p>
          <a:p>
            <a:r>
              <a:rPr lang="en-IN" dirty="0">
                <a:sym typeface="+mn-ea"/>
              </a:rPr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3349" y="101938"/>
            <a:ext cx="10515600" cy="713758"/>
          </a:xfrm>
        </p:spPr>
        <p:txBody>
          <a:bodyPr/>
          <a:lstStyle/>
          <a:p>
            <a:pPr algn="ctr"/>
            <a:r>
              <a:rPr lang="en-GB" b="1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</a:rPr>
              <a:t>Run Time Polymorphism</a:t>
            </a:r>
            <a:endParaRPr lang="en-GB" b="1" dirty="0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13347" y="1599684"/>
            <a:ext cx="6176211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#include &lt;iostream&gt;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using namespace std;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class Demo{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public: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 void fun()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 err="1"/>
              <a:t>cout</a:t>
            </a:r>
            <a:r>
              <a:rPr lang="en-US" altLang="en-US" dirty="0"/>
              <a:t> &lt;&lt; “I am from base class";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 }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class dd: public Demo{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public: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void fun()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 err="1"/>
              <a:t>cout</a:t>
            </a:r>
            <a:r>
              <a:rPr lang="en-US" altLang="en-US" dirty="0"/>
              <a:t> &lt;&lt; “I am from derived class";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}; </a:t>
            </a:r>
            <a:endParaRPr lang="en-US" altLang="en-US" dirty="0"/>
          </a:p>
        </p:txBody>
      </p:sp>
      <p:sp>
        <p:nvSpPr>
          <p:cNvPr id="3" name="Title 1"/>
          <p:cNvSpPr txBox="1"/>
          <p:nvPr/>
        </p:nvSpPr>
        <p:spPr>
          <a:xfrm>
            <a:off x="192504" y="709529"/>
            <a:ext cx="10515600" cy="7137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sz="2800" b="1" dirty="0">
                <a:solidFill>
                  <a:srgbClr val="FF0000"/>
                </a:solidFill>
              </a:rPr>
              <a:t>Function Overriding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89558" y="2551837"/>
            <a:ext cx="37057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int main(void)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dd c;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 err="1"/>
              <a:t>c.fun</a:t>
            </a:r>
            <a:r>
              <a:rPr lang="en-US" altLang="en-US" dirty="0"/>
              <a:t>();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 return 0;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 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4507830" y="0"/>
            <a:ext cx="3781731" cy="7137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>
                <a:solidFill>
                  <a:srgbClr val="FF0000"/>
                </a:solidFill>
              </a:rPr>
              <a:t>VIRTUAL FUNCTION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7515" y="654911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#include &lt;iostream&gt;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using namespace std;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class Demo{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public: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virtual void fun()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 err="1"/>
              <a:t>cout</a:t>
            </a:r>
            <a:r>
              <a:rPr lang="en-US" altLang="en-US" dirty="0"/>
              <a:t> &lt;&lt; “I am from base class";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 }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class dd: public Demo{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public: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void fun()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 err="1"/>
              <a:t>cout</a:t>
            </a:r>
            <a:r>
              <a:rPr lang="en-US" altLang="en-US" dirty="0"/>
              <a:t> &lt;&lt; “I am from derived class";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}; 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518886" y="246955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int main(void)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dd c;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Demo *p;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p=&amp;c;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 p-&gt;fun()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return 0;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 </a:t>
            </a:r>
            <a:endParaRPr lang="en-US" altLang="en-US" dirty="0"/>
          </a:p>
        </p:txBody>
      </p:sp>
      <p:sp>
        <p:nvSpPr>
          <p:cNvPr id="11" name="Title 1"/>
          <p:cNvSpPr txBox="1"/>
          <p:nvPr/>
        </p:nvSpPr>
        <p:spPr>
          <a:xfrm>
            <a:off x="529390" y="5401346"/>
            <a:ext cx="11085095" cy="1320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/>
              <a:t>If we do not add virtual keyword then the fun() of base class will be executed but if we add virtual in base class then the fun of derived class will be executed</a:t>
            </a:r>
            <a:endParaRPr lang="en-GB" sz="28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2038350" y="0"/>
            <a:ext cx="7961630" cy="713740"/>
          </a:xfrm>
          <a:prstGeom prst="rect">
            <a:avLst/>
          </a:prstGeom>
        </p:spPr>
        <p:txBody>
          <a:bodyPr vert="horz" lIns="91440" tIns="45720" rIns="91440" bIns="45720" rtlCol="0" anchor="ctr"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PURE VIRTUAL FUNCTION</a:t>
            </a:r>
            <a:endParaRPr lang="en-GB" sz="3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635" y="874395"/>
            <a:ext cx="12081510" cy="21837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/>
              <a:t>Virtual function that has no definition .</a:t>
            </a:r>
            <a:endParaRPr lang="en-GB" sz="20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/>
              <a:t>Starts with virtual keyword and end with equals to 0;</a:t>
            </a:r>
            <a:endParaRPr lang="en-GB" sz="20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/>
              <a:t>We have to override the pure virtual function in derived class otherwise we will get compile time error.</a:t>
            </a:r>
            <a:endParaRPr lang="en-GB" sz="20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/>
              <a:t>We cant change the signature of pure virtual function.</a:t>
            </a:r>
            <a:endParaRPr lang="en-GB" sz="20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/>
              <a:t>We cannot create the object of the class where pure virtual function is defined.</a:t>
            </a:r>
            <a:endParaRPr lang="en-GB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230669" y="3569396"/>
            <a:ext cx="609350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Example:</a:t>
            </a:r>
            <a:endParaRPr lang="en-GB" sz="2800" dirty="0">
              <a:solidFill>
                <a:srgbClr val="FF0000"/>
              </a:solidFill>
            </a:endParaRPr>
          </a:p>
          <a:p>
            <a:r>
              <a:rPr lang="en-GB" sz="2800" dirty="0">
                <a:solidFill>
                  <a:srgbClr val="FF0000"/>
                </a:solidFill>
              </a:rPr>
              <a:t>Virtual void show()=0;</a:t>
            </a:r>
            <a:endParaRPr lang="en-GB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741" y="1"/>
            <a:ext cx="10515600" cy="73152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algn="ctr" fontAlgn="base"/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Operator Overloading</a:t>
            </a:r>
            <a:endParaRPr 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/>
          <a:srcRect l="14424" t="13106" r="13749" b="33766"/>
          <a:stretch>
            <a:fillRect/>
          </a:stretch>
        </p:blipFill>
        <p:spPr>
          <a:xfrm>
            <a:off x="1829971" y="2166423"/>
            <a:ext cx="8757138" cy="29120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373" y="731521"/>
            <a:ext cx="107723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overloading in C++ is a feature that allows  to define and use operators with user-defined data types.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enables to extend the functionality of existing operators or create new operators for custom classes.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other words, we can redefine the meaning of an operator when applied to objects of a particular class.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741" y="1"/>
            <a:ext cx="10515600" cy="731520"/>
          </a:xfrm>
        </p:spPr>
        <p:txBody>
          <a:bodyPr>
            <a:normAutofit/>
          </a:bodyPr>
          <a:lstStyle/>
          <a:p>
            <a:pPr algn="ctr" fontAlgn="base"/>
            <a:r>
              <a:rPr lang="en-GB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Operator Overloading</a:t>
            </a:r>
            <a:endParaRPr lang="en-GB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9191" y="702735"/>
            <a:ext cx="60983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cannot overload these operator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operator (::)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selector(.)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pointer selector(*)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ternary operator(?:)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2582" y="2843774"/>
            <a:ext cx="526952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b="1" dirty="0"/>
              <a:t>Syntax of Operator Overloading</a:t>
            </a:r>
            <a:endParaRPr lang="en-GB" sz="2000" b="1" dirty="0"/>
          </a:p>
          <a:p>
            <a:pPr algn="just"/>
            <a:r>
              <a:rPr lang="en-GB" dirty="0" err="1"/>
              <a:t>return_type</a:t>
            </a:r>
            <a:r>
              <a:rPr lang="en-GB" dirty="0"/>
              <a:t> class_name  : : operator op(</a:t>
            </a:r>
            <a:r>
              <a:rPr lang="en-GB" dirty="0" err="1"/>
              <a:t>argument_list</a:t>
            </a:r>
            <a:r>
              <a:rPr lang="en-GB" dirty="0"/>
              <a:t>)  </a:t>
            </a:r>
            <a:endParaRPr lang="en-GB" dirty="0"/>
          </a:p>
          <a:p>
            <a:pPr algn="just"/>
            <a:r>
              <a:rPr lang="en-GB" dirty="0"/>
              <a:t>{  </a:t>
            </a:r>
            <a:endParaRPr lang="en-GB" dirty="0"/>
          </a:p>
          <a:p>
            <a:pPr algn="just"/>
            <a:r>
              <a:rPr lang="en-GB" dirty="0"/>
              <a:t>     // body of the function.  </a:t>
            </a:r>
            <a:endParaRPr lang="en-GB" dirty="0"/>
          </a:p>
          <a:p>
            <a:pPr algn="just"/>
            <a:r>
              <a:rPr lang="en-GB" dirty="0"/>
              <a:t>}  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559191" y="4804546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type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type of value returned by the function.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class_name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name of the class.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op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operator function where op is the operator being overloaded, and the operator is the keyword.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741" y="1"/>
            <a:ext cx="10515600" cy="731520"/>
          </a:xfrm>
        </p:spPr>
        <p:txBody>
          <a:bodyPr>
            <a:normAutofit/>
          </a:bodyPr>
          <a:lstStyle/>
          <a:p>
            <a:pPr algn="ctr" fontAlgn="base"/>
            <a:r>
              <a:rPr lang="en-GB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Operator Overloading</a:t>
            </a:r>
            <a:endParaRPr lang="en-GB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5659" y="731521"/>
          <a:ext cx="9431216" cy="5729028"/>
        </p:xfrm>
        <a:graphic>
          <a:graphicData uri="http://schemas.openxmlformats.org/drawingml/2006/table">
            <a:tbl>
              <a:tblPr/>
              <a:tblGrid>
                <a:gridCol w="4715608"/>
                <a:gridCol w="4715608"/>
              </a:tblGrid>
              <a:tr h="340149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2000" b="1"/>
                        <a:t>Operators that can be overloaded</a:t>
                      </a:r>
                      <a:endParaRPr lang="en-GB" sz="2000" b="1"/>
                    </a:p>
                  </a:txBody>
                  <a:tcPr marL="32090" marR="32090" marT="80224" marB="80224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 dirty="0"/>
                        <a:t>Examples</a:t>
                      </a:r>
                      <a:endParaRPr lang="en-IN" sz="2000" b="1" dirty="0"/>
                    </a:p>
                  </a:txBody>
                  <a:tcPr marL="80224" marR="80224" marT="80224" marB="80224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074"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Binary Arithmetic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+, -, *, /, %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074"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Unary Arithmetic 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+, -, ++, —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074"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Assignment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=, +=,*=, /=,-=, %=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074"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Bitwise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&amp; , | , &lt;&lt; , &gt;&gt; , ~ , ^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074"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De-referencing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(-&gt;)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522"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/>
                        <a:t>Dynamic memory allocation,</a:t>
                      </a:r>
                      <a:br>
                        <a:rPr lang="en-IN" dirty="0"/>
                      </a:br>
                      <a:r>
                        <a:rPr lang="en-IN" dirty="0"/>
                        <a:t>De-allocation</a:t>
                      </a:r>
                      <a:endParaRPr lang="en-IN" dirty="0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New, delete 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074"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Subscript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[ ]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074"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Function call 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()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074"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Logical 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&amp;,  | |, !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074">
                <a:tc>
                  <a:txBody>
                    <a:bodyPr/>
                    <a:lstStyle/>
                    <a:p>
                      <a:pPr algn="ctr" fontAlgn="ctr"/>
                      <a:r>
                        <a:rPr lang="en-IN"/>
                        <a:t>Relational</a:t>
                      </a:r>
                      <a:endParaRPr lang="en-IN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/>
                        <a:t>&gt;, &lt; , = =, &lt;=, &gt;=</a:t>
                      </a:r>
                      <a:endParaRPr lang="en-IN" dirty="0"/>
                    </a:p>
                  </a:txBody>
                  <a:tcPr marL="80224" marR="80224" marT="112313" marB="11231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741" y="1"/>
            <a:ext cx="10515600" cy="731520"/>
          </a:xfrm>
        </p:spPr>
        <p:txBody>
          <a:bodyPr>
            <a:normAutofit/>
          </a:bodyPr>
          <a:lstStyle/>
          <a:p>
            <a:pPr algn="ctr" fontAlgn="base"/>
            <a:r>
              <a:rPr lang="en-GB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Unary Operator Overloading</a:t>
            </a:r>
            <a:endParaRPr lang="en-GB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5415" y="872196"/>
            <a:ext cx="462827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Operator having only one operand</a:t>
            </a:r>
            <a:endParaRPr lang="en-GB" dirty="0"/>
          </a:p>
          <a:p>
            <a:r>
              <a:rPr lang="en-GB" dirty="0"/>
              <a:t>Example :   </a:t>
            </a:r>
            <a:r>
              <a:rPr lang="en-GB" sz="2000" b="1" dirty="0"/>
              <a:t>-,--,++,+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234440" y="1518527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Syntax:</a:t>
            </a:r>
            <a:endParaRPr lang="en-IN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03252" y="1980192"/>
            <a:ext cx="67700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</a:t>
            </a:r>
            <a:r>
              <a:rPr lang="en-IN" dirty="0" err="1"/>
              <a:t>className</a:t>
            </a:r>
            <a:r>
              <a:rPr lang="en-IN" dirty="0"/>
              <a:t> {</a:t>
            </a:r>
            <a:endParaRPr lang="en-IN" dirty="0"/>
          </a:p>
          <a:p>
            <a:r>
              <a:rPr lang="en-IN" dirty="0"/>
              <a:t>    ...</a:t>
            </a:r>
            <a:endParaRPr lang="en-IN" dirty="0"/>
          </a:p>
          <a:p>
            <a:r>
              <a:rPr lang="en-IN" dirty="0"/>
              <a:t>    public</a:t>
            </a:r>
            <a:endParaRPr lang="en-IN" dirty="0"/>
          </a:p>
          <a:p>
            <a:r>
              <a:rPr lang="en-IN" dirty="0"/>
              <a:t>       </a:t>
            </a:r>
            <a:r>
              <a:rPr lang="en-IN" dirty="0" err="1"/>
              <a:t>returnType</a:t>
            </a:r>
            <a:r>
              <a:rPr lang="en-IN" dirty="0"/>
              <a:t> operator &lt;symbol&gt; (&lt;parameters&gt;) {</a:t>
            </a:r>
            <a:endParaRPr lang="en-IN" dirty="0"/>
          </a:p>
          <a:p>
            <a:r>
              <a:rPr lang="en-IN" dirty="0"/>
              <a:t>           ...</a:t>
            </a:r>
            <a:endParaRPr lang="en-IN" dirty="0"/>
          </a:p>
          <a:p>
            <a:r>
              <a:rPr lang="en-IN" dirty="0"/>
              <a:t>       } </a:t>
            </a:r>
            <a:endParaRPr lang="en-IN" dirty="0"/>
          </a:p>
          <a:p>
            <a:r>
              <a:rPr lang="en-IN" dirty="0"/>
              <a:t>    ...</a:t>
            </a:r>
            <a:endParaRPr lang="en-IN" dirty="0"/>
          </a:p>
          <a:p>
            <a:r>
              <a:rPr lang="en-IN" dirty="0"/>
              <a:t>};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741" y="1"/>
            <a:ext cx="10515600" cy="520505"/>
          </a:xfrm>
        </p:spPr>
        <p:txBody>
          <a:bodyPr>
            <a:normAutofit fontScale="90000"/>
          </a:bodyPr>
          <a:lstStyle/>
          <a:p>
            <a:pPr algn="ctr" fontAlgn="base"/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Unary Operator Overloading</a:t>
            </a:r>
            <a:endParaRPr lang="en-GB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4106" y="520506"/>
            <a:ext cx="631991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 C++ program to show unary operator overloading </a:t>
            </a:r>
            <a:endParaRPr lang="en-IN" dirty="0"/>
          </a:p>
          <a:p>
            <a:r>
              <a:rPr lang="en-IN" dirty="0"/>
              <a:t>#include &lt;iostream&gt; </a:t>
            </a:r>
            <a:endParaRPr lang="en-IN" dirty="0"/>
          </a:p>
          <a:p>
            <a:r>
              <a:rPr lang="en-IN" dirty="0"/>
              <a:t>using namespace std; </a:t>
            </a:r>
            <a:endParaRPr lang="en-IN" dirty="0"/>
          </a:p>
          <a:p>
            <a:r>
              <a:rPr lang="en-IN" dirty="0"/>
              <a:t>class Distance { </a:t>
            </a:r>
            <a:endParaRPr lang="en-IN" dirty="0"/>
          </a:p>
          <a:p>
            <a:r>
              <a:rPr lang="en-IN" dirty="0"/>
              <a:t>public: </a:t>
            </a:r>
            <a:endParaRPr lang="en-IN" dirty="0"/>
          </a:p>
          <a:p>
            <a:r>
              <a:rPr lang="en-IN" dirty="0"/>
              <a:t>	int x; </a:t>
            </a:r>
            <a:endParaRPr lang="en-IN" dirty="0"/>
          </a:p>
          <a:p>
            <a:r>
              <a:rPr lang="en-IN" dirty="0"/>
              <a:t>	// Constructor to initialize </a:t>
            </a:r>
            <a:endParaRPr lang="en-IN" dirty="0"/>
          </a:p>
          <a:p>
            <a:r>
              <a:rPr lang="en-IN" dirty="0"/>
              <a:t>	// the object's value </a:t>
            </a:r>
            <a:endParaRPr lang="en-IN" dirty="0"/>
          </a:p>
          <a:p>
            <a:r>
              <a:rPr lang="en-IN" dirty="0"/>
              <a:t>	Distance(int y) </a:t>
            </a:r>
            <a:endParaRPr lang="en-IN" dirty="0"/>
          </a:p>
          <a:p>
            <a:r>
              <a:rPr lang="en-IN" dirty="0"/>
              <a:t>	{ </a:t>
            </a:r>
            <a:endParaRPr lang="en-IN" dirty="0"/>
          </a:p>
          <a:p>
            <a:r>
              <a:rPr lang="en-IN" dirty="0"/>
              <a:t>	x=y;</a:t>
            </a:r>
            <a:endParaRPr lang="en-IN" dirty="0"/>
          </a:p>
          <a:p>
            <a:r>
              <a:rPr lang="en-IN" dirty="0"/>
              <a:t>	} </a:t>
            </a:r>
            <a:endParaRPr lang="en-IN" dirty="0"/>
          </a:p>
          <a:p>
            <a:r>
              <a:rPr lang="en-IN" dirty="0"/>
              <a:t>	// Overloading(-) operator to </a:t>
            </a:r>
            <a:endParaRPr lang="en-IN" dirty="0"/>
          </a:p>
          <a:p>
            <a:r>
              <a:rPr lang="en-IN" dirty="0"/>
              <a:t>	// perform decrement operation </a:t>
            </a:r>
            <a:endParaRPr lang="en-IN" dirty="0"/>
          </a:p>
          <a:p>
            <a:r>
              <a:rPr lang="en-IN" dirty="0"/>
              <a:t>	void operator-() </a:t>
            </a:r>
            <a:endParaRPr lang="en-IN" dirty="0"/>
          </a:p>
          <a:p>
            <a:r>
              <a:rPr lang="en-IN" dirty="0"/>
              <a:t>	{ </a:t>
            </a:r>
            <a:endParaRPr lang="en-IN" dirty="0"/>
          </a:p>
          <a:p>
            <a:r>
              <a:rPr lang="en-IN" dirty="0"/>
              <a:t>		--x; </a:t>
            </a:r>
            <a:endParaRPr lang="en-IN" dirty="0"/>
          </a:p>
          <a:p>
            <a:r>
              <a:rPr lang="en-IN" dirty="0"/>
              <a:t>		cout &lt;&lt; "Decrement in value of X" &lt;&lt;x ;		 </a:t>
            </a:r>
            <a:endParaRPr lang="en-IN" dirty="0"/>
          </a:p>
          <a:p>
            <a:r>
              <a:rPr lang="en-IN" dirty="0"/>
              <a:t>	} </a:t>
            </a:r>
            <a:endParaRPr lang="en-IN" dirty="0"/>
          </a:p>
          <a:p>
            <a:r>
              <a:rPr lang="en-IN" dirty="0"/>
              <a:t>}; 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498100" y="3022817"/>
            <a:ext cx="43645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int main() </a:t>
            </a:r>
            <a:endParaRPr lang="en-IN" dirty="0"/>
          </a:p>
          <a:p>
            <a:r>
              <a:rPr lang="en-IN" dirty="0"/>
              <a:t>{ </a:t>
            </a:r>
            <a:endParaRPr lang="en-IN" dirty="0"/>
          </a:p>
          <a:p>
            <a:r>
              <a:rPr lang="en-IN" dirty="0"/>
              <a:t>	Distance d1(8); </a:t>
            </a:r>
            <a:endParaRPr lang="en-IN" dirty="0"/>
          </a:p>
          <a:p>
            <a:r>
              <a:rPr lang="en-IN" dirty="0"/>
              <a:t>	// Use (-) unary operator by </a:t>
            </a:r>
            <a:endParaRPr lang="en-IN" dirty="0"/>
          </a:p>
          <a:p>
            <a:r>
              <a:rPr lang="en-IN" dirty="0"/>
              <a:t>	// single operand </a:t>
            </a:r>
            <a:endParaRPr lang="en-IN" dirty="0"/>
          </a:p>
          <a:p>
            <a:r>
              <a:rPr lang="en-IN" dirty="0"/>
              <a:t>	-d1; </a:t>
            </a:r>
            <a:endParaRPr lang="en-IN" dirty="0"/>
          </a:p>
          <a:p>
            <a:r>
              <a:rPr lang="en-IN" dirty="0"/>
              <a:t>	return 0; 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741" y="1"/>
            <a:ext cx="10515600" cy="520505"/>
          </a:xfrm>
        </p:spPr>
        <p:txBody>
          <a:bodyPr>
            <a:normAutofit fontScale="90000"/>
          </a:bodyPr>
          <a:lstStyle/>
          <a:p>
            <a:pPr algn="ctr" fontAlgn="base"/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Operator Overloading</a:t>
            </a:r>
            <a:endParaRPr lang="en-GB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0741" y="967882"/>
            <a:ext cx="10289345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of the Binary Operator Overloading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is the Binary Operator Overloading syntax in the C++ Programming language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return_type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:: operator </a:t>
            </a:r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binary_operator_symbol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 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 function definition  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2369" y="3429000"/>
            <a:ext cx="114651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return_type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defines the return type of the function.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operator: 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keyword of the function overloading.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binary_operator_symbol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the binary operator symbol that overloads a function to perform the calculation.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defines the argument passed to the function.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741" y="1"/>
            <a:ext cx="10515600" cy="520505"/>
          </a:xfrm>
        </p:spPr>
        <p:txBody>
          <a:bodyPr>
            <a:normAutofit fontScale="90000"/>
          </a:bodyPr>
          <a:lstStyle/>
          <a:p>
            <a:pPr algn="ctr" fontAlgn="base"/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Operator Overloading</a:t>
            </a:r>
            <a:endParaRPr lang="en-GB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748" y="352489"/>
            <a:ext cx="5848643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 &lt;iostream&gt;  </a:t>
            </a:r>
            <a:endParaRPr lang="en-IN" dirty="0"/>
          </a:p>
          <a:p>
            <a:r>
              <a:rPr lang="en-IN" dirty="0"/>
              <a:t>using namespace std;  </a:t>
            </a:r>
            <a:endParaRPr lang="en-IN" dirty="0"/>
          </a:p>
          <a:p>
            <a:r>
              <a:rPr lang="en-IN" dirty="0"/>
              <a:t>class </a:t>
            </a:r>
            <a:r>
              <a:rPr lang="en-IN" dirty="0" err="1"/>
              <a:t>Complex_num</a:t>
            </a:r>
            <a:r>
              <a:rPr lang="en-IN" dirty="0"/>
              <a:t>  </a:t>
            </a:r>
            <a:endParaRPr lang="en-IN" dirty="0"/>
          </a:p>
          <a:p>
            <a:r>
              <a:rPr lang="en-IN" dirty="0"/>
              <a:t>{  </a:t>
            </a:r>
            <a:endParaRPr lang="en-IN" dirty="0"/>
          </a:p>
          <a:p>
            <a:r>
              <a:rPr lang="en-IN" dirty="0"/>
              <a:t>    // declare data member or variables  </a:t>
            </a:r>
            <a:endParaRPr lang="en-IN" dirty="0"/>
          </a:p>
          <a:p>
            <a:r>
              <a:rPr lang="en-IN" dirty="0"/>
              <a:t>    int x, y;  </a:t>
            </a:r>
            <a:endParaRPr lang="en-IN" dirty="0"/>
          </a:p>
          <a:p>
            <a:r>
              <a:rPr lang="en-IN" dirty="0"/>
              <a:t>    public:  </a:t>
            </a:r>
            <a:endParaRPr lang="en-IN" dirty="0"/>
          </a:p>
          <a:p>
            <a:r>
              <a:rPr lang="en-IN" dirty="0"/>
              <a:t>        // create a member function to take input  </a:t>
            </a:r>
            <a:endParaRPr lang="en-IN" dirty="0"/>
          </a:p>
          <a:p>
            <a:r>
              <a:rPr lang="en-IN" dirty="0"/>
              <a:t>        void </a:t>
            </a:r>
            <a:r>
              <a:rPr lang="en-IN" dirty="0" err="1"/>
              <a:t>inp</a:t>
            </a:r>
            <a:r>
              <a:rPr lang="en-IN" dirty="0"/>
              <a:t>()  </a:t>
            </a:r>
            <a:endParaRPr lang="en-IN" dirty="0"/>
          </a:p>
          <a:p>
            <a:r>
              <a:rPr lang="en-IN" dirty="0"/>
              <a:t>        {  </a:t>
            </a:r>
            <a:endParaRPr lang="en-IN" dirty="0"/>
          </a:p>
          <a:p>
            <a:r>
              <a:rPr lang="en-IN" dirty="0"/>
              <a:t>            cout &lt;&lt; " Input two complex number: " &lt;&lt; </a:t>
            </a:r>
            <a:r>
              <a:rPr lang="en-IN" dirty="0" err="1"/>
              <a:t>endl</a:t>
            </a:r>
            <a:r>
              <a:rPr lang="en-IN" dirty="0"/>
              <a:t>;  </a:t>
            </a:r>
            <a:endParaRPr lang="en-IN" dirty="0"/>
          </a:p>
          <a:p>
            <a:r>
              <a:rPr lang="en-IN" dirty="0"/>
              <a:t>            </a:t>
            </a:r>
            <a:r>
              <a:rPr lang="en-IN" dirty="0" err="1"/>
              <a:t>cin</a:t>
            </a:r>
            <a:r>
              <a:rPr lang="en-IN" dirty="0"/>
              <a:t> &gt;&gt; x &gt;&gt; y;  </a:t>
            </a:r>
            <a:endParaRPr lang="en-IN" dirty="0"/>
          </a:p>
          <a:p>
            <a:r>
              <a:rPr lang="en-IN" dirty="0"/>
              <a:t>        }         </a:t>
            </a:r>
            <a:endParaRPr lang="en-IN" dirty="0"/>
          </a:p>
          <a:p>
            <a:r>
              <a:rPr lang="en-IN" dirty="0"/>
              <a:t>        // use binary '+' operator to overload  </a:t>
            </a:r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Complex_num</a:t>
            </a:r>
            <a:r>
              <a:rPr lang="en-IN" dirty="0"/>
              <a:t> operator + (</a:t>
            </a:r>
            <a:r>
              <a:rPr lang="en-IN" dirty="0" err="1"/>
              <a:t>Complex_num</a:t>
            </a:r>
            <a:r>
              <a:rPr lang="en-IN" dirty="0"/>
              <a:t> </a:t>
            </a:r>
            <a:r>
              <a:rPr lang="en-IN" dirty="0" err="1"/>
              <a:t>obj</a:t>
            </a:r>
            <a:r>
              <a:rPr lang="en-IN" dirty="0"/>
              <a:t>)  </a:t>
            </a:r>
            <a:endParaRPr lang="en-IN" dirty="0"/>
          </a:p>
          <a:p>
            <a:r>
              <a:rPr lang="en-IN" dirty="0"/>
              <a:t>        {  </a:t>
            </a:r>
            <a:endParaRPr lang="en-IN" dirty="0"/>
          </a:p>
          <a:p>
            <a:r>
              <a:rPr lang="en-IN" dirty="0"/>
              <a:t>            // create an object  </a:t>
            </a:r>
            <a:endParaRPr lang="en-IN" dirty="0"/>
          </a:p>
          <a:p>
            <a:r>
              <a:rPr lang="en-IN" dirty="0"/>
              <a:t>            </a:t>
            </a:r>
            <a:r>
              <a:rPr lang="en-IN" dirty="0" err="1"/>
              <a:t>Complex_num</a:t>
            </a:r>
            <a:r>
              <a:rPr lang="en-IN" dirty="0"/>
              <a:t> A;  </a:t>
            </a:r>
            <a:endParaRPr lang="en-IN" dirty="0"/>
          </a:p>
          <a:p>
            <a:r>
              <a:rPr lang="en-IN" dirty="0"/>
              <a:t>            // assign values to object  </a:t>
            </a:r>
            <a:endParaRPr lang="en-IN" dirty="0"/>
          </a:p>
          <a:p>
            <a:r>
              <a:rPr lang="en-IN" dirty="0"/>
              <a:t>            </a:t>
            </a:r>
            <a:r>
              <a:rPr lang="en-IN" dirty="0" err="1"/>
              <a:t>A.x</a:t>
            </a:r>
            <a:r>
              <a:rPr lang="en-IN" dirty="0"/>
              <a:t> = x + </a:t>
            </a:r>
            <a:r>
              <a:rPr lang="en-IN" dirty="0" err="1"/>
              <a:t>obj.x</a:t>
            </a:r>
            <a:r>
              <a:rPr lang="en-IN" dirty="0"/>
              <a:t>;  </a:t>
            </a:r>
            <a:endParaRPr lang="en-IN" dirty="0"/>
          </a:p>
          <a:p>
            <a:r>
              <a:rPr lang="en-IN" dirty="0"/>
              <a:t>            </a:t>
            </a:r>
            <a:r>
              <a:rPr lang="en-IN" dirty="0" err="1"/>
              <a:t>A.y</a:t>
            </a:r>
            <a:r>
              <a:rPr lang="en-IN" dirty="0"/>
              <a:t> = y + </a:t>
            </a:r>
            <a:r>
              <a:rPr lang="en-IN" dirty="0" err="1"/>
              <a:t>obj.y</a:t>
            </a:r>
            <a:r>
              <a:rPr lang="en-IN" dirty="0"/>
              <a:t>;  </a:t>
            </a:r>
            <a:endParaRPr lang="en-IN" dirty="0"/>
          </a:p>
          <a:p>
            <a:r>
              <a:rPr lang="en-IN" dirty="0"/>
              <a:t>            return (A);  </a:t>
            </a:r>
            <a:endParaRPr lang="en-IN" dirty="0"/>
          </a:p>
          <a:p>
            <a:r>
              <a:rPr lang="en-IN" dirty="0"/>
              <a:t>        }         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5668694" y="520506"/>
            <a:ext cx="609834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// overload the binary (-) operator  </a:t>
            </a:r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Complex_num</a:t>
            </a:r>
            <a:r>
              <a:rPr lang="en-IN" dirty="0"/>
              <a:t> operator - (</a:t>
            </a:r>
            <a:r>
              <a:rPr lang="en-IN" dirty="0" err="1"/>
              <a:t>Complex_num</a:t>
            </a:r>
            <a:r>
              <a:rPr lang="en-IN" dirty="0"/>
              <a:t> </a:t>
            </a:r>
            <a:r>
              <a:rPr lang="en-IN" dirty="0" err="1"/>
              <a:t>obj</a:t>
            </a:r>
            <a:r>
              <a:rPr lang="en-IN" dirty="0"/>
              <a:t>)  </a:t>
            </a:r>
            <a:endParaRPr lang="en-IN" dirty="0"/>
          </a:p>
          <a:p>
            <a:r>
              <a:rPr lang="en-IN" dirty="0"/>
              <a:t>        {  </a:t>
            </a:r>
            <a:endParaRPr lang="en-IN" dirty="0"/>
          </a:p>
          <a:p>
            <a:r>
              <a:rPr lang="en-IN" dirty="0"/>
              <a:t>            // create an object  </a:t>
            </a:r>
            <a:endParaRPr lang="en-IN" dirty="0"/>
          </a:p>
          <a:p>
            <a:r>
              <a:rPr lang="en-IN" dirty="0"/>
              <a:t>            </a:t>
            </a:r>
            <a:r>
              <a:rPr lang="en-IN" dirty="0" err="1"/>
              <a:t>Complex_num</a:t>
            </a:r>
            <a:r>
              <a:rPr lang="en-IN" dirty="0"/>
              <a:t> A;  </a:t>
            </a:r>
            <a:endParaRPr lang="en-IN" dirty="0"/>
          </a:p>
          <a:p>
            <a:r>
              <a:rPr lang="en-IN" dirty="0"/>
              <a:t>            // assign values to object  </a:t>
            </a:r>
            <a:endParaRPr lang="en-IN" dirty="0"/>
          </a:p>
          <a:p>
            <a:r>
              <a:rPr lang="en-IN" dirty="0"/>
              <a:t>            </a:t>
            </a:r>
            <a:r>
              <a:rPr lang="en-IN" dirty="0" err="1"/>
              <a:t>A.x</a:t>
            </a:r>
            <a:r>
              <a:rPr lang="en-IN" dirty="0"/>
              <a:t> = x - </a:t>
            </a:r>
            <a:r>
              <a:rPr lang="en-IN" dirty="0" err="1"/>
              <a:t>obj.x</a:t>
            </a:r>
            <a:r>
              <a:rPr lang="en-IN" dirty="0"/>
              <a:t>;  </a:t>
            </a:r>
            <a:endParaRPr lang="en-IN" dirty="0"/>
          </a:p>
          <a:p>
            <a:r>
              <a:rPr lang="en-IN" dirty="0"/>
              <a:t>            </a:t>
            </a:r>
            <a:r>
              <a:rPr lang="en-IN" dirty="0" err="1"/>
              <a:t>A.y</a:t>
            </a:r>
            <a:r>
              <a:rPr lang="en-IN" dirty="0"/>
              <a:t> = y - </a:t>
            </a:r>
            <a:r>
              <a:rPr lang="en-IN" dirty="0" err="1"/>
              <a:t>obj.y</a:t>
            </a:r>
            <a:r>
              <a:rPr lang="en-IN" dirty="0"/>
              <a:t>;  </a:t>
            </a:r>
            <a:endParaRPr lang="en-IN" dirty="0"/>
          </a:p>
          <a:p>
            <a:r>
              <a:rPr lang="en-IN" dirty="0"/>
              <a:t>            return (A);  </a:t>
            </a:r>
            <a:endParaRPr lang="en-IN" dirty="0"/>
          </a:p>
          <a:p>
            <a:r>
              <a:rPr lang="en-IN" dirty="0"/>
              <a:t>        }         </a:t>
            </a:r>
            <a:endParaRPr lang="en-IN" dirty="0"/>
          </a:p>
          <a:p>
            <a:r>
              <a:rPr lang="en-IN" dirty="0"/>
              <a:t>        // display the result of addition  </a:t>
            </a:r>
            <a:endParaRPr lang="en-IN" dirty="0"/>
          </a:p>
          <a:p>
            <a:r>
              <a:rPr lang="en-IN" dirty="0"/>
              <a:t>        void print()  </a:t>
            </a:r>
            <a:endParaRPr lang="en-IN" dirty="0"/>
          </a:p>
          <a:p>
            <a:r>
              <a:rPr lang="en-IN" dirty="0"/>
              <a:t>        {  </a:t>
            </a:r>
            <a:endParaRPr lang="en-IN" dirty="0"/>
          </a:p>
          <a:p>
            <a:r>
              <a:rPr lang="en-IN" dirty="0"/>
              <a:t>            cout &lt;&lt; x &lt;&lt; " + " &lt;&lt; y &lt;&lt; "</a:t>
            </a:r>
            <a:r>
              <a:rPr lang="en-IN" dirty="0" err="1"/>
              <a:t>i</a:t>
            </a:r>
            <a:r>
              <a:rPr lang="en-IN" dirty="0"/>
              <a:t>" &lt;&lt; "\n";  </a:t>
            </a:r>
            <a:endParaRPr lang="en-IN" dirty="0"/>
          </a:p>
          <a:p>
            <a:r>
              <a:rPr lang="en-IN" dirty="0"/>
              <a:t>        }  </a:t>
            </a:r>
            <a:endParaRPr lang="en-IN" dirty="0"/>
          </a:p>
          <a:p>
            <a:r>
              <a:rPr lang="en-IN" dirty="0"/>
              <a:t>          </a:t>
            </a:r>
            <a:endParaRPr lang="en-IN" dirty="0"/>
          </a:p>
          <a:p>
            <a:r>
              <a:rPr lang="en-IN" dirty="0"/>
              <a:t>        // display the result of subtraction  </a:t>
            </a:r>
            <a:endParaRPr lang="en-IN" dirty="0"/>
          </a:p>
          <a:p>
            <a:r>
              <a:rPr lang="en-IN" dirty="0"/>
              <a:t>        void print2()  </a:t>
            </a:r>
            <a:endParaRPr lang="en-IN" dirty="0"/>
          </a:p>
          <a:p>
            <a:r>
              <a:rPr lang="en-IN" dirty="0"/>
              <a:t>        {  </a:t>
            </a:r>
            <a:endParaRPr lang="en-IN" dirty="0"/>
          </a:p>
          <a:p>
            <a:r>
              <a:rPr lang="en-IN" dirty="0"/>
              <a:t>            cout &lt;&lt; x &lt;&lt; " - " &lt;&lt; y &lt;&lt; "</a:t>
            </a:r>
            <a:r>
              <a:rPr lang="en-IN" dirty="0" err="1"/>
              <a:t>i</a:t>
            </a:r>
            <a:r>
              <a:rPr lang="en-IN" dirty="0"/>
              <a:t>" &lt;&lt; "\n";  </a:t>
            </a:r>
            <a:endParaRPr lang="en-IN" dirty="0"/>
          </a:p>
          <a:p>
            <a:r>
              <a:rPr lang="en-IN" dirty="0"/>
              <a:t>        }  </a:t>
            </a:r>
            <a:endParaRPr lang="en-IN" dirty="0"/>
          </a:p>
          <a:p>
            <a:r>
              <a:rPr lang="en-IN" dirty="0"/>
              <a:t>};  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61048" y="355107"/>
            <a:ext cx="917565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 main ()  </a:t>
            </a:r>
            <a:endParaRPr lang="en-IN" dirty="0"/>
          </a:p>
          <a:p>
            <a:r>
              <a:rPr lang="en-IN" dirty="0"/>
              <a:t>{  </a:t>
            </a:r>
            <a:endParaRPr lang="en-IN" dirty="0"/>
          </a:p>
          <a:p>
            <a:r>
              <a:rPr lang="en-IN" dirty="0" err="1"/>
              <a:t>Complex_num</a:t>
            </a:r>
            <a:r>
              <a:rPr lang="en-IN" dirty="0"/>
              <a:t> x1, y1, sum, sub; // here we created object of class Addition </a:t>
            </a:r>
            <a:r>
              <a:rPr lang="en-IN" dirty="0" err="1"/>
              <a:t>i.e</a:t>
            </a:r>
            <a:r>
              <a:rPr lang="en-IN" dirty="0"/>
              <a:t> x1 and y1   </a:t>
            </a:r>
            <a:endParaRPr lang="en-IN" dirty="0"/>
          </a:p>
          <a:p>
            <a:r>
              <a:rPr lang="en-IN" dirty="0"/>
              <a:t>    // accepting the values  </a:t>
            </a:r>
            <a:endParaRPr lang="en-IN" dirty="0"/>
          </a:p>
          <a:p>
            <a:r>
              <a:rPr lang="en-IN" dirty="0"/>
              <a:t>    x1.inp();  </a:t>
            </a:r>
            <a:endParaRPr lang="en-IN" dirty="0"/>
          </a:p>
          <a:p>
            <a:r>
              <a:rPr lang="en-IN" dirty="0"/>
              <a:t>    y1.inp();     </a:t>
            </a:r>
            <a:endParaRPr lang="en-IN" dirty="0"/>
          </a:p>
          <a:p>
            <a:r>
              <a:rPr lang="en-IN" dirty="0"/>
              <a:t>    // add the objects  </a:t>
            </a:r>
            <a:endParaRPr lang="en-IN" dirty="0"/>
          </a:p>
          <a:p>
            <a:r>
              <a:rPr lang="en-IN" dirty="0"/>
              <a:t>    sum = x1 + y1;  </a:t>
            </a:r>
            <a:endParaRPr lang="en-IN" dirty="0"/>
          </a:p>
          <a:p>
            <a:r>
              <a:rPr lang="en-IN" dirty="0"/>
              <a:t>    sub = x1 - y1; // subtract the complex number     </a:t>
            </a:r>
            <a:endParaRPr lang="en-IN" dirty="0"/>
          </a:p>
          <a:p>
            <a:r>
              <a:rPr lang="en-IN" dirty="0"/>
              <a:t>    // display user entered values  </a:t>
            </a:r>
            <a:endParaRPr lang="en-IN" dirty="0"/>
          </a:p>
          <a:p>
            <a:r>
              <a:rPr lang="en-IN" dirty="0"/>
              <a:t>    cout &lt;&lt; "\n Entered values are: \n";  </a:t>
            </a:r>
            <a:endParaRPr lang="en-IN" dirty="0"/>
          </a:p>
          <a:p>
            <a:r>
              <a:rPr lang="en-IN" dirty="0"/>
              <a:t>    cout &lt;&lt; " \t";  </a:t>
            </a:r>
            <a:endParaRPr lang="en-IN" dirty="0"/>
          </a:p>
          <a:p>
            <a:r>
              <a:rPr lang="en-IN" dirty="0"/>
              <a:t>    x1.print();  </a:t>
            </a:r>
            <a:endParaRPr lang="en-IN" dirty="0"/>
          </a:p>
          <a:p>
            <a:r>
              <a:rPr lang="en-IN" dirty="0"/>
              <a:t>    cout &lt;&lt; " \t";  </a:t>
            </a:r>
            <a:endParaRPr lang="en-IN" dirty="0"/>
          </a:p>
          <a:p>
            <a:r>
              <a:rPr lang="en-IN" dirty="0"/>
              <a:t>    y1.print();   </a:t>
            </a:r>
            <a:endParaRPr lang="en-IN" dirty="0"/>
          </a:p>
          <a:p>
            <a:r>
              <a:rPr lang="en-IN" dirty="0"/>
              <a:t>    cout &lt;&lt; "\n The addition of two complex (real and imaginary) numbers: ";  </a:t>
            </a:r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sum.print</a:t>
            </a:r>
            <a:r>
              <a:rPr lang="en-IN" dirty="0"/>
              <a:t>(); // call print function to display the result of addition     </a:t>
            </a:r>
            <a:endParaRPr lang="en-IN" dirty="0"/>
          </a:p>
          <a:p>
            <a:r>
              <a:rPr lang="en-IN" dirty="0"/>
              <a:t>    cout &lt;&lt; "\n The subtraction of two complex (real and imaginary) numbers: ";  </a:t>
            </a:r>
            <a:endParaRPr lang="en-IN" dirty="0"/>
          </a:p>
          <a:p>
            <a:r>
              <a:rPr lang="en-IN" dirty="0"/>
              <a:t>    sub.print2(); // call print2 function to display the result of subtraction  </a:t>
            </a:r>
            <a:endParaRPr lang="en-IN" dirty="0"/>
          </a:p>
          <a:p>
            <a:r>
              <a:rPr lang="en-IN" dirty="0"/>
              <a:t>    return 0;  </a:t>
            </a:r>
            <a:endParaRPr lang="en-IN" dirty="0"/>
          </a:p>
          <a:p>
            <a:r>
              <a:rPr lang="en-IN" dirty="0"/>
              <a:t>} 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3349" y="101938"/>
            <a:ext cx="10515600" cy="713758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this pointer and object pointer</a:t>
            </a:r>
            <a:endParaRPr 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92504" y="709529"/>
            <a:ext cx="10515600" cy="7137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sz="2800" b="1" dirty="0">
                <a:solidFill>
                  <a:srgbClr val="FF0000"/>
                </a:solidFill>
              </a:rPr>
              <a:t>this pointer or this keyword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2926" y="1273385"/>
            <a:ext cx="598791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#include&lt;iostream&gt;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/* local variable is same as a member's name */</a:t>
            </a:r>
            <a:endParaRPr lang="en-IN" dirty="0"/>
          </a:p>
          <a:p>
            <a:r>
              <a:rPr lang="en-IN" dirty="0"/>
              <a:t>class Test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   int x;</a:t>
            </a:r>
            <a:endParaRPr lang="en-IN" dirty="0"/>
          </a:p>
          <a:p>
            <a:r>
              <a:rPr lang="en-IN" dirty="0"/>
              <a:t>public:</a:t>
            </a:r>
            <a:endParaRPr lang="en-IN" dirty="0"/>
          </a:p>
          <a:p>
            <a:r>
              <a:rPr lang="en-IN" dirty="0"/>
              <a:t>   void set (int x)</a:t>
            </a:r>
            <a:endParaRPr lang="en-IN" dirty="0"/>
          </a:p>
          <a:p>
            <a:r>
              <a:rPr lang="en-IN" dirty="0"/>
              <a:t>   {</a:t>
            </a:r>
            <a:endParaRPr lang="en-IN" dirty="0"/>
          </a:p>
          <a:p>
            <a:r>
              <a:rPr lang="en-IN" dirty="0"/>
              <a:t>       // The 'this' pointer is used to retrieve the object's x</a:t>
            </a:r>
            <a:endParaRPr lang="en-IN" dirty="0"/>
          </a:p>
          <a:p>
            <a:r>
              <a:rPr lang="en-IN" dirty="0"/>
              <a:t>       // hidden by the local variable 'x'</a:t>
            </a:r>
            <a:endParaRPr lang="en-IN" dirty="0"/>
          </a:p>
          <a:p>
            <a:r>
              <a:rPr lang="en-IN" dirty="0"/>
              <a:t>     this-&gt;x = x;</a:t>
            </a:r>
            <a:endParaRPr lang="en-IN" dirty="0"/>
          </a:p>
          <a:p>
            <a:r>
              <a:rPr lang="en-IN" dirty="0"/>
              <a:t>   }</a:t>
            </a:r>
            <a:endParaRPr lang="en-IN" dirty="0"/>
          </a:p>
          <a:p>
            <a:r>
              <a:rPr lang="en-IN" dirty="0"/>
              <a:t>   void print() </a:t>
            </a:r>
            <a:endParaRPr lang="en-IN" dirty="0"/>
          </a:p>
          <a:p>
            <a:r>
              <a:rPr lang="en-IN" dirty="0"/>
              <a:t>   { </a:t>
            </a:r>
            <a:endParaRPr lang="en-IN" dirty="0"/>
          </a:p>
          <a:p>
            <a:r>
              <a:rPr lang="en-IN" dirty="0"/>
              <a:t>   </a:t>
            </a:r>
            <a:r>
              <a:rPr lang="en-IN" dirty="0" err="1"/>
              <a:t>cout</a:t>
            </a:r>
            <a:r>
              <a:rPr lang="en-IN" dirty="0"/>
              <a:t> &lt;&lt; "x = " &lt;&lt; x &lt;&lt; </a:t>
            </a:r>
            <a:r>
              <a:rPr lang="en-IN" dirty="0" err="1"/>
              <a:t>endl</a:t>
            </a:r>
            <a:r>
              <a:rPr lang="en-IN" dirty="0"/>
              <a:t>; </a:t>
            </a:r>
            <a:endParaRPr lang="en-IN" dirty="0"/>
          </a:p>
          <a:p>
            <a:r>
              <a:rPr lang="en-IN" dirty="0"/>
              <a:t>   }</a:t>
            </a:r>
            <a:endParaRPr lang="en-IN" dirty="0"/>
          </a:p>
          <a:p>
            <a:r>
              <a:rPr lang="en-IN" dirty="0"/>
              <a:t>};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7360170" y="2525554"/>
            <a:ext cx="35526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int main()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   Test </a:t>
            </a:r>
            <a:r>
              <a:rPr lang="en-IN" dirty="0" err="1"/>
              <a:t>obj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 err="1"/>
              <a:t>obj.set</a:t>
            </a:r>
            <a:r>
              <a:rPr lang="en-IN" dirty="0"/>
              <a:t>(10);</a:t>
            </a:r>
            <a:endParaRPr lang="en-IN" dirty="0"/>
          </a:p>
          <a:p>
            <a:r>
              <a:rPr lang="en-IN" dirty="0"/>
              <a:t>   </a:t>
            </a:r>
            <a:r>
              <a:rPr lang="en-IN" dirty="0" err="1"/>
              <a:t>obj.print</a:t>
            </a:r>
            <a:r>
              <a:rPr lang="en-IN" dirty="0"/>
              <a:t>();</a:t>
            </a:r>
            <a:endParaRPr lang="en-IN" dirty="0"/>
          </a:p>
          <a:p>
            <a:r>
              <a:rPr lang="en-IN" dirty="0"/>
              <a:t>   return 0;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3349" y="101938"/>
            <a:ext cx="10515600" cy="713758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00B0F0"/>
                </a:solidFill>
              </a:rPr>
              <a:t>object pointer</a:t>
            </a:r>
            <a:endParaRPr lang="en-GB" b="1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8147" y="928612"/>
            <a:ext cx="60935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#include&lt;iostream&gt;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class Test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   int </a:t>
            </a:r>
            <a:r>
              <a:rPr lang="en-IN" dirty="0" err="1"/>
              <a:t>x,y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public:</a:t>
            </a:r>
            <a:endParaRPr lang="en-IN" dirty="0"/>
          </a:p>
          <a:p>
            <a:r>
              <a:rPr lang="en-IN" dirty="0"/>
              <a:t>   void set (int </a:t>
            </a:r>
            <a:r>
              <a:rPr lang="en-IN" dirty="0" err="1"/>
              <a:t>a,int</a:t>
            </a:r>
            <a:r>
              <a:rPr lang="en-IN" dirty="0"/>
              <a:t> b)</a:t>
            </a:r>
            <a:endParaRPr lang="en-IN" dirty="0"/>
          </a:p>
          <a:p>
            <a:r>
              <a:rPr lang="en-IN" dirty="0"/>
              <a:t>   {</a:t>
            </a:r>
            <a:endParaRPr lang="en-IN" dirty="0"/>
          </a:p>
          <a:p>
            <a:r>
              <a:rPr lang="en-IN" dirty="0"/>
              <a:t>     x=a;</a:t>
            </a:r>
            <a:endParaRPr lang="en-IN" dirty="0"/>
          </a:p>
          <a:p>
            <a:r>
              <a:rPr lang="en-IN" dirty="0"/>
              <a:t>     y=b;</a:t>
            </a:r>
            <a:endParaRPr lang="en-IN" dirty="0"/>
          </a:p>
          <a:p>
            <a:r>
              <a:rPr lang="en-IN" dirty="0"/>
              <a:t>   }</a:t>
            </a:r>
            <a:endParaRPr lang="en-IN" dirty="0"/>
          </a:p>
          <a:p>
            <a:r>
              <a:rPr lang="en-IN" dirty="0"/>
              <a:t>   void show() </a:t>
            </a:r>
            <a:endParaRPr lang="en-IN" dirty="0"/>
          </a:p>
          <a:p>
            <a:r>
              <a:rPr lang="en-IN" dirty="0"/>
              <a:t>   { </a:t>
            </a:r>
            <a:endParaRPr lang="en-IN" dirty="0"/>
          </a:p>
          <a:p>
            <a:r>
              <a:rPr lang="en-IN" dirty="0"/>
              <a:t>   </a:t>
            </a:r>
            <a:r>
              <a:rPr lang="en-IN" dirty="0" err="1"/>
              <a:t>cout</a:t>
            </a:r>
            <a:r>
              <a:rPr lang="en-IN" dirty="0"/>
              <a:t>&lt;&lt;"A="&lt;&lt;x&lt;&lt;" "&lt;&lt;"B="&lt;&lt;y&lt;&lt;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   }</a:t>
            </a:r>
            <a:endParaRPr lang="en-IN" dirty="0"/>
          </a:p>
          <a:p>
            <a:r>
              <a:rPr lang="en-IN" dirty="0"/>
              <a:t>};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7741860" y="1549745"/>
            <a:ext cx="294056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endParaRPr lang="en-IN" dirty="0"/>
          </a:p>
          <a:p>
            <a:r>
              <a:rPr lang="en-IN" dirty="0"/>
              <a:t>int main()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   Test </a:t>
            </a:r>
            <a:r>
              <a:rPr lang="en-IN" dirty="0" err="1"/>
              <a:t>obj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   Test *p;</a:t>
            </a:r>
            <a:endParaRPr lang="en-IN" dirty="0"/>
          </a:p>
          <a:p>
            <a:r>
              <a:rPr lang="en-IN" dirty="0"/>
              <a:t>   p=&amp;</a:t>
            </a:r>
            <a:r>
              <a:rPr lang="en-IN" dirty="0" err="1"/>
              <a:t>obj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     (*p).set(10,20);</a:t>
            </a:r>
            <a:endParaRPr lang="en-IN" dirty="0"/>
          </a:p>
          <a:p>
            <a:r>
              <a:rPr lang="en-IN" dirty="0"/>
              <a:t>   p-&gt;show();</a:t>
            </a:r>
            <a:endParaRPr lang="en-IN" dirty="0"/>
          </a:p>
          <a:p>
            <a:r>
              <a:rPr lang="en-IN" dirty="0"/>
              <a:t>   return 0;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2536190" y="0"/>
            <a:ext cx="5753100" cy="713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Abstract class/Function </a:t>
            </a:r>
            <a:endParaRPr lang="en-GB" sz="3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553452" y="874316"/>
            <a:ext cx="11085095" cy="43272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sz="2800" dirty="0"/>
              <a:t>A class that contains at least one pure virtual function </a:t>
            </a:r>
            <a:endParaRPr lang="en-GB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sz="2800" dirty="0"/>
              <a:t>Here we cant declare any object of abstract class</a:t>
            </a:r>
            <a:endParaRPr lang="en-GB" sz="2800" dirty="0"/>
          </a:p>
          <a:p>
            <a:pPr indent="0">
              <a:buFont typeface="Wingdings" panose="05000000000000000000" pitchFamily="2" charset="2"/>
            </a:pPr>
            <a:endParaRPr lang="en-GB" sz="2800" dirty="0"/>
          </a:p>
          <a:p>
            <a:r>
              <a:rPr lang="en-GB" sz="2800" b="1" dirty="0"/>
              <a:t>Syntax:</a:t>
            </a:r>
            <a:endParaRPr lang="en-GB" sz="2800" b="1" dirty="0"/>
          </a:p>
          <a:p>
            <a:r>
              <a:rPr lang="en-GB" sz="2800" dirty="0">
                <a:solidFill>
                  <a:srgbClr val="FF0000"/>
                </a:solidFill>
              </a:rPr>
              <a:t>Class A</a:t>
            </a:r>
            <a:endParaRPr lang="en-GB" sz="2800" dirty="0">
              <a:solidFill>
                <a:srgbClr val="FF0000"/>
              </a:solidFill>
            </a:endParaRPr>
          </a:p>
          <a:p>
            <a:r>
              <a:rPr lang="en-GB" sz="2800" dirty="0">
                <a:solidFill>
                  <a:srgbClr val="FF0000"/>
                </a:solidFill>
              </a:rPr>
              <a:t>{</a:t>
            </a:r>
            <a:endParaRPr lang="en-GB" sz="2800" dirty="0">
              <a:solidFill>
                <a:srgbClr val="FF0000"/>
              </a:solidFill>
            </a:endParaRPr>
          </a:p>
          <a:p>
            <a:r>
              <a:rPr lang="en-GB" sz="2800" dirty="0">
                <a:solidFill>
                  <a:srgbClr val="FF0000"/>
                </a:solidFill>
              </a:rPr>
              <a:t>Public:</a:t>
            </a:r>
            <a:endParaRPr lang="en-GB" sz="2800" dirty="0">
              <a:solidFill>
                <a:srgbClr val="FF0000"/>
              </a:solidFill>
            </a:endParaRPr>
          </a:p>
          <a:p>
            <a:r>
              <a:rPr lang="en-GB" sz="2800" dirty="0">
                <a:solidFill>
                  <a:srgbClr val="FF0000"/>
                </a:solidFill>
              </a:rPr>
              <a:t>Virtual void show()=0;</a:t>
            </a:r>
            <a:endParaRPr lang="en-GB" sz="2800" dirty="0">
              <a:solidFill>
                <a:srgbClr val="FF0000"/>
              </a:solidFill>
            </a:endParaRPr>
          </a:p>
          <a:p>
            <a:r>
              <a:rPr lang="en-GB" sz="2800" dirty="0">
                <a:solidFill>
                  <a:srgbClr val="FF0000"/>
                </a:solidFill>
              </a:rPr>
              <a:t>.</a:t>
            </a:r>
            <a:r>
              <a:rPr lang="en-US" altLang="en-GB" sz="2800" dirty="0">
                <a:solidFill>
                  <a:srgbClr val="FF0000"/>
                </a:solidFill>
              </a:rPr>
              <a:t>...</a:t>
            </a:r>
            <a:endParaRPr lang="en-GB" sz="2800" dirty="0">
              <a:solidFill>
                <a:srgbClr val="FF0000"/>
              </a:solidFill>
            </a:endParaRPr>
          </a:p>
          <a:p>
            <a:r>
              <a:rPr lang="en-GB" sz="2800" dirty="0">
                <a:solidFill>
                  <a:srgbClr val="FF0000"/>
                </a:solidFill>
              </a:rPr>
              <a:t>.</a:t>
            </a:r>
            <a:r>
              <a:rPr lang="en-US" altLang="en-GB" sz="2800" dirty="0">
                <a:solidFill>
                  <a:srgbClr val="FF0000"/>
                </a:solidFill>
              </a:rPr>
              <a:t>....</a:t>
            </a:r>
            <a:endParaRPr lang="en-GB" sz="2800" dirty="0">
              <a:solidFill>
                <a:srgbClr val="FF0000"/>
              </a:solidFill>
            </a:endParaRPr>
          </a:p>
          <a:p>
            <a:r>
              <a:rPr lang="en-GB" sz="2800" dirty="0">
                <a:solidFill>
                  <a:srgbClr val="FF0000"/>
                </a:solidFill>
              </a:rPr>
              <a:t>};</a:t>
            </a:r>
            <a:endParaRPr lang="en-GB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2339340" y="120015"/>
            <a:ext cx="6561455" cy="713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Example of Abstract Class /Function</a:t>
            </a:r>
            <a:endParaRPr lang="en-GB" sz="2800" b="1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3984" y="874935"/>
            <a:ext cx="627673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 &lt;iostream&gt;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class Base {</a:t>
            </a:r>
            <a:endParaRPr lang="en-IN" dirty="0"/>
          </a:p>
          <a:p>
            <a:r>
              <a:rPr lang="en-IN" dirty="0"/>
              <a:t>public:</a:t>
            </a:r>
            <a:endParaRPr lang="en-IN" dirty="0"/>
          </a:p>
          <a:p>
            <a:r>
              <a:rPr lang="en-IN" dirty="0"/>
              <a:t>    // pure virtual function</a:t>
            </a:r>
            <a:endParaRPr lang="en-IN" dirty="0"/>
          </a:p>
          <a:p>
            <a:r>
              <a:rPr lang="en-IN" dirty="0"/>
              <a:t> virtual void fun() = 0;</a:t>
            </a:r>
            <a:endParaRPr lang="en-IN" dirty="0"/>
          </a:p>
          <a:p>
            <a:r>
              <a:rPr lang="en-IN" dirty="0"/>
              <a:t>void show() </a:t>
            </a:r>
            <a:endParaRPr lang="en-IN" dirty="0"/>
          </a:p>
          <a:p>
            <a:r>
              <a:rPr lang="en-IN" dirty="0"/>
              <a:t>	{ 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&lt;&lt;"i am from base class"&lt;&lt;</a:t>
            </a:r>
            <a:r>
              <a:rPr lang="en-IN" dirty="0" err="1"/>
              <a:t>endl</a:t>
            </a:r>
            <a:r>
              <a:rPr lang="en-IN" dirty="0"/>
              <a:t>; </a:t>
            </a:r>
            <a:endParaRPr lang="en-IN" dirty="0"/>
          </a:p>
          <a:p>
            <a:r>
              <a:rPr lang="en-IN" dirty="0"/>
              <a:t>	}</a:t>
            </a:r>
            <a:endParaRPr lang="en-IN" dirty="0"/>
          </a:p>
          <a:p>
            <a:r>
              <a:rPr lang="en-IN" dirty="0"/>
              <a:t>};</a:t>
            </a:r>
            <a:endParaRPr lang="en-IN" dirty="0"/>
          </a:p>
          <a:p>
            <a:r>
              <a:rPr lang="en-IN" dirty="0"/>
              <a:t>// This class inherits from Base and implements fun()</a:t>
            </a:r>
            <a:endParaRPr lang="en-IN" dirty="0"/>
          </a:p>
          <a:p>
            <a:r>
              <a:rPr lang="en-IN" dirty="0"/>
              <a:t>class Derived : public Base {</a:t>
            </a:r>
            <a:endParaRPr lang="en-IN" dirty="0"/>
          </a:p>
          <a:p>
            <a:r>
              <a:rPr lang="en-IN" dirty="0"/>
              <a:t>  public:</a:t>
            </a:r>
            <a:endParaRPr lang="en-IN" dirty="0"/>
          </a:p>
          <a:p>
            <a:r>
              <a:rPr lang="en-IN" dirty="0"/>
              <a:t>    void fun()</a:t>
            </a:r>
            <a:endParaRPr lang="en-IN" dirty="0"/>
          </a:p>
          <a:p>
            <a:r>
              <a:rPr lang="en-IN" dirty="0"/>
              <a:t>    {</a:t>
            </a:r>
            <a:endParaRPr lang="en-IN" dirty="0"/>
          </a:p>
          <a:p>
            <a:r>
              <a:rPr lang="en-IN" dirty="0"/>
              <a:t>    	</a:t>
            </a:r>
            <a:r>
              <a:rPr lang="en-IN" dirty="0" err="1"/>
              <a:t>cout</a:t>
            </a:r>
            <a:r>
              <a:rPr lang="en-IN" dirty="0"/>
              <a:t>&lt;&lt;"i am from derived class"&lt;&lt;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	}</a:t>
            </a:r>
            <a:endParaRPr lang="en-IN" dirty="0"/>
          </a:p>
          <a:p>
            <a:endParaRPr lang="en-IN" dirty="0"/>
          </a:p>
          <a:p>
            <a:r>
              <a:rPr lang="en-IN" dirty="0"/>
              <a:t>};</a:t>
            </a:r>
            <a:endParaRPr lang="en-IN" dirty="0"/>
          </a:p>
          <a:p>
            <a:r>
              <a:rPr lang="en-IN" dirty="0"/>
              <a:t> 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098500" y="1443841"/>
            <a:ext cx="45445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int main()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    Derived d;</a:t>
            </a:r>
            <a:endParaRPr lang="en-IN" dirty="0"/>
          </a:p>
          <a:p>
            <a:r>
              <a:rPr lang="en-IN" dirty="0"/>
              <a:t>//calling the fun() function of Derived class</a:t>
            </a:r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d.fun</a:t>
            </a:r>
            <a:r>
              <a:rPr lang="en-IN" dirty="0"/>
              <a:t>();</a:t>
            </a:r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d.show</a:t>
            </a:r>
            <a:r>
              <a:rPr lang="en-IN" dirty="0"/>
              <a:t>();</a:t>
            </a:r>
            <a:endParaRPr lang="en-IN" dirty="0"/>
          </a:p>
          <a:p>
            <a:r>
              <a:rPr lang="en-IN" dirty="0"/>
              <a:t> </a:t>
            </a:r>
            <a:endParaRPr lang="en-IN" dirty="0"/>
          </a:p>
          <a:p>
            <a:r>
              <a:rPr lang="en-IN" dirty="0"/>
              <a:t>    return 0;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238885" y="87630"/>
            <a:ext cx="8986520" cy="713740"/>
          </a:xfrm>
          <a:prstGeom prst="rect">
            <a:avLst/>
          </a:prstGeom>
        </p:spPr>
        <p:txBody>
          <a:bodyPr vert="horz" lIns="91440" tIns="45720" rIns="91440" bIns="45720" rtlCol="0" anchor="ctr"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Example of Abstract Class /Function using Pointer Object</a:t>
            </a:r>
            <a:endParaRPr lang="en-GB" sz="2400" b="1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3984" y="874935"/>
            <a:ext cx="627673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 &lt;iostream&gt;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class Base {</a:t>
            </a:r>
            <a:endParaRPr lang="en-IN" dirty="0"/>
          </a:p>
          <a:p>
            <a:r>
              <a:rPr lang="en-IN" dirty="0"/>
              <a:t>public:</a:t>
            </a:r>
            <a:endParaRPr lang="en-IN" dirty="0"/>
          </a:p>
          <a:p>
            <a:r>
              <a:rPr lang="en-IN" dirty="0"/>
              <a:t>    // pure virtual function</a:t>
            </a:r>
            <a:endParaRPr lang="en-IN" dirty="0"/>
          </a:p>
          <a:p>
            <a:r>
              <a:rPr lang="en-IN" dirty="0"/>
              <a:t> virtual void fun() = 0;</a:t>
            </a:r>
            <a:endParaRPr lang="en-IN" dirty="0"/>
          </a:p>
          <a:p>
            <a:r>
              <a:rPr lang="en-IN" dirty="0"/>
              <a:t>void show() </a:t>
            </a:r>
            <a:endParaRPr lang="en-IN" dirty="0"/>
          </a:p>
          <a:p>
            <a:r>
              <a:rPr lang="en-IN" dirty="0"/>
              <a:t>	{ 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&lt;&lt;"i am from base class"&lt;&lt;</a:t>
            </a:r>
            <a:r>
              <a:rPr lang="en-IN" dirty="0" err="1"/>
              <a:t>endl</a:t>
            </a:r>
            <a:r>
              <a:rPr lang="en-IN" dirty="0"/>
              <a:t>; </a:t>
            </a:r>
            <a:endParaRPr lang="en-IN" dirty="0"/>
          </a:p>
          <a:p>
            <a:r>
              <a:rPr lang="en-IN" dirty="0"/>
              <a:t>	}</a:t>
            </a:r>
            <a:endParaRPr lang="en-IN" dirty="0"/>
          </a:p>
          <a:p>
            <a:r>
              <a:rPr lang="en-IN" dirty="0"/>
              <a:t>};</a:t>
            </a:r>
            <a:endParaRPr lang="en-IN" dirty="0"/>
          </a:p>
          <a:p>
            <a:r>
              <a:rPr lang="en-IN" dirty="0"/>
              <a:t>// This class inherits from Base and implements fun()</a:t>
            </a:r>
            <a:endParaRPr lang="en-IN" dirty="0"/>
          </a:p>
          <a:p>
            <a:r>
              <a:rPr lang="en-IN" dirty="0"/>
              <a:t>class Derived : public Base {</a:t>
            </a:r>
            <a:endParaRPr lang="en-IN" dirty="0"/>
          </a:p>
          <a:p>
            <a:r>
              <a:rPr lang="en-IN" dirty="0"/>
              <a:t>  public:</a:t>
            </a:r>
            <a:endParaRPr lang="en-IN" dirty="0"/>
          </a:p>
          <a:p>
            <a:r>
              <a:rPr lang="en-IN" dirty="0"/>
              <a:t>    void fun()</a:t>
            </a:r>
            <a:endParaRPr lang="en-IN" dirty="0"/>
          </a:p>
          <a:p>
            <a:r>
              <a:rPr lang="en-IN" dirty="0"/>
              <a:t>    {</a:t>
            </a:r>
            <a:endParaRPr lang="en-IN" dirty="0"/>
          </a:p>
          <a:p>
            <a:r>
              <a:rPr lang="en-IN" dirty="0"/>
              <a:t>    	</a:t>
            </a:r>
            <a:r>
              <a:rPr lang="en-IN" dirty="0" err="1"/>
              <a:t>cout</a:t>
            </a:r>
            <a:r>
              <a:rPr lang="en-IN" dirty="0"/>
              <a:t>&lt;&lt;"i am from derived class"&lt;&lt;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	}</a:t>
            </a:r>
            <a:endParaRPr lang="en-IN" dirty="0"/>
          </a:p>
          <a:p>
            <a:endParaRPr lang="en-IN" dirty="0"/>
          </a:p>
          <a:p>
            <a:r>
              <a:rPr lang="en-IN" dirty="0"/>
              <a:t>};</a:t>
            </a:r>
            <a:endParaRPr lang="en-IN" dirty="0"/>
          </a:p>
          <a:p>
            <a:r>
              <a:rPr lang="en-IN" dirty="0"/>
              <a:t> 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520720" y="2703015"/>
            <a:ext cx="54272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int main()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    Derived d;</a:t>
            </a:r>
            <a:endParaRPr lang="en-IN" dirty="0"/>
          </a:p>
          <a:p>
            <a:r>
              <a:rPr lang="en-IN" dirty="0"/>
              <a:t>    Base *p;</a:t>
            </a:r>
            <a:endParaRPr lang="en-IN" dirty="0"/>
          </a:p>
          <a:p>
            <a:r>
              <a:rPr lang="en-IN" dirty="0"/>
              <a:t>    p=&amp;d;</a:t>
            </a:r>
            <a:endParaRPr lang="en-IN" dirty="0"/>
          </a:p>
          <a:p>
            <a:r>
              <a:rPr lang="en-IN" dirty="0"/>
              <a:t>    p-&gt;fun(); // calling the fun() function of Derived class</a:t>
            </a:r>
            <a:endParaRPr lang="en-IN" dirty="0"/>
          </a:p>
          <a:p>
            <a:r>
              <a:rPr lang="en-IN" dirty="0"/>
              <a:t>    return 0;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2583853" y="-60"/>
            <a:ext cx="7774503" cy="7137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VIRTUAL DESTRUCTOR</a:t>
            </a:r>
            <a:endParaRPr lang="en-GB" sz="2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90122" y="380880"/>
            <a:ext cx="3273012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#include&lt;iostream&gt;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 using namespace std;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class base 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public: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 base()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 err="1"/>
              <a:t>cout</a:t>
            </a:r>
            <a:r>
              <a:rPr lang="en-US" altLang="en-US" dirty="0"/>
              <a:t> &lt;&lt; "Constructing base\n";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virtual ~base()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 err="1"/>
              <a:t>cout</a:t>
            </a:r>
            <a:r>
              <a:rPr lang="en-US" altLang="en-US" dirty="0"/>
              <a:t> &lt;&lt; "Destructing base\n";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class derived : public base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public: derived()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{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 </a:t>
            </a:r>
            <a:r>
              <a:rPr lang="en-US" altLang="en-US" dirty="0" err="1"/>
              <a:t>cout</a:t>
            </a:r>
            <a:r>
              <a:rPr lang="en-US" altLang="en-US" dirty="0"/>
              <a:t> &lt;&lt; "Constructing derived\n";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virtual ~derived()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 err="1"/>
              <a:t>cout</a:t>
            </a:r>
            <a:r>
              <a:rPr lang="en-US" altLang="en-US" dirty="0"/>
              <a:t> &lt;&lt; "Destructing derived\n";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 };</a:t>
            </a:r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073470" y="3780155"/>
            <a:ext cx="34307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int main()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 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derived *d = new derived();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base *b = d;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 delete b;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 </a:t>
            </a:r>
            <a:r>
              <a:rPr lang="en-US" altLang="en-US" dirty="0" err="1"/>
              <a:t>getchar</a:t>
            </a:r>
            <a:r>
              <a:rPr lang="en-US" altLang="en-US" dirty="0"/>
              <a:t>();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 return 0; } </a:t>
            </a:r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367030" y="3810"/>
            <a:ext cx="11662410" cy="577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Type Conversion</a:t>
            </a:r>
            <a:endParaRPr lang="en-IN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50177" y="851633"/>
            <a:ext cx="1147953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dirty="0"/>
              <a:t>C++ provides mechanism to perform automatic type conversion if all variable are of basic type. </a:t>
            </a:r>
            <a:endParaRPr lang="en-US" altLang="en-US" dirty="0"/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dirty="0"/>
              <a:t>For user defined data type, programmers have to convert it by using constructor or by using casting operator.</a:t>
            </a:r>
            <a:endParaRPr lang="en-US" altLang="en-US" dirty="0"/>
          </a:p>
          <a:p>
            <a:pPr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en-US" b="1" dirty="0"/>
          </a:p>
          <a:p>
            <a:pPr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en-US" b="1" dirty="0"/>
              <a:t>Automatic type conversion </a:t>
            </a:r>
            <a:endParaRPr lang="en-US" altLang="en-US" b="1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Example:</a:t>
            </a:r>
            <a:endParaRPr lang="en-US" altLang="en-US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int x; </a:t>
            </a:r>
            <a:endParaRPr lang="en-US" altLang="en-US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float y = 20.123; </a:t>
            </a:r>
            <a:endParaRPr lang="en-US" altLang="en-US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x=y ; </a:t>
            </a:r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00504" y="3429000"/>
            <a:ext cx="11341922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2D2D2D"/>
                </a:solidFill>
                <a:effectLst/>
                <a:latin typeface="Open Sans" panose="020B0606030504020204" pitchFamily="34" charset="0"/>
              </a:rPr>
              <a:t>When objects are of different data types we must apply conversion rules for assignment.</a:t>
            </a:r>
            <a:endParaRPr lang="en-GB" b="0" i="0" dirty="0">
              <a:solidFill>
                <a:srgbClr val="2D2D2D"/>
              </a:solidFill>
              <a:effectLst/>
              <a:latin typeface="Open Sans" panose="020B0606030504020204" pitchFamily="34" charset="0"/>
            </a:endParaRPr>
          </a:p>
          <a:p>
            <a:pPr algn="just"/>
            <a:r>
              <a:rPr lang="en-GB" b="0" i="0" dirty="0">
                <a:solidFill>
                  <a:srgbClr val="2D2D2D"/>
                </a:solidFill>
                <a:effectLst/>
                <a:latin typeface="Open Sans" panose="020B0606030504020204" pitchFamily="34" charset="0"/>
              </a:rPr>
              <a:t>Three type of situation arise in user defined data type conversion.</a:t>
            </a:r>
            <a:endParaRPr lang="en-GB" b="0" i="0" dirty="0">
              <a:solidFill>
                <a:srgbClr val="2D2D2D"/>
              </a:solidFill>
              <a:effectLst/>
              <a:latin typeface="Open Sans" panose="020B0606030504020204" pitchFamily="34" charset="0"/>
            </a:endParaRPr>
          </a:p>
          <a:p>
            <a:pPr algn="just"/>
            <a:endParaRPr lang="en-GB" b="0" i="0" dirty="0">
              <a:solidFill>
                <a:srgbClr val="2D2D2D"/>
              </a:solidFill>
              <a:effectLst/>
              <a:latin typeface="Open Sans" panose="020B0606030504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GB" b="0" i="0" dirty="0">
                <a:solidFill>
                  <a:srgbClr val="2D2D2D"/>
                </a:solidFill>
                <a:effectLst/>
                <a:latin typeface="Open Sans" panose="020B0606030504020204" pitchFamily="34" charset="0"/>
              </a:rPr>
              <a:t>Basic type to Class type</a:t>
            </a:r>
            <a:endParaRPr lang="en-GB" b="0" i="0" dirty="0">
              <a:solidFill>
                <a:srgbClr val="2D2D2D"/>
              </a:solidFill>
              <a:effectLst/>
              <a:latin typeface="Open Sans" panose="020B0606030504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GB" b="0" i="0" dirty="0">
                <a:solidFill>
                  <a:srgbClr val="2D2D2D"/>
                </a:solidFill>
                <a:effectLst/>
                <a:latin typeface="Open Sans" panose="020B0606030504020204" pitchFamily="34" charset="0"/>
              </a:rPr>
              <a:t>Class type to Basic type</a:t>
            </a:r>
            <a:endParaRPr lang="en-GB" b="0" i="0" dirty="0">
              <a:solidFill>
                <a:srgbClr val="2D2D2D"/>
              </a:solidFill>
              <a:effectLst/>
              <a:latin typeface="Open Sans" panose="020B0606030504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GB" b="0" i="0" dirty="0">
                <a:solidFill>
                  <a:srgbClr val="2D2D2D"/>
                </a:solidFill>
                <a:effectLst/>
                <a:latin typeface="Open Sans" panose="020B0606030504020204" pitchFamily="34" charset="0"/>
              </a:rPr>
              <a:t>Class type to Class type</a:t>
            </a:r>
            <a:endParaRPr lang="en-GB" b="0" i="0" dirty="0">
              <a:solidFill>
                <a:srgbClr val="2D2D2D"/>
              </a:solidFill>
              <a:effectLst/>
              <a:latin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188564" y="-12280"/>
            <a:ext cx="9623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Basic type(Primitive) To Class type</a:t>
            </a:r>
            <a:endParaRPr lang="en-GB" sz="3600" b="1" i="0" dirty="0">
              <a:solidFill>
                <a:srgbClr val="FF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" y="-12280"/>
            <a:ext cx="6730584" cy="7016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#include&lt;iostream&gt;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using namespace std;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class complex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{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 int </a:t>
            </a:r>
            <a:r>
              <a:rPr lang="en-IN" dirty="0" err="1"/>
              <a:t>a,b</a:t>
            </a:r>
            <a:r>
              <a:rPr lang="en-IN" dirty="0"/>
              <a:t>;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public: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	complex() //default constructor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	{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	}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	complex(int k)//parameterized constructor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	{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		a=k;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		b=0;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	}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void </a:t>
            </a:r>
            <a:r>
              <a:rPr lang="en-IN" dirty="0" err="1"/>
              <a:t>setdata</a:t>
            </a:r>
            <a:r>
              <a:rPr lang="en-IN" dirty="0"/>
              <a:t>(int </a:t>
            </a:r>
            <a:r>
              <a:rPr lang="en-IN" dirty="0" err="1"/>
              <a:t>x,int</a:t>
            </a:r>
            <a:r>
              <a:rPr lang="en-IN" dirty="0"/>
              <a:t> y)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{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	a=x;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	b=y;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}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void show()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{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 &lt;&lt;"</a:t>
            </a:r>
            <a:r>
              <a:rPr lang="en-IN" dirty="0" err="1"/>
              <a:t>aR</a:t>
            </a:r>
            <a:r>
              <a:rPr lang="en-IN" dirty="0"/>
              <a:t>="&lt;&lt;a&lt;&lt;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 &lt;&lt;"</a:t>
            </a:r>
            <a:r>
              <a:rPr lang="en-IN" dirty="0" err="1"/>
              <a:t>bI</a:t>
            </a:r>
            <a:r>
              <a:rPr lang="en-IN" dirty="0"/>
              <a:t>="&lt;&lt;b&lt;&lt;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	}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};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8124669" y="3427928"/>
            <a:ext cx="382249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 main()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	complex c;</a:t>
            </a:r>
            <a:endParaRPr lang="en-IN" dirty="0"/>
          </a:p>
          <a:p>
            <a:r>
              <a:rPr lang="en-IN" dirty="0"/>
              <a:t>	int x=5;</a:t>
            </a:r>
            <a:endParaRPr lang="en-IN" dirty="0"/>
          </a:p>
          <a:p>
            <a:r>
              <a:rPr lang="en-IN" dirty="0"/>
              <a:t>	c=x; //invokes constructor 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c.show</a:t>
            </a:r>
            <a:r>
              <a:rPr lang="en-IN" dirty="0"/>
              <a:t>();</a:t>
            </a:r>
            <a:endParaRPr lang="en-IN" dirty="0"/>
          </a:p>
          <a:p>
            <a:r>
              <a:rPr lang="en-IN" dirty="0"/>
              <a:t>	return 0;</a:t>
            </a:r>
            <a:endParaRPr lang="en-IN" dirty="0"/>
          </a:p>
          <a:p>
            <a:r>
              <a:rPr lang="en-IN" dirty="0"/>
              <a:t>	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005529" y="592230"/>
            <a:ext cx="6412042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GB" sz="2400" b="1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Through Constructor</a:t>
            </a:r>
            <a:endParaRPr lang="en-GB" sz="2400" b="1" i="0" dirty="0">
              <a:solidFill>
                <a:srgbClr val="00B050"/>
              </a:solidFill>
              <a:effectLst/>
              <a:latin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683835" y="-12280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sz="3600" b="1" i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Roboto" panose="02000000000000000000" pitchFamily="2" charset="0"/>
              </a:rPr>
              <a:t>Class type to Basic type</a:t>
            </a:r>
            <a:endParaRPr lang="en-GB" sz="3600" b="1" i="0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00" y="0"/>
            <a:ext cx="60935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#include&lt;iostream&gt;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class complex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	 int </a:t>
            </a:r>
            <a:r>
              <a:rPr lang="en-IN" dirty="0" err="1"/>
              <a:t>a,b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	public:</a:t>
            </a:r>
            <a:endParaRPr lang="en-IN" dirty="0"/>
          </a:p>
          <a:p>
            <a:r>
              <a:rPr lang="en-IN" dirty="0"/>
              <a:t>	</a:t>
            </a:r>
            <a:endParaRPr lang="en-IN" dirty="0"/>
          </a:p>
          <a:p>
            <a:r>
              <a:rPr lang="en-IN" dirty="0"/>
              <a:t>	void </a:t>
            </a:r>
            <a:r>
              <a:rPr lang="en-IN" dirty="0" err="1"/>
              <a:t>setdata</a:t>
            </a:r>
            <a:r>
              <a:rPr lang="en-IN" dirty="0"/>
              <a:t>(int </a:t>
            </a:r>
            <a:r>
              <a:rPr lang="en-IN" dirty="0" err="1"/>
              <a:t>x,int</a:t>
            </a:r>
            <a:r>
              <a:rPr lang="en-IN" dirty="0"/>
              <a:t> y)</a:t>
            </a:r>
            <a:endParaRPr lang="en-IN" dirty="0"/>
          </a:p>
          <a:p>
            <a:r>
              <a:rPr lang="en-IN" dirty="0"/>
              <a:t>	{</a:t>
            </a:r>
            <a:endParaRPr lang="en-IN" dirty="0"/>
          </a:p>
          <a:p>
            <a:r>
              <a:rPr lang="en-IN" dirty="0"/>
              <a:t>		a=x;</a:t>
            </a:r>
            <a:endParaRPr lang="en-IN" dirty="0"/>
          </a:p>
          <a:p>
            <a:r>
              <a:rPr lang="en-IN" dirty="0"/>
              <a:t>		b=y;</a:t>
            </a:r>
            <a:endParaRPr lang="en-IN" dirty="0"/>
          </a:p>
          <a:p>
            <a:r>
              <a:rPr lang="en-IN" dirty="0"/>
              <a:t>	</a:t>
            </a:r>
            <a:endParaRPr lang="en-IN" dirty="0"/>
          </a:p>
          <a:p>
            <a:r>
              <a:rPr lang="en-IN" dirty="0"/>
              <a:t>	}</a:t>
            </a:r>
            <a:endParaRPr lang="en-IN" dirty="0"/>
          </a:p>
          <a:p>
            <a:r>
              <a:rPr lang="en-IN" dirty="0"/>
              <a:t>	void show()</a:t>
            </a:r>
            <a:endParaRPr lang="en-IN" dirty="0"/>
          </a:p>
          <a:p>
            <a:r>
              <a:rPr lang="en-IN" dirty="0"/>
              <a:t>	{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 &lt;&lt;"</a:t>
            </a:r>
            <a:r>
              <a:rPr lang="en-IN" dirty="0" err="1"/>
              <a:t>aR</a:t>
            </a:r>
            <a:r>
              <a:rPr lang="en-IN" dirty="0"/>
              <a:t>="&lt;&lt;a&lt;&lt;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 &lt;&lt;"</a:t>
            </a:r>
            <a:r>
              <a:rPr lang="en-IN" dirty="0" err="1"/>
              <a:t>bI</a:t>
            </a:r>
            <a:r>
              <a:rPr lang="en-IN" dirty="0"/>
              <a:t>="&lt;&lt;b&lt;&lt;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	}</a:t>
            </a:r>
            <a:endParaRPr lang="en-IN" dirty="0"/>
          </a:p>
          <a:p>
            <a:r>
              <a:rPr lang="en-IN" dirty="0"/>
              <a:t>	operator int()</a:t>
            </a:r>
            <a:endParaRPr lang="en-IN" dirty="0"/>
          </a:p>
          <a:p>
            <a:r>
              <a:rPr lang="en-IN" dirty="0"/>
              <a:t>	{</a:t>
            </a:r>
            <a:endParaRPr lang="en-IN" dirty="0"/>
          </a:p>
          <a:p>
            <a:r>
              <a:rPr lang="en-IN" dirty="0"/>
              <a:t>	return(a);	</a:t>
            </a:r>
            <a:endParaRPr lang="en-IN" dirty="0"/>
          </a:p>
          <a:p>
            <a:r>
              <a:rPr lang="en-IN" dirty="0"/>
              <a:t>	}</a:t>
            </a:r>
            <a:endParaRPr lang="en-IN" dirty="0"/>
          </a:p>
          <a:p>
            <a:r>
              <a:rPr lang="en-IN" dirty="0"/>
              <a:t>};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7396231" y="3458121"/>
            <a:ext cx="44258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 main()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	complex c;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c.setdata</a:t>
            </a:r>
            <a:r>
              <a:rPr lang="en-IN" dirty="0"/>
              <a:t>(3,4);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c.show</a:t>
            </a:r>
            <a:r>
              <a:rPr lang="en-IN" dirty="0"/>
              <a:t>();</a:t>
            </a:r>
            <a:endParaRPr lang="en-IN" dirty="0"/>
          </a:p>
          <a:p>
            <a:r>
              <a:rPr lang="en-IN" dirty="0"/>
              <a:t>	 int x=c;  //x=c1.operator int();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&lt;&lt;"x="&lt;&lt;x&lt;&lt;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	return 0;</a:t>
            </a:r>
            <a:endParaRPr lang="en-IN" dirty="0"/>
          </a:p>
          <a:p>
            <a:r>
              <a:rPr lang="en-IN" dirty="0"/>
              <a:t>	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3005529" y="592230"/>
            <a:ext cx="6412042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GB" sz="2400" b="1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Through Casting Operator</a:t>
            </a:r>
            <a:endParaRPr lang="en-GB" sz="2400" b="1" i="0" dirty="0">
              <a:solidFill>
                <a:srgbClr val="00B050"/>
              </a:solidFill>
              <a:effectLst/>
              <a:latin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683835" y="-12280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sz="3600" b="1" i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Roboto" panose="02000000000000000000" pitchFamily="2" charset="0"/>
              </a:rPr>
              <a:t>Class type to </a:t>
            </a:r>
            <a:r>
              <a:rPr lang="en-GB" sz="3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Roboto" panose="02000000000000000000" pitchFamily="2" charset="0"/>
              </a:rPr>
              <a:t>Class</a:t>
            </a:r>
            <a:r>
              <a:rPr lang="en-GB" sz="3600" b="1" i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Roboto" panose="02000000000000000000" pitchFamily="2" charset="0"/>
              </a:rPr>
              <a:t> type</a:t>
            </a:r>
            <a:endParaRPr lang="en-GB" sz="3600" b="1" i="0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Roboto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05528" y="592230"/>
            <a:ext cx="7967271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GB" sz="2400" b="1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Through </a:t>
            </a:r>
            <a:r>
              <a:rPr lang="en-GB" sz="2400" b="1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Constructor and Casting Operator</a:t>
            </a:r>
            <a:endParaRPr lang="en-GB" sz="2400" b="1" i="0" dirty="0">
              <a:solidFill>
                <a:srgbClr val="00B05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41222" y="0"/>
            <a:ext cx="60935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#include&lt;iostream&gt;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class product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	 int </a:t>
            </a:r>
            <a:r>
              <a:rPr lang="en-IN" dirty="0" err="1"/>
              <a:t>m,n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	public:</a:t>
            </a:r>
            <a:endParaRPr lang="en-IN" dirty="0"/>
          </a:p>
          <a:p>
            <a:r>
              <a:rPr lang="en-IN" dirty="0"/>
              <a:t>	void </a:t>
            </a:r>
            <a:r>
              <a:rPr lang="en-IN" dirty="0" err="1"/>
              <a:t>setdata</a:t>
            </a:r>
            <a:r>
              <a:rPr lang="en-IN" dirty="0"/>
              <a:t>(int </a:t>
            </a:r>
            <a:r>
              <a:rPr lang="en-IN" dirty="0" err="1"/>
              <a:t>x,int</a:t>
            </a:r>
            <a:r>
              <a:rPr lang="en-IN" dirty="0"/>
              <a:t> y)</a:t>
            </a:r>
            <a:endParaRPr lang="en-IN" dirty="0"/>
          </a:p>
          <a:p>
            <a:r>
              <a:rPr lang="en-IN" dirty="0"/>
              <a:t>	{</a:t>
            </a:r>
            <a:endParaRPr lang="en-IN" dirty="0"/>
          </a:p>
          <a:p>
            <a:r>
              <a:rPr lang="en-IN" dirty="0"/>
              <a:t>		m=x;</a:t>
            </a:r>
            <a:endParaRPr lang="en-IN" dirty="0"/>
          </a:p>
          <a:p>
            <a:r>
              <a:rPr lang="en-IN" dirty="0"/>
              <a:t>		n=y;</a:t>
            </a:r>
            <a:endParaRPr lang="en-IN" dirty="0"/>
          </a:p>
          <a:p>
            <a:r>
              <a:rPr lang="en-IN" dirty="0"/>
              <a:t>	}</a:t>
            </a:r>
            <a:endParaRPr lang="en-IN" dirty="0"/>
          </a:p>
          <a:p>
            <a:r>
              <a:rPr lang="en-IN" dirty="0"/>
              <a:t>	int </a:t>
            </a:r>
            <a:r>
              <a:rPr lang="en-IN" dirty="0" err="1"/>
              <a:t>getm</a:t>
            </a:r>
            <a:r>
              <a:rPr lang="en-IN" dirty="0"/>
              <a:t>()//function to get the value of m and n</a:t>
            </a:r>
            <a:endParaRPr lang="en-IN" dirty="0"/>
          </a:p>
          <a:p>
            <a:r>
              <a:rPr lang="en-IN" dirty="0"/>
              <a:t>	{ </a:t>
            </a:r>
            <a:endParaRPr lang="en-IN" dirty="0"/>
          </a:p>
          <a:p>
            <a:r>
              <a:rPr lang="en-IN" dirty="0"/>
              <a:t>	return (m);</a:t>
            </a:r>
            <a:endParaRPr lang="en-IN" dirty="0"/>
          </a:p>
          <a:p>
            <a:r>
              <a:rPr lang="en-IN" dirty="0"/>
              <a:t>	}</a:t>
            </a:r>
            <a:endParaRPr lang="en-IN" dirty="0"/>
          </a:p>
          <a:p>
            <a:r>
              <a:rPr lang="en-IN" dirty="0"/>
              <a:t>	int </a:t>
            </a:r>
            <a:r>
              <a:rPr lang="en-IN" dirty="0" err="1"/>
              <a:t>getn</a:t>
            </a:r>
            <a:r>
              <a:rPr lang="en-IN" dirty="0"/>
              <a:t>()</a:t>
            </a:r>
            <a:endParaRPr lang="en-IN" dirty="0"/>
          </a:p>
          <a:p>
            <a:r>
              <a:rPr lang="en-IN" dirty="0"/>
              <a:t>	{</a:t>
            </a:r>
            <a:endParaRPr lang="en-IN" dirty="0"/>
          </a:p>
          <a:p>
            <a:r>
              <a:rPr lang="en-IN" dirty="0"/>
              <a:t>		return (n);</a:t>
            </a:r>
            <a:endParaRPr lang="en-IN" dirty="0"/>
          </a:p>
          <a:p>
            <a:r>
              <a:rPr lang="en-IN" dirty="0"/>
              <a:t>	}</a:t>
            </a:r>
            <a:endParaRPr lang="en-IN" dirty="0"/>
          </a:p>
          <a:p>
            <a:r>
              <a:rPr lang="en-IN" dirty="0"/>
              <a:t>	void show()</a:t>
            </a:r>
            <a:endParaRPr lang="en-IN" dirty="0"/>
          </a:p>
          <a:p>
            <a:r>
              <a:rPr lang="en-IN" dirty="0"/>
              <a:t>	{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 &lt;&lt;"m="&lt;&lt;m&lt;&lt;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 &lt;&lt;"n="&lt;&lt;n&lt;&lt;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	}};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468256" y="1053895"/>
            <a:ext cx="514912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item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private:</a:t>
            </a:r>
            <a:endParaRPr lang="en-IN" dirty="0"/>
          </a:p>
          <a:p>
            <a:r>
              <a:rPr lang="en-IN" dirty="0"/>
              <a:t> int </a:t>
            </a:r>
            <a:r>
              <a:rPr lang="en-IN" dirty="0" err="1"/>
              <a:t>a,b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public:		</a:t>
            </a:r>
            <a:endParaRPr lang="en-IN" dirty="0"/>
          </a:p>
          <a:p>
            <a:r>
              <a:rPr lang="en-IN" dirty="0"/>
              <a:t>item () {}</a:t>
            </a:r>
            <a:endParaRPr lang="en-IN" dirty="0"/>
          </a:p>
          <a:p>
            <a:r>
              <a:rPr lang="en-IN" dirty="0"/>
              <a:t>item(product p1){</a:t>
            </a:r>
            <a:endParaRPr lang="en-IN" dirty="0"/>
          </a:p>
          <a:p>
            <a:r>
              <a:rPr lang="en-IN" dirty="0"/>
              <a:t>a=p1.getm();</a:t>
            </a:r>
            <a:endParaRPr lang="en-IN" dirty="0"/>
          </a:p>
          <a:p>
            <a:r>
              <a:rPr lang="en-IN" dirty="0"/>
              <a:t>b=p1.getn();}</a:t>
            </a:r>
            <a:endParaRPr lang="en-IN" dirty="0"/>
          </a:p>
          <a:p>
            <a:r>
              <a:rPr lang="en-IN" dirty="0"/>
              <a:t>	void show()</a:t>
            </a:r>
            <a:endParaRPr lang="en-IN" dirty="0"/>
          </a:p>
          <a:p>
            <a:r>
              <a:rPr lang="en-IN" dirty="0"/>
              <a:t>	{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 &lt;&lt;"</a:t>
            </a:r>
            <a:r>
              <a:rPr lang="en-IN" dirty="0" err="1"/>
              <a:t>aR</a:t>
            </a:r>
            <a:r>
              <a:rPr lang="en-IN" dirty="0"/>
              <a:t>="&lt;&lt;a&lt;&lt;“</a:t>
            </a:r>
            <a:r>
              <a:rPr lang="en-IN" dirty="0" err="1"/>
              <a:t>ib</a:t>
            </a:r>
            <a:r>
              <a:rPr lang="en-IN" dirty="0"/>
              <a:t>=”&lt;&lt;b&lt;&lt;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	}};</a:t>
            </a:r>
            <a:endParaRPr lang="en-IN" dirty="0"/>
          </a:p>
          <a:p>
            <a:r>
              <a:rPr lang="en-IN" dirty="0"/>
              <a:t>int main()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item i1;</a:t>
            </a:r>
            <a:endParaRPr lang="en-IN" dirty="0"/>
          </a:p>
          <a:p>
            <a:r>
              <a:rPr lang="en-IN" dirty="0"/>
              <a:t>product p1;</a:t>
            </a:r>
            <a:endParaRPr lang="en-IN" dirty="0"/>
          </a:p>
          <a:p>
            <a:r>
              <a:rPr lang="en-IN" dirty="0"/>
              <a:t>p1.setdata(3,4);</a:t>
            </a:r>
            <a:endParaRPr lang="en-IN" dirty="0"/>
          </a:p>
          <a:p>
            <a:r>
              <a:rPr lang="en-IN" dirty="0"/>
              <a:t>i1=p1;</a:t>
            </a:r>
            <a:endParaRPr lang="en-IN" dirty="0"/>
          </a:p>
          <a:p>
            <a:r>
              <a:rPr lang="en-IN" dirty="0"/>
              <a:t>i1.show();</a:t>
            </a:r>
            <a:endParaRPr lang="en-IN" dirty="0"/>
          </a:p>
          <a:p>
            <a:r>
              <a:rPr lang="en-IN" dirty="0"/>
              <a:t>return 0;}</a:t>
            </a:r>
            <a:endParaRPr lang="en-I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683835" y="-12280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sz="3600" b="1" i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Roboto" panose="02000000000000000000" pitchFamily="2" charset="0"/>
              </a:rPr>
              <a:t>Class type to </a:t>
            </a:r>
            <a:r>
              <a:rPr lang="en-GB" sz="3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Roboto" panose="02000000000000000000" pitchFamily="2" charset="0"/>
              </a:rPr>
              <a:t>Class</a:t>
            </a:r>
            <a:r>
              <a:rPr lang="en-GB" sz="3600" b="1" i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Roboto" panose="02000000000000000000" pitchFamily="2" charset="0"/>
              </a:rPr>
              <a:t> type</a:t>
            </a:r>
            <a:endParaRPr lang="en-GB" sz="3600" b="1" i="0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Roboto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05528" y="592230"/>
            <a:ext cx="7967271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GB" sz="2400" b="1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Through Casting Operator</a:t>
            </a:r>
            <a:endParaRPr lang="en-GB" sz="2400" b="1" i="0" dirty="0">
              <a:solidFill>
                <a:srgbClr val="00B05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45" y="0"/>
            <a:ext cx="4558255" cy="7016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#include&lt;iostream&gt;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class item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public:</a:t>
            </a:r>
            <a:endParaRPr lang="en-IN" dirty="0"/>
          </a:p>
          <a:p>
            <a:r>
              <a:rPr lang="en-IN" dirty="0"/>
              <a:t> int </a:t>
            </a:r>
            <a:r>
              <a:rPr lang="en-IN" dirty="0" err="1"/>
              <a:t>a,b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public:</a:t>
            </a:r>
            <a:endParaRPr lang="en-IN" dirty="0"/>
          </a:p>
          <a:p>
            <a:r>
              <a:rPr lang="en-IN" dirty="0"/>
              <a:t>void show(){</a:t>
            </a:r>
            <a:endParaRPr lang="en-IN" dirty="0"/>
          </a:p>
          <a:p>
            <a:r>
              <a:rPr lang="en-IN" dirty="0" err="1"/>
              <a:t>cout</a:t>
            </a:r>
            <a:r>
              <a:rPr lang="en-IN" dirty="0"/>
              <a:t> &lt;&lt;"</a:t>
            </a:r>
            <a:r>
              <a:rPr lang="en-IN" dirty="0" err="1"/>
              <a:t>aR</a:t>
            </a:r>
            <a:r>
              <a:rPr lang="en-IN" dirty="0"/>
              <a:t>="&lt;&lt;a&lt;&lt;“</a:t>
            </a:r>
            <a:r>
              <a:rPr lang="en-IN" dirty="0" err="1"/>
              <a:t>ib</a:t>
            </a:r>
            <a:r>
              <a:rPr lang="en-IN" dirty="0"/>
              <a:t>=”&lt;&lt;b&lt;&lt;</a:t>
            </a:r>
            <a:r>
              <a:rPr lang="en-IN" dirty="0" err="1"/>
              <a:t>endl</a:t>
            </a:r>
            <a:r>
              <a:rPr lang="en-IN" dirty="0"/>
              <a:t>;}};</a:t>
            </a:r>
            <a:endParaRPr lang="en-IN" dirty="0"/>
          </a:p>
          <a:p>
            <a:r>
              <a:rPr lang="en-IN" dirty="0"/>
              <a:t>class product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 int </a:t>
            </a:r>
            <a:r>
              <a:rPr lang="en-IN" dirty="0" err="1"/>
              <a:t>m,n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public:</a:t>
            </a:r>
            <a:endParaRPr lang="en-IN" dirty="0"/>
          </a:p>
          <a:p>
            <a:r>
              <a:rPr lang="en-IN" dirty="0"/>
              <a:t>void </a:t>
            </a:r>
            <a:r>
              <a:rPr lang="en-IN" dirty="0" err="1"/>
              <a:t>setdata</a:t>
            </a:r>
            <a:r>
              <a:rPr lang="en-IN" dirty="0"/>
              <a:t>(int </a:t>
            </a:r>
            <a:r>
              <a:rPr lang="en-IN" dirty="0" err="1"/>
              <a:t>x,int</a:t>
            </a:r>
            <a:r>
              <a:rPr lang="en-IN" dirty="0"/>
              <a:t> y){</a:t>
            </a:r>
            <a:endParaRPr lang="en-IN" dirty="0"/>
          </a:p>
          <a:p>
            <a:r>
              <a:rPr lang="en-IN" dirty="0"/>
              <a:t>		m=x;</a:t>
            </a:r>
            <a:endParaRPr lang="en-IN" dirty="0"/>
          </a:p>
          <a:p>
            <a:r>
              <a:rPr lang="en-IN" dirty="0"/>
              <a:t>		n=y;}</a:t>
            </a:r>
            <a:endParaRPr lang="en-IN" dirty="0"/>
          </a:p>
          <a:p>
            <a:r>
              <a:rPr lang="en-IN" dirty="0"/>
              <a:t>void show(){</a:t>
            </a:r>
            <a:endParaRPr lang="en-IN" dirty="0"/>
          </a:p>
          <a:p>
            <a:r>
              <a:rPr lang="en-IN" dirty="0" err="1"/>
              <a:t>cout</a:t>
            </a:r>
            <a:r>
              <a:rPr lang="en-IN" dirty="0"/>
              <a:t> &lt;&lt;"m="&lt;&lt;m&lt;&lt;“n”&lt;&lt;</a:t>
            </a:r>
            <a:r>
              <a:rPr lang="en-IN" dirty="0" err="1"/>
              <a:t>endl</a:t>
            </a:r>
            <a:r>
              <a:rPr lang="en-IN" dirty="0"/>
              <a:t>;}</a:t>
            </a:r>
            <a:endParaRPr lang="en-IN" dirty="0"/>
          </a:p>
          <a:p>
            <a:r>
              <a:rPr lang="en-IN" dirty="0"/>
              <a:t>operator item()</a:t>
            </a:r>
            <a:endParaRPr lang="en-IN" dirty="0"/>
          </a:p>
          <a:p>
            <a:r>
              <a:rPr lang="en-IN" dirty="0"/>
              <a:t>	{</a:t>
            </a:r>
            <a:endParaRPr lang="en-IN" dirty="0"/>
          </a:p>
          <a:p>
            <a:r>
              <a:rPr lang="en-IN" dirty="0"/>
              <a:t>	item c;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c.a</a:t>
            </a:r>
            <a:r>
              <a:rPr lang="en-IN" dirty="0"/>
              <a:t>=m;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c.b</a:t>
            </a:r>
            <a:r>
              <a:rPr lang="en-IN" dirty="0"/>
              <a:t>=n;</a:t>
            </a:r>
            <a:endParaRPr lang="en-IN" dirty="0"/>
          </a:p>
          <a:p>
            <a:r>
              <a:rPr lang="en-IN" dirty="0"/>
              <a:t>	return(c);</a:t>
            </a:r>
            <a:endParaRPr lang="en-IN" dirty="0"/>
          </a:p>
          <a:p>
            <a:r>
              <a:rPr lang="en-IN" dirty="0"/>
              <a:t>	}};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8745855" y="3406140"/>
            <a:ext cx="2386965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int main()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item i1;</a:t>
            </a:r>
            <a:endParaRPr lang="en-IN" dirty="0"/>
          </a:p>
          <a:p>
            <a:r>
              <a:rPr lang="en-IN" dirty="0"/>
              <a:t>product p1;</a:t>
            </a:r>
            <a:endParaRPr lang="en-IN" dirty="0"/>
          </a:p>
          <a:p>
            <a:r>
              <a:rPr lang="en-IN" dirty="0"/>
              <a:t>p1.setdata(3,4);</a:t>
            </a:r>
            <a:endParaRPr lang="en-IN" dirty="0"/>
          </a:p>
          <a:p>
            <a:r>
              <a:rPr lang="en-IN" dirty="0"/>
              <a:t>i1=p1;</a:t>
            </a:r>
            <a:endParaRPr lang="en-IN" dirty="0"/>
          </a:p>
          <a:p>
            <a:r>
              <a:rPr lang="en-IN" dirty="0"/>
              <a:t>i1.show();</a:t>
            </a:r>
            <a:endParaRPr lang="en-IN" dirty="0"/>
          </a:p>
          <a:p>
            <a:r>
              <a:rPr lang="en-IN" dirty="0"/>
              <a:t>return 0;</a:t>
            </a:r>
            <a:endParaRPr lang="en-IN" dirty="0"/>
          </a:p>
          <a:p>
            <a:r>
              <a:rPr lang="en-IN" dirty="0"/>
              <a:t>	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16701" y="3075057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THANK YOU</a:t>
            </a:r>
            <a:endParaRPr lang="en-IN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11713</Words>
  <Application>WPS Writer</Application>
  <PresentationFormat>Widescreen</PresentationFormat>
  <Paragraphs>750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6" baseType="lpstr">
      <vt:lpstr>Arial</vt:lpstr>
      <vt:lpstr>SimSun</vt:lpstr>
      <vt:lpstr>Wingdings</vt:lpstr>
      <vt:lpstr>Times New Roman</vt:lpstr>
      <vt:lpstr>Arial Unicode MS</vt:lpstr>
      <vt:lpstr>Wingdings</vt:lpstr>
      <vt:lpstr>Open Sans</vt:lpstr>
      <vt:lpstr>苹方-简</vt:lpstr>
      <vt:lpstr>Roboto</vt:lpstr>
      <vt:lpstr>Calibri</vt:lpstr>
      <vt:lpstr>Helvetica Neue</vt:lpstr>
      <vt:lpstr>Microsoft YaHei</vt:lpstr>
      <vt:lpstr>汉仪旗黑</vt:lpstr>
      <vt:lpstr>Calibri Light</vt:lpstr>
      <vt:lpstr>Office Theme</vt:lpstr>
      <vt:lpstr>1_Office Theme</vt:lpstr>
      <vt:lpstr>Unit 4 Polymorphism 	</vt:lpstr>
      <vt:lpstr>PowerPoint 演示文稿</vt:lpstr>
      <vt:lpstr>PowerPoint 演示文稿</vt:lpstr>
      <vt:lpstr>Types of Polymorphism </vt:lpstr>
      <vt:lpstr>Function/Method Overloading</vt:lpstr>
      <vt:lpstr>Operator Overloading</vt:lpstr>
      <vt:lpstr>Operator Overloading</vt:lpstr>
      <vt:lpstr>Run Time Polymorphism</vt:lpstr>
      <vt:lpstr>PowerPoint 演示文稿</vt:lpstr>
      <vt:lpstr>PowerPoint 演示文稿</vt:lpstr>
      <vt:lpstr>Introduction to Operator Overloading</vt:lpstr>
      <vt:lpstr>Introduction to Operator Overloading</vt:lpstr>
      <vt:lpstr>Types of Operator Overloading</vt:lpstr>
      <vt:lpstr>Unary Operator Overloading</vt:lpstr>
      <vt:lpstr>Unary Operator Overloading</vt:lpstr>
      <vt:lpstr>Binary Operator Overloading</vt:lpstr>
      <vt:lpstr>Binary Operator Overloading</vt:lpstr>
      <vt:lpstr>PowerPoint 演示文稿</vt:lpstr>
      <vt:lpstr>this pointer and object pointer</vt:lpstr>
      <vt:lpstr>object pointer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</dc:title>
  <dc:creator>Harendra Bikram Shah</dc:creator>
  <cp:lastModifiedBy>harendra shah</cp:lastModifiedBy>
  <cp:revision>135</cp:revision>
  <dcterms:created xsi:type="dcterms:W3CDTF">2024-06-22T13:37:39Z</dcterms:created>
  <dcterms:modified xsi:type="dcterms:W3CDTF">2024-06-22T13:37:39Z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