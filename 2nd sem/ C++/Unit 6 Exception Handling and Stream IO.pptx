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302" r:id="rId6"/>
    <p:sldId id="299" r:id="rId7"/>
    <p:sldId id="284" r:id="rId8"/>
    <p:sldId id="300" r:id="rId9"/>
    <p:sldId id="301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282" r:id="rId18"/>
    <p:sldId id="2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3902" y="3880370"/>
            <a:ext cx="9144000" cy="2387600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/>
              <a:t>Presented by </a:t>
            </a:r>
            <a:endParaRPr lang="en-GB" dirty="0"/>
          </a:p>
          <a:p>
            <a:r>
              <a:rPr lang="en-GB" sz="2800" b="1" dirty="0"/>
              <a:t>Er.Harendra Bikram Shah</a:t>
            </a:r>
            <a:endParaRPr lang="en-GB" sz="2800" b="1" dirty="0"/>
          </a:p>
          <a:p>
            <a:r>
              <a:rPr lang="en-GB" sz="2800" dirty="0"/>
              <a:t>Lecturer</a:t>
            </a:r>
            <a:endParaRPr lang="en-GB" sz="2800" dirty="0"/>
          </a:p>
          <a:p>
            <a:r>
              <a:rPr lang="en-GB" sz="28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Department of Computer Engineering</a:t>
            </a:r>
            <a:endParaRPr lang="en-GB" sz="28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r>
              <a:rPr lang="en-GB" sz="28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NAST</a:t>
            </a:r>
            <a:endParaRPr lang="en-GB" sz="28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3315" y="1015365"/>
            <a:ext cx="960120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sz="36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EXCEPTION HANDLING AND STREAM IO</a:t>
            </a:r>
            <a:endParaRPr lang="en-GB" sz="36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54046" y="405364"/>
            <a:ext cx="149225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B050"/>
                </a:solidFill>
              </a:rPr>
              <a:t>UNIT:6</a:t>
            </a:r>
            <a:endParaRPr lang="en-GB" sz="3200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17902" y="1466713"/>
            <a:ext cx="733919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GB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7hrs</a:t>
            </a:r>
            <a:endParaRPr lang="en-GB" sz="24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OUTLINES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46572"/>
          </a:xfrm>
        </p:spPr>
        <p:txBody>
          <a:bodyPr>
            <a:normAutofit/>
          </a:bodyPr>
          <a:lstStyle/>
          <a:p>
            <a:r>
              <a:rPr lang="en-GB" dirty="0"/>
              <a:t> Introduction to Exception and Exception Handling</a:t>
            </a:r>
            <a:endParaRPr lang="en-GB" dirty="0"/>
          </a:p>
          <a:p>
            <a:r>
              <a:rPr lang="en-IN" dirty="0"/>
              <a:t>Introduction to mechanism of exception handling</a:t>
            </a:r>
            <a:endParaRPr lang="en-IN" dirty="0"/>
          </a:p>
          <a:p>
            <a:r>
              <a:rPr lang="en-IN" dirty="0"/>
              <a:t>File handling: Stream Class hierarchy</a:t>
            </a:r>
            <a:endParaRPr lang="en-IN" dirty="0"/>
          </a:p>
          <a:p>
            <a:r>
              <a:rPr lang="en-IN" dirty="0"/>
              <a:t>Opening ,closing Reading and Writing File 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635" cy="89408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sz="36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Introduction to Exception and Exception Handling</a:t>
            </a:r>
            <a:endParaRPr lang="en-GB" sz="36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8659" y="1653693"/>
            <a:ext cx="109003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/>
              <a:t>An exception are unexpected condition arise during execution of program.</a:t>
            </a:r>
            <a:endParaRPr lang="en-GB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/>
              <a:t>An exception is a abnormal problem that arises during the execution of a program.</a:t>
            </a:r>
            <a:endParaRPr lang="en-GB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/>
              <a:t>Exception Handling in C++ is a process to handle runtime errors.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44214" y="3429000"/>
            <a:ext cx="89303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There are two types of exceptions: </a:t>
            </a:r>
            <a:endParaRPr lang="en-GB" sz="2000" dirty="0"/>
          </a:p>
          <a:p>
            <a:r>
              <a:rPr lang="en-GB" sz="2000" dirty="0"/>
              <a:t>a)</a:t>
            </a:r>
            <a:r>
              <a:rPr lang="en-GB" sz="2000" b="1" dirty="0"/>
              <a:t>Synchronous: </a:t>
            </a:r>
            <a:r>
              <a:rPr lang="en-GB" sz="2000" dirty="0"/>
              <a:t>Example: out of range ,out of length etc. </a:t>
            </a:r>
            <a:endParaRPr lang="en-GB" sz="2000" dirty="0"/>
          </a:p>
          <a:p>
            <a:r>
              <a:rPr lang="en-GB" sz="2000" dirty="0"/>
              <a:t>b)</a:t>
            </a:r>
            <a:r>
              <a:rPr lang="en-GB" sz="2000" b="1" dirty="0"/>
              <a:t>Asynchronous : </a:t>
            </a:r>
            <a:r>
              <a:rPr lang="en-GB" sz="2000" dirty="0"/>
              <a:t>disc failure, keyboard interrupts etc.).</a:t>
            </a: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19164" y="1094557"/>
            <a:ext cx="86855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Exception are handled by following three keywords</a:t>
            </a:r>
            <a:endParaRPr lang="en-GB" sz="2000" dirty="0"/>
          </a:p>
          <a:p>
            <a:r>
              <a:rPr lang="en-GB" sz="2000" b="1" dirty="0"/>
              <a:t>try: </a:t>
            </a:r>
            <a:r>
              <a:rPr lang="en-GB" sz="2000" dirty="0"/>
              <a:t>Represents a block of code that can throw an exception.</a:t>
            </a:r>
            <a:br>
              <a:rPr lang="en-GB" sz="2000" dirty="0"/>
            </a:br>
            <a:r>
              <a:rPr lang="en-GB" sz="2000" b="1" dirty="0"/>
              <a:t>catch: </a:t>
            </a:r>
            <a:r>
              <a:rPr lang="en-GB" sz="2000" dirty="0"/>
              <a:t>used to catch the exception from throw keyword</a:t>
            </a:r>
            <a:endParaRPr lang="en-GB" sz="2000" dirty="0"/>
          </a:p>
          <a:p>
            <a:r>
              <a:rPr lang="en-GB" sz="2000" b="1" dirty="0"/>
              <a:t>throw: </a:t>
            </a:r>
            <a:r>
              <a:rPr lang="en-GB" sz="2000" dirty="0"/>
              <a:t>Used to throw an exception. </a:t>
            </a:r>
            <a:endParaRPr lang="en-IN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19164" y="3138572"/>
            <a:ext cx="81802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1" dirty="0"/>
              <a:t>Advantages of Exception handling</a:t>
            </a:r>
            <a:endParaRPr lang="en-GB" sz="2000" b="1" i="1" dirty="0"/>
          </a:p>
          <a:p>
            <a:r>
              <a:rPr lang="en-GB" sz="2000" dirty="0"/>
              <a:t>1) Separation of Error Handling code from Normal Code</a:t>
            </a:r>
            <a:endParaRPr lang="en-GB" sz="2000" dirty="0"/>
          </a:p>
          <a:p>
            <a:r>
              <a:rPr lang="en-GB" sz="2000" dirty="0"/>
              <a:t>2) Functions/Methods can handle only the exceptions they choose </a:t>
            </a:r>
            <a:endParaRPr lang="en-GB" sz="2000" dirty="0"/>
          </a:p>
          <a:p>
            <a:r>
              <a:rPr lang="en-GB" sz="2000" dirty="0"/>
              <a:t>3) Grouping of Error Types</a:t>
            </a:r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STANDARD EXCEPTION</a:t>
            </a:r>
            <a:endParaRPr lang="en-GB" b="1" dirty="0"/>
          </a:p>
        </p:txBody>
      </p:sp>
      <p:pic>
        <p:nvPicPr>
          <p:cNvPr id="2052" name="Picture 4" descr="Cpp Exception handling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082" y="644577"/>
            <a:ext cx="5711252" cy="6011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39" y="0"/>
            <a:ext cx="12023361" cy="894049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r>
              <a:rPr lang="en-IN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Mechanism Of Exception Handling</a:t>
            </a:r>
            <a:endParaRPr lang="en-IN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894049"/>
            <a:ext cx="60935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try</a:t>
            </a:r>
            <a:r>
              <a:rPr lang="en-GB" dirty="0"/>
              <a:t> {</a:t>
            </a:r>
            <a:br>
              <a:rPr lang="en-GB" dirty="0"/>
            </a:br>
            <a:r>
              <a:rPr lang="en-GB" b="1" dirty="0"/>
              <a:t>  throw </a:t>
            </a:r>
            <a:r>
              <a:rPr lang="en-GB" dirty="0"/>
              <a:t>exception; </a:t>
            </a:r>
            <a:br>
              <a:rPr lang="en-GB" dirty="0"/>
            </a:br>
            <a:r>
              <a:rPr lang="en-GB" dirty="0"/>
              <a:t>}</a:t>
            </a:r>
            <a:br>
              <a:rPr lang="en-GB" dirty="0"/>
            </a:br>
            <a:r>
              <a:rPr lang="en-GB" b="1" dirty="0"/>
              <a:t>catch </a:t>
            </a:r>
            <a:r>
              <a:rPr lang="en-GB" dirty="0"/>
              <a:t>() {</a:t>
            </a:r>
            <a:br>
              <a:rPr lang="en-GB" dirty="0"/>
            </a:br>
            <a:r>
              <a:rPr lang="en-GB" dirty="0"/>
              <a:t>}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68639" y="2371377"/>
            <a:ext cx="60935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1" dirty="0"/>
              <a:t>Example:</a:t>
            </a:r>
            <a:endParaRPr lang="en-GB" sz="2400" b="1" i="1" dirty="0"/>
          </a:p>
          <a:p>
            <a:r>
              <a:rPr lang="en-GB" dirty="0"/>
              <a:t>try {</a:t>
            </a:r>
            <a:br>
              <a:rPr lang="en-GB" dirty="0"/>
            </a:br>
            <a:r>
              <a:rPr lang="en-GB" dirty="0"/>
              <a:t>  int age = 15;</a:t>
            </a:r>
            <a:br>
              <a:rPr lang="en-GB" dirty="0"/>
            </a:br>
            <a:r>
              <a:rPr lang="en-GB" dirty="0"/>
              <a:t>  if (age &gt;= 18)</a:t>
            </a:r>
            <a:endParaRPr lang="en-GB" dirty="0"/>
          </a:p>
          <a:p>
            <a:r>
              <a:rPr lang="en-GB" dirty="0"/>
              <a:t> {</a:t>
            </a:r>
            <a:br>
              <a:rPr lang="en-GB" dirty="0"/>
            </a:br>
            <a:r>
              <a:rPr lang="en-GB" dirty="0"/>
              <a:t>    </a:t>
            </a:r>
            <a:r>
              <a:rPr lang="en-GB" dirty="0" err="1"/>
              <a:t>cout</a:t>
            </a:r>
            <a:r>
              <a:rPr lang="en-GB" dirty="0"/>
              <a:t> &lt;&lt; "Access granted - you are old enough.";</a:t>
            </a:r>
            <a:br>
              <a:rPr lang="en-GB" dirty="0"/>
            </a:br>
            <a:r>
              <a:rPr lang="en-GB" dirty="0"/>
              <a:t>  } </a:t>
            </a:r>
            <a:endParaRPr lang="en-GB" dirty="0"/>
          </a:p>
          <a:p>
            <a:r>
              <a:rPr lang="en-GB" dirty="0"/>
              <a:t>Else</a:t>
            </a:r>
            <a:endParaRPr lang="en-GB" dirty="0"/>
          </a:p>
          <a:p>
            <a:r>
              <a:rPr lang="en-GB" dirty="0"/>
              <a:t> {</a:t>
            </a:r>
            <a:br>
              <a:rPr lang="en-GB" dirty="0"/>
            </a:br>
            <a:r>
              <a:rPr lang="en-GB" dirty="0"/>
              <a:t>    throw (age);</a:t>
            </a:r>
            <a:br>
              <a:rPr lang="en-GB" dirty="0"/>
            </a:br>
            <a:r>
              <a:rPr lang="en-GB" dirty="0"/>
              <a:t>  }</a:t>
            </a:r>
            <a:br>
              <a:rPr lang="en-GB" dirty="0"/>
            </a:br>
            <a:r>
              <a:rPr lang="en-GB" dirty="0"/>
              <a:t>}</a:t>
            </a:r>
            <a:br>
              <a:rPr lang="en-GB" dirty="0"/>
            </a:br>
            <a:r>
              <a:rPr lang="en-GB" dirty="0"/>
              <a:t>catch (int </a:t>
            </a:r>
            <a:r>
              <a:rPr lang="en-GB" dirty="0" err="1"/>
              <a:t>myNum</a:t>
            </a:r>
            <a:r>
              <a:rPr lang="en-GB" dirty="0"/>
              <a:t>) {</a:t>
            </a:r>
            <a:br>
              <a:rPr lang="en-GB" dirty="0"/>
            </a:br>
            <a:r>
              <a:rPr lang="en-GB" dirty="0"/>
              <a:t>  </a:t>
            </a:r>
            <a:r>
              <a:rPr lang="en-GB" dirty="0" err="1"/>
              <a:t>cout</a:t>
            </a:r>
            <a:r>
              <a:rPr lang="en-GB" dirty="0"/>
              <a:t> &lt;&lt; "Access denied - You must be at least 18 years old.\n";</a:t>
            </a:r>
            <a:br>
              <a:rPr lang="en-GB" dirty="0"/>
            </a:br>
            <a:r>
              <a:rPr lang="en-GB" dirty="0"/>
              <a:t>  </a:t>
            </a:r>
            <a:r>
              <a:rPr lang="en-GB" dirty="0" err="1"/>
              <a:t>cout</a:t>
            </a:r>
            <a:r>
              <a:rPr lang="en-GB" dirty="0"/>
              <a:t> &lt;&lt; "Age is: " &lt;&lt; </a:t>
            </a:r>
            <a:r>
              <a:rPr lang="en-GB" dirty="0" err="1"/>
              <a:t>myNum</a:t>
            </a:r>
            <a:r>
              <a:rPr lang="en-GB" dirty="0"/>
              <a:t>;</a:t>
            </a:r>
            <a:br>
              <a:rPr lang="en-GB" dirty="0"/>
            </a:br>
            <a:r>
              <a:rPr lang="en-GB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i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CATCH all the Exceptions (...)</a:t>
            </a:r>
            <a:endParaRPr lang="en-GB" b="1" i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2268" y="2778712"/>
            <a:ext cx="69516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EXAMPLE:</a:t>
            </a:r>
            <a:r>
              <a:rPr lang="en-GB" sz="2000" dirty="0"/>
              <a:t>	</a:t>
            </a:r>
            <a:endParaRPr lang="en-GB" sz="2000" dirty="0"/>
          </a:p>
          <a:p>
            <a:r>
              <a:rPr lang="en-GB" sz="2000" dirty="0"/>
              <a:t>try {</a:t>
            </a:r>
            <a:br>
              <a:rPr lang="en-GB" sz="2000" dirty="0"/>
            </a:br>
            <a:r>
              <a:rPr lang="en-GB" sz="2000" dirty="0"/>
              <a:t>  int age = 15;</a:t>
            </a:r>
            <a:br>
              <a:rPr lang="en-GB" sz="2000" dirty="0"/>
            </a:br>
            <a:r>
              <a:rPr lang="en-GB" sz="2000" dirty="0"/>
              <a:t>  if (age &gt;= 18) {</a:t>
            </a:r>
            <a:br>
              <a:rPr lang="en-GB" sz="2000" dirty="0"/>
            </a:br>
            <a:r>
              <a:rPr lang="en-GB" sz="2000" dirty="0"/>
              <a:t>    </a:t>
            </a:r>
            <a:r>
              <a:rPr lang="en-GB" sz="2000" dirty="0" err="1"/>
              <a:t>cout</a:t>
            </a:r>
            <a:r>
              <a:rPr lang="en-GB" sz="2000" dirty="0"/>
              <a:t> &lt;&lt; "Access granted - you are old enough.";</a:t>
            </a:r>
            <a:br>
              <a:rPr lang="en-GB" sz="2000" dirty="0"/>
            </a:br>
            <a:r>
              <a:rPr lang="en-GB" sz="2000" dirty="0"/>
              <a:t>  } else {</a:t>
            </a:r>
            <a:br>
              <a:rPr lang="en-GB" sz="2000" dirty="0"/>
            </a:br>
            <a:r>
              <a:rPr lang="en-GB" sz="2000" dirty="0"/>
              <a:t>    throw 505;</a:t>
            </a:r>
            <a:br>
              <a:rPr lang="en-GB" sz="2000" dirty="0"/>
            </a:br>
            <a:r>
              <a:rPr lang="en-GB" sz="2000" dirty="0"/>
              <a:t>  }</a:t>
            </a:r>
            <a:br>
              <a:rPr lang="en-GB" sz="2000" dirty="0"/>
            </a:br>
            <a:r>
              <a:rPr lang="en-GB" sz="2000" dirty="0"/>
              <a:t>}</a:t>
            </a:r>
            <a:br>
              <a:rPr lang="en-GB" sz="2000" dirty="0"/>
            </a:br>
            <a:r>
              <a:rPr lang="en-GB" sz="2000" dirty="0"/>
              <a:t>catch (...) {</a:t>
            </a:r>
            <a:br>
              <a:rPr lang="en-GB" sz="2000" dirty="0"/>
            </a:br>
            <a:r>
              <a:rPr lang="en-GB" sz="2000" dirty="0"/>
              <a:t>  </a:t>
            </a:r>
            <a:r>
              <a:rPr lang="en-GB" sz="2000" dirty="0" err="1"/>
              <a:t>cout</a:t>
            </a:r>
            <a:r>
              <a:rPr lang="en-GB" sz="2000" dirty="0"/>
              <a:t> &lt;&lt; "Access denied - You must be at least 18 years old.\n";</a:t>
            </a:r>
            <a:br>
              <a:rPr lang="en-GB" sz="2000" dirty="0"/>
            </a:br>
            <a:r>
              <a:rPr lang="en-GB" sz="2000" dirty="0"/>
              <a:t>}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352268" y="441663"/>
            <a:ext cx="43696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try 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//code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catch (...)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//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Code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} 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r>
              <a:rPr lang="en-GB" b="1" i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MULTIPLE catch</a:t>
            </a:r>
            <a:endParaRPr lang="en-GB" b="1" i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249" y="894049"/>
            <a:ext cx="28955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try 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// code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catch (exception1)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// code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catch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(exception2)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{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// code 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} catch (...) { // code } 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8500" y="0"/>
            <a:ext cx="60935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int a=10;</a:t>
            </a:r>
            <a:endParaRPr lang="en-IN" dirty="0"/>
          </a:p>
          <a:p>
            <a:r>
              <a:rPr lang="en-IN" dirty="0"/>
              <a:t>try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if(a&gt;10)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&lt;&lt;"inside try block"&lt;&lt;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	else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throw(a);</a:t>
            </a:r>
            <a:endParaRPr lang="en-IN" dirty="0"/>
          </a:p>
          <a:p>
            <a:r>
              <a:rPr lang="en-IN" dirty="0"/>
              <a:t>		}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	catch(double b)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&lt;&lt;"exception caught"&lt;&lt;b;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	catch(int b)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 err="1"/>
              <a:t>cout</a:t>
            </a:r>
            <a:r>
              <a:rPr lang="en-IN" dirty="0"/>
              <a:t>&lt;&lt;"exception caught"&lt;&lt;b;}</a:t>
            </a:r>
            <a:endParaRPr lang="en-IN" dirty="0"/>
          </a:p>
          <a:p>
            <a:r>
              <a:rPr lang="en-IN" dirty="0"/>
              <a:t>return 0;}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i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In Function</a:t>
            </a:r>
            <a:endParaRPr lang="en-GB" b="1" i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3492" y="894049"/>
            <a:ext cx="60935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void fun(int a)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throw(10);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int a=10;</a:t>
            </a:r>
            <a:endParaRPr lang="en-IN" dirty="0"/>
          </a:p>
          <a:p>
            <a:r>
              <a:rPr lang="en-IN" dirty="0"/>
              <a:t>try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if(a&gt;10)</a:t>
            </a:r>
            <a:endParaRPr lang="en-IN" dirty="0"/>
          </a:p>
          <a:p>
            <a:r>
              <a:rPr lang="en-IN" dirty="0"/>
              <a:t>{</a:t>
            </a:r>
            <a:r>
              <a:rPr lang="en-IN" dirty="0" err="1"/>
              <a:t>cout</a:t>
            </a:r>
            <a:r>
              <a:rPr lang="en-IN" dirty="0"/>
              <a:t>&lt;&lt;"inside try block"&lt;&lt;</a:t>
            </a:r>
            <a:r>
              <a:rPr lang="en-IN" dirty="0" err="1"/>
              <a:t>endl</a:t>
            </a:r>
            <a:r>
              <a:rPr lang="en-IN" dirty="0"/>
              <a:t>;}</a:t>
            </a:r>
            <a:endParaRPr lang="en-IN" dirty="0"/>
          </a:p>
          <a:p>
            <a:r>
              <a:rPr lang="en-IN" dirty="0"/>
              <a:t>else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fun(a);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  <a:p>
            <a:r>
              <a:rPr lang="en-IN" dirty="0"/>
              <a:t>}catch(int b)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&lt;&lt;"exception caught"&lt;&lt;b;}</a:t>
            </a:r>
            <a:endParaRPr lang="en-IN" dirty="0"/>
          </a:p>
          <a:p>
            <a:r>
              <a:rPr lang="en-IN" dirty="0"/>
              <a:t>return 0;}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i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Segoe UI" panose="020B0502040204020203" pitchFamily="34" charset="0"/>
              </a:rPr>
              <a:t>File handling in C++</a:t>
            </a:r>
            <a:endParaRPr lang="en-GB" b="1" i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Segoe UI" panose="020B0502040204020203" pitchFamily="34" charset="0"/>
            </a:endParaRPr>
          </a:p>
        </p:txBody>
      </p:sp>
      <p:pic>
        <p:nvPicPr>
          <p:cNvPr id="1026" name="Picture 2" descr="File Handling in C++ using Class - LEARNING MANI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192" y="894050"/>
            <a:ext cx="10124607" cy="541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i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Segoe UI" panose="020B0502040204020203" pitchFamily="34" charset="0"/>
              </a:rPr>
              <a:t>File handling in C++</a:t>
            </a:r>
            <a:endParaRPr lang="en-GB" b="1" i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462" y="1101858"/>
            <a:ext cx="85556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2000" dirty="0"/>
              <a:t>File Operations in C++</a:t>
            </a:r>
            <a:endParaRPr lang="en-GB" sz="2000" dirty="0"/>
          </a:p>
          <a:p>
            <a:pPr algn="l" fontAlgn="base">
              <a:buFont typeface="+mj-lt"/>
              <a:buAutoNum type="arabicPeriod"/>
            </a:pPr>
            <a:r>
              <a:rPr lang="en-GB" sz="2000" b="1" dirty="0"/>
              <a:t>open() </a:t>
            </a:r>
            <a:r>
              <a:rPr lang="en-GB" sz="2000" dirty="0"/>
              <a:t>– This is used to create a file.</a:t>
            </a:r>
            <a:endParaRPr lang="en-GB" sz="2000" dirty="0"/>
          </a:p>
          <a:p>
            <a:pPr algn="l" fontAlgn="base">
              <a:buFont typeface="+mj-lt"/>
              <a:buAutoNum type="arabicPeriod"/>
            </a:pPr>
            <a:r>
              <a:rPr lang="en-GB" sz="2000" b="1" dirty="0"/>
              <a:t>read()  </a:t>
            </a:r>
            <a:r>
              <a:rPr lang="en-GB" sz="2000" dirty="0"/>
              <a:t>– This is used to read the data from the file.</a:t>
            </a:r>
            <a:endParaRPr lang="en-GB" sz="2000" dirty="0"/>
          </a:p>
          <a:p>
            <a:pPr algn="l" fontAlgn="base">
              <a:buFont typeface="+mj-lt"/>
              <a:buAutoNum type="arabicPeriod"/>
            </a:pPr>
            <a:r>
              <a:rPr lang="en-GB" sz="2000" b="1" dirty="0"/>
              <a:t>write() </a:t>
            </a:r>
            <a:r>
              <a:rPr lang="en-GB" sz="2000" dirty="0"/>
              <a:t>– This is used to write new data to file.</a:t>
            </a:r>
            <a:endParaRPr lang="en-GB" sz="2000" dirty="0"/>
          </a:p>
          <a:p>
            <a:pPr algn="l" fontAlgn="base">
              <a:buFont typeface="+mj-lt"/>
              <a:buAutoNum type="arabicPeriod"/>
            </a:pPr>
            <a:r>
              <a:rPr lang="en-GB" sz="2000" b="1" dirty="0"/>
              <a:t>close() </a:t>
            </a:r>
            <a:r>
              <a:rPr lang="en-GB" sz="2000" dirty="0"/>
              <a:t>– This is used to close the file.</a:t>
            </a:r>
            <a:endParaRPr lang="en-GB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13610" y="305966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b="1" i="0" dirty="0">
                <a:effectLst/>
                <a:latin typeface="Poppins" panose="00000500000000000000" pitchFamily="2" charset="0"/>
              </a:rPr>
              <a:t>Opening files in C++</a:t>
            </a:r>
            <a:endParaRPr lang="en-IN" b="1" i="0" dirty="0">
              <a:effectLst/>
              <a:latin typeface="Poppins" panose="00000500000000000000" pitchFamily="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610" y="4356046"/>
          <a:ext cx="6409430" cy="647369"/>
        </p:xfrm>
        <a:graphic>
          <a:graphicData uri="http://schemas.openxmlformats.org/drawingml/2006/table">
            <a:tbl>
              <a:tblPr/>
              <a:tblGrid>
                <a:gridCol w="321469"/>
                <a:gridCol w="6087961"/>
              </a:tblGrid>
              <a:tr h="647369">
                <a:tc>
                  <a:txBody>
                    <a:bodyPr/>
                    <a:lstStyle/>
                    <a:p>
                      <a:pPr algn="r" rtl="0" fontAlgn="base"/>
                      <a:r>
                        <a:rPr lang="en-IN" b="0" i="0">
                          <a:solidFill>
                            <a:srgbClr val="AFAFAF"/>
                          </a:solidFill>
                          <a:effectLst/>
                          <a:latin typeface="Monaco"/>
                        </a:rPr>
                        <a:t>1</a:t>
                      </a:r>
                      <a:endParaRPr lang="en-IN" b="0" i="0">
                        <a:solidFill>
                          <a:srgbClr val="AFAFAF"/>
                        </a:solidFill>
                        <a:effectLst/>
                        <a:latin typeface="Monac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b="0" i="0" dirty="0">
                          <a:effectLst/>
                          <a:latin typeface="Monaco"/>
                        </a:rPr>
                        <a:t>open( </a:t>
                      </a:r>
                      <a:r>
                        <a:rPr lang="en-IN" b="0" i="0" dirty="0" err="1">
                          <a:effectLst/>
                          <a:latin typeface="Monaco"/>
                        </a:rPr>
                        <a:t>FileName</a:t>
                      </a:r>
                      <a:r>
                        <a:rPr lang="en-IN" b="0" i="0" dirty="0">
                          <a:effectLst/>
                          <a:latin typeface="Monaco"/>
                        </a:rPr>
                        <a:t> , Mode );</a:t>
                      </a:r>
                      <a:endParaRPr lang="en-IN" b="0" i="0" dirty="0">
                        <a:effectLst/>
                        <a:latin typeface="Monac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002077" y="3939209"/>
            <a:ext cx="769441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/>
              <a:t>Syntax:</a:t>
            </a: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i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Segoe UI" panose="020B0502040204020203" pitchFamily="34" charset="0"/>
              </a:rPr>
              <a:t>File handling in C++</a:t>
            </a:r>
            <a:endParaRPr lang="en-GB" b="1" i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Segoe UI" panose="020B0502040204020203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450975"/>
          <a:ext cx="10731500" cy="2614930"/>
        </p:xfrm>
        <a:graphic>
          <a:graphicData uri="http://schemas.openxmlformats.org/drawingml/2006/table">
            <a:tbl>
              <a:tblPr/>
              <a:tblGrid>
                <a:gridCol w="2126615"/>
                <a:gridCol w="8604885"/>
              </a:tblGrid>
              <a:tr h="466725">
                <a:tc>
                  <a:txBody>
                    <a:bodyPr/>
                    <a:lstStyle/>
                    <a:p>
                      <a:r>
                        <a:rPr lang="en-IN" sz="2400" b="1" dirty="0">
                          <a:effectLst/>
                        </a:rPr>
                        <a:t>Mode</a:t>
                      </a:r>
                      <a:endParaRPr lang="en-IN" sz="24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effectLst/>
                        </a:rPr>
                        <a:t>Description</a:t>
                      </a:r>
                      <a:endParaRPr lang="en-IN" sz="24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15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iso::in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File opened in reading mode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iso::out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File opened in write mode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iso::app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File opened in append mode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iso::ate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File opened in append mode but read and write performed at the end of the file.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iso::binary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File opened in binary mode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i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Segoe UI" panose="020B0502040204020203" pitchFamily="34" charset="0"/>
              </a:rPr>
              <a:t>Opening a file in C++</a:t>
            </a:r>
            <a:endParaRPr lang="en-GB" b="1" i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72981" y="1166682"/>
            <a:ext cx="65619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        </a:t>
            </a:r>
            <a:endParaRPr lang="en-IN" dirty="0"/>
          </a:p>
          <a:p>
            <a:r>
              <a:rPr lang="en-IN" dirty="0"/>
              <a:t>#include&lt;fstream&gt;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int main(){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fstream</a:t>
            </a:r>
            <a:r>
              <a:rPr lang="en-IN" dirty="0"/>
              <a:t> </a:t>
            </a:r>
            <a:r>
              <a:rPr lang="en-IN" dirty="0" err="1"/>
              <a:t>Fn</a:t>
            </a:r>
            <a:r>
              <a:rPr lang="en-IN" dirty="0"/>
              <a:t>;               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Fn.open</a:t>
            </a:r>
            <a:r>
              <a:rPr lang="en-IN" dirty="0"/>
              <a:t>("</a:t>
            </a:r>
            <a:r>
              <a:rPr lang="en-IN" dirty="0" err="1"/>
              <a:t>FileName</a:t>
            </a:r>
            <a:r>
              <a:rPr lang="en-IN" dirty="0"/>
              <a:t>", </a:t>
            </a:r>
            <a:r>
              <a:rPr lang="en-IN" dirty="0" err="1"/>
              <a:t>ios</a:t>
            </a:r>
            <a:r>
              <a:rPr lang="en-IN" dirty="0"/>
              <a:t>::out);    </a:t>
            </a:r>
            <a:endParaRPr lang="en-IN" dirty="0"/>
          </a:p>
          <a:p>
            <a:r>
              <a:rPr lang="en-IN" dirty="0"/>
              <a:t>    if (!</a:t>
            </a:r>
            <a:r>
              <a:rPr lang="en-IN" dirty="0" err="1"/>
              <a:t>Fn</a:t>
            </a:r>
            <a:r>
              <a:rPr lang="en-IN" dirty="0"/>
              <a:t>)</a:t>
            </a:r>
            <a:endParaRPr lang="en-IN" dirty="0"/>
          </a:p>
          <a:p>
            <a:r>
              <a:rPr lang="en-IN" dirty="0"/>
              <a:t>{                 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&lt;&lt;"Error while creating the file";    </a:t>
            </a:r>
            <a:endParaRPr lang="en-IN" dirty="0"/>
          </a:p>
          <a:p>
            <a:r>
              <a:rPr lang="en-IN" dirty="0"/>
              <a:t>    }</a:t>
            </a:r>
            <a:endParaRPr lang="en-IN" dirty="0"/>
          </a:p>
          <a:p>
            <a:r>
              <a:rPr lang="en-IN" dirty="0"/>
              <a:t>    else{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&lt;&lt;"File created successfully";    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Fn.close</a:t>
            </a:r>
            <a:r>
              <a:rPr lang="en-IN" dirty="0"/>
              <a:t>();           </a:t>
            </a:r>
            <a:endParaRPr lang="en-IN" dirty="0"/>
          </a:p>
          <a:p>
            <a:r>
              <a:rPr lang="en-IN" dirty="0"/>
              <a:t>    }</a:t>
            </a:r>
            <a:endParaRPr lang="en-IN" dirty="0"/>
          </a:p>
          <a:p>
            <a:r>
              <a:rPr lang="en-IN" dirty="0"/>
              <a:t>    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i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Segoe UI" panose="020B0502040204020203" pitchFamily="34" charset="0"/>
              </a:rPr>
              <a:t>Writing to file in C++</a:t>
            </a:r>
            <a:endParaRPr lang="en-GB" b="1" i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97710" y="1167130"/>
            <a:ext cx="6854825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                         </a:t>
            </a:r>
            <a:endParaRPr lang="en-IN" dirty="0"/>
          </a:p>
          <a:p>
            <a:r>
              <a:rPr lang="en-IN" dirty="0"/>
              <a:t>#include&lt;fstream&gt;                            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int main() {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ofstream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;                       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Fout.open</a:t>
            </a:r>
            <a:r>
              <a:rPr lang="en-IN" dirty="0"/>
              <a:t>("FileName.txt", </a:t>
            </a:r>
            <a:r>
              <a:rPr lang="en-IN" dirty="0" err="1"/>
              <a:t>ios</a:t>
            </a:r>
            <a:r>
              <a:rPr lang="en-IN" dirty="0"/>
              <a:t>::out);                </a:t>
            </a:r>
            <a:endParaRPr lang="en-IN" dirty="0"/>
          </a:p>
          <a:p>
            <a:r>
              <a:rPr lang="en-IN" dirty="0"/>
              <a:t>    if (!</a:t>
            </a:r>
            <a:r>
              <a:rPr lang="en-IN" dirty="0" err="1"/>
              <a:t>Fout</a:t>
            </a:r>
            <a:r>
              <a:rPr lang="en-IN" dirty="0"/>
              <a:t>) </a:t>
            </a:r>
            <a:endParaRPr lang="en-IN" dirty="0"/>
          </a:p>
          <a:p>
            <a:r>
              <a:rPr lang="en-IN" dirty="0"/>
              <a:t>{                            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&lt;&lt;" Error while creating the file ";          </a:t>
            </a:r>
            <a:endParaRPr lang="en-IN" dirty="0"/>
          </a:p>
          <a:p>
            <a:r>
              <a:rPr lang="en-IN" dirty="0"/>
              <a:t>    }</a:t>
            </a:r>
            <a:endParaRPr lang="en-IN" dirty="0"/>
          </a:p>
          <a:p>
            <a:r>
              <a:rPr lang="en-IN" dirty="0"/>
              <a:t>    else {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&lt;&lt;"File created and data got written to file";    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Fout</a:t>
            </a:r>
            <a:r>
              <a:rPr lang="en-IN" dirty="0"/>
              <a:t>&lt;&lt;"hello from file";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Fout.close</a:t>
            </a:r>
            <a:r>
              <a:rPr lang="en-IN" dirty="0"/>
              <a:t>();                   </a:t>
            </a:r>
            <a:endParaRPr lang="en-IN" dirty="0"/>
          </a:p>
          <a:p>
            <a:r>
              <a:rPr lang="en-IN" dirty="0"/>
              <a:t>    }</a:t>
            </a:r>
            <a:endParaRPr lang="en-IN" dirty="0"/>
          </a:p>
          <a:p>
            <a:r>
              <a:rPr lang="en-IN" dirty="0"/>
              <a:t>    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4498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i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Segoe UI" panose="020B0502040204020203" pitchFamily="34" charset="0"/>
              </a:rPr>
              <a:t>Reading from file in C++</a:t>
            </a:r>
            <a:endParaRPr lang="en-GB" b="1" i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2981" y="764499"/>
            <a:ext cx="69516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                        </a:t>
            </a:r>
            <a:endParaRPr lang="en-IN" dirty="0"/>
          </a:p>
          <a:p>
            <a:r>
              <a:rPr lang="en-IN" dirty="0"/>
              <a:t>#include &lt;</a:t>
            </a:r>
            <a:r>
              <a:rPr lang="en-IN" dirty="0" err="1"/>
              <a:t>fstream</a:t>
            </a:r>
            <a:r>
              <a:rPr lang="en-IN" dirty="0"/>
              <a:t>&gt;                        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int main() {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ifstream</a:t>
            </a:r>
            <a:r>
              <a:rPr lang="en-IN" dirty="0"/>
              <a:t> Fin;                   </a:t>
            </a:r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Fin.open</a:t>
            </a:r>
            <a:r>
              <a:rPr lang="en-IN" dirty="0"/>
              <a:t>("FileName.txt", </a:t>
            </a:r>
            <a:r>
              <a:rPr lang="en-IN" dirty="0" err="1"/>
              <a:t>ios</a:t>
            </a:r>
            <a:r>
              <a:rPr lang="en-IN" dirty="0"/>
              <a:t>::in);         </a:t>
            </a:r>
            <a:endParaRPr lang="en-IN" dirty="0"/>
          </a:p>
          <a:p>
            <a:r>
              <a:rPr lang="en-IN" dirty="0"/>
              <a:t>    if (!Fin) {                        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&lt;&lt;"File doesn’t exist.";          </a:t>
            </a:r>
            <a:endParaRPr lang="en-IN" dirty="0"/>
          </a:p>
          <a:p>
            <a:r>
              <a:rPr lang="en-IN" dirty="0"/>
              <a:t>    }</a:t>
            </a:r>
            <a:endParaRPr lang="en-IN" dirty="0"/>
          </a:p>
          <a:p>
            <a:r>
              <a:rPr lang="en-IN" dirty="0"/>
              <a:t>    else {</a:t>
            </a:r>
            <a:endParaRPr lang="en-IN" dirty="0"/>
          </a:p>
          <a:p>
            <a:r>
              <a:rPr lang="en-IN" dirty="0"/>
              <a:t>        char x;                     </a:t>
            </a:r>
            <a:endParaRPr lang="en-IN" dirty="0"/>
          </a:p>
          <a:p>
            <a:r>
              <a:rPr lang="en-IN" dirty="0"/>
              <a:t>        while (1) {         </a:t>
            </a:r>
            <a:endParaRPr lang="en-IN" dirty="0"/>
          </a:p>
          <a:p>
            <a:r>
              <a:rPr lang="en-IN" dirty="0"/>
              <a:t>            x=</a:t>
            </a:r>
            <a:r>
              <a:rPr lang="en-IN" dirty="0" err="1"/>
              <a:t>Fin.get</a:t>
            </a:r>
            <a:r>
              <a:rPr lang="en-IN" dirty="0"/>
              <a:t>();              </a:t>
            </a:r>
            <a:endParaRPr lang="en-IN" dirty="0"/>
          </a:p>
          <a:p>
            <a:r>
              <a:rPr lang="en-IN" dirty="0"/>
              <a:t>            if(</a:t>
            </a:r>
            <a:r>
              <a:rPr lang="en-IN" dirty="0" err="1"/>
              <a:t>Fin.eof</a:t>
            </a:r>
            <a:r>
              <a:rPr lang="en-IN" dirty="0"/>
              <a:t>())          </a:t>
            </a:r>
            <a:endParaRPr lang="en-IN" dirty="0"/>
          </a:p>
          <a:p>
            <a:r>
              <a:rPr lang="en-IN" dirty="0"/>
              <a:t>                break;              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&lt;&lt;x;                  </a:t>
            </a:r>
            <a:endParaRPr lang="en-IN" dirty="0"/>
          </a:p>
          <a:p>
            <a:r>
              <a:rPr lang="en-IN" dirty="0"/>
              <a:t>        }</a:t>
            </a:r>
            <a:endParaRPr lang="en-IN" dirty="0"/>
          </a:p>
          <a:p>
            <a:r>
              <a:rPr lang="en-IN" dirty="0"/>
              <a:t>    }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Fin.close</a:t>
            </a:r>
            <a:r>
              <a:rPr lang="en-IN" dirty="0"/>
              <a:t>();                   </a:t>
            </a:r>
            <a:endParaRPr lang="en-IN" dirty="0"/>
          </a:p>
          <a:p>
            <a:r>
              <a:rPr lang="en-IN" dirty="0"/>
              <a:t>    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88760" y="3105834"/>
            <a:ext cx="8664315" cy="6451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3600" b="1" i="0" dirty="0">
                <a:ln/>
                <a:solidFill>
                  <a:schemeClr val="accent4"/>
                </a:solidFill>
                <a:effectLst/>
                <a:latin typeface="Roboto" panose="02000000000000000000" pitchFamily="2" charset="0"/>
              </a:rPr>
              <a:t>END of THE UNIT 6</a:t>
            </a:r>
            <a:endParaRPr lang="en-GB" sz="3600" b="1" i="0" dirty="0">
              <a:ln/>
              <a:solidFill>
                <a:schemeClr val="accent4"/>
              </a:solidFill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88760" y="3105834"/>
            <a:ext cx="8664315" cy="76835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sz="4400" b="1" i="0">
                <a:ln w="12700">
                  <a:solidFill>
                    <a:schemeClr val="tx2">
                      <a:lumMod val="75000"/>
                      <a:lumMod val="7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outerShdw dist="38100" dir="2640000" algn="bl" rotWithShape="0">
                    <a:schemeClr val="tx2">
                      <a:lumMod val="75000"/>
                      <a:lumMod val="75000"/>
                    </a:schemeClr>
                  </a:outerShdw>
                </a:effectLst>
                <a:latin typeface="Roboto" panose="02000000000000000000" pitchFamily="2" charset="0"/>
              </a:rPr>
              <a:t>THANK YOU</a:t>
            </a:r>
            <a:endParaRPr lang="en-GB" sz="4400" b="1" i="0" dirty="0">
              <a:ln w="12700">
                <a:solidFill>
                  <a:schemeClr val="tx2">
                    <a:lumMod val="75000"/>
                    <a:lumMod val="7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outerShdw dist="38100" dir="2640000" algn="bl" rotWithShape="0">
                  <a:schemeClr val="tx2">
                    <a:lumMod val="75000"/>
                    <a:lumMod val="75000"/>
                  </a:schemeClr>
                </a:outerShdw>
              </a:effectLst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4350</Words>
  <Application>WPS Writer</Application>
  <PresentationFormat>Widescreen</PresentationFormat>
  <Paragraphs>240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Segoe UI</vt:lpstr>
      <vt:lpstr>苹方-简</vt:lpstr>
      <vt:lpstr>Poppins</vt:lpstr>
      <vt:lpstr>Monaco</vt:lpstr>
      <vt:lpstr>Roboto</vt:lpstr>
      <vt:lpstr>Calibri</vt:lpstr>
      <vt:lpstr>Helvetica Neue</vt:lpstr>
      <vt:lpstr>Microsoft YaHei</vt:lpstr>
      <vt:lpstr>汉仪旗黑</vt:lpstr>
      <vt:lpstr>Arial Unicode MS</vt:lpstr>
      <vt:lpstr>Calibri Light</vt:lpstr>
      <vt:lpstr>宋体-简</vt:lpstr>
      <vt:lpstr>Office Theme</vt:lpstr>
      <vt:lpstr>PowerPoint 演示文稿</vt:lpstr>
      <vt:lpstr>OUTLINES</vt:lpstr>
      <vt:lpstr>Introduction to Exception and Exception Handling</vt:lpstr>
      <vt:lpstr>PowerPoint 演示文稿</vt:lpstr>
      <vt:lpstr>STANDARD EXCEPTION</vt:lpstr>
      <vt:lpstr>Introduction To Mechanism Of Exception Handling</vt:lpstr>
      <vt:lpstr>CATCH all the Exceptions (...)</vt:lpstr>
      <vt:lpstr>MULTIPLE catch</vt:lpstr>
      <vt:lpstr>Exception Handling In Function</vt:lpstr>
      <vt:lpstr>File handling in C++</vt:lpstr>
      <vt:lpstr>File handling in C++</vt:lpstr>
      <vt:lpstr>File handling in C++</vt:lpstr>
      <vt:lpstr>Opening a file in C++</vt:lpstr>
      <vt:lpstr>Writing to file in C++</vt:lpstr>
      <vt:lpstr>Reading from file in C++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                  POLYMORPHISM</dc:title>
  <dc:creator>Harendra Bikram Shah</dc:creator>
  <cp:lastModifiedBy>harendra shah</cp:lastModifiedBy>
  <cp:revision>256</cp:revision>
  <dcterms:created xsi:type="dcterms:W3CDTF">2024-06-25T10:55:38Z</dcterms:created>
  <dcterms:modified xsi:type="dcterms:W3CDTF">2024-06-25T10:55:38Z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