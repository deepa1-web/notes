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302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52271-EDEE-4976-B504-9D9C9B773B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DEAA3-F0A9-4E0C-BAFE-63A2E3174E4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95" y="140335"/>
            <a:ext cx="12015470" cy="159956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GB" sz="4800" b="1" dirty="0"/>
              <a:t>     </a:t>
            </a:r>
            <a:r>
              <a:rPr lang="en-GB" sz="4800" b="1" dirty="0"/>
              <a:t>Unit 5</a:t>
            </a:r>
            <a:br>
              <a:rPr lang="en-GB" dirty="0"/>
            </a:br>
            <a:r>
              <a:rPr lang="en-GB" b="1" dirty="0"/>
              <a:t>                   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Templates  </a:t>
            </a:r>
            <a:r>
              <a:rPr lang="en-GB" b="1" dirty="0"/>
              <a:t>         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397" y="3143770"/>
            <a:ext cx="9144000" cy="2387600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/>
              <a:t>Pre</a:t>
            </a:r>
            <a:r>
              <a:rPr lang="en-US" altLang="en-GB" b="1" dirty="0"/>
              <a:t>pare</a:t>
            </a:r>
            <a:r>
              <a:rPr lang="en-GB" b="1" dirty="0"/>
              <a:t>d by </a:t>
            </a:r>
            <a:endParaRPr lang="en-GB" b="1" dirty="0"/>
          </a:p>
          <a:p>
            <a:r>
              <a:rPr lang="en-GB" sz="2800" b="1" dirty="0">
                <a:solidFill>
                  <a:srgbClr val="FF0000"/>
                </a:solidFill>
              </a:rPr>
              <a:t>Er.Harendra Bikram Shah</a:t>
            </a:r>
            <a:endParaRPr lang="en-GB" sz="2800" b="1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00B050"/>
                </a:solidFill>
              </a:rPr>
              <a:t>Lecturer</a:t>
            </a:r>
            <a:endParaRPr lang="en-GB" sz="2800" dirty="0">
              <a:solidFill>
                <a:srgbClr val="00B050"/>
              </a:solidFill>
            </a:endParaRPr>
          </a:p>
          <a:p>
            <a:r>
              <a:rPr lang="en-GB" sz="28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Department of Computer Engineering</a:t>
            </a:r>
            <a:endParaRPr lang="en-GB" sz="28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GB" sz="2800" i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NAST</a:t>
            </a:r>
            <a:r>
              <a:rPr lang="en-US" altLang="en-GB" sz="2800" i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,Dhangadhi</a:t>
            </a:r>
            <a:endParaRPr lang="en-US" altLang="en-GB" sz="2800" i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831455" y="1739900"/>
            <a:ext cx="435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rgbClr val="00B050"/>
                </a:solidFill>
              </a:rPr>
              <a:t>Total Lecturer Hour:</a:t>
            </a:r>
            <a:r>
              <a:rPr lang="en-GB" b="1" dirty="0">
                <a:solidFill>
                  <a:srgbClr val="00B050"/>
                </a:solidFill>
                <a:sym typeface="+mn-ea"/>
              </a:rPr>
              <a:t>[5hrs]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720"/>
            <a:ext cx="10515600" cy="80581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OUTLINES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835" y="1315720"/>
            <a:ext cx="10515600" cy="244657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 Regular" panose="02020603050405020304" charset="0"/>
                <a:cs typeface="Times New Roman Regular" panose="02020603050405020304" charset="0"/>
              </a:rPr>
              <a:t> Introduction to Generic Programming</a:t>
            </a:r>
            <a:endParaRPr lang="en-GB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IN" dirty="0">
                <a:latin typeface="Times New Roman Regular" panose="02020603050405020304" charset="0"/>
                <a:cs typeface="Times New Roman Regular" panose="02020603050405020304" charset="0"/>
              </a:rPr>
              <a:t>Introduction to Templates in C++</a:t>
            </a:r>
            <a:endParaRPr lang="en-I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IN" dirty="0">
                <a:latin typeface="Times New Roman Regular" panose="02020603050405020304" charset="0"/>
                <a:cs typeface="Times New Roman Regular" panose="02020603050405020304" charset="0"/>
              </a:rPr>
              <a:t>Types of Templates</a:t>
            </a:r>
            <a:endParaRPr lang="en-I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IN" dirty="0">
                <a:latin typeface="Times New Roman Regular" panose="02020603050405020304" charset="0"/>
                <a:cs typeface="Times New Roman Regular" panose="02020603050405020304" charset="0"/>
              </a:rPr>
              <a:t>STL[Standard Template Library]: Container, Algorithm and Iterator</a:t>
            </a:r>
            <a:endParaRPr lang="en-IN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/>
          <a:lstStyle/>
          <a:p>
            <a:pPr algn="ctr"/>
            <a:r>
              <a:rPr lang="en-GB" b="1" dirty="0"/>
              <a:t>Introduction to Generic Programming</a:t>
            </a: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33530" y="894049"/>
            <a:ext cx="11568659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Generics is the idea to allow type different data types to be a parameter to methods, classes and interfaces.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Generics are a way to write code that can be used with different data types without having to rewrite the same logic for each type. </a:t>
            </a:r>
            <a:endParaRPr lang="en-GB" dirty="0"/>
          </a:p>
          <a:p>
            <a:pPr indent="0">
              <a:buFont typeface="Wingdings" panose="05000000000000000000" pitchFamily="2" charset="2"/>
              <a:buNone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In C++, They are achieved by using templates.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Two types of generics :</a:t>
            </a:r>
            <a:endParaRPr lang="en-GB" dirty="0"/>
          </a:p>
          <a:p>
            <a:r>
              <a:rPr lang="en-GB" b="1" dirty="0"/>
              <a:t>Generic Function: used for functions</a:t>
            </a:r>
            <a:endParaRPr lang="en-GB" b="1" dirty="0"/>
          </a:p>
          <a:p>
            <a:r>
              <a:rPr lang="en-GB" b="1" dirty="0"/>
              <a:t>Generic Class: used for Class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3530" y="3193963"/>
            <a:ext cx="11568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dirty="0"/>
              <a:t>Generic programming </a:t>
            </a:r>
            <a:r>
              <a:rPr lang="en-GB" dirty="0"/>
              <a:t>is a programming way to  focus on writing code in a way that maximizes code reuse through the use of generics.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Generic Programming enables the programmer to write a general algorithm which will work with all data types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idea is to create algorithms and data structures that can operate on different types.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33530" y="4729496"/>
            <a:ext cx="88104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400" b="1" dirty="0"/>
              <a:t>The advantages of Generic Programming</a:t>
            </a:r>
            <a:endParaRPr lang="en-GB" sz="2400" b="1" dirty="0"/>
          </a:p>
          <a:p>
            <a:pPr algn="l" fontAlgn="base">
              <a:buFont typeface="+mj-lt"/>
              <a:buAutoNum type="arabicPeriod"/>
            </a:pPr>
            <a:r>
              <a:rPr lang="en-GB" sz="2400" dirty="0"/>
              <a:t>Code Reusability</a:t>
            </a:r>
            <a:endParaRPr lang="en-GB" sz="2400" dirty="0"/>
          </a:p>
          <a:p>
            <a:pPr algn="l" fontAlgn="base">
              <a:buFont typeface="+mj-lt"/>
              <a:buAutoNum type="arabicPeriod"/>
            </a:pPr>
            <a:r>
              <a:rPr lang="en-GB" sz="2400" dirty="0"/>
              <a:t>Avoid Function Overloading</a:t>
            </a:r>
            <a:endParaRPr lang="en-GB" sz="2400" dirty="0"/>
          </a:p>
          <a:p>
            <a:pPr algn="l" fontAlgn="base">
              <a:buFont typeface="+mj-lt"/>
              <a:buAutoNum type="arabicPeriod"/>
            </a:pPr>
            <a:r>
              <a:rPr lang="en-GB" sz="2400" dirty="0"/>
              <a:t>Write Once , use for multiple times and cases.</a:t>
            </a:r>
            <a:endParaRPr lang="en-GB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Introduction to Template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84187"/>
            <a:ext cx="11464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Templates are  frame which allows to write generics in c++.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Templates helps to draw out any logic in c++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Template creates appropriate code at the time of execution.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Two types of Templates :Function and Class templates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22" y="1858779"/>
            <a:ext cx="9593705" cy="464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FUNCTION TEMPLATE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84187"/>
            <a:ext cx="1146497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Function template is used to create the family of function with different argument type.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helps us to work with any data type in function in c++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2400" b="1" dirty="0"/>
              <a:t>template&lt;class T&gt;</a:t>
            </a:r>
            <a:endParaRPr lang="en-GB" sz="2400" b="1" dirty="0"/>
          </a:p>
          <a:p>
            <a:r>
              <a:rPr lang="en-GB" sz="2400" b="1" dirty="0"/>
              <a:t>Return type functionname(argument list of type class T)</a:t>
            </a:r>
            <a:endParaRPr lang="en-GB" sz="2400" b="1" dirty="0"/>
          </a:p>
          <a:p>
            <a:r>
              <a:rPr lang="en-GB" sz="2400" b="1" dirty="0"/>
              <a:t>{</a:t>
            </a:r>
            <a:endParaRPr lang="en-GB" sz="2400" b="1" dirty="0"/>
          </a:p>
          <a:p>
            <a:r>
              <a:rPr lang="en-GB" sz="2400" b="1" dirty="0"/>
              <a:t>Body of function;</a:t>
            </a:r>
            <a:endParaRPr lang="en-GB" sz="2400" b="1" dirty="0"/>
          </a:p>
          <a:p>
            <a:r>
              <a:rPr lang="en-GB" sz="2400" b="1" dirty="0"/>
              <a:t>}</a:t>
            </a:r>
            <a:endParaRPr lang="en-GB" sz="2400" b="1" dirty="0"/>
          </a:p>
          <a:p>
            <a:r>
              <a:rPr lang="en-GB" sz="2400" b="1" dirty="0"/>
              <a:t>Example:</a:t>
            </a:r>
            <a:endParaRPr lang="en-GB" sz="2400" b="1" dirty="0"/>
          </a:p>
          <a:p>
            <a:r>
              <a:rPr lang="en-GB" sz="2400" dirty="0"/>
              <a:t>Template &lt;class T&gt;</a:t>
            </a:r>
            <a:endParaRPr lang="en-GB" sz="2400" dirty="0"/>
          </a:p>
          <a:p>
            <a:r>
              <a:rPr lang="en-GB" sz="2400" dirty="0"/>
              <a:t>void add(T a ,T b)</a:t>
            </a:r>
            <a:endParaRPr lang="en-GB" sz="2400" dirty="0"/>
          </a:p>
          <a:p>
            <a:r>
              <a:rPr lang="en-GB" sz="2400" dirty="0"/>
              <a:t>{</a:t>
            </a:r>
            <a:endParaRPr lang="en-GB" sz="2400" dirty="0"/>
          </a:p>
          <a:p>
            <a:r>
              <a:rPr lang="en-GB" sz="2400" dirty="0"/>
              <a:t>T sum;</a:t>
            </a:r>
            <a:endParaRPr lang="en-GB" sz="2400" dirty="0"/>
          </a:p>
          <a:p>
            <a:r>
              <a:rPr lang="en-GB" sz="2400" dirty="0"/>
              <a:t>Sum =</a:t>
            </a:r>
            <a:r>
              <a:rPr lang="en-GB" sz="2400" dirty="0" err="1"/>
              <a:t>a+b</a:t>
            </a:r>
            <a:r>
              <a:rPr lang="en-GB" sz="2400" dirty="0"/>
              <a:t>;</a:t>
            </a:r>
            <a:endParaRPr lang="en-GB" sz="2400" dirty="0"/>
          </a:p>
          <a:p>
            <a:r>
              <a:rPr lang="en-GB" sz="2400" dirty="0"/>
              <a:t>}</a:t>
            </a:r>
            <a:endParaRPr lang="en-GB" sz="2400" dirty="0"/>
          </a:p>
          <a:p>
            <a:endParaRPr lang="en-GB" sz="2400" b="1" dirty="0"/>
          </a:p>
          <a:p>
            <a:r>
              <a:rPr lang="en-GB" sz="2400" b="1" dirty="0"/>
              <a:t>Used in case of swapping ,sorting of array ,max ,min.</a:t>
            </a:r>
            <a:endParaRPr lang="en-GB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21239" y="612844"/>
            <a:ext cx="83495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#include&lt;iostream&gt;</a:t>
            </a:r>
            <a:endParaRPr lang="en-IN" sz="2000" dirty="0"/>
          </a:p>
          <a:p>
            <a:r>
              <a:rPr lang="en-IN" sz="2000" dirty="0"/>
              <a:t>using namespace std;</a:t>
            </a:r>
            <a:endParaRPr lang="en-IN" sz="2000" dirty="0"/>
          </a:p>
          <a:p>
            <a:r>
              <a:rPr lang="en-IN" sz="2000" dirty="0"/>
              <a:t>template &lt;class T&gt;</a:t>
            </a:r>
            <a:endParaRPr lang="en-IN" sz="2000" dirty="0"/>
          </a:p>
          <a:p>
            <a:r>
              <a:rPr lang="en-IN" sz="2000" dirty="0"/>
              <a:t>T swap(T </a:t>
            </a:r>
            <a:r>
              <a:rPr lang="en-IN" sz="2000" dirty="0" err="1"/>
              <a:t>a,T</a:t>
            </a:r>
            <a:r>
              <a:rPr lang="en-IN" sz="2000" dirty="0"/>
              <a:t> b)</a:t>
            </a:r>
            <a:endParaRPr lang="en-IN" sz="2000" dirty="0"/>
          </a:p>
          <a:p>
            <a:r>
              <a:rPr lang="en-IN" sz="2000" dirty="0"/>
              <a:t>{</a:t>
            </a:r>
            <a:endParaRPr lang="en-IN" sz="2000" dirty="0"/>
          </a:p>
          <a:p>
            <a:r>
              <a:rPr lang="en-IN" sz="2000" dirty="0" err="1"/>
              <a:t>cout</a:t>
            </a:r>
            <a:r>
              <a:rPr lang="en-IN" sz="2000" dirty="0"/>
              <a:t>&lt;&lt;"before swapping :"&lt;&lt;"\n"&lt;&lt;"a:"&lt;&lt;a&lt;&lt;"\n"&lt;&lt;"b:"&lt;&lt;b&lt;&lt;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  <a:endParaRPr lang="en-IN" sz="2000" dirty="0"/>
          </a:p>
          <a:p>
            <a:r>
              <a:rPr lang="en-IN" sz="2000" dirty="0"/>
              <a:t>	T temp;</a:t>
            </a:r>
            <a:endParaRPr lang="en-IN" sz="2000" dirty="0"/>
          </a:p>
          <a:p>
            <a:r>
              <a:rPr lang="en-IN" sz="2000" dirty="0"/>
              <a:t>	temp=a;</a:t>
            </a:r>
            <a:endParaRPr lang="en-IN" sz="2000" dirty="0"/>
          </a:p>
          <a:p>
            <a:r>
              <a:rPr lang="en-IN" sz="2000" dirty="0"/>
              <a:t>	a=b;</a:t>
            </a:r>
            <a:endParaRPr lang="en-IN" sz="2000" dirty="0"/>
          </a:p>
          <a:p>
            <a:r>
              <a:rPr lang="en-IN" sz="2000" dirty="0"/>
              <a:t>	b=temp;</a:t>
            </a:r>
            <a:endParaRPr lang="en-IN" sz="2000" dirty="0"/>
          </a:p>
          <a:p>
            <a:r>
              <a:rPr lang="en-IN" sz="2000" dirty="0" err="1"/>
              <a:t>cout</a:t>
            </a:r>
            <a:r>
              <a:rPr lang="en-IN" sz="2000" dirty="0"/>
              <a:t>&lt;&lt;"After swapping :"&lt;&lt;"\n"&lt;&lt;"a:"&lt;&lt;a&lt;&lt;"\n"&lt;&lt;"b:"&lt;&lt;b&lt;&lt;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}</a:t>
            </a:r>
            <a:endParaRPr lang="en-IN" sz="2000" dirty="0"/>
          </a:p>
          <a:p>
            <a:r>
              <a:rPr lang="en-IN" sz="2000" dirty="0"/>
              <a:t>int main()</a:t>
            </a:r>
            <a:endParaRPr lang="en-IN" sz="2000" dirty="0"/>
          </a:p>
          <a:p>
            <a:r>
              <a:rPr lang="en-IN" sz="2000" dirty="0"/>
              <a:t>{</a:t>
            </a:r>
            <a:endParaRPr lang="en-IN" sz="2000" dirty="0"/>
          </a:p>
          <a:p>
            <a:r>
              <a:rPr lang="en-IN" sz="2000" dirty="0"/>
              <a:t>	swap(4,5);</a:t>
            </a:r>
            <a:endParaRPr lang="en-IN" sz="2000" dirty="0"/>
          </a:p>
          <a:p>
            <a:r>
              <a:rPr lang="en-IN" sz="2000" dirty="0"/>
              <a:t>return 0;</a:t>
            </a:r>
            <a:endParaRPr lang="en-IN" sz="2000" dirty="0"/>
          </a:p>
          <a:p>
            <a:r>
              <a:rPr lang="en-IN" sz="2000" dirty="0"/>
              <a:t>}</a:t>
            </a: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635" cy="89408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FUNCTION TEMPLATE with multiple parameter</a:t>
            </a:r>
            <a:endParaRPr lang="en-GB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208842"/>
            <a:ext cx="950376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2400" b="1" dirty="0"/>
              <a:t>template&lt;class T1,class T2,….&gt;</a:t>
            </a:r>
            <a:endParaRPr lang="en-GB" sz="2400" b="1" dirty="0"/>
          </a:p>
          <a:p>
            <a:r>
              <a:rPr lang="en-GB" sz="2400" b="1" dirty="0"/>
              <a:t>Return type functionname(argument list of type T1,T2,….)</a:t>
            </a:r>
            <a:endParaRPr lang="en-GB" sz="2400" b="1" dirty="0"/>
          </a:p>
          <a:p>
            <a:r>
              <a:rPr lang="en-GB" sz="2400" b="1" dirty="0"/>
              <a:t>{</a:t>
            </a:r>
            <a:endParaRPr lang="en-GB" sz="2400" b="1" dirty="0"/>
          </a:p>
          <a:p>
            <a:r>
              <a:rPr lang="en-GB" sz="2400" b="1" dirty="0"/>
              <a:t>Body of function;</a:t>
            </a:r>
            <a:endParaRPr lang="en-GB" sz="2400" b="1" dirty="0"/>
          </a:p>
          <a:p>
            <a:r>
              <a:rPr lang="en-GB" sz="2400" b="1" dirty="0"/>
              <a:t>}</a:t>
            </a:r>
            <a:endParaRPr lang="en-GB" sz="2400" b="1" dirty="0"/>
          </a:p>
          <a:p>
            <a:endParaRPr lang="en-GB" sz="2400" b="1" dirty="0"/>
          </a:p>
          <a:p>
            <a:r>
              <a:rPr lang="en-GB" sz="2400" b="1" dirty="0"/>
              <a:t>Example:</a:t>
            </a:r>
            <a:endParaRPr lang="en-GB" sz="2400" b="1" dirty="0"/>
          </a:p>
          <a:p>
            <a:r>
              <a:rPr lang="en-GB" sz="2400" dirty="0"/>
              <a:t>Template &lt;class T1,class T2&gt;</a:t>
            </a:r>
            <a:endParaRPr lang="en-GB" sz="2400" dirty="0"/>
          </a:p>
          <a:p>
            <a:r>
              <a:rPr lang="en-GB" sz="2400" dirty="0"/>
              <a:t>void add(T1 a ,T2 b)</a:t>
            </a:r>
            <a:endParaRPr lang="en-GB" sz="2400" dirty="0"/>
          </a:p>
          <a:p>
            <a:r>
              <a:rPr lang="en-GB" sz="2400" dirty="0"/>
              <a:t>{</a:t>
            </a:r>
            <a:endParaRPr lang="en-GB" sz="2400" dirty="0"/>
          </a:p>
          <a:p>
            <a:r>
              <a:rPr lang="en-GB" sz="2400" dirty="0"/>
              <a:t>T1 sum;</a:t>
            </a:r>
            <a:endParaRPr lang="en-GB" sz="2400" dirty="0"/>
          </a:p>
          <a:p>
            <a:r>
              <a:rPr lang="en-GB" sz="2400" dirty="0"/>
              <a:t>Sum =</a:t>
            </a:r>
            <a:r>
              <a:rPr lang="en-GB" sz="2400" dirty="0" err="1"/>
              <a:t>a+b</a:t>
            </a:r>
            <a:r>
              <a:rPr lang="en-GB" sz="2400" dirty="0"/>
              <a:t>;</a:t>
            </a:r>
            <a:endParaRPr lang="en-GB" sz="2400" dirty="0"/>
          </a:p>
          <a:p>
            <a:r>
              <a:rPr lang="en-GB" sz="2400" dirty="0"/>
              <a:t>}</a:t>
            </a:r>
            <a:endParaRPr lang="en-GB" sz="2400" b="1" dirty="0"/>
          </a:p>
          <a:p>
            <a:endParaRPr lang="en-GB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9250" y="1075903"/>
            <a:ext cx="51803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template &lt;class t1,class t2&gt;</a:t>
            </a:r>
            <a:endParaRPr lang="en-IN" dirty="0"/>
          </a:p>
          <a:p>
            <a:r>
              <a:rPr lang="en-IN" dirty="0"/>
              <a:t>void display(t1 a,t2 b)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display(1,2.5);</a:t>
            </a:r>
            <a:endParaRPr lang="en-IN" dirty="0"/>
          </a:p>
          <a:p>
            <a:r>
              <a:rPr lang="en-IN" dirty="0"/>
              <a:t>	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Overloading FUNCTION TEMPLATE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43535" y="728980"/>
            <a:ext cx="9049385" cy="6277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2400" b="1" dirty="0"/>
              <a:t>template&lt;class T1&gt;</a:t>
            </a:r>
            <a:endParaRPr lang="en-GB" sz="2400" b="1" dirty="0"/>
          </a:p>
          <a:p>
            <a:r>
              <a:rPr lang="en-GB" sz="2400" b="1" dirty="0"/>
              <a:t>Return type functionname(argument list of type T1)</a:t>
            </a:r>
            <a:endParaRPr lang="en-GB" sz="2400" b="1" dirty="0"/>
          </a:p>
          <a:p>
            <a:r>
              <a:rPr lang="en-GB" sz="2400" b="1" dirty="0"/>
              <a:t>{</a:t>
            </a:r>
            <a:endParaRPr lang="en-GB" sz="2400" b="1" dirty="0"/>
          </a:p>
          <a:p>
            <a:r>
              <a:rPr lang="en-GB" sz="2400" b="1" dirty="0"/>
              <a:t>Body of function;</a:t>
            </a:r>
            <a:endParaRPr lang="en-GB" sz="2400" b="1" dirty="0"/>
          </a:p>
          <a:p>
            <a:r>
              <a:rPr lang="en-GB" sz="2400" b="1" dirty="0"/>
              <a:t>}</a:t>
            </a:r>
            <a:endParaRPr lang="en-GB" sz="2400" b="1" dirty="0"/>
          </a:p>
          <a:p>
            <a:r>
              <a:rPr lang="en-GB" sz="2400" b="1" dirty="0"/>
              <a:t>template&lt;class T1, class T2&gt;</a:t>
            </a:r>
            <a:endParaRPr lang="en-GB" sz="2400" b="1" dirty="0"/>
          </a:p>
          <a:p>
            <a:r>
              <a:rPr lang="en-GB" sz="2400" b="1" dirty="0"/>
              <a:t>Return type functionname(argument list of type T1,T2)</a:t>
            </a:r>
            <a:endParaRPr lang="en-GB" sz="2400" b="1" dirty="0"/>
          </a:p>
          <a:p>
            <a:r>
              <a:rPr lang="en-GB" sz="2400" b="1" dirty="0"/>
              <a:t>{</a:t>
            </a:r>
            <a:endParaRPr lang="en-GB" sz="2400" b="1" dirty="0"/>
          </a:p>
          <a:p>
            <a:r>
              <a:rPr lang="en-GB" sz="2400" b="1" dirty="0"/>
              <a:t>Body of function;</a:t>
            </a:r>
            <a:endParaRPr lang="en-GB" sz="2400" b="1" dirty="0"/>
          </a:p>
          <a:p>
            <a:r>
              <a:rPr lang="en-GB" sz="2400" b="1" dirty="0"/>
              <a:t>}</a:t>
            </a:r>
            <a:endParaRPr lang="en-GB" sz="2400" b="1" dirty="0"/>
          </a:p>
          <a:p>
            <a:r>
              <a:rPr lang="en-GB" sz="2400" b="1" dirty="0"/>
              <a:t>template&lt;class T1, class T2,class T3,..&gt;</a:t>
            </a:r>
            <a:endParaRPr lang="en-GB" sz="2400" b="1" dirty="0"/>
          </a:p>
          <a:p>
            <a:r>
              <a:rPr lang="en-GB" sz="2400" b="1" dirty="0"/>
              <a:t>Return type functionname(argument list of type T1,T2,T3,..)</a:t>
            </a:r>
            <a:endParaRPr lang="en-GB" sz="2400" b="1" dirty="0"/>
          </a:p>
          <a:p>
            <a:r>
              <a:rPr lang="en-GB" sz="2400" b="1" dirty="0"/>
              <a:t>{</a:t>
            </a:r>
            <a:endParaRPr lang="en-GB" sz="2400" b="1" dirty="0"/>
          </a:p>
          <a:p>
            <a:r>
              <a:rPr lang="en-GB" sz="2400" b="1" dirty="0"/>
              <a:t>Body of function;</a:t>
            </a:r>
            <a:endParaRPr lang="en-GB" sz="2400" b="1" dirty="0"/>
          </a:p>
          <a:p>
            <a:r>
              <a:rPr lang="en-GB" sz="2400" b="1" dirty="0"/>
              <a:t>}</a:t>
            </a:r>
            <a:endParaRPr lang="en-GB" sz="2400" b="1" dirty="0"/>
          </a:p>
          <a:p>
            <a:endParaRPr lang="en-GB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3570" y="584617"/>
            <a:ext cx="60935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template &lt;class t1,class t2&gt;</a:t>
            </a:r>
            <a:endParaRPr lang="en-IN" dirty="0"/>
          </a:p>
          <a:p>
            <a:r>
              <a:rPr lang="en-IN" dirty="0"/>
              <a:t>void display(t1 a,t2 b)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template &lt;class t1&gt;</a:t>
            </a:r>
            <a:endParaRPr lang="en-IN" dirty="0"/>
          </a:p>
          <a:p>
            <a:r>
              <a:rPr lang="en-IN" dirty="0"/>
              <a:t>void display(t1 a)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template &lt;class t1,class t2,class t3&gt;</a:t>
            </a:r>
            <a:endParaRPr lang="en-IN" dirty="0"/>
          </a:p>
          <a:p>
            <a:r>
              <a:rPr lang="en-IN" dirty="0"/>
              <a:t>void display(t1 a,t2 b,t3 c)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&lt;&lt;c&lt;&lt;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862999" y="2079806"/>
            <a:ext cx="44695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display(1,2.5);</a:t>
            </a:r>
            <a:endParaRPr lang="en-IN" dirty="0"/>
          </a:p>
          <a:p>
            <a:r>
              <a:rPr lang="en-IN" dirty="0"/>
              <a:t>		display("NAST");</a:t>
            </a:r>
            <a:endParaRPr lang="en-IN" dirty="0"/>
          </a:p>
          <a:p>
            <a:r>
              <a:rPr lang="en-IN" dirty="0"/>
              <a:t>		display(2,4.5,"NAST");</a:t>
            </a:r>
            <a:endParaRPr lang="en-IN" dirty="0"/>
          </a:p>
          <a:p>
            <a:r>
              <a:rPr lang="en-IN" dirty="0"/>
              <a:t>	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CLASS TEMPLATE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4850" y="1208842"/>
            <a:ext cx="951875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Class template is used to create the family of class with anonymous type.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helps us to create any type of generic class  in c++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1800" b="1" dirty="0"/>
              <a:t>template&lt;class T&gt;</a:t>
            </a:r>
            <a:endParaRPr lang="en-GB" sz="1800" b="1" dirty="0"/>
          </a:p>
          <a:p>
            <a:r>
              <a:rPr lang="en-GB" b="1" dirty="0"/>
              <a:t>c</a:t>
            </a:r>
            <a:r>
              <a:rPr lang="en-GB" sz="1800" b="1" dirty="0"/>
              <a:t>lass </a:t>
            </a:r>
            <a:r>
              <a:rPr lang="en-GB" b="1" dirty="0" err="1"/>
              <a:t>C</a:t>
            </a:r>
            <a:r>
              <a:rPr lang="en-GB" sz="1800" b="1" dirty="0" err="1"/>
              <a:t>lassName</a:t>
            </a:r>
            <a:r>
              <a:rPr lang="en-GB" sz="1800" b="1" dirty="0"/>
              <a:t> </a:t>
            </a:r>
            <a:endParaRPr lang="en-GB" sz="1800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sz="1800" b="1" dirty="0"/>
              <a:t>//class member variables and functions with T</a:t>
            </a:r>
            <a:endParaRPr lang="en-GB" sz="1800" b="1" dirty="0"/>
          </a:p>
          <a:p>
            <a:r>
              <a:rPr lang="en-GB" sz="1800" b="1" dirty="0"/>
              <a:t>};</a:t>
            </a:r>
            <a:endParaRPr lang="en-GB" sz="1800" b="1" dirty="0"/>
          </a:p>
          <a:p>
            <a:r>
              <a:rPr lang="en-GB" b="1" dirty="0"/>
              <a:t>member function syntax:</a:t>
            </a:r>
            <a:endParaRPr lang="en-GB" b="1" dirty="0"/>
          </a:p>
          <a:p>
            <a:r>
              <a:rPr lang="en-GB" b="1" dirty="0"/>
              <a:t>Type member functionname(type argument)</a:t>
            </a:r>
            <a:endParaRPr lang="en-GB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b="1" dirty="0"/>
              <a:t>//body</a:t>
            </a:r>
            <a:endParaRPr lang="en-GB" sz="1800" b="1" dirty="0"/>
          </a:p>
          <a:p>
            <a:r>
              <a:rPr lang="en-GB" b="1" dirty="0"/>
              <a:t>}</a:t>
            </a:r>
            <a:endParaRPr lang="en-GB" sz="1800" dirty="0"/>
          </a:p>
          <a:p>
            <a:endParaRPr lang="en-GB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11785" y="5010785"/>
            <a:ext cx="6379845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dirty="0"/>
              <a:t>Creating a Class Template Object</a:t>
            </a:r>
            <a:endParaRPr lang="en-GB" sz="2400" b="1" dirty="0"/>
          </a:p>
          <a:p>
            <a:r>
              <a:rPr lang="en-US" altLang="en-US" dirty="0"/>
              <a:t>  </a:t>
            </a:r>
            <a:r>
              <a:rPr lang="en-US" altLang="en-US" dirty="0" err="1"/>
              <a:t>className</a:t>
            </a:r>
            <a:r>
              <a:rPr lang="en-US" altLang="en-US" dirty="0"/>
              <a:t>&lt;</a:t>
            </a:r>
            <a:r>
              <a:rPr lang="en-US" altLang="en-US" dirty="0" err="1"/>
              <a:t>dataType</a:t>
            </a:r>
            <a:r>
              <a:rPr lang="en-US" altLang="en-US" dirty="0"/>
              <a:t>&gt; </a:t>
            </a:r>
            <a:r>
              <a:rPr lang="en-US" altLang="en-US" dirty="0" err="1"/>
              <a:t>classObject</a:t>
            </a:r>
            <a:r>
              <a:rPr lang="en-US" altLang="en-US" dirty="0"/>
              <a:t>; </a:t>
            </a:r>
            <a:endParaRPr lang="en-US" altLang="en-US" dirty="0"/>
          </a:p>
          <a:p>
            <a:r>
              <a:rPr lang="en-US" altLang="en-US" dirty="0"/>
              <a:t>Example:</a:t>
            </a:r>
            <a:endParaRPr lang="en-US" altLang="en-US" dirty="0"/>
          </a:p>
          <a:p>
            <a:r>
              <a:rPr lang="en-US" altLang="en-US" dirty="0"/>
              <a:t>Add&lt;int&gt;obj(4,5);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3492" y="394692"/>
            <a:ext cx="60935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template &lt;class T&gt;</a:t>
            </a:r>
            <a:endParaRPr lang="en-IN" dirty="0"/>
          </a:p>
          <a:p>
            <a:r>
              <a:rPr lang="en-IN" dirty="0"/>
              <a:t>class demo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T a;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void add(T x)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a=x;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void show()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&lt;&lt;"A="&lt;&lt;a&lt;&lt;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demo&lt;int&gt;d;</a:t>
            </a:r>
            <a:endParaRPr lang="en-IN" dirty="0"/>
          </a:p>
          <a:p>
            <a:r>
              <a:rPr lang="en-IN" dirty="0" err="1"/>
              <a:t>d.add</a:t>
            </a:r>
            <a:r>
              <a:rPr lang="en-IN" dirty="0"/>
              <a:t>(4);</a:t>
            </a:r>
            <a:endParaRPr lang="en-IN" dirty="0"/>
          </a:p>
          <a:p>
            <a:r>
              <a:rPr lang="en-IN" dirty="0" err="1"/>
              <a:t>d.show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3405" y="1226185"/>
            <a:ext cx="8143875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1800" b="1" dirty="0"/>
              <a:t>template&lt;class T1, class T2&gt;</a:t>
            </a:r>
            <a:endParaRPr lang="en-GB" sz="1800" b="1" dirty="0"/>
          </a:p>
          <a:p>
            <a:r>
              <a:rPr lang="en-GB" b="1" dirty="0"/>
              <a:t>c</a:t>
            </a:r>
            <a:r>
              <a:rPr lang="en-GB" sz="1800" b="1" dirty="0"/>
              <a:t>lass </a:t>
            </a:r>
            <a:r>
              <a:rPr lang="en-GB" b="1" dirty="0" err="1"/>
              <a:t>C</a:t>
            </a:r>
            <a:r>
              <a:rPr lang="en-GB" sz="1800" b="1" dirty="0" err="1"/>
              <a:t>lassName</a:t>
            </a:r>
            <a:r>
              <a:rPr lang="en-GB" sz="1800" b="1" dirty="0"/>
              <a:t> </a:t>
            </a:r>
            <a:endParaRPr lang="en-GB" sz="1800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sz="1800" b="1" dirty="0"/>
              <a:t>//class member variables and functions with T</a:t>
            </a:r>
            <a:endParaRPr lang="en-GB" sz="1800" b="1" dirty="0"/>
          </a:p>
          <a:p>
            <a:r>
              <a:rPr lang="en-GB" sz="1800" b="1" dirty="0"/>
              <a:t>};</a:t>
            </a:r>
            <a:endParaRPr lang="en-GB" sz="1800" b="1" dirty="0"/>
          </a:p>
          <a:p>
            <a:r>
              <a:rPr lang="en-GB" b="1" dirty="0"/>
              <a:t>member function syntax:</a:t>
            </a:r>
            <a:endParaRPr lang="en-GB" b="1" dirty="0"/>
          </a:p>
          <a:p>
            <a:r>
              <a:rPr lang="en-GB" b="1" dirty="0"/>
              <a:t>Type member functionname(type argument)</a:t>
            </a:r>
            <a:endParaRPr lang="en-GB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b="1" dirty="0"/>
              <a:t>//body</a:t>
            </a:r>
            <a:endParaRPr lang="en-GB" sz="1800" b="1" dirty="0"/>
          </a:p>
          <a:p>
            <a:r>
              <a:rPr lang="en-GB" b="1" dirty="0"/>
              <a:t>}</a:t>
            </a:r>
            <a:endParaRPr lang="en-GB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11239500" cy="89408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CLASS TEMPLATE with multiple parameter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54045" y="0"/>
            <a:ext cx="813591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template &lt;class </a:t>
            </a:r>
            <a:r>
              <a:rPr lang="en-IN" dirty="0" err="1"/>
              <a:t>T,class</a:t>
            </a:r>
            <a:r>
              <a:rPr lang="en-IN" dirty="0"/>
              <a:t> t1&gt;</a:t>
            </a:r>
            <a:endParaRPr lang="en-IN" dirty="0"/>
          </a:p>
          <a:p>
            <a:r>
              <a:rPr lang="en-IN" dirty="0"/>
              <a:t>class demo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T a;</a:t>
            </a:r>
            <a:endParaRPr lang="en-IN" dirty="0"/>
          </a:p>
          <a:p>
            <a:r>
              <a:rPr lang="en-IN" dirty="0"/>
              <a:t>t1 b;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add(T x,t1 y)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	a=x;</a:t>
            </a:r>
            <a:endParaRPr lang="en-IN" dirty="0"/>
          </a:p>
          <a:p>
            <a:r>
              <a:rPr lang="en-IN" dirty="0"/>
              <a:t>		b=y;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void show	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&lt;&lt;"A="&lt;&lt;a&lt;&lt;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	</a:t>
            </a:r>
            <a:r>
              <a:rPr lang="en-IN" dirty="0" err="1"/>
              <a:t>cout</a:t>
            </a:r>
            <a:r>
              <a:rPr lang="en-IN" dirty="0"/>
              <a:t>&lt;&lt;"B="&lt;&lt;b&lt;&lt;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demo&lt;</a:t>
            </a:r>
            <a:r>
              <a:rPr lang="en-IN" dirty="0" err="1"/>
              <a:t>int,float</a:t>
            </a:r>
            <a:r>
              <a:rPr lang="en-IN" dirty="0"/>
              <a:t>&gt;d;</a:t>
            </a:r>
            <a:endParaRPr lang="en-IN" dirty="0"/>
          </a:p>
          <a:p>
            <a:r>
              <a:rPr lang="en-IN" dirty="0" err="1"/>
              <a:t>d.add</a:t>
            </a:r>
            <a:r>
              <a:rPr lang="en-IN" dirty="0"/>
              <a:t>(4,4.5);</a:t>
            </a:r>
            <a:endParaRPr lang="en-IN" dirty="0"/>
          </a:p>
          <a:p>
            <a:r>
              <a:rPr lang="en-IN" dirty="0" err="1"/>
              <a:t>d.show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return 0;}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3405" y="1226185"/>
            <a:ext cx="7305675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Syntax:</a:t>
            </a:r>
            <a:endParaRPr lang="en-GB" dirty="0"/>
          </a:p>
          <a:p>
            <a:r>
              <a:rPr lang="en-GB" sz="1800" b="1" dirty="0"/>
              <a:t>template&lt;class T1=int, class T2=char&gt;</a:t>
            </a:r>
            <a:endParaRPr lang="en-GB" sz="1800" b="1" dirty="0"/>
          </a:p>
          <a:p>
            <a:r>
              <a:rPr lang="en-GB" b="1" dirty="0"/>
              <a:t>c</a:t>
            </a:r>
            <a:r>
              <a:rPr lang="en-GB" sz="1800" b="1" dirty="0"/>
              <a:t>lass </a:t>
            </a:r>
            <a:r>
              <a:rPr lang="en-GB" b="1" dirty="0" err="1"/>
              <a:t>C</a:t>
            </a:r>
            <a:r>
              <a:rPr lang="en-GB" sz="1800" b="1" dirty="0" err="1"/>
              <a:t>lassName</a:t>
            </a:r>
            <a:r>
              <a:rPr lang="en-GB" sz="1800" b="1" dirty="0"/>
              <a:t> </a:t>
            </a:r>
            <a:endParaRPr lang="en-GB" sz="1800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sz="1800" b="1" dirty="0"/>
              <a:t>//class member variables and functions with T</a:t>
            </a:r>
            <a:endParaRPr lang="en-GB" sz="1800" b="1" dirty="0"/>
          </a:p>
          <a:p>
            <a:r>
              <a:rPr lang="en-GB" sz="1800" b="1" dirty="0"/>
              <a:t>};</a:t>
            </a:r>
            <a:endParaRPr lang="en-GB" sz="1800" b="1" dirty="0"/>
          </a:p>
          <a:p>
            <a:r>
              <a:rPr lang="en-GB" b="1" dirty="0"/>
              <a:t>member function syntax:</a:t>
            </a:r>
            <a:endParaRPr lang="en-GB" b="1" dirty="0"/>
          </a:p>
          <a:p>
            <a:r>
              <a:rPr lang="en-GB" b="1" dirty="0"/>
              <a:t>Type member functionname(type argument)</a:t>
            </a:r>
            <a:endParaRPr lang="en-GB" b="1" dirty="0"/>
          </a:p>
          <a:p>
            <a:r>
              <a:rPr lang="en-GB" sz="1800" b="1" dirty="0"/>
              <a:t>{</a:t>
            </a:r>
            <a:endParaRPr lang="en-GB" sz="1800" b="1" dirty="0"/>
          </a:p>
          <a:p>
            <a:r>
              <a:rPr lang="en-GB" b="1" dirty="0"/>
              <a:t>//body</a:t>
            </a:r>
            <a:endParaRPr lang="en-GB" sz="1800" b="1" dirty="0"/>
          </a:p>
          <a:p>
            <a:r>
              <a:rPr lang="en-GB" b="1" dirty="0"/>
              <a:t>}</a:t>
            </a:r>
            <a:endParaRPr lang="en-GB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24055" cy="89408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CLASS TEMPLATE with Default data Types 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3197" y="0"/>
            <a:ext cx="60935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#include&lt;iostream&gt;</a:t>
            </a:r>
            <a:endParaRPr lang="en-IN" dirty="0"/>
          </a:p>
          <a:p>
            <a:r>
              <a:rPr lang="en-IN" dirty="0"/>
              <a:t>using namespace std;</a:t>
            </a:r>
            <a:endParaRPr lang="en-IN" dirty="0"/>
          </a:p>
          <a:p>
            <a:r>
              <a:rPr lang="en-IN" dirty="0"/>
              <a:t>template &lt;class T=</a:t>
            </a:r>
            <a:r>
              <a:rPr lang="en-IN" dirty="0" err="1"/>
              <a:t>int,class</a:t>
            </a:r>
            <a:r>
              <a:rPr lang="en-IN" dirty="0"/>
              <a:t> t1=char&gt;</a:t>
            </a:r>
            <a:endParaRPr lang="en-IN" dirty="0"/>
          </a:p>
          <a:p>
            <a:r>
              <a:rPr lang="en-IN" dirty="0"/>
              <a:t>class demo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T a;t1 b;</a:t>
            </a:r>
            <a:endParaRPr lang="en-IN" dirty="0"/>
          </a:p>
          <a:p>
            <a:r>
              <a:rPr lang="en-IN" dirty="0"/>
              <a:t>public:</a:t>
            </a:r>
            <a:endParaRPr lang="en-IN" dirty="0"/>
          </a:p>
          <a:p>
            <a:r>
              <a:rPr lang="en-IN" dirty="0"/>
              <a:t>  add(T x,t1 y)</a:t>
            </a:r>
            <a:endParaRPr lang="en-IN" dirty="0"/>
          </a:p>
          <a:p>
            <a:r>
              <a:rPr lang="en-IN" dirty="0"/>
              <a:t>	{</a:t>
            </a:r>
            <a:endParaRPr lang="en-IN" dirty="0"/>
          </a:p>
          <a:p>
            <a:r>
              <a:rPr lang="en-IN" dirty="0"/>
              <a:t>		a=x;</a:t>
            </a:r>
            <a:endParaRPr lang="en-IN" dirty="0"/>
          </a:p>
          <a:p>
            <a:r>
              <a:rPr lang="en-IN" dirty="0"/>
              <a:t>		b=y;</a:t>
            </a:r>
            <a:endParaRPr lang="en-IN" dirty="0"/>
          </a:p>
          <a:p>
            <a:r>
              <a:rPr lang="en-IN" dirty="0"/>
              <a:t>	}</a:t>
            </a:r>
            <a:endParaRPr lang="en-IN" dirty="0"/>
          </a:p>
          <a:p>
            <a:r>
              <a:rPr lang="en-IN" dirty="0"/>
              <a:t>void show()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&lt;&lt;"A="&lt;&lt;a&lt;&lt;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&lt;&lt;"B="&lt;&lt;b&lt;&lt;</a:t>
            </a:r>
            <a:r>
              <a:rPr lang="en-IN" dirty="0" err="1"/>
              <a:t>endl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  <a:p>
            <a:r>
              <a:rPr lang="en-IN" dirty="0"/>
              <a:t>};</a:t>
            </a:r>
            <a:endParaRPr lang="en-IN" dirty="0"/>
          </a:p>
          <a:p>
            <a:r>
              <a:rPr lang="en-IN" dirty="0"/>
              <a:t>int main()</a:t>
            </a:r>
            <a:endParaRPr lang="en-IN" dirty="0"/>
          </a:p>
          <a:p>
            <a:r>
              <a:rPr lang="en-IN" dirty="0"/>
              <a:t>{</a:t>
            </a:r>
            <a:endParaRPr lang="en-IN" dirty="0"/>
          </a:p>
          <a:p>
            <a:r>
              <a:rPr lang="en-IN" dirty="0"/>
              <a:t>demo&lt;&gt;d;</a:t>
            </a:r>
            <a:endParaRPr lang="en-IN" dirty="0"/>
          </a:p>
          <a:p>
            <a:r>
              <a:rPr lang="en-IN" dirty="0" err="1"/>
              <a:t>d.add</a:t>
            </a:r>
            <a:r>
              <a:rPr lang="en-IN" dirty="0"/>
              <a:t>(4,'n');</a:t>
            </a:r>
            <a:endParaRPr lang="en-IN" dirty="0"/>
          </a:p>
          <a:p>
            <a:r>
              <a:rPr lang="en-IN" dirty="0" err="1"/>
              <a:t>d.show</a:t>
            </a:r>
            <a:r>
              <a:rPr lang="en-IN" dirty="0"/>
              <a:t>();</a:t>
            </a:r>
            <a:endParaRPr lang="en-IN" dirty="0"/>
          </a:p>
          <a:p>
            <a:r>
              <a:rPr lang="en-IN" dirty="0"/>
              <a:t>return 0;</a:t>
            </a:r>
            <a:endParaRPr lang="en-IN" dirty="0"/>
          </a:p>
          <a:p>
            <a:r>
              <a:rPr lang="en-IN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183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Standard Template Library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858708"/>
            <a:ext cx="11884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STL is a collection of algorithms, data structures, and other components that can be used to simplify the development of C++ programs.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Alexander Stepanov</a:t>
            </a:r>
            <a:r>
              <a:rPr lang="en-GB" dirty="0"/>
              <a:t> in 1994 invented STL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/>
              <a:t>The </a:t>
            </a:r>
            <a:r>
              <a:rPr lang="en-GB" dirty="0"/>
              <a:t>STL requires the knowledge of template.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Features/Advantages of STL: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Time saving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Less efforts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Load fast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High quality programming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/>
              <a:t>Code reusability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868024"/>
            <a:ext cx="11677338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C++ STL has 3 major components:</a:t>
            </a:r>
            <a:endParaRPr lang="en-GB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dirty="0"/>
              <a:t>Containers: </a:t>
            </a:r>
            <a:r>
              <a:rPr lang="en-GB" dirty="0"/>
              <a:t>Stores data and organize them in a specific manner as required. Ex: </a:t>
            </a:r>
            <a:r>
              <a:rPr lang="en-GB" b="1" dirty="0"/>
              <a:t>Array, queue, List etc.</a:t>
            </a:r>
            <a:endParaRPr lang="en-GB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dirty="0"/>
              <a:t>Iterators:</a:t>
            </a:r>
            <a:r>
              <a:rPr lang="en-GB" dirty="0"/>
              <a:t> iterators are objects that are used to access elements of a container.</a:t>
            </a:r>
            <a:endParaRPr lang="en-GB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dirty="0"/>
              <a:t>Algorithms:</a:t>
            </a:r>
            <a:r>
              <a:rPr lang="en-GB" b="1" dirty="0">
                <a:latin typeface="euclid_circular_a"/>
              </a:rPr>
              <a:t> </a:t>
            </a:r>
            <a:r>
              <a:rPr lang="en-GB" b="0" i="0" dirty="0">
                <a:effectLst/>
                <a:latin typeface="euclid_circular_a"/>
              </a:rPr>
              <a:t>series of instructions to process the data in container. </a:t>
            </a:r>
            <a:r>
              <a:rPr lang="en-GB" b="1" i="0" dirty="0">
                <a:effectLst/>
                <a:latin typeface="euclid_circular_a"/>
              </a:rPr>
              <a:t>Searching, sorting, merging, copying, counting</a:t>
            </a:r>
            <a:endParaRPr lang="en-GB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Standard Template Library COMPONENTS</a:t>
            </a:r>
            <a:endParaRPr 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664" y="1041010"/>
            <a:ext cx="8932985" cy="49799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49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 Work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0" y="894080"/>
            <a:ext cx="120072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28600" indent="-228600" algn="l"/>
            <a:r>
              <a:rPr lang="en-US" sz="2400" b="0">
                <a:latin typeface="Times New Roman" panose="02020603050405020304" pitchFamily="18" charset="0"/>
              </a:rPr>
              <a:t>1) Write a program to create template to swap two integer and two string values.</a:t>
            </a:r>
            <a:endParaRPr lang="en-US" sz="2400" b="0">
              <a:latin typeface="Times New Roman" panose="02020603050405020304" pitchFamily="18" charset="0"/>
            </a:endParaRPr>
          </a:p>
          <a:p>
            <a:pPr marL="228600" indent="-228600" algn="l"/>
            <a:r>
              <a:rPr lang="en-US" sz="2400" b="0">
                <a:latin typeface="Times New Roman" panose="02020603050405020304" pitchFamily="18" charset="0"/>
              </a:rPr>
              <a:t>2) WAP to design Simple Calculator Using Class Templates</a:t>
            </a:r>
            <a:endParaRPr 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02068" y="203835"/>
            <a:ext cx="8664315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GB" sz="3600" b="1" i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Roboto" panose="02000000000000000000" pitchFamily="2" charset="0"/>
              </a:rPr>
              <a:t>Assignment Questions from this UNIT</a:t>
            </a:r>
            <a:endParaRPr lang="en-GB" sz="3600" b="1" i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Roboto" panose="02000000000000000000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19" y="1034092"/>
            <a:ext cx="109542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Define term generic .Explain function template and Class Template?</a:t>
            </a: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Demonstrate the Function template to swap the value of two variables in c++.Why do we need template in c++.</a:t>
            </a: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Define STL in detail. Why do we need it ?. Explain Generic class by taking appropriate example.</a:t>
            </a:r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8760" y="3105834"/>
            <a:ext cx="8664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 dirty="0">
                <a:solidFill>
                  <a:srgbClr val="2D2D2D"/>
                </a:solidFill>
                <a:effectLst/>
                <a:latin typeface="Roboto" panose="02000000000000000000" pitchFamily="2" charset="0"/>
              </a:rPr>
              <a:t>END of THE </a:t>
            </a:r>
            <a:r>
              <a:rPr lang="en-GB" sz="3600" b="1" i="0">
                <a:solidFill>
                  <a:srgbClr val="2D2D2D"/>
                </a:solidFill>
                <a:effectLst/>
                <a:latin typeface="Roboto" panose="02000000000000000000" pitchFamily="2" charset="0"/>
              </a:rPr>
              <a:t>UNIT 5</a:t>
            </a:r>
            <a:endParaRPr lang="en-GB" sz="3600" b="1" i="0" dirty="0">
              <a:solidFill>
                <a:srgbClr val="2D2D2D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88760" y="3105834"/>
            <a:ext cx="8664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>
                <a:solidFill>
                  <a:srgbClr val="2D2D2D"/>
                </a:solidFill>
                <a:effectLst/>
                <a:latin typeface="Roboto" panose="02000000000000000000" pitchFamily="2" charset="0"/>
              </a:rPr>
              <a:t>THANK YOU</a:t>
            </a:r>
            <a:endParaRPr lang="en-GB" sz="3600" b="1" i="0" dirty="0">
              <a:solidFill>
                <a:srgbClr val="2D2D2D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5821</Words>
  <Application>WPS Presentation</Application>
  <PresentationFormat>Widescreen</PresentationFormat>
  <Paragraphs>325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Times New Roman Regular</vt:lpstr>
      <vt:lpstr>euclid_circular_a</vt:lpstr>
      <vt:lpstr>Thonburi</vt:lpstr>
      <vt:lpstr>Times New Roman</vt:lpstr>
      <vt:lpstr>Roboto</vt:lpstr>
      <vt:lpstr>苹方-简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     Unit 5                    Templates           </vt:lpstr>
      <vt:lpstr>OUTLINES</vt:lpstr>
      <vt:lpstr>Introduction to Generic Programming</vt:lpstr>
      <vt:lpstr>Introduction to Template</vt:lpstr>
      <vt:lpstr>FUNCTION TEMPLATE</vt:lpstr>
      <vt:lpstr>PowerPoint 演示文稿</vt:lpstr>
      <vt:lpstr>FUNCTION TEMPLATE with multiple parameter</vt:lpstr>
      <vt:lpstr>PowerPoint 演示文稿</vt:lpstr>
      <vt:lpstr>Overloading FUNCTION TEMPLATE</vt:lpstr>
      <vt:lpstr>PowerPoint 演示文稿</vt:lpstr>
      <vt:lpstr>CLASS TEMPLATE</vt:lpstr>
      <vt:lpstr>PowerPoint 演示文稿</vt:lpstr>
      <vt:lpstr>CLASS TEMPLATE with multiple parameter</vt:lpstr>
      <vt:lpstr>PowerPoint 演示文稿</vt:lpstr>
      <vt:lpstr>CLASS TEMPLATE with Default data Types </vt:lpstr>
      <vt:lpstr>PowerPoint 演示文稿</vt:lpstr>
      <vt:lpstr>Standard Template Library</vt:lpstr>
      <vt:lpstr>Standard Template Library COMPONENTS</vt:lpstr>
      <vt:lpstr>Standard Template Library COMPONENTS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                  POLYMORPHISM</dc:title>
  <dc:creator>Harendra Bikram Shah</dc:creator>
  <cp:lastModifiedBy>hbs</cp:lastModifiedBy>
  <cp:revision>206</cp:revision>
  <dcterms:created xsi:type="dcterms:W3CDTF">2024-06-27T03:43:23Z</dcterms:created>
  <dcterms:modified xsi:type="dcterms:W3CDTF">2024-06-27T03:43:23Z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