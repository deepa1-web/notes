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4" r:id="rId5"/>
    <p:sldId id="276" r:id="rId6"/>
    <p:sldId id="265" r:id="rId7"/>
    <p:sldId id="268" r:id="rId8"/>
    <p:sldId id="271" r:id="rId9"/>
    <p:sldId id="273" r:id="rId10"/>
    <p:sldId id="266" r:id="rId11"/>
    <p:sldId id="270" r:id="rId12"/>
    <p:sldId id="272" r:id="rId13"/>
    <p:sldId id="269" r:id="rId14"/>
    <p:sldId id="274" r:id="rId15"/>
    <p:sldId id="275" r:id="rId16"/>
    <p:sldId id="267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6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291" autoAdjust="0"/>
  </p:normalViewPr>
  <p:slideViewPr>
    <p:cSldViewPr snapToGrid="0">
      <p:cViewPr>
        <p:scale>
          <a:sx n="66" d="100"/>
          <a:sy n="66" d="100"/>
        </p:scale>
        <p:origin x="87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0B8D6-C4BD-46A4-9A82-08D4E8E6001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9A205-56FA-4820-9B78-BADF71C7EFD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3080" y="338745"/>
            <a:ext cx="11218459" cy="1339930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1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Concepts   (8hrs)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8899" y="2773907"/>
            <a:ext cx="9144000" cy="2934325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/>
              <a:t>Presented by</a:t>
            </a:r>
            <a:endParaRPr lang="en-GB" sz="3600" b="1" dirty="0"/>
          </a:p>
          <a:p>
            <a:r>
              <a:rPr lang="en-GB" sz="2800" dirty="0">
                <a:solidFill>
                  <a:srgbClr val="FF0000"/>
                </a:solidFill>
              </a:rPr>
              <a:t>Er.Harendra Bikram Shah</a:t>
            </a:r>
            <a:endParaRPr lang="en-GB" sz="2800" dirty="0">
              <a:solidFill>
                <a:srgbClr val="FF0000"/>
              </a:solidFill>
            </a:endParaRPr>
          </a:p>
          <a:p>
            <a:r>
              <a:rPr lang="en-GB" sz="2800" dirty="0">
                <a:solidFill>
                  <a:srgbClr val="FF0000"/>
                </a:solidFill>
              </a:rPr>
              <a:t>Lecturer</a:t>
            </a:r>
            <a:endParaRPr lang="en-GB" sz="2800" dirty="0">
              <a:solidFill>
                <a:srgbClr val="FF0000"/>
              </a:solidFill>
            </a:endParaRPr>
          </a:p>
          <a:p>
            <a:r>
              <a:rPr lang="en-GB" sz="2800" dirty="0">
                <a:solidFill>
                  <a:srgbClr val="7030A0"/>
                </a:solidFill>
              </a:rPr>
              <a:t>Department of BE Computer</a:t>
            </a:r>
            <a:endParaRPr lang="en-IN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7943"/>
            <a:ext cx="9144000" cy="96127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4732" y="1199213"/>
            <a:ext cx="1047806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fontAlgn="base">
              <a:buClr>
                <a:srgbClr val="000000"/>
              </a:buCl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Programming Paradigm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fontAlgn="base">
              <a:buClr>
                <a:srgbClr val="000000"/>
              </a:buCl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way of viewing World Agent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fontAlgn="base">
              <a:buClr>
                <a:srgbClr val="000000"/>
              </a:buCl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Procedure Oriented vs Object-Oriented Programming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fontAlgn="base">
              <a:buClr>
                <a:srgbClr val="000000"/>
              </a:buCl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of Object-Oriented Programming: Class and Object, Data Abstraction, Encapsulation, Inheritance, Polymorphism, Message passing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fontAlgn="base">
              <a:buClr>
                <a:srgbClr val="000000"/>
              </a:buCl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Computation as Simulation, Coping with Complexity and Abstraction Mechanisms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fontAlgn="base">
              <a:buClr>
                <a:srgbClr val="000000"/>
              </a:buCl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Analysis and Design: Introduction, Responsibility Driven Design (RDD), Component Responsibility and Collaborator (CRC) Cards, Responsibility Implies Non-Interference, Programming in Small and Programming in Large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524000" y="237942"/>
            <a:ext cx="9144000" cy="5571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 algn="ctr" fontAlgn="base">
              <a:buClr>
                <a:srgbClr val="000000"/>
              </a:buClr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PROGRAMMING PARADIGM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5287" y="964889"/>
            <a:ext cx="11145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Paradigm is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termed as method to solve some problem or do some task.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paradigm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approach to solve problem using some programming language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834" y="1611220"/>
            <a:ext cx="9037983" cy="4973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524000" y="237942"/>
            <a:ext cx="9144000" cy="5571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 algn="ctr" fontAlgn="base">
              <a:buClr>
                <a:srgbClr val="000000"/>
              </a:buClr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PROGRAMMING PARADIGM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java - introduction to Object Oriented Programmin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 bwMode="auto">
          <a:xfrm>
            <a:off x="3392556" y="1857411"/>
            <a:ext cx="4770783" cy="43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6016" y="795130"/>
            <a:ext cx="120859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It is a programming paradigm based on the concept of objects which can contain data and code data in the form of </a:t>
            </a:r>
            <a:r>
              <a:rPr lang="en-GB" b="1" dirty="0"/>
              <a:t>fields </a:t>
            </a:r>
            <a:r>
              <a:rPr lang="en-GB" dirty="0"/>
              <a:t>(often known as attributes or properties), </a:t>
            </a:r>
            <a:endParaRPr lang="en-GB" dirty="0"/>
          </a:p>
          <a:p>
            <a:r>
              <a:rPr lang="en-GB" dirty="0"/>
              <a:t>     code in the form of </a:t>
            </a:r>
            <a:r>
              <a:rPr lang="en-GB" b="1" dirty="0"/>
              <a:t>procedures</a:t>
            </a:r>
            <a:r>
              <a:rPr lang="en-GB" dirty="0"/>
              <a:t> (often known as methods). 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524000" y="237942"/>
            <a:ext cx="9144000" cy="5571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 algn="ctr" fontAlgn="base">
              <a:buClr>
                <a:srgbClr val="000000"/>
              </a:buClr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OBJECT ORIENTED PROGRAMMING PARADIGM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85530" y="824121"/>
          <a:ext cx="11820939" cy="5795937"/>
        </p:xfrm>
        <a:graphic>
          <a:graphicData uri="http://schemas.openxmlformats.org/drawingml/2006/table">
            <a:tbl>
              <a:tblPr/>
              <a:tblGrid>
                <a:gridCol w="1310583"/>
                <a:gridCol w="10510356"/>
              </a:tblGrid>
              <a:tr h="573529">
                <a:tc>
                  <a:txBody>
                    <a:bodyPr/>
                    <a:lstStyle/>
                    <a:p>
                      <a:pPr algn="ctr" fontAlgn="b"/>
                      <a:r>
                        <a:rPr lang="en-IN" sz="32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32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689" marR="19689" marT="9845" marB="9845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32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Milestone</a:t>
                      </a:r>
                      <a:endParaRPr lang="en-IN" sz="32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689" marR="19689" marT="9845" marB="9845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486645">
                <a:tc>
                  <a:txBody>
                    <a:bodyPr/>
                    <a:lstStyle/>
                    <a:p>
                      <a:pPr algn="ctr" fontAlgn="base"/>
                      <a:r>
                        <a:rPr lang="en-IN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1960s</a:t>
                      </a:r>
                      <a:endParaRPr lang="en-IN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689" marR="19689" marT="9845" marB="98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GB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Simula: </a:t>
                      </a: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by Ole-Johan Dahl and Kristen Nygaard, Simula is considered the first object-oriented programming language. It introduced concepts like classes, objects, and inheritance.</a:t>
                      </a:r>
                      <a:endParaRPr lang="en-GB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689" marR="19689" marT="9845" marB="98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76124">
                <a:tc>
                  <a:txBody>
                    <a:bodyPr/>
                    <a:lstStyle/>
                    <a:p>
                      <a:pPr algn="ctr" fontAlgn="base"/>
                      <a:r>
                        <a:rPr lang="en-IN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1970s</a:t>
                      </a:r>
                      <a:endParaRPr lang="en-IN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689" marR="19689" marT="9845" marB="98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GB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Smalltalk: </a:t>
                      </a: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by Alan Kay, Smalltalk was a pure and highly influential OOP language that popularized key OOP concepts such as message passing, encapsulation, and polymorphism.</a:t>
                      </a:r>
                      <a:endParaRPr lang="en-GB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689" marR="19689" marT="9845" marB="98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754716">
                <a:tc>
                  <a:txBody>
                    <a:bodyPr/>
                    <a:lstStyle/>
                    <a:p>
                      <a:pPr algn="ctr" fontAlgn="base"/>
                      <a:r>
                        <a:rPr lang="en-IN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1980s</a:t>
                      </a:r>
                      <a:endParaRPr lang="en-IN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689" marR="19689" marT="9845" marB="98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GB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C++: </a:t>
                      </a: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by Bjarne Stroustrup, C++ extended the C programming language with OOP features, including classes, inheritance, and polymorphism. It became widely used for systems programming and application development.</a:t>
                      </a:r>
                      <a:endParaRPr lang="en-GB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689" marR="19689" marT="9845" marB="98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689113">
                <a:tc rowSpan="2">
                  <a:txBody>
                    <a:bodyPr/>
                    <a:lstStyle/>
                    <a:p>
                      <a:pPr algn="ctr" fontAlgn="base"/>
                      <a:r>
                        <a:rPr lang="en-IN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1990s</a:t>
                      </a:r>
                      <a:endParaRPr lang="en-IN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689" marR="19689" marT="9845" marB="98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Java: </a:t>
                      </a: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by James Gosling at Sun Microsystems, Java combined OOP concepts with platform independence (via the JVM), making it a versatile and widely adopted language for enterprise and web applications.</a:t>
                      </a:r>
                      <a:endParaRPr lang="en-GB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689" marR="19689" marT="9845" marB="98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587927">
                <a:tc vMerge="1">
                  <a:tcPr marL="19689" marR="19689" marT="9845" marB="98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GB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Python: </a:t>
                      </a: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While not strictly OOP from the start, Python evolved to support OOP principles with classes, objects, and inheritance, becoming a popular language for both OOP and procedural programming.</a:t>
                      </a:r>
                      <a:endParaRPr lang="en-GB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689" marR="19689" marT="9845" marB="98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675861">
                <a:tc>
                  <a:txBody>
                    <a:bodyPr/>
                    <a:lstStyle/>
                    <a:p>
                      <a:pPr algn="ctr" fontAlgn="base"/>
                      <a:r>
                        <a:rPr lang="en-IN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2000s</a:t>
                      </a:r>
                      <a:endParaRPr lang="en-IN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689" marR="19689" marT="9845" marB="98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GB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C#: </a:t>
                      </a: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by Microsoft, C# was designed as a modern, object-oriented language for the .NET framework, incorporating features from C++, Java, and Visual Basic.</a:t>
                      </a:r>
                      <a:endParaRPr lang="en-GB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689" marR="19689" marT="9845" marB="98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97565">
                <a:tc rowSpan="2">
                  <a:txBody>
                    <a:bodyPr/>
                    <a:lstStyle/>
                    <a:p>
                      <a:pPr algn="ctr" fontAlgn="base"/>
                      <a:r>
                        <a:rPr lang="en-IN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</a:t>
                      </a:r>
                      <a:endParaRPr lang="en-IN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689" marR="19689" marT="9845" marB="98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GB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JavaScript: </a:t>
                      </a: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Originally a scripting language, JavaScript has evolved to support OOP concepts with prototypes and classes, becoming essential for web development and front-end technologies.</a:t>
                      </a:r>
                      <a:endParaRPr lang="en-GB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689" marR="19689" marT="9845" marB="98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412927">
                <a:tc vMerge="1">
                  <a:tcPr marL="19689" marR="19689" marT="9845" marB="98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Swift: </a:t>
                      </a: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by Apple, Swift is designed to be a modern, safe, and expressive language for iOS, macOS, </a:t>
                      </a:r>
                      <a:r>
                        <a:rPr lang="en-GB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watchOS</a:t>
                      </a: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</a:t>
                      </a:r>
                      <a:r>
                        <a:rPr lang="en-GB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tvOS</a:t>
                      </a: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development, embracing OOP principles.</a:t>
                      </a:r>
                      <a:endParaRPr lang="en-GB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689" marR="19689" marT="9845" marB="98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524000" y="39160"/>
            <a:ext cx="9144000" cy="557188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 algn="ctr" fontAlgn="base">
              <a:buClr>
                <a:srgbClr val="000000"/>
              </a:buClr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way of viewing World Agent</a:t>
            </a:r>
            <a:endParaRPr lang="en-IN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Object Oriented Programming. Beginner's Guide | by Amit Verma | Apr, 2024 |  Medium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" t="8467"/>
          <a:stretch>
            <a:fillRect/>
          </a:stretch>
        </p:blipFill>
        <p:spPr bwMode="auto">
          <a:xfrm>
            <a:off x="331304" y="795130"/>
            <a:ext cx="11701670" cy="582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524000" y="39160"/>
            <a:ext cx="9144000" cy="557188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 algn="ctr" fontAlgn="base">
              <a:buClr>
                <a:srgbClr val="000000"/>
              </a:buClr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Procedural Oriented Programming Language</a:t>
            </a:r>
            <a:endParaRPr lang="en-IN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Procedure-Oriented Programming Language(POP) | Hexainclud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226" y="861391"/>
            <a:ext cx="6387548" cy="4611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524000" y="39160"/>
            <a:ext cx="9144000" cy="557188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 algn="ctr" fontAlgn="base">
              <a:buClr>
                <a:srgbClr val="000000"/>
              </a:buClr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Procedural Oriented Programming Language</a:t>
            </a:r>
            <a:endParaRPr lang="en-IN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596348"/>
          <a:ext cx="12192000" cy="5164387"/>
        </p:xfrm>
        <a:graphic>
          <a:graphicData uri="http://schemas.openxmlformats.org/drawingml/2006/table">
            <a:tbl>
              <a:tblPr/>
              <a:tblGrid>
                <a:gridCol w="6096000"/>
                <a:gridCol w="6096000"/>
              </a:tblGrid>
              <a:tr h="3142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</a:t>
                      </a:r>
                      <a:endParaRPr lang="en-IN" sz="24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218" marR="30218" marT="15109" marB="15109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</a:t>
                      </a:r>
                      <a:endParaRPr lang="en-IN" sz="24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218" marR="30218" marT="15109" marB="15109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412404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Easy to understand and learn for beginners.</a:t>
                      </a:r>
                      <a:endParaRPr lang="en-GB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Limited scalability for large projects.</a:t>
                      </a:r>
                      <a:endParaRPr lang="en-GB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71061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Straightforward flow of control with step-by-step execution.</a:t>
                      </a:r>
                      <a:endParaRPr lang="en-GB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Code can become lengthy and repetitive.</a:t>
                      </a:r>
                      <a:endParaRPr lang="en-GB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91548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Encourages breaking down tasks into procedures or functions.</a:t>
                      </a:r>
                      <a:endParaRPr lang="en-GB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Limited support for data encapsulation and abstraction.</a:t>
                      </a:r>
                      <a:endParaRPr lang="en-GB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424069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Facilitates code reusability through modular design.</a:t>
                      </a:r>
                      <a:endParaRPr lang="en-GB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Global variables can lead to maintenance issues.</a:t>
                      </a:r>
                      <a:endParaRPr lang="en-GB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Generally efficient in terms of execution speed and memory usage.</a:t>
                      </a:r>
                      <a:endParaRPr lang="en-GB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Lack of support for parallel processing.</a:t>
                      </a:r>
                      <a:endParaRPr lang="en-GB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62047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Easier to debug due to sequential execution of statements.</a:t>
                      </a:r>
                      <a:endParaRPr lang="en-GB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Harder to trace errors in large, interconnected codebases.</a:t>
                      </a:r>
                      <a:endParaRPr lang="en-GB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8052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Provides direct access to memory locations (pointers in some languages).</a:t>
                      </a:r>
                      <a:endParaRPr lang="en-GB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Increases the risk of memory leaks and pointer errors.</a:t>
                      </a:r>
                      <a:endParaRPr lang="en-GB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Promotes structured programming with clear procedure definitions.</a:t>
                      </a:r>
                      <a:endParaRPr lang="en-GB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Limited support for higher-level abstractions and concepts.</a:t>
                      </a:r>
                      <a:endParaRPr lang="en-GB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3275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Code is generally more portable across different platforms.</a:t>
                      </a:r>
                      <a:endParaRPr lang="en-GB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May lack built-in support for object-oriented or event-driven paradigms.</a:t>
                      </a:r>
                      <a:endParaRPr lang="en-GB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450034"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Can offer better performance optimization opportunities.</a:t>
                      </a:r>
                      <a:endParaRPr lang="en-GB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May not be as optimized for specific problem domains as other paradigms.</a:t>
                      </a:r>
                      <a:endParaRPr lang="en-GB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524000" y="237942"/>
            <a:ext cx="9144000" cy="5571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 algn="ctr" fontAlgn="base">
              <a:buClr>
                <a:srgbClr val="000000"/>
              </a:buClr>
            </a:pP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of OBJECT ORIENTED PROGRAMMING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2491409" y="795130"/>
            <a:ext cx="6957391" cy="5863590"/>
            <a:chOff x="2491409" y="795130"/>
            <a:chExt cx="6957391" cy="5863590"/>
          </a:xfrm>
        </p:grpSpPr>
        <p:sp>
          <p:nvSpPr>
            <p:cNvPr id="10" name="Rectangle 9"/>
            <p:cNvSpPr/>
            <p:nvPr/>
          </p:nvSpPr>
          <p:spPr>
            <a:xfrm>
              <a:off x="2491409" y="795130"/>
              <a:ext cx="6957391" cy="58628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Oval 1"/>
            <p:cNvSpPr/>
            <p:nvPr/>
          </p:nvSpPr>
          <p:spPr>
            <a:xfrm>
              <a:off x="2899101" y="2264177"/>
              <a:ext cx="1644150" cy="1488361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Message Passing</a:t>
              </a:r>
              <a:endParaRPr lang="en-IN" dirty="0"/>
            </a:p>
          </p:txBody>
        </p:sp>
        <p:sp>
          <p:nvSpPr>
            <p:cNvPr id="4" name="Oval 3"/>
            <p:cNvSpPr/>
            <p:nvPr/>
          </p:nvSpPr>
          <p:spPr>
            <a:xfrm>
              <a:off x="5371637" y="875058"/>
              <a:ext cx="1644150" cy="1488361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Class</a:t>
              </a:r>
              <a:endParaRPr lang="en-IN" dirty="0"/>
            </a:p>
          </p:txBody>
        </p:sp>
        <p:sp>
          <p:nvSpPr>
            <p:cNvPr id="5" name="Oval 4"/>
            <p:cNvSpPr/>
            <p:nvPr/>
          </p:nvSpPr>
          <p:spPr>
            <a:xfrm>
              <a:off x="7374460" y="2936269"/>
              <a:ext cx="1855303" cy="1488361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Inheritance</a:t>
              </a:r>
              <a:endParaRPr lang="en-IN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7085124" y="1353757"/>
              <a:ext cx="1644150" cy="1488361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Object</a:t>
              </a:r>
              <a:endParaRPr lang="en-IN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6890689" y="4457175"/>
              <a:ext cx="2339340" cy="2013585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Encapsulation</a:t>
              </a:r>
              <a:endParaRPr lang="en-IN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2696514" y="3752960"/>
              <a:ext cx="2050415" cy="1679575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Abstraction</a:t>
              </a:r>
              <a:endParaRPr lang="en-IN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4402759" y="4703555"/>
              <a:ext cx="2415540" cy="1955165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Polymorphism</a:t>
              </a:r>
              <a:endParaRPr lang="en-IN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5169930" y="2707055"/>
              <a:ext cx="1855304" cy="1679507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2000" b="1" dirty="0"/>
                <a:t>OOP Features</a:t>
              </a:r>
              <a:endParaRPr lang="en-IN" sz="2000" b="1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3641224" y="902050"/>
              <a:ext cx="1644150" cy="1488361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Dynamic Binding</a:t>
              </a:r>
              <a:endParaRPr lang="en-IN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524000" y="237942"/>
            <a:ext cx="9144000" cy="5571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 algn="ctr" fontAlgn="base">
              <a:buClr>
                <a:srgbClr val="000000"/>
              </a:buClr>
            </a:pP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 and Cons of OBJECT ORIENTED PROGRAMMING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What is Object Oriented Programming ? | by Geetika Kaushik | Medium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4" t="6753" r="4160" b="13505"/>
          <a:stretch>
            <a:fillRect/>
          </a:stretch>
        </p:blipFill>
        <p:spPr bwMode="auto">
          <a:xfrm>
            <a:off x="0" y="1477617"/>
            <a:ext cx="5870713" cy="4008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he Clash Between Functional Programming vs Object Oriented Programmi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7" t="59820" r="4802" b="15564"/>
          <a:stretch>
            <a:fillRect/>
          </a:stretch>
        </p:blipFill>
        <p:spPr bwMode="auto">
          <a:xfrm>
            <a:off x="6096000" y="3120887"/>
            <a:ext cx="5627205" cy="1345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6533322" y="2292626"/>
            <a:ext cx="16257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Cons of OOPL</a:t>
            </a:r>
            <a:endParaRPr lang="en-IN" sz="20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524000" y="237942"/>
            <a:ext cx="9144000" cy="5571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 algn="ctr" fontAlgn="base">
              <a:buClr>
                <a:srgbClr val="000000"/>
              </a:buClr>
            </a:pP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Areas of OBJECT ORIENTED PROGRAMMING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1"/>
          <a:srcRect l="4638" t="18358" r="17971" b="12464"/>
          <a:stretch>
            <a:fillRect/>
          </a:stretch>
        </p:blipFill>
        <p:spPr>
          <a:xfrm>
            <a:off x="1775791" y="1232452"/>
            <a:ext cx="7076660" cy="47442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524000" y="39160"/>
            <a:ext cx="9144000" cy="40329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 algn="ctr" fontAlgn="base">
              <a:buClr>
                <a:srgbClr val="000000"/>
              </a:buClr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OOP vs POP</a:t>
            </a:r>
            <a:endParaRPr lang="en-IN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40903" y="887895"/>
          <a:ext cx="10323445" cy="4764385"/>
        </p:xfrm>
        <a:graphic>
          <a:graphicData uri="http://schemas.openxmlformats.org/drawingml/2006/table">
            <a:tbl>
              <a:tblPr/>
              <a:tblGrid>
                <a:gridCol w="1524001"/>
                <a:gridCol w="4008199"/>
                <a:gridCol w="4791245"/>
              </a:tblGrid>
              <a:tr h="756204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IN" sz="24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 Oriented Programming</a:t>
                      </a:r>
                      <a:endParaRPr lang="en-IN" sz="24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Procedural Programming</a:t>
                      </a:r>
                      <a:endParaRPr lang="en-IN" sz="24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</a:tr>
              <a:tr h="514285">
                <a:tc>
                  <a:txBody>
                    <a:bodyPr/>
                    <a:lstStyle/>
                    <a:p>
                      <a:pPr algn="ctr" fontAlgn="t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  <a:endParaRPr lang="en-IN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 that uses classes and objects</a:t>
                      </a:r>
                      <a:endParaRPr lang="en-GB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 that follows a step-by-step approach</a:t>
                      </a:r>
                      <a:endParaRPr lang="en-GB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</a:tr>
              <a:tr h="300041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</a:t>
                      </a:r>
                      <a:endParaRPr lang="en-IN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Bottom Up</a:t>
                      </a:r>
                      <a:endParaRPr lang="en-GB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 to Bottom.</a:t>
                      </a:r>
                      <a:endParaRPr lang="en-GB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</a:tr>
              <a:tr h="352910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  <a:endParaRPr lang="en-IN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secure than POP.</a:t>
                      </a:r>
                      <a:endParaRPr lang="en-GB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secure as compare to OOPs.</a:t>
                      </a:r>
                      <a:endParaRPr lang="en-GB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</a:tr>
              <a:tr h="573739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Complexity</a:t>
                      </a:r>
                      <a:endParaRPr lang="en-IN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complex and new data objects can be created easily from existing objects.</a:t>
                      </a:r>
                      <a:endParaRPr lang="en-GB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There is no simple process to add data in procedural programming</a:t>
                      </a:r>
                      <a:endParaRPr lang="en-GB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</a:tr>
              <a:tr h="847436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 division</a:t>
                      </a:r>
                      <a:endParaRPr lang="en-IN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OOP divides a program into small parts and these parts are referred to as objects.</a:t>
                      </a:r>
                      <a:endParaRPr lang="en-GB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Procedural programming divides a program into small programs and each small program is referred to as a function.</a:t>
                      </a:r>
                      <a:endParaRPr lang="en-GB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</a:tr>
              <a:tr h="778331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Importance</a:t>
                      </a:r>
                      <a:endParaRPr lang="en-IN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OOP gives importance to data rather than functions or procedures.</a:t>
                      </a:r>
                      <a:endParaRPr lang="en-GB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POP, functions along with sequence of actions are followed.</a:t>
                      </a:r>
                      <a:endParaRPr lang="en-GB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</a:tr>
              <a:tr h="573739">
                <a:tc>
                  <a:txBody>
                    <a:bodyPr/>
                    <a:lstStyle/>
                    <a:p>
                      <a:pPr algn="ctr" fontAlgn="t"/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  <a:endParaRPr lang="en-IN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C++, C#, Java, Python, etc. are the examples of OOP languages.</a:t>
                      </a:r>
                      <a:endParaRPr lang="en-GB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C, BASIC, COBOL, Pascal, etc. are the examples POP languages.</a:t>
                      </a:r>
                      <a:endParaRPr lang="en-GB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02" marR="13202" marT="13202" marB="13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524000" y="39160"/>
            <a:ext cx="9144000" cy="40329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 algn="ctr" fontAlgn="base">
              <a:buClr>
                <a:srgbClr val="000000"/>
              </a:buClr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Computation as Simulation</a:t>
            </a:r>
            <a:endParaRPr lang="en-IN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594477"/>
            <a:ext cx="121920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Powerful way to model real-world systems.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modelling real-world process using objects and interactions between them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endParaRPr lang="en-GB" sz="2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Simulation Mindset: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view the program as a simulated world where objects represent entities and their interactions mimic real-world behaviors.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26505" y="2254607"/>
            <a:ext cx="954156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 as simulation can be approached within OOP: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and Interactions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Classes for Entities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Interactions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Simulation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AutoNum type="arabicPeriod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9965" y="4437957"/>
            <a:ext cx="6135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Example: Traffic Simulation, military Simulation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524000" y="39160"/>
            <a:ext cx="9144000" cy="40329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 algn="ctr" fontAlgn="base">
              <a:buClr>
                <a:srgbClr val="000000"/>
              </a:buClr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Coping with Complexity and Abstraction Mechanisms</a:t>
            </a:r>
            <a:endParaRPr lang="en-IN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1304" y="861391"/>
            <a:ext cx="49135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Aspect of Software Development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challenges are Complexity and Abstraction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524000" y="2334615"/>
            <a:ext cx="9144000" cy="40329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 algn="ctr" fontAlgn="base">
              <a:buClr>
                <a:srgbClr val="000000"/>
              </a:buClr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to Cope with Complexity and Abstraction</a:t>
            </a:r>
            <a:endParaRPr lang="en-IN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1304" y="2949205"/>
            <a:ext cx="34419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Metaphors and Analogies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Visual Representation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Natural Language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168168" y="254566"/>
            <a:ext cx="3636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lang="en-US" altLang="en-US">
                <a:solidFill>
                  <a:schemeClr val="bg1"/>
                </a:solidFill>
              </a:rPr>
            </a:b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18789" y="-7044"/>
            <a:ext cx="85544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ANALYSIS AND DESIGN</a:t>
            </a:r>
            <a:endParaRPr lang="en-IN" sz="2800" dirty="0">
              <a:solidFill>
                <a:srgbClr val="00B0F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7077" y="639287"/>
            <a:ext cx="105619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Analysis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Finding and describing objects or concepts in Problem Domain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Based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Design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objects and Their Collaboration to fulfill Requirements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Solution of real Problem Domain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Modeling [like map]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483848" y="3347721"/>
            <a:ext cx="11575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(OOAD) is a software engineering methodology that employs object-oriented principles to model and design complex systems.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3847" y="4248186"/>
            <a:ext cx="8156569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PRINCIPLES OF OOA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information domain is modelled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Behaviour is represented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is described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Data, functional, and behavioural models are divided to uncover greater detail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Starting Simple, Getting Detailed: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168168" y="254566"/>
            <a:ext cx="3636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lang="en-US" altLang="en-US">
                <a:solidFill>
                  <a:schemeClr val="bg1"/>
                </a:solidFill>
              </a:rPr>
            </a:b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18789" y="-7044"/>
            <a:ext cx="85544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ANALYSIS AND DESIGN</a:t>
            </a:r>
            <a:endParaRPr lang="en-IN" sz="2800" dirty="0">
              <a:solidFill>
                <a:srgbClr val="00B0F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90190" y="5743030"/>
            <a:ext cx="47972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Design Pyramid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"/>
          <a:srcRect l="2882" t="5174" r="3158" b="10126"/>
          <a:stretch>
            <a:fillRect/>
          </a:stretch>
        </p:blipFill>
        <p:spPr>
          <a:xfrm>
            <a:off x="1414740" y="1224063"/>
            <a:ext cx="8958471" cy="404191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168168" y="254566"/>
            <a:ext cx="3636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lang="en-US" altLang="en-US">
                <a:solidFill>
                  <a:schemeClr val="bg1"/>
                </a:solidFill>
              </a:rPr>
            </a:b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03124" y="0"/>
            <a:ext cx="77913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Object-Oriented Analysis and Design(OOAD)</a:t>
            </a:r>
            <a:endParaRPr lang="en-GB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3848" y="714070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Improved modularity: </a:t>
            </a:r>
            <a:endParaRPr lang="en-GB" b="1" i="0" dirty="0">
              <a:solidFill>
                <a:srgbClr val="273239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Better abstraction:</a:t>
            </a:r>
            <a:r>
              <a:rPr lang="en-GB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Improved reuse: </a:t>
            </a:r>
            <a:endParaRPr lang="en-GB" b="1" i="0" dirty="0">
              <a:solidFill>
                <a:srgbClr val="273239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Improved communication: </a:t>
            </a:r>
            <a:endParaRPr lang="en-GB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Reusability:</a:t>
            </a:r>
            <a:r>
              <a:rPr lang="en-GB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Scalability: </a:t>
            </a:r>
            <a:endParaRPr lang="en-GB" b="1" i="0" dirty="0">
              <a:solidFill>
                <a:srgbClr val="273239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Maintainability:</a:t>
            </a:r>
            <a:r>
              <a:rPr lang="en-GB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Flexibility:</a:t>
            </a:r>
            <a:r>
              <a:rPr lang="en-GB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Improved software quality: </a:t>
            </a:r>
            <a:endParaRPr lang="en-GB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4315" y="3610351"/>
            <a:ext cx="35383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of (OOAD)</a:t>
            </a:r>
            <a:endParaRPr lang="en-GB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3848" y="407201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Complexity:</a:t>
            </a:r>
            <a:r>
              <a:rPr lang="en-GB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Overhead: </a:t>
            </a:r>
            <a:endParaRPr lang="en-GB" b="1" i="0" dirty="0">
              <a:solidFill>
                <a:srgbClr val="273239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Steep learning curve:</a:t>
            </a:r>
            <a:r>
              <a:rPr lang="en-GB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Time-consuming:</a:t>
            </a:r>
            <a:r>
              <a:rPr lang="en-GB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Rigidity:</a:t>
            </a:r>
            <a:r>
              <a:rPr lang="en-GB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Cost:</a:t>
            </a:r>
            <a:r>
              <a:rPr lang="en-GB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20000" y="4349015"/>
            <a:ext cx="28957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+mj-lt"/>
              <a:buAutoNum type="arabicPeriod"/>
            </a:pPr>
            <a:r>
              <a:rPr lang="en-GB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Financial Systems:</a:t>
            </a:r>
            <a:r>
              <a:rPr lang="en-GB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+mj-lt"/>
              <a:buAutoNum type="arabicPeriod"/>
            </a:pPr>
            <a:r>
              <a:rPr lang="en-GB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Healthcare Systems:</a:t>
            </a:r>
            <a:r>
              <a:rPr lang="en-GB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+mj-lt"/>
              <a:buAutoNum type="arabicPeriod"/>
            </a:pPr>
            <a:r>
              <a:rPr lang="en-GB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Aerospace and Defense:</a:t>
            </a:r>
            <a:r>
              <a:rPr lang="en-GB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+mj-lt"/>
              <a:buAutoNum type="arabicPeriod" startAt="4"/>
            </a:pPr>
            <a:r>
              <a:rPr lang="en-GB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Telecommunications:</a:t>
            </a:r>
            <a:r>
              <a:rPr lang="en-GB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+mj-lt"/>
              <a:buAutoNum type="arabicPeriod" startAt="4"/>
            </a:pPr>
            <a:r>
              <a:rPr lang="en-GB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E-commerce:</a:t>
            </a:r>
            <a:r>
              <a:rPr lang="en-GB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69425" y="3841184"/>
            <a:ext cx="35250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(OOAD)</a:t>
            </a:r>
            <a:endParaRPr lang="en-GB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168168" y="254566"/>
            <a:ext cx="3636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lang="en-US" altLang="en-US">
                <a:solidFill>
                  <a:schemeClr val="bg1"/>
                </a:solidFill>
              </a:rPr>
            </a:b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55235" y="0"/>
            <a:ext cx="62682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RESPONSIBILITY DRIVEN DESIGN (RDD)</a:t>
            </a:r>
            <a:endParaRPr lang="en-IN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3848" y="716231"/>
            <a:ext cx="11708152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focuses on identifying the responsibilities of objects in a system. 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objects should be responsible for a single, well-defined task. 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improve the clarity and maintainability of the code.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9113" y="2804072"/>
            <a:ext cx="6838122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basic</a:t>
            </a:r>
            <a:r>
              <a:rPr lang="en-US" sz="2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steps</a:t>
            </a:r>
            <a:r>
              <a:rPr lang="en-US" sz="20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2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RDD are</a:t>
            </a:r>
            <a:r>
              <a:rPr lang="en-US" sz="2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en-US" sz="2000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follows: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</a:t>
            </a:r>
            <a:r>
              <a:rPr lang="en-US" sz="20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0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system's 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requirements.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</a:t>
            </a:r>
            <a:r>
              <a:rPr lang="en-US" sz="20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0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objects in the</a:t>
            </a:r>
            <a:r>
              <a:rPr lang="en-US" sz="20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Assign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responsibilities</a:t>
            </a:r>
            <a:r>
              <a:rPr lang="en-US" sz="20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objects.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Define</a:t>
            </a:r>
            <a:r>
              <a:rPr lang="en-US" sz="20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interactions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between</a:t>
            </a:r>
            <a:r>
              <a:rPr lang="en-US" sz="20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objects.</a:t>
            </a:r>
            <a:endParaRPr lang="en-IN" sz="2000" spc="-1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168168" y="254566"/>
            <a:ext cx="3636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lang="en-US" altLang="en-US">
                <a:solidFill>
                  <a:schemeClr val="bg1"/>
                </a:solidFill>
              </a:rPr>
            </a:b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55235" y="0"/>
            <a:ext cx="62682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RESPONSIBILITY DRIVEN DESIGN (RDD)</a:t>
            </a:r>
            <a:endParaRPr lang="en-IN" sz="2400" dirty="0">
              <a:solidFill>
                <a:srgbClr val="00B0F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5617" y="716231"/>
            <a:ext cx="6096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Benefits of using RDD:</a:t>
            </a:r>
            <a:endParaRPr lang="en-IN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05948" y="124420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Improved clarity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Improved maintainability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Improved flexibility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5617" y="2730087"/>
            <a:ext cx="8666922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Challenges</a:t>
            </a:r>
            <a:r>
              <a:rPr lang="en-US" sz="18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using</a:t>
            </a:r>
            <a:r>
              <a:rPr lang="en-US" sz="1800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RDD: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time-consuming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use.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requires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good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understanding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object-oriented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design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principles.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difficult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complex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systems.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168168" y="254566"/>
            <a:ext cx="3636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lang="en-US" altLang="en-US">
                <a:solidFill>
                  <a:schemeClr val="bg1"/>
                </a:solidFill>
              </a:rPr>
            </a:b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31166" y="0"/>
            <a:ext cx="81103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Responsibility and Collaborator (CRC) Cards</a:t>
            </a:r>
            <a:endParaRPr lang="en-IN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61665"/>
            <a:ext cx="11728174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structured tool used in object-oriented software design. </a:t>
            </a:r>
            <a:endParaRPr lang="en-US" sz="1800" dirty="0">
              <a:solidFill>
                <a:srgbClr val="000000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design tool used in software development and object-oriented programming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Takes essential information about a class, including its name, responsibilities, and collaborations with other classes. 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8756" y="1800258"/>
            <a:ext cx="77685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ntroduced by Ward Cunningham in 1989 </a:t>
            </a:r>
            <a:endParaRPr lang="en-IN" sz="2000" b="1" dirty="0">
              <a:solidFill>
                <a:srgbClr val="FF0000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"/>
          <a:srcRect l="42772" t="17208" r="6496" b="18910"/>
          <a:stretch>
            <a:fillRect/>
          </a:stretch>
        </p:blipFill>
        <p:spPr>
          <a:xfrm>
            <a:off x="3168168" y="2200368"/>
            <a:ext cx="7079453" cy="45981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168168" y="254566"/>
            <a:ext cx="3636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lang="en-US" altLang="en-US">
                <a:solidFill>
                  <a:schemeClr val="bg1"/>
                </a:solidFill>
              </a:rPr>
            </a:br>
            <a:endParaRPr lang="en-US" altLang="en-US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l="6464" t="16618" r="4529" b="7633"/>
          <a:stretch>
            <a:fillRect/>
          </a:stretch>
        </p:blipFill>
        <p:spPr>
          <a:xfrm>
            <a:off x="1192695" y="254566"/>
            <a:ext cx="9806609" cy="645103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168168" y="254566"/>
            <a:ext cx="3636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lang="en-US" altLang="en-US">
                <a:solidFill>
                  <a:schemeClr val="bg1"/>
                </a:solidFill>
              </a:rPr>
            </a:b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03514" y="69900"/>
            <a:ext cx="8640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CRC CARDS IN SOFTWARE DESIGN</a:t>
            </a: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3848" y="716231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Clarify Class Responsibilities: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Collaborations: 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Communication and Collaboration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Design and Refinement:  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48000" y="273081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Using CRC Cards</a:t>
            </a: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3848" y="336144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Collaboration: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Clarity and Understanding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Design: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Prototyping: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168168" y="254566"/>
            <a:ext cx="3636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lang="en-US" altLang="en-US">
                <a:solidFill>
                  <a:schemeClr val="bg1"/>
                </a:solidFill>
              </a:rPr>
            </a:b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4087" y="23733"/>
            <a:ext cx="8640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Create 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CRC Cards?</a:t>
            </a: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8295" y="1052831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Identify Classes: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List Responsibilities: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Define Collaborations: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Create Cards: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Organize Cards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2226" y="3020647"/>
            <a:ext cx="79513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guidelines and best practices for using CRC cards: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8295" y="3632478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it Simple and Concise: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Responsibilities: 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Active Collaboration: 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Iterate and Refine: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Requirements: 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Cards Organized: 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168168" y="254566"/>
            <a:ext cx="3636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lang="en-US" altLang="en-US">
                <a:solidFill>
                  <a:schemeClr val="bg1"/>
                </a:solidFill>
              </a:rPr>
            </a:b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35965" y="0"/>
            <a:ext cx="73947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and Use Cases of CRC Cards</a:t>
            </a:r>
            <a:endParaRPr lang="en-GB" sz="2400" b="1" i="0" dirty="0">
              <a:solidFill>
                <a:srgbClr val="273239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2008" y="716231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Design: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Modelling: 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Refactoring: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00" y="2072294"/>
            <a:ext cx="6096000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algn="ctr">
              <a:lnSpc>
                <a:spcPct val="115000"/>
              </a:lnSpc>
              <a:spcBef>
                <a:spcPts val="400"/>
              </a:spcBef>
              <a:spcAft>
                <a:spcPts val="1000"/>
              </a:spcAft>
            </a:pPr>
            <a:r>
              <a:rPr lang="en-US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EXAMPLES</a:t>
            </a:r>
            <a:r>
              <a:rPr lang="en-US" sz="2400" b="1" spc="-1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lang="en-US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OF</a:t>
            </a:r>
            <a:r>
              <a:rPr lang="en-US" sz="2400" b="1" spc="-1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lang="en-US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CRC</a:t>
            </a:r>
            <a:r>
              <a:rPr lang="en-US" sz="2400" b="1" spc="-5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lang="en-US" sz="2400" b="1" spc="-1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CARDS:</a:t>
            </a:r>
            <a:endParaRPr lang="en-IN" sz="2000" b="1" dirty="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32996" y="2486231"/>
            <a:ext cx="2272604" cy="42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>
              <a:lnSpc>
                <a:spcPct val="115000"/>
              </a:lnSpc>
              <a:spcBef>
                <a:spcPts val="400"/>
              </a:spcBef>
              <a:spcAft>
                <a:spcPts val="1000"/>
              </a:spcAft>
            </a:pP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Bank</a:t>
            </a:r>
            <a:r>
              <a:rPr lang="en-US" sz="2000" b="1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CRC</a:t>
            </a:r>
            <a:r>
              <a:rPr lang="en-US" sz="2000" b="1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lang="en-US" sz="2000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cards:</a:t>
            </a:r>
            <a:endParaRPr lang="en-IN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02008" y="2886944"/>
            <a:ext cx="413098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3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3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3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3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3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3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3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3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003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AutoNum type="arabicPeriod"/>
              <a:tabLst>
                <a:tab pos="1003300" algn="l"/>
              </a:tabLs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for a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class: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003300" algn="l"/>
              </a:tabLs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name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03300" algn="l"/>
              </a:tabLs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938760" y="3482375"/>
            <a:ext cx="33077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0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0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0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0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0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0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0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0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60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60500" algn="l"/>
              </a:tabLs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Responsibilities: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>
                <a:tab pos="1460500" algn="l"/>
              </a:tabLs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Deposit money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>
                <a:tab pos="1460500" algn="l"/>
              </a:tabLs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Withdraw money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>
                <a:tab pos="1460500" algn="l"/>
              </a:tabLs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balance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93634" y="2995226"/>
            <a:ext cx="6096000" cy="3675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1460500" algn="l"/>
              </a:tabLs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Card for a Customer class: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marR="0" lvl="2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>
                <a:tab pos="1460500" algn="l"/>
              </a:tabLs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name: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"/>
              <a:tabLst>
                <a:tab pos="1460500" algn="l"/>
              </a:tabLs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Responsibilities: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marR="0" lvl="3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460500" algn="l"/>
              </a:tabLs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a bank account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marR="0" lvl="3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460500" algn="l"/>
              </a:tabLs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a bank account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marR="0" lvl="3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4605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Deposit money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marR="0" lvl="3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4605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Withdraw money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marR="0" lvl="3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4605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balance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3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460500" algn="l"/>
              </a:tabLst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15000"/>
              </a:lnSpc>
              <a:spcBef>
                <a:spcPts val="695"/>
              </a:spcBef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1002665" algn="l"/>
              </a:tabLst>
            </a:pPr>
            <a:r>
              <a:rPr lang="en-US" b="1" dirty="0"/>
              <a:t>Collaborators:</a:t>
            </a:r>
            <a:endParaRPr lang="en-IN" b="1" dirty="0"/>
          </a:p>
          <a:p>
            <a:pPr marL="1600200" lvl="3" indent="-228600">
              <a:buSzPts val="1000"/>
              <a:buFont typeface="Wingdings" panose="05000000000000000000" pitchFamily="2" charset="2"/>
              <a:buChar char=""/>
              <a:tabLst>
                <a:tab pos="1459865" algn="l"/>
              </a:tabLst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0200" lvl="3" indent="-228600">
              <a:buSzPts val="1000"/>
              <a:buFont typeface="Wingdings" panose="05000000000000000000" pitchFamily="2" charset="2"/>
              <a:buChar char=""/>
              <a:tabLst>
                <a:tab pos="145986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-259701" y="4648499"/>
            <a:ext cx="33077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460500" algn="l"/>
              </a:tabLs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Collaborators: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1231" y="4928814"/>
            <a:ext cx="6228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200" lvl="3" indent="-228600">
              <a:buSzPts val="1000"/>
              <a:buFont typeface="Wingdings" panose="05000000000000000000" pitchFamily="2" charset="2"/>
              <a:buChar char=""/>
              <a:tabLst>
                <a:tab pos="145986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0200" lvl="3" indent="-228600">
              <a:buSzPts val="1000"/>
              <a:buFont typeface="Wingdings" panose="05000000000000000000" pitchFamily="2" charset="2"/>
              <a:buChar char=""/>
              <a:tabLst>
                <a:tab pos="145986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168168" y="254566"/>
            <a:ext cx="3636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lang="en-US" altLang="en-US">
                <a:solidFill>
                  <a:schemeClr val="bg1"/>
                </a:solidFill>
              </a:rPr>
            </a:b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98643" y="-14514"/>
            <a:ext cx="7394713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15000"/>
              </a:lnSpc>
              <a:spcBef>
                <a:spcPts val="5"/>
              </a:spcBef>
              <a:spcAft>
                <a:spcPts val="10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RESPONSIBILITY IMPLIES NON-INTERFERENCE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498266"/>
            <a:ext cx="12032344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D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esign principle in OOP that states that objects should be designed to be independent of each other. 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objects should not interfere with the internal workings of other 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objects.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RIN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based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on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</a:t>
            </a:r>
            <a:r>
              <a:rPr lang="en-US" sz="1800" spc="-5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idea</a:t>
            </a:r>
            <a:r>
              <a:rPr lang="en-US" sz="1800" spc="-5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that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objects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should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</a:t>
            </a:r>
            <a:r>
              <a:rPr lang="en-US" sz="1800" spc="-5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designed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loosely</a:t>
            </a:r>
            <a:r>
              <a:rPr lang="en-US" sz="1800" spc="-5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coupled.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7494" y="1882246"/>
            <a:ext cx="6125028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Benefits</a:t>
            </a:r>
            <a:r>
              <a:rPr lang="en-US" sz="1800" b="1" u="sng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of</a:t>
            </a:r>
            <a:r>
              <a:rPr lang="en-US" sz="1800" b="1" u="sng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u="sng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RIN: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7657" y="2435229"/>
            <a:ext cx="61250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Increased flexibility:</a:t>
            </a:r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Improved performance: 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Reduced complexity:  </a:t>
            </a:r>
            <a:endParaRPr lang="en-I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168168" y="254566"/>
            <a:ext cx="3636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lang="en-US" altLang="en-US">
                <a:solidFill>
                  <a:schemeClr val="bg1"/>
                </a:solidFill>
              </a:rPr>
            </a:br>
            <a:endParaRPr lang="en-US" altLang="en-US">
              <a:solidFill>
                <a:schemeClr val="bg1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58057"/>
          <a:ext cx="12192000" cy="643853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509486"/>
                <a:gridCol w="5239657"/>
                <a:gridCol w="5442857"/>
              </a:tblGrid>
              <a:tr h="630300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 as Simulation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Responsibility implies Noninterface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</a:tr>
              <a:tr h="7485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032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4605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 viewed as simulating or</a:t>
                      </a:r>
                      <a:endParaRPr lang="en-IN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4605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emulating processes or phenomena</a:t>
                      </a:r>
                      <a:endParaRPr lang="en-IN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Implication that responsibility excludes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191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 interaction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</a:tr>
              <a:tr h="53702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032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4605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Modeling and simulating behavior of</a:t>
                      </a:r>
                      <a:endParaRPr lang="en-IN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4605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systems or phenomena</a:t>
                      </a:r>
                      <a:endParaRPr lang="en-IN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Assigning accountability without direct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191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interaction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</a:tr>
              <a:tr h="39150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032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4605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Understanding and studying complex</a:t>
                      </a:r>
                      <a:endParaRPr lang="en-IN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4605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systems</a:t>
                      </a:r>
                      <a:endParaRPr lang="en-IN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tabLst>
                          <a:tab pos="994410" algn="l"/>
                          <a:tab pos="1858645" algn="l"/>
                          <a:tab pos="2169160" algn="l"/>
                        </a:tabLst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Determining	obligations	or	duties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191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without direct engagement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</a:tr>
              <a:tr h="452465">
                <a:tc>
                  <a:txBody>
                    <a:bodyPr/>
                    <a:lstStyle/>
                    <a:p>
                      <a:pPr marL="2032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032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4605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Physics, biology, economics, computer</a:t>
                      </a:r>
                      <a:endParaRPr lang="en-IN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4605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science</a:t>
                      </a:r>
                      <a:endParaRPr lang="en-IN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tabLst>
                          <a:tab pos="653415" algn="l"/>
                          <a:tab pos="1717040" algn="l"/>
                        </a:tabLst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Ethics,	organizational	management,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191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decision-making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</a:tr>
              <a:tr h="281196">
                <a:tc>
                  <a:txBody>
                    <a:bodyPr/>
                    <a:lstStyle/>
                    <a:p>
                      <a:pPr marL="2032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966470" algn="l"/>
                        </a:tabLst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Nature	of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032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Interaction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4605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Indirect and simulated interaction with</a:t>
                      </a:r>
                      <a:endParaRPr lang="en-IN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4605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modeled systems</a:t>
                      </a:r>
                      <a:endParaRPr lang="en-IN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tabLst>
                          <a:tab pos="389255" algn="l"/>
                          <a:tab pos="897255" algn="l"/>
                          <a:tab pos="1711960" algn="l"/>
                          <a:tab pos="2000250" algn="l"/>
                        </a:tabLst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	direct	interaction	or	interface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191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for accountability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032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4605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Simulating weather patterns, modeling</a:t>
                      </a:r>
                      <a:endParaRPr lang="en-IN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4605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molecular interactions</a:t>
                      </a:r>
                      <a:endParaRPr lang="en-IN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Holding a CEO responsible for company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191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2032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032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Characteristics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4605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Reproduces behavior, predicts outcomes</a:t>
                      </a:r>
                      <a:endParaRPr lang="en-IN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Accountability without direct control or</a:t>
                      </a:r>
                      <a:endParaRPr lang="en-IN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191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influence</a:t>
                      </a:r>
                      <a:endParaRPr lang="en-IN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2032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Considerations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4605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of simulation, fidelity to the real system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Clarity of responsibilities, alignment with organizational goals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16701" y="2721114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of UNIT 1</a:t>
            </a:r>
            <a:endParaRPr lang="en-IN" sz="2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10682</Words>
  <Application>WPS Presentation</Application>
  <PresentationFormat>Widescreen</PresentationFormat>
  <Paragraphs>490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Arial</vt:lpstr>
      <vt:lpstr>SimSun</vt:lpstr>
      <vt:lpstr>Wingdings</vt:lpstr>
      <vt:lpstr>Times New Roman</vt:lpstr>
      <vt:lpstr>Symbol</vt:lpstr>
      <vt:lpstr>Kingsoft Sign</vt:lpstr>
      <vt:lpstr>Calibri</vt:lpstr>
      <vt:lpstr>Helvetica Neue</vt:lpstr>
      <vt:lpstr>Mangal</vt:lpstr>
      <vt:lpstr>苹方-简</vt:lpstr>
      <vt:lpstr>Courier New</vt:lpstr>
      <vt:lpstr>Microsoft YaHei</vt:lpstr>
      <vt:lpstr>汉仪旗黑</vt:lpstr>
      <vt:lpstr>Arial Unicode MS</vt:lpstr>
      <vt:lpstr>Calibri Light</vt:lpstr>
      <vt:lpstr>Office Theme</vt:lpstr>
      <vt:lpstr>Unit 1 Object Oriented Concepts   (8hrs) </vt:lpstr>
      <vt:lpstr>OUTLINES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E-Business</dc:title>
  <dc:creator>Harendra Bikram Shah</dc:creator>
  <cp:lastModifiedBy>hbs</cp:lastModifiedBy>
  <cp:revision>202</cp:revision>
  <dcterms:created xsi:type="dcterms:W3CDTF">2024-06-27T03:01:39Z</dcterms:created>
  <dcterms:modified xsi:type="dcterms:W3CDTF">2024-06-27T03:01:39Z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