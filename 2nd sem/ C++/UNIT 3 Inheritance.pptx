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6" r:id="rId4"/>
    <p:sldId id="257" r:id="rId5"/>
    <p:sldId id="258" r:id="rId6"/>
    <p:sldId id="285" r:id="rId7"/>
    <p:sldId id="283" r:id="rId8"/>
    <p:sldId id="284" r:id="rId9"/>
    <p:sldId id="308" r:id="rId10"/>
    <p:sldId id="309" r:id="rId11"/>
    <p:sldId id="310" r:id="rId12"/>
    <p:sldId id="286"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31" r:id="rId26"/>
    <p:sldId id="300" r:id="rId27"/>
    <p:sldId id="301" r:id="rId28"/>
    <p:sldId id="302" r:id="rId29"/>
    <p:sldId id="332" r:id="rId30"/>
    <p:sldId id="333" r:id="rId31"/>
    <p:sldId id="334" r:id="rId32"/>
    <p:sldId id="342" r:id="rId33"/>
    <p:sldId id="343" r:id="rId34"/>
    <p:sldId id="344" r:id="rId35"/>
    <p:sldId id="305" r:id="rId36"/>
    <p:sldId id="28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229BDC9-23F4-4A96-A056-525C74C7017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229BDC9-23F4-4A96-A056-525C74C7017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9BDC9-23F4-4A96-A056-525C74C7017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229BDC9-23F4-4A96-A056-525C74C7017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229BDC9-23F4-4A96-A056-525C74C7017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9BDC9-23F4-4A96-A056-525C74C7017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29BDC9-23F4-4A96-A056-525C74C7017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229BDC9-23F4-4A96-A056-525C74C7017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0D243-3F55-44DA-A018-A67A56732D6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9BDC9-23F4-4A96-A056-525C74C70172}"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0D243-3F55-44DA-A018-A67A56732D6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9BDC9-23F4-4A96-A056-525C74C70172}"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B0D243-3F55-44DA-A018-A67A56732D6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406400"/>
            <a:ext cx="10039643" cy="1788160"/>
          </a:xfrm>
        </p:spPr>
        <p:txBody>
          <a:bodyPr>
            <a:normAutofit/>
          </a:bodyPr>
          <a:lstStyle/>
          <a:p>
            <a:r>
              <a:rPr lang="en-GB" dirty="0"/>
              <a:t>UNIT 3</a:t>
            </a:r>
            <a:br>
              <a:rPr lang="en-GB" dirty="0"/>
            </a:br>
            <a:r>
              <a:rPr lang="en-GB"/>
              <a:t>Inheritance   [8hrs</a:t>
            </a:r>
            <a:r>
              <a:rPr lang="en-GB" dirty="0"/>
              <a:t>]</a:t>
            </a:r>
            <a:endParaRPr lang="en-IN" dirty="0"/>
          </a:p>
        </p:txBody>
      </p:sp>
      <p:sp>
        <p:nvSpPr>
          <p:cNvPr id="3" name="Subtitle 2"/>
          <p:cNvSpPr>
            <a:spLocks noGrp="1"/>
          </p:cNvSpPr>
          <p:nvPr>
            <p:ph type="subTitle" idx="1"/>
          </p:nvPr>
        </p:nvSpPr>
        <p:spPr>
          <a:xfrm>
            <a:off x="2086708" y="3429000"/>
            <a:ext cx="9144000" cy="1655762"/>
          </a:xfrm>
        </p:spPr>
        <p:txBody>
          <a:bodyPr>
            <a:normAutofit lnSpcReduction="10000"/>
          </a:bodyPr>
          <a:lstStyle/>
          <a:p>
            <a:pPr algn="l"/>
            <a:r>
              <a:rPr lang="en-GB" dirty="0">
                <a:solidFill>
                  <a:srgbClr val="0070C0"/>
                </a:solidFill>
              </a:rPr>
              <a:t>Presented by </a:t>
            </a:r>
            <a:endParaRPr lang="en-GB" dirty="0">
              <a:solidFill>
                <a:srgbClr val="0070C0"/>
              </a:solidFill>
            </a:endParaRPr>
          </a:p>
          <a:p>
            <a:pPr algn="l"/>
            <a:r>
              <a:rPr lang="en-GB" dirty="0">
                <a:solidFill>
                  <a:srgbClr val="0070C0"/>
                </a:solidFill>
              </a:rPr>
              <a:t>				Er. Harendra Bikram Shah</a:t>
            </a:r>
            <a:endParaRPr lang="en-GB" dirty="0">
              <a:solidFill>
                <a:srgbClr val="0070C0"/>
              </a:solidFill>
            </a:endParaRPr>
          </a:p>
          <a:p>
            <a:pPr algn="l"/>
            <a:r>
              <a:rPr lang="en-GB" dirty="0">
                <a:solidFill>
                  <a:srgbClr val="0070C0"/>
                </a:solidFill>
              </a:rPr>
              <a:t>					(Lecturer)</a:t>
            </a:r>
            <a:endParaRPr lang="en-GB" dirty="0">
              <a:solidFill>
                <a:srgbClr val="0070C0"/>
              </a:solidFill>
            </a:endParaRPr>
          </a:p>
          <a:p>
            <a:pPr algn="l"/>
            <a:r>
              <a:rPr lang="en-GB" dirty="0">
                <a:solidFill>
                  <a:srgbClr val="0070C0"/>
                </a:solidFill>
              </a:rPr>
              <a:t>				       Department of BCA</a:t>
            </a:r>
            <a:endParaRPr lang="en-IN" dirty="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0"/>
            <a:ext cx="10515600" cy="830629"/>
          </a:xfrm>
        </p:spPr>
        <p:txBody>
          <a:bodyPr>
            <a:normAutofit fontScale="90000"/>
          </a:bodyPr>
          <a:lstStyle/>
          <a:p>
            <a:pPr algn="ctr"/>
            <a:r>
              <a:rPr lang="en-GB" sz="5400" b="1" dirty="0"/>
              <a:t>OUTLINES</a:t>
            </a:r>
            <a:endParaRPr lang="en-IN" sz="5400" b="1" dirty="0"/>
          </a:p>
        </p:txBody>
      </p:sp>
      <p:sp>
        <p:nvSpPr>
          <p:cNvPr id="5" name="TextBox 2"/>
          <p:cNvSpPr txBox="1"/>
          <p:nvPr/>
        </p:nvSpPr>
        <p:spPr>
          <a:xfrm>
            <a:off x="137795" y="830580"/>
            <a:ext cx="11730355" cy="4154170"/>
          </a:xfrm>
          <a:prstGeom prst="rect">
            <a:avLst/>
          </a:prstGeom>
          <a:noFill/>
        </p:spPr>
        <p:txBody>
          <a:bodyPr wrap="square">
            <a:spAutoFit/>
          </a:bodyPr>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Introduction to Inheritance</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Inheritance Relationship Diagram</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Inheritance Mode: Public, Private &amp; Protected</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Types of Inheritance: Single, Multilevel, Hierarchical, Multiple and Hybrid</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Ambiguity Resolution</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Multipath Inheritance and Virtual Base Class</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Constructor and Destructor in Derived Class</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 Subclass, Subtype and Principle of Substitutability</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Composition and its Implementation</a:t>
            </a:r>
            <a:endParaRPr lang="en-IN"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Arial Unicode MS" panose="020B0604020202020204" charset="-122"/>
            </a:endParaRPr>
          </a:p>
          <a:p>
            <a:pPr marL="742950" lvl="1" indent="-285750" algn="just" fontAlgn="base">
              <a:buFont typeface="+mj-lt"/>
              <a:buAutoNum type="arabicPeriod"/>
            </a:pPr>
            <a:r>
              <a:rPr lang="en-US" sz="2400" u="none" strike="noStrike" kern="0" spc="0" dirty="0">
                <a:ln>
                  <a:noFill/>
                </a:ln>
                <a:solidFill>
                  <a:srgbClr val="000000"/>
                </a:solidFill>
                <a:effectLst/>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rPr>
              <a:t>Composition Relationship Diagram</a:t>
            </a:r>
            <a:endParaRPr lang="en-IN" sz="2400" kern="0" dirty="0">
              <a:solidFill>
                <a:srgbClr val="000000"/>
              </a:solidFill>
              <a:uFill>
                <a:solidFill>
                  <a:srgbClr val="000000"/>
                </a:solidFill>
              </a:uFill>
              <a:latin typeface="Times New Roman" panose="02020603050405020304" pitchFamily="18" charset="0"/>
              <a:ea typeface="Arial Unicode MS" panose="020B0604020202020204" charset="-122"/>
              <a:cs typeface="Times New Roman" panose="02020603050405020304" pitchFamily="18" charset="0"/>
            </a:endParaRPr>
          </a:p>
          <a:p>
            <a:pPr marL="742950" lvl="1" indent="-285750" algn="just" fontAlgn="base">
              <a:buFont typeface="+mj-lt"/>
              <a:buAutoNum type="arabicPeriod"/>
            </a:pPr>
            <a:r>
              <a:rPr lang="en-US" sz="2400" dirty="0">
                <a:effectLst/>
                <a:latin typeface="Times New Roman" panose="02020603050405020304" pitchFamily="18" charset="0"/>
                <a:ea typeface="Arial Unicode MS" panose="020B0604020202020204" charset="-122"/>
              </a:rPr>
              <a:t>Software Reusability</a:t>
            </a:r>
            <a:r>
              <a:rPr lang="en-US" sz="2400" b="1" dirty="0">
                <a:effectLst/>
                <a:latin typeface="Times New Roman" panose="02020603050405020304" pitchFamily="18" charset="0"/>
                <a:ea typeface="Arial Unicode MS" panose="020B0604020202020204" charset="-122"/>
              </a:rPr>
              <a:t> </a:t>
            </a:r>
            <a:endParaRPr lang="en-US" sz="2400" b="1" dirty="0">
              <a:effectLst/>
              <a:latin typeface="Times New Roman" panose="02020603050405020304" pitchFamily="18" charset="0"/>
              <a:ea typeface="Arial Unicode MS" panose="020B0604020202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INTRODUCTION TO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4" name="TextBox 3"/>
          <p:cNvSpPr txBox="1"/>
          <p:nvPr/>
        </p:nvSpPr>
        <p:spPr>
          <a:xfrm>
            <a:off x="628942" y="731521"/>
            <a:ext cx="11159198" cy="1476375"/>
          </a:xfrm>
          <a:prstGeom prst="rect">
            <a:avLst/>
          </a:prstGeom>
          <a:noFill/>
        </p:spPr>
        <p:txBody>
          <a:bodyPr wrap="square">
            <a:spAutoFit/>
          </a:bodyPr>
          <a:lstStyle/>
          <a:p>
            <a:pPr marL="285750" indent="-285750" algn="just">
              <a:buFont typeface="Wingdings" panose="05000000000000000000" pitchFamily="2" charset="2"/>
              <a:buChar char="Ø"/>
            </a:pPr>
            <a:r>
              <a:rPr lang="en-GB" dirty="0">
                <a:latin typeface="ties" charset="0"/>
                <a:cs typeface="ties" charset="0"/>
              </a:rPr>
              <a:t>concept in object-oriented programming (OOP) that allows to create a new class by using the properties and behaviors of an existing class. </a:t>
            </a:r>
            <a:endParaRPr lang="en-GB" dirty="0">
              <a:latin typeface="ties" charset="0"/>
              <a:cs typeface="ties" charset="0"/>
            </a:endParaRPr>
          </a:p>
          <a:p>
            <a:pPr marL="285750" indent="-285750" algn="just">
              <a:buFont typeface="Wingdings" panose="05000000000000000000" pitchFamily="2" charset="2"/>
              <a:buChar char="Ø"/>
            </a:pPr>
            <a:r>
              <a:rPr lang="en-GB" dirty="0">
                <a:latin typeface="ties" charset="0"/>
                <a:cs typeface="ties" charset="0"/>
              </a:rPr>
              <a:t>Inheritance establishes an "is-a" relationship between classes</a:t>
            </a:r>
            <a:endParaRPr lang="en-GB" dirty="0">
              <a:latin typeface="ties" charset="0"/>
              <a:cs typeface="ties" charset="0"/>
            </a:endParaRPr>
          </a:p>
          <a:p>
            <a:pPr marL="285750" indent="-285750" algn="just">
              <a:buFont typeface="Wingdings" panose="05000000000000000000" pitchFamily="2" charset="2"/>
              <a:buChar char="Ø"/>
            </a:pPr>
            <a:r>
              <a:rPr lang="en-GB" dirty="0">
                <a:latin typeface="ties" charset="0"/>
                <a:cs typeface="ties" charset="0"/>
              </a:rPr>
              <a:t>The existing class is referred to as the </a:t>
            </a:r>
            <a:r>
              <a:rPr lang="en-GB" b="1" dirty="0">
                <a:latin typeface="ties" charset="0"/>
                <a:cs typeface="ties" charset="0"/>
              </a:rPr>
              <a:t>"base class" or "parent class,“ or “Superclass” </a:t>
            </a:r>
            <a:r>
              <a:rPr lang="en-GB" dirty="0">
                <a:latin typeface="ties" charset="0"/>
                <a:cs typeface="ties" charset="0"/>
              </a:rPr>
              <a:t>and the new class is called the </a:t>
            </a:r>
            <a:r>
              <a:rPr lang="en-GB" b="1" dirty="0">
                <a:latin typeface="ties" charset="0"/>
                <a:cs typeface="ties" charset="0"/>
              </a:rPr>
              <a:t>"derived class" or "child class” or “Subclass”.</a:t>
            </a:r>
            <a:endParaRPr lang="en-GB" dirty="0">
              <a:latin typeface="ties" charset="0"/>
              <a:cs typeface="ties" charset="0"/>
            </a:endParaRPr>
          </a:p>
        </p:txBody>
      </p:sp>
      <p:sp>
        <p:nvSpPr>
          <p:cNvPr id="5" name="Rectangle 1"/>
          <p:cNvSpPr>
            <a:spLocks noChangeArrowheads="1"/>
          </p:cNvSpPr>
          <p:nvPr/>
        </p:nvSpPr>
        <p:spPr bwMode="auto">
          <a:xfrm>
            <a:off x="787790" y="2156835"/>
            <a:ext cx="7382790" cy="10130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en-US" sz="2400" b="1" dirty="0"/>
              <a:t>Syntax: </a:t>
            </a:r>
            <a:endParaRPr lang="en-US" altLang="en-US" sz="2400" b="1"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&lt;</a:t>
            </a:r>
            <a:r>
              <a:rPr lang="en-US" altLang="en-US" dirty="0" err="1"/>
              <a:t>derived_class_name</a:t>
            </a:r>
            <a:r>
              <a:rPr lang="en-US" altLang="en-US" dirty="0"/>
              <a:t>&gt; : &lt;access-specifier&gt; &lt;</a:t>
            </a:r>
            <a:r>
              <a:rPr lang="en-US" altLang="en-US" dirty="0" err="1"/>
              <a:t>base_class_name</a:t>
            </a:r>
            <a:r>
              <a:rPr lang="en-US" altLang="en-US" dirty="0"/>
              <a:t>&gt; { //body }</a:t>
            </a:r>
            <a:br>
              <a:rPr lang="en-US" altLang="en-US" dirty="0"/>
            </a:br>
            <a:endParaRPr lang="en-US" altLang="en-US" dirty="0"/>
          </a:p>
        </p:txBody>
      </p:sp>
      <p:sp>
        <p:nvSpPr>
          <p:cNvPr id="8" name="TextBox 7"/>
          <p:cNvSpPr txBox="1"/>
          <p:nvPr/>
        </p:nvSpPr>
        <p:spPr>
          <a:xfrm>
            <a:off x="950741" y="3169985"/>
            <a:ext cx="6098344" cy="2308324"/>
          </a:xfrm>
          <a:prstGeom prst="rect">
            <a:avLst/>
          </a:prstGeom>
          <a:noFill/>
        </p:spPr>
        <p:txBody>
          <a:bodyPr wrap="square">
            <a:spAutoFit/>
          </a:bodyPr>
          <a:lstStyle/>
          <a:p>
            <a:r>
              <a:rPr lang="en-GB" dirty="0"/>
              <a:t>class </a:t>
            </a:r>
            <a:r>
              <a:rPr lang="en-GB" dirty="0" err="1"/>
              <a:t>BaseClass</a:t>
            </a:r>
            <a:r>
              <a:rPr lang="en-GB" dirty="0"/>
              <a:t> </a:t>
            </a:r>
            <a:endParaRPr lang="en-GB" dirty="0"/>
          </a:p>
          <a:p>
            <a:r>
              <a:rPr lang="en-GB" dirty="0"/>
              <a:t>{</a:t>
            </a:r>
            <a:endParaRPr lang="en-GB" dirty="0"/>
          </a:p>
          <a:p>
            <a:r>
              <a:rPr lang="en-GB" dirty="0"/>
              <a:t>// Base class members</a:t>
            </a:r>
            <a:endParaRPr lang="en-GB" dirty="0"/>
          </a:p>
          <a:p>
            <a:r>
              <a:rPr lang="en-GB" dirty="0"/>
              <a:t> }; </a:t>
            </a:r>
            <a:endParaRPr lang="en-GB" dirty="0"/>
          </a:p>
          <a:p>
            <a:r>
              <a:rPr lang="en-GB" dirty="0"/>
              <a:t>class </a:t>
            </a:r>
            <a:r>
              <a:rPr lang="en-GB" dirty="0" err="1"/>
              <a:t>DerivedClass</a:t>
            </a:r>
            <a:r>
              <a:rPr lang="en-GB" dirty="0"/>
              <a:t> : Public </a:t>
            </a:r>
            <a:r>
              <a:rPr lang="en-GB" dirty="0" err="1"/>
              <a:t>BaseClass</a:t>
            </a:r>
            <a:r>
              <a:rPr lang="en-GB" dirty="0"/>
              <a:t> </a:t>
            </a:r>
            <a:endParaRPr lang="en-GB" dirty="0"/>
          </a:p>
          <a:p>
            <a:r>
              <a:rPr lang="en-GB" dirty="0"/>
              <a:t>{ </a:t>
            </a:r>
            <a:endParaRPr lang="en-GB" dirty="0"/>
          </a:p>
          <a:p>
            <a:r>
              <a:rPr lang="en-GB" dirty="0"/>
              <a:t>// Derived class members </a:t>
            </a:r>
            <a:endParaRPr lang="en-GB" dirty="0"/>
          </a:p>
          <a:p>
            <a:r>
              <a:rPr lang="en-GB" dirty="0"/>
              <a: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815" y="169545"/>
            <a:ext cx="11240135" cy="731520"/>
          </a:xfrm>
        </p:spPr>
        <p:txBody>
          <a:bodyPr>
            <a:normAutofit fontScale="90000"/>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ADVANTAGES and DISADVANATAGES OF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6" name="TextBox 5"/>
          <p:cNvSpPr txBox="1"/>
          <p:nvPr/>
        </p:nvSpPr>
        <p:spPr>
          <a:xfrm>
            <a:off x="446650" y="1069146"/>
            <a:ext cx="5349240" cy="3877985"/>
          </a:xfrm>
          <a:prstGeom prst="rect">
            <a:avLst/>
          </a:prstGeom>
          <a:noFill/>
        </p:spPr>
        <p:txBody>
          <a:bodyPr wrap="square">
            <a:spAutoFit/>
          </a:bodyPr>
          <a:lstStyle/>
          <a:p>
            <a:pPr algn="just"/>
            <a:r>
              <a:rPr lang="en-GB" sz="2400" b="1" dirty="0"/>
              <a:t>Advantages of Inheritance:</a:t>
            </a:r>
            <a:endParaRPr lang="en-GB" sz="2400" b="1" dirty="0"/>
          </a:p>
          <a:p>
            <a:pPr algn="just">
              <a:buFont typeface="+mj-lt"/>
              <a:buAutoNum type="arabicPeriod"/>
            </a:pPr>
            <a:r>
              <a:rPr lang="en-GB" dirty="0"/>
              <a:t>Code Reusability:</a:t>
            </a:r>
            <a:endParaRPr lang="en-GB" dirty="0"/>
          </a:p>
          <a:p>
            <a:pPr algn="just">
              <a:buFont typeface="+mj-lt"/>
              <a:buAutoNum type="arabicPeriod"/>
            </a:pPr>
            <a:r>
              <a:rPr lang="en-GB" dirty="0"/>
              <a:t>Polymorphism:</a:t>
            </a:r>
            <a:endParaRPr lang="en-GB" dirty="0"/>
          </a:p>
          <a:p>
            <a:pPr algn="just">
              <a:buFont typeface="+mj-lt"/>
              <a:buAutoNum type="arabicPeriod"/>
            </a:pPr>
            <a:r>
              <a:rPr lang="en-GB" dirty="0"/>
              <a:t>Modularity and Extensibility:</a:t>
            </a:r>
            <a:endParaRPr lang="en-GB" dirty="0"/>
          </a:p>
          <a:p>
            <a:pPr algn="just">
              <a:buFont typeface="+mj-lt"/>
              <a:buAutoNum type="arabicPeriod"/>
            </a:pPr>
            <a:r>
              <a:rPr lang="en-GB" dirty="0"/>
              <a:t>Overriding:</a:t>
            </a:r>
            <a:endParaRPr lang="en-GB" dirty="0"/>
          </a:p>
          <a:p>
            <a:pPr algn="just">
              <a:buFont typeface="+mj-lt"/>
              <a:buAutoNum type="arabicPeriod"/>
            </a:pPr>
            <a:r>
              <a:rPr lang="en-GB" dirty="0"/>
              <a:t>Hierarchy and Organization:</a:t>
            </a:r>
            <a:endParaRPr lang="en-GB" dirty="0"/>
          </a:p>
          <a:p>
            <a:pPr algn="just"/>
            <a:endParaRPr lang="en-GB" dirty="0"/>
          </a:p>
          <a:p>
            <a:pPr algn="just"/>
            <a:r>
              <a:rPr lang="en-GB" sz="2400" b="1" dirty="0"/>
              <a:t>Disadvantages of Inheritance:</a:t>
            </a:r>
            <a:endParaRPr lang="en-GB" sz="2400" b="1" dirty="0"/>
          </a:p>
          <a:p>
            <a:pPr algn="just">
              <a:buFont typeface="+mj-lt"/>
              <a:buAutoNum type="arabicPeriod"/>
            </a:pPr>
            <a:r>
              <a:rPr lang="en-GB" dirty="0"/>
              <a:t>Tight Coupling:</a:t>
            </a:r>
            <a:endParaRPr lang="en-GB" dirty="0"/>
          </a:p>
          <a:p>
            <a:pPr algn="just">
              <a:buFont typeface="+mj-lt"/>
              <a:buAutoNum type="arabicPeriod"/>
            </a:pPr>
            <a:r>
              <a:rPr lang="en-GB" dirty="0"/>
              <a:t>Complexity and Inheritance Depth:</a:t>
            </a:r>
            <a:endParaRPr lang="en-GB" dirty="0"/>
          </a:p>
          <a:p>
            <a:pPr algn="just">
              <a:buFont typeface="+mj-lt"/>
              <a:buAutoNum type="arabicPeriod"/>
            </a:pPr>
            <a:r>
              <a:rPr lang="en-GB" dirty="0"/>
              <a:t>Limitations:</a:t>
            </a:r>
            <a:endParaRPr lang="en-GB" dirty="0"/>
          </a:p>
          <a:p>
            <a:pPr algn="just">
              <a:buFont typeface="+mj-lt"/>
              <a:buAutoNum type="arabicPeriod"/>
            </a:pPr>
            <a:r>
              <a:rPr lang="en-GB" dirty="0"/>
              <a:t>Overuse and Misuse:</a:t>
            </a:r>
            <a:endParaRPr lang="en-GB" dirty="0"/>
          </a:p>
          <a:p>
            <a:pPr algn="just">
              <a:buFont typeface="+mj-lt"/>
              <a:buAutoNum type="arabicPeriod"/>
            </a:pPr>
            <a:r>
              <a:rPr lang="en-GB" dirty="0"/>
              <a:t>Inherited Private Members:</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VISIBILITY MODES IN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pic>
        <p:nvPicPr>
          <p:cNvPr id="2050"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6191" y="1030850"/>
            <a:ext cx="9439421" cy="47970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VISIBILITY MODES IN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3" name="Rectangle 2"/>
          <p:cNvSpPr>
            <a:spLocks noChangeArrowheads="1"/>
          </p:cNvSpPr>
          <p:nvPr/>
        </p:nvSpPr>
        <p:spPr bwMode="auto">
          <a:xfrm>
            <a:off x="383540" y="529590"/>
            <a:ext cx="4036695" cy="6094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A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public: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int x;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protected: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int y;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private: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int z;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B : public A</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x is public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y is protected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z is not accessible from B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C : protected A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x is protected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y is protected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z is not accessible from C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p:txBody>
      </p:sp>
      <p:sp>
        <p:nvSpPr>
          <p:cNvPr id="5" name="TextBox 4"/>
          <p:cNvSpPr txBox="1"/>
          <p:nvPr/>
        </p:nvSpPr>
        <p:spPr>
          <a:xfrm>
            <a:off x="5219700" y="2413635"/>
            <a:ext cx="6246495" cy="203009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D : private A      // 'private' is default for classes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x is private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y is private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z is not accessible from D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Autofit/>
            <a:scene3d>
              <a:camera prst="orthographicFront"/>
              <a:lightRig rig="threePt" dir="t"/>
            </a:scene3d>
          </a:bodyPr>
          <a:lstStyle/>
          <a:p>
            <a:pPr algn="ctr" fontAlgn="base"/>
            <a:r>
              <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Inheritance Relationship Diagram</a:t>
            </a:r>
            <a:endPar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100" name="Text Box 99"/>
          <p:cNvSpPr txBox="1"/>
          <p:nvPr/>
        </p:nvSpPr>
        <p:spPr>
          <a:xfrm>
            <a:off x="635" y="730885"/>
            <a:ext cx="12192000" cy="1198880"/>
          </a:xfrm>
          <a:prstGeom prst="rect">
            <a:avLst/>
          </a:prstGeom>
          <a:noFill/>
          <a:ln w="9525">
            <a:noFill/>
          </a:ln>
        </p:spPr>
        <p:txBody>
          <a:bodyPr wrap="square">
            <a:spAutoFit/>
          </a:bodyPr>
          <a:p>
            <a:pPr indent="0"/>
            <a:r>
              <a:rPr lang="en-US" b="0">
                <a:latin typeface="Times New Roman" panose="02020603050405020304" pitchFamily="18" charset="0"/>
              </a:rPr>
              <a:t>The inheritance relationship is characterized by the following:</a:t>
            </a:r>
            <a:r>
              <a:rPr lang="en-US" b="1">
                <a:latin typeface="Times New Roman" panose="02020603050405020304" pitchFamily="18" charset="0"/>
              </a:rPr>
              <a:t>1. Superclass/Base class: </a:t>
            </a:r>
            <a:r>
              <a:rPr lang="en-US" b="0">
                <a:latin typeface="Times New Roman" panose="02020603050405020304" pitchFamily="18" charset="0"/>
              </a:rPr>
              <a:t>Also known as the parent class</a:t>
            </a:r>
            <a:endParaRPr lang="en-US" b="0">
              <a:latin typeface="Times New Roman" panose="02020603050405020304" pitchFamily="18" charset="0"/>
            </a:endParaRPr>
          </a:p>
          <a:p>
            <a:pPr indent="0"/>
            <a:r>
              <a:rPr lang="en-US" b="1">
                <a:latin typeface="Times New Roman" panose="02020603050405020304" pitchFamily="18" charset="0"/>
              </a:rPr>
              <a:t>2. Subclass/Derived class: </a:t>
            </a:r>
            <a:r>
              <a:rPr lang="en-US" b="0">
                <a:latin typeface="Times New Roman" panose="02020603050405020304" pitchFamily="18" charset="0"/>
              </a:rPr>
              <a:t>Also known as the child class.</a:t>
            </a:r>
            <a:endParaRPr lang="en-US" b="0">
              <a:latin typeface="Times New Roman" panose="02020603050405020304" pitchFamily="18" charset="0"/>
            </a:endParaRPr>
          </a:p>
        </p:txBody>
      </p:sp>
      <p:pic>
        <p:nvPicPr>
          <p:cNvPr id="9" name="image4.png" descr="C++ Inheritance "/>
          <p:cNvPicPr>
            <a:picLocks noChangeAspect="1"/>
          </p:cNvPicPr>
          <p:nvPr/>
        </p:nvPicPr>
        <p:blipFill>
          <a:blip r:embed="rId1" cstate="print"/>
          <a:stretch>
            <a:fillRect/>
          </a:stretch>
        </p:blipFill>
        <p:spPr>
          <a:xfrm>
            <a:off x="7162165" y="2087880"/>
            <a:ext cx="4304030" cy="4234180"/>
          </a:xfrm>
          <a:prstGeom prst="rect">
            <a:avLst/>
          </a:prstGeom>
        </p:spPr>
      </p:pic>
      <p:sp>
        <p:nvSpPr>
          <p:cNvPr id="4" name="Text Box 3"/>
          <p:cNvSpPr txBox="1"/>
          <p:nvPr/>
        </p:nvSpPr>
        <p:spPr>
          <a:xfrm>
            <a:off x="635" y="2223770"/>
            <a:ext cx="7387590" cy="1568450"/>
          </a:xfrm>
          <a:prstGeom prst="rect">
            <a:avLst/>
          </a:prstGeom>
          <a:noFill/>
          <a:ln w="9525">
            <a:noFill/>
          </a:ln>
        </p:spPr>
        <p:txBody>
          <a:bodyPr wrap="square">
            <a:spAutoFit/>
          </a:bodyPr>
          <a:p>
            <a:pPr marL="228600" indent="-228600" algn="l"/>
            <a:r>
              <a:rPr lang="en-US" sz="2400" b="0">
                <a:solidFill>
                  <a:srgbClr val="FF0000"/>
                </a:solidFill>
                <a:latin typeface="times" charset="0"/>
                <a:cs typeface="times" charset="0"/>
              </a:rPr>
              <a:t>Important Note:</a:t>
            </a:r>
            <a:r>
              <a:rPr lang="en-US" sz="2400" b="0">
                <a:solidFill>
                  <a:srgbClr val="FF0000"/>
                </a:solidFill>
                <a:latin typeface="Symbol" charset="0"/>
              </a:rPr>
              <a:t> </a:t>
            </a:r>
            <a:endParaRPr lang="en-US" sz="2400" b="0">
              <a:solidFill>
                <a:srgbClr val="FF0000"/>
              </a:solidFill>
              <a:latin typeface="Symbol" charset="0"/>
            </a:endParaRPr>
          </a:p>
          <a:p>
            <a:pPr indent="0" algn="l">
              <a:buFont typeface="Wingdings" panose="05000000000000000000" charset="0"/>
              <a:buNone/>
            </a:pPr>
            <a:r>
              <a:rPr lang="en-US" b="0">
                <a:latin typeface="Times New Roman" panose="02020603050405020304" pitchFamily="18" charset="0"/>
              </a:rPr>
              <a:t>A derived class can inherit all base class methods except:</a:t>
            </a:r>
            <a:endParaRPr lang="en-US" b="0">
              <a:latin typeface="Times New Roman" panose="02020603050405020304" pitchFamily="18" charset="0"/>
            </a:endParaRPr>
          </a:p>
          <a:p>
            <a:pPr marL="285750" indent="-285750" algn="l">
              <a:buFont typeface="Wingdings" panose="05000000000000000000" charset="0"/>
              <a:buChar char=""/>
            </a:pPr>
            <a:r>
              <a:rPr lang="en-US" b="0">
                <a:latin typeface="Times New Roman" panose="02020603050405020304" pitchFamily="18" charset="0"/>
              </a:rPr>
              <a:t>Constructors, destructors and copy constructors of the base class.</a:t>
            </a:r>
            <a:endParaRPr lang="en-US" b="0">
              <a:latin typeface="Times New Roman" panose="02020603050405020304" pitchFamily="18" charset="0"/>
            </a:endParaRPr>
          </a:p>
          <a:p>
            <a:pPr marL="285750" indent="-285750" algn="l">
              <a:buFont typeface="Wingdings" panose="05000000000000000000" charset="0"/>
              <a:buChar char=""/>
            </a:pPr>
            <a:r>
              <a:rPr lang="en-US" b="0">
                <a:latin typeface="Times New Roman" panose="02020603050405020304" pitchFamily="18" charset="0"/>
              </a:rPr>
              <a:t>Overloaded operators of the base class.</a:t>
            </a:r>
            <a:endParaRPr lang="en-US" b="0">
              <a:latin typeface="Times New Roman" panose="02020603050405020304" pitchFamily="18" charset="0"/>
            </a:endParaRPr>
          </a:p>
          <a:p>
            <a:pPr marL="285750" indent="-285750" algn="l">
              <a:buFont typeface="Wingdings" panose="05000000000000000000" charset="0"/>
              <a:buChar char=""/>
            </a:pPr>
            <a:r>
              <a:rPr lang="en-US" b="0">
                <a:latin typeface="Times New Roman" panose="02020603050405020304" pitchFamily="18" charset="0"/>
              </a:rPr>
              <a:t>The friend functions of the base class.</a:t>
            </a:r>
            <a:endParaRPr lang="en-US" b="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Autofit/>
            <a:scene3d>
              <a:camera prst="orthographicFront"/>
              <a:lightRig rig="threePt" dir="t"/>
            </a:scene3d>
          </a:bodyPr>
          <a:lstStyle/>
          <a:p>
            <a:pPr algn="ctr" fontAlgn="base"/>
            <a:r>
              <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Inheritance Relationship Diagram</a:t>
            </a:r>
            <a:endPar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3" name="Text Box 2"/>
          <p:cNvSpPr txBox="1"/>
          <p:nvPr/>
        </p:nvSpPr>
        <p:spPr>
          <a:xfrm>
            <a:off x="280670" y="633730"/>
            <a:ext cx="6281420" cy="6000750"/>
          </a:xfrm>
          <a:prstGeom prst="rect">
            <a:avLst/>
          </a:prstGeom>
          <a:noFill/>
          <a:ln w="9525">
            <a:noFill/>
          </a:ln>
        </p:spPr>
        <p:txBody>
          <a:bodyPr wrap="square">
            <a:spAutoFit/>
          </a:bodyPr>
          <a:p>
            <a:pPr marL="0" indent="0" algn="l"/>
            <a:r>
              <a:rPr lang="en-US" sz="1600" b="0">
                <a:solidFill>
                  <a:srgbClr val="C00000"/>
                </a:solidFill>
                <a:latin typeface="Consolas" charset="0"/>
                <a:cs typeface="Times New Roman" panose="02020603050405020304" pitchFamily="18" charset="0"/>
              </a:rPr>
              <a:t>#include &lt;iostream&gt; </a:t>
            </a:r>
            <a:endParaRPr lang="en-US" sz="1600" b="0">
              <a:solidFill>
                <a:srgbClr val="C00000"/>
              </a:solidFill>
              <a:latin typeface="Consolas" charset="0"/>
              <a:cs typeface="Times New Roman" panose="02020603050405020304" pitchFamily="18" charset="0"/>
            </a:endParaRPr>
          </a:p>
          <a:p>
            <a:pPr marL="0" indent="0" algn="l"/>
            <a:r>
              <a:rPr lang="en-US" sz="1600" b="0">
                <a:solidFill>
                  <a:srgbClr val="C00000"/>
                </a:solidFill>
                <a:latin typeface="Consolas" charset="0"/>
                <a:cs typeface="Times New Roman" panose="02020603050405020304" pitchFamily="18" charset="0"/>
              </a:rPr>
              <a:t>using namespace std;</a:t>
            </a:r>
            <a:r>
              <a:rPr lang="en-US" sz="1600" b="0" i="1">
                <a:solidFill>
                  <a:srgbClr val="006FC0"/>
                </a:solidFill>
                <a:latin typeface="Consolas" charset="0"/>
                <a:cs typeface="Times New Roman" panose="02020603050405020304" pitchFamily="18" charset="0"/>
              </a:rPr>
              <a:t>// base class</a:t>
            </a:r>
            <a:r>
              <a:rPr lang="en-US" sz="1600" b="0">
                <a:solidFill>
                  <a:srgbClr val="C00000"/>
                </a:solidFill>
                <a:latin typeface="Consolas" charset="0"/>
                <a:cs typeface="Times New Roman" panose="02020603050405020304" pitchFamily="18" charset="0"/>
              </a:rPr>
              <a:t>class Animal{public:void eat(){cout &lt;&lt; "I can eat!" &lt;&lt; endl;}void sleep(){cout &lt;&lt; "I can sleep!" &lt;&lt; endl;}};</a:t>
            </a:r>
            <a:r>
              <a:rPr lang="en-US" sz="1600" b="0" i="1">
                <a:solidFill>
                  <a:srgbClr val="006FC0"/>
                </a:solidFill>
                <a:latin typeface="Consolas" charset="0"/>
                <a:cs typeface="Times New Roman" panose="02020603050405020304" pitchFamily="18" charset="0"/>
              </a:rPr>
              <a:t>// derived class</a:t>
            </a:r>
            <a:r>
              <a:rPr lang="en-US" sz="1600" b="0">
                <a:solidFill>
                  <a:srgbClr val="C00000"/>
                </a:solidFill>
                <a:latin typeface="Consolas" charset="0"/>
                <a:cs typeface="Times New Roman" panose="02020603050405020304" pitchFamily="18" charset="0"/>
              </a:rPr>
              <a:t>class Dog : public Animal{public:void dogDetails(){cout&lt;&lt;"I am a Husky. I am 2 Years old!"&lt;&lt;endl;}</a:t>
            </a:r>
            <a:endParaRPr lang="en-US" sz="1600" b="0">
              <a:solidFill>
                <a:srgbClr val="C00000"/>
              </a:solidFill>
              <a:latin typeface="Consolas" charset="0"/>
              <a:cs typeface="Times New Roman" panose="02020603050405020304" pitchFamily="18" charset="0"/>
            </a:endParaRPr>
          </a:p>
          <a:p>
            <a:endParaRPr lang="en-US" sz="1600" b="0">
              <a:solidFill>
                <a:srgbClr val="C00000"/>
              </a:solidFill>
              <a:latin typeface="Consolas" charset="0"/>
              <a:cs typeface="Times New Roman" panose="02020603050405020304" pitchFamily="18" charset="0"/>
            </a:endParaRPr>
          </a:p>
        </p:txBody>
      </p:sp>
      <p:sp>
        <p:nvSpPr>
          <p:cNvPr id="4" name="Text Box 3"/>
          <p:cNvSpPr txBox="1"/>
          <p:nvPr/>
        </p:nvSpPr>
        <p:spPr>
          <a:xfrm>
            <a:off x="5278120" y="1739265"/>
            <a:ext cx="6822440" cy="3969385"/>
          </a:xfrm>
          <a:prstGeom prst="rect">
            <a:avLst/>
          </a:prstGeom>
          <a:noFill/>
        </p:spPr>
        <p:txBody>
          <a:bodyPr wrap="square" rtlCol="0" anchor="t">
            <a:spAutoFit/>
          </a:bodyPr>
          <a:p>
            <a:pPr marL="0" indent="0" algn="l"/>
            <a:r>
              <a:rPr lang="en-US">
                <a:solidFill>
                  <a:srgbClr val="C00000"/>
                </a:solidFill>
                <a:latin typeface="Consolas" charset="0"/>
                <a:cs typeface="Times New Roman" panose="02020603050405020304" pitchFamily="18" charset="0"/>
                <a:sym typeface="+mn-ea"/>
              </a:rPr>
              <a:t>void bark(){cout &lt;&lt; "I can bark! Woof woof!!" &lt;&lt; endl;}};int main(){Dog husky; </a:t>
            </a:r>
            <a:r>
              <a:rPr lang="en-US" i="1">
                <a:solidFill>
                  <a:srgbClr val="006FC0"/>
                </a:solidFill>
                <a:latin typeface="Consolas" charset="0"/>
                <a:cs typeface="Times New Roman" panose="02020603050405020304" pitchFamily="18" charset="0"/>
                <a:sym typeface="+mn-ea"/>
              </a:rPr>
              <a:t>// Create object of the Dog class </a:t>
            </a:r>
            <a:endParaRPr lang="en-US" b="0" i="1">
              <a:solidFill>
                <a:srgbClr val="006FC0"/>
              </a:solidFill>
              <a:latin typeface="Consolas" charset="0"/>
              <a:cs typeface="Times New Roman" panose="02020603050405020304" pitchFamily="18" charset="0"/>
            </a:endParaRPr>
          </a:p>
          <a:p>
            <a:pPr marL="0" indent="0" algn="l"/>
            <a:r>
              <a:rPr lang="en-US">
                <a:solidFill>
                  <a:srgbClr val="C00000"/>
                </a:solidFill>
                <a:latin typeface="Consolas" charset="0"/>
                <a:cs typeface="Times New Roman" panose="02020603050405020304" pitchFamily="18" charset="0"/>
                <a:sym typeface="+mn-ea"/>
              </a:rPr>
              <a:t>husky.dogDetails(); </a:t>
            </a:r>
            <a:r>
              <a:rPr lang="en-US" i="1">
                <a:solidFill>
                  <a:srgbClr val="006FC0"/>
                </a:solidFill>
                <a:latin typeface="Consolas" charset="0"/>
                <a:cs typeface="Times New Roman" panose="02020603050405020304" pitchFamily="18" charset="0"/>
                <a:sym typeface="+mn-ea"/>
              </a:rPr>
              <a:t>// Calling members of the derived class </a:t>
            </a:r>
            <a:endParaRPr lang="en-US" b="0" i="1">
              <a:solidFill>
                <a:srgbClr val="006FC0"/>
              </a:solidFill>
              <a:latin typeface="Consolas" charset="0"/>
              <a:cs typeface="Times New Roman" panose="02020603050405020304" pitchFamily="18" charset="0"/>
            </a:endParaRPr>
          </a:p>
          <a:p>
            <a:pPr marL="0" indent="0" algn="l"/>
            <a:r>
              <a:rPr lang="en-US">
                <a:solidFill>
                  <a:srgbClr val="C00000"/>
                </a:solidFill>
                <a:latin typeface="Consolas" charset="0"/>
                <a:cs typeface="Times New Roman" panose="02020603050405020304" pitchFamily="18" charset="0"/>
                <a:sym typeface="+mn-ea"/>
              </a:rPr>
              <a:t>husky.eat();	</a:t>
            </a:r>
            <a:r>
              <a:rPr lang="en-US" i="1">
                <a:solidFill>
                  <a:srgbClr val="006FC0"/>
                </a:solidFill>
                <a:latin typeface="Consolas" charset="0"/>
                <a:cs typeface="Times New Roman" panose="02020603050405020304" pitchFamily="18" charset="0"/>
                <a:sym typeface="+mn-ea"/>
              </a:rPr>
              <a:t>// Calling members of the base class </a:t>
            </a:r>
            <a:endParaRPr lang="en-US" b="0" i="1">
              <a:solidFill>
                <a:srgbClr val="006FC0"/>
              </a:solidFill>
              <a:latin typeface="Consolas" charset="0"/>
              <a:cs typeface="Times New Roman" panose="02020603050405020304" pitchFamily="18" charset="0"/>
            </a:endParaRPr>
          </a:p>
          <a:p>
            <a:pPr marL="0" indent="0" algn="l"/>
            <a:r>
              <a:rPr lang="en-US">
                <a:solidFill>
                  <a:srgbClr val="C00000"/>
                </a:solidFill>
                <a:latin typeface="Consolas" charset="0"/>
                <a:cs typeface="Times New Roman" panose="02020603050405020304" pitchFamily="18" charset="0"/>
                <a:sym typeface="+mn-ea"/>
              </a:rPr>
              <a:t>husky.sleep(); </a:t>
            </a:r>
            <a:r>
              <a:rPr lang="en-US" i="1">
                <a:solidFill>
                  <a:srgbClr val="006FC0"/>
                </a:solidFill>
                <a:latin typeface="Consolas" charset="0"/>
                <a:cs typeface="Times New Roman" panose="02020603050405020304" pitchFamily="18" charset="0"/>
                <a:sym typeface="+mn-ea"/>
              </a:rPr>
              <a:t>// Calling members of the base class </a:t>
            </a:r>
            <a:endParaRPr lang="en-US" b="0" i="1">
              <a:solidFill>
                <a:srgbClr val="006FC0"/>
              </a:solidFill>
              <a:latin typeface="Consolas" charset="0"/>
              <a:cs typeface="Times New Roman" panose="02020603050405020304" pitchFamily="18" charset="0"/>
            </a:endParaRPr>
          </a:p>
          <a:p>
            <a:pPr marL="0" indent="0" algn="l"/>
            <a:r>
              <a:rPr lang="en-US">
                <a:solidFill>
                  <a:srgbClr val="C00000"/>
                </a:solidFill>
                <a:latin typeface="Consolas" charset="0"/>
                <a:cs typeface="Times New Roman" panose="02020603050405020304" pitchFamily="18" charset="0"/>
                <a:sym typeface="+mn-ea"/>
              </a:rPr>
              <a:t>husky.bark(); </a:t>
            </a:r>
            <a:r>
              <a:rPr lang="en-US" i="1">
                <a:solidFill>
                  <a:srgbClr val="006FC0"/>
                </a:solidFill>
                <a:latin typeface="Consolas" charset="0"/>
                <a:cs typeface="Times New Roman" panose="02020603050405020304" pitchFamily="18" charset="0"/>
                <a:sym typeface="+mn-ea"/>
              </a:rPr>
              <a:t>// Calling member of the derived class</a:t>
            </a:r>
            <a:r>
              <a:rPr lang="en-US">
                <a:solidFill>
                  <a:srgbClr val="C00000"/>
                </a:solidFill>
                <a:latin typeface="Consolas" charset="0"/>
                <a:cs typeface="Times New Roman" panose="02020603050405020304" pitchFamily="18" charset="0"/>
                <a:sym typeface="+mn-ea"/>
              </a:rPr>
              <a:t>return 0;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67945"/>
            <a:ext cx="12192000" cy="1082040"/>
          </a:xfrm>
        </p:spPr>
        <p:txBody>
          <a:bodyPr>
            <a:noAutofit/>
            <a:scene3d>
              <a:camera prst="orthographicFront"/>
              <a:lightRig rig="threePt" dir="t"/>
            </a:scene3d>
          </a:bodyPr>
          <a:lstStyle/>
          <a:p>
            <a:pPr algn="ctr" fontAlgn="base"/>
            <a:r>
              <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rPr>
              <a:t>Inheritance Mode: Public, Private &amp; Protected</a:t>
            </a:r>
            <a:endParaRPr lang="en-GB" sz="4000" b="1" i="0" u="none" strike="noStrike" dirty="0">
              <a:solidFill>
                <a:schemeClr val="accent1"/>
              </a:solidFill>
              <a:effectLst>
                <a:outerShdw blurRad="38100" dist="25400" dir="5400000" algn="ctr" rotWithShape="0">
                  <a:srgbClr val="6E747A">
                    <a:alpha val="43000"/>
                    <a:alpha val="43000"/>
                  </a:srgbClr>
                </a:outerShdw>
              </a:effectLst>
              <a:latin typeface="times" charset="0"/>
              <a:cs typeface="times" charset="0"/>
            </a:endParaRPr>
          </a:p>
        </p:txBody>
      </p:sp>
      <p:sp>
        <p:nvSpPr>
          <p:cNvPr id="100" name="Text Box 99"/>
          <p:cNvSpPr txBox="1"/>
          <p:nvPr/>
        </p:nvSpPr>
        <p:spPr>
          <a:xfrm>
            <a:off x="168275" y="946150"/>
            <a:ext cx="11470640" cy="645160"/>
          </a:xfrm>
          <a:prstGeom prst="rect">
            <a:avLst/>
          </a:prstGeom>
          <a:noFill/>
          <a:ln w="9525">
            <a:noFill/>
          </a:ln>
        </p:spPr>
        <p:txBody>
          <a:bodyPr wrap="square">
            <a:spAutoFit/>
          </a:bodyPr>
          <a:p>
            <a:pPr marL="285750" indent="-285750">
              <a:buFont typeface="Wingdings" panose="05000000000000000000" charset="0"/>
              <a:buChar char=""/>
            </a:pPr>
            <a:r>
              <a:rPr lang="en-US" b="0">
                <a:latin typeface="Times New Roman" panose="02020603050405020304" pitchFamily="18" charset="0"/>
              </a:rPr>
              <a:t>In C++, the three inheritance modes are public, private, and protected. </a:t>
            </a:r>
            <a:endParaRPr lang="en-US" b="0">
              <a:latin typeface="Times New Roman" panose="02020603050405020304" pitchFamily="18" charset="0"/>
            </a:endParaRPr>
          </a:p>
          <a:p>
            <a:pPr marL="285750" indent="-285750">
              <a:buFont typeface="Wingdings" panose="05000000000000000000" charset="0"/>
              <a:buChar char=""/>
            </a:pPr>
            <a:r>
              <a:rPr lang="en-US" b="0">
                <a:latin typeface="Times New Roman" panose="02020603050405020304" pitchFamily="18" charset="0"/>
              </a:rPr>
              <a:t>These modes determine the accessibility of the inherited members (</a:t>
            </a:r>
            <a:r>
              <a:rPr lang="en-US" b="1">
                <a:latin typeface="Times New Roman" panose="02020603050405020304" pitchFamily="18" charset="0"/>
              </a:rPr>
              <a:t>methods </a:t>
            </a:r>
            <a:r>
              <a:rPr lang="en-US" b="0">
                <a:latin typeface="Times New Roman" panose="02020603050405020304" pitchFamily="18" charset="0"/>
              </a:rPr>
              <a:t>and </a:t>
            </a:r>
            <a:r>
              <a:rPr lang="en-US" b="1">
                <a:latin typeface="Times New Roman" panose="02020603050405020304" pitchFamily="18" charset="0"/>
              </a:rPr>
              <a:t>variables</a:t>
            </a:r>
            <a:r>
              <a:rPr lang="en-US" b="0">
                <a:latin typeface="Times New Roman" panose="02020603050405020304" pitchFamily="18" charset="0"/>
              </a:rPr>
              <a:t>) in the derived class.</a:t>
            </a:r>
            <a:endParaRPr lang="en-US" b="0">
              <a:latin typeface="Times New Roman" panose="02020603050405020304" pitchFamily="18" charset="0"/>
            </a:endParaRPr>
          </a:p>
        </p:txBody>
      </p:sp>
      <p:sp>
        <p:nvSpPr>
          <p:cNvPr id="7" name="Text Box 6"/>
          <p:cNvSpPr txBox="1"/>
          <p:nvPr/>
        </p:nvSpPr>
        <p:spPr>
          <a:xfrm>
            <a:off x="451485" y="1701800"/>
            <a:ext cx="10461625" cy="829945"/>
          </a:xfrm>
          <a:prstGeom prst="rect">
            <a:avLst/>
          </a:prstGeom>
          <a:noFill/>
          <a:ln w="9525">
            <a:noFill/>
          </a:ln>
        </p:spPr>
        <p:txBody>
          <a:bodyPr wrap="square">
            <a:spAutoFit/>
          </a:bodyPr>
          <a:p>
            <a:pPr marL="228600" indent="-228600"/>
            <a:r>
              <a:rPr lang="en-US" sz="2400" b="1">
                <a:latin typeface="Times New Roman" panose="02020603050405020304" pitchFamily="18" charset="0"/>
              </a:rPr>
              <a:t>1. Public Inheritance:</a:t>
            </a:r>
            <a:r>
              <a:rPr lang="en-US" sz="2000" b="1">
                <a:solidFill>
                  <a:srgbClr val="006FC0"/>
                </a:solidFill>
                <a:latin typeface="Symbol" charset="0"/>
              </a:rPr>
              <a:t>· </a:t>
            </a:r>
            <a:r>
              <a:rPr lang="en-US" sz="2400" b="1">
                <a:solidFill>
                  <a:srgbClr val="006FC0"/>
                </a:solidFill>
                <a:latin typeface="Times New Roman" panose="02020603050405020304" pitchFamily="18" charset="0"/>
              </a:rPr>
              <a:t>Syntax: </a:t>
            </a:r>
            <a:r>
              <a:rPr lang="en-US" sz="2400" b="1">
                <a:latin typeface="Times New Roman" panose="02020603050405020304" pitchFamily="18" charset="0"/>
              </a:rPr>
              <a:t>class Derived : public Base</a:t>
            </a:r>
            <a:endParaRPr lang="en-US" sz="2400" b="1">
              <a:latin typeface="Times New Roman" panose="02020603050405020304" pitchFamily="18" charset="0"/>
            </a:endParaRPr>
          </a:p>
        </p:txBody>
      </p:sp>
      <p:sp>
        <p:nvSpPr>
          <p:cNvPr id="8" name="Text Box 7"/>
          <p:cNvSpPr txBox="1"/>
          <p:nvPr/>
        </p:nvSpPr>
        <p:spPr>
          <a:xfrm>
            <a:off x="451485" y="2642235"/>
            <a:ext cx="6983095" cy="891540"/>
          </a:xfrm>
          <a:prstGeom prst="rect">
            <a:avLst/>
          </a:prstGeom>
          <a:noFill/>
          <a:ln w="9525">
            <a:noFill/>
          </a:ln>
        </p:spPr>
        <p:txBody>
          <a:bodyPr wrap="square">
            <a:spAutoFit/>
          </a:bodyPr>
          <a:p>
            <a:pPr marL="228600" indent="-228600"/>
            <a:r>
              <a:rPr lang="en-US" sz="2800" b="1">
                <a:effectLst>
                  <a:outerShdw blurRad="38100" dist="19050" dir="2700000" algn="tl" rotWithShape="0">
                    <a:schemeClr val="dk1">
                      <a:alpha val="40000"/>
                      <a:alpha val="40000"/>
                    </a:schemeClr>
                  </a:outerShdw>
                </a:effectLst>
                <a:latin typeface="tmes" charset="0"/>
                <a:cs typeface="tmes" charset="0"/>
              </a:rPr>
              <a:t>2. Private Inheritance:</a:t>
            </a:r>
            <a:endParaRPr lang="en-US" sz="2800" b="1">
              <a:effectLst>
                <a:outerShdw blurRad="38100" dist="19050" dir="2700000" algn="tl" rotWithShape="0">
                  <a:schemeClr val="dk1">
                    <a:alpha val="40000"/>
                    <a:alpha val="40000"/>
                  </a:schemeClr>
                </a:outerShdw>
              </a:effectLst>
              <a:latin typeface="tmes" charset="0"/>
              <a:cs typeface="tmes" charset="0"/>
            </a:endParaRPr>
          </a:p>
          <a:p>
            <a:pPr marL="228600" indent="-228600"/>
            <a:r>
              <a:rPr lang="en-US" sz="2400">
                <a:solidFill>
                  <a:schemeClr val="accent1"/>
                </a:solidFill>
                <a:effectLst>
                  <a:outerShdw blurRad="38100" dist="25400" dir="5400000" algn="ctr" rotWithShape="0">
                    <a:srgbClr val="6E747A">
                      <a:alpha val="43000"/>
                      <a:alpha val="43000"/>
                    </a:srgbClr>
                  </a:outerShdw>
                </a:effectLst>
                <a:latin typeface="tmes" charset="0"/>
                <a:cs typeface="tmes" charset="0"/>
              </a:rPr>
              <a:t>Syntax: </a:t>
            </a:r>
            <a:r>
              <a:rPr lang="en-US" sz="2400" b="1">
                <a:latin typeface="tmes" charset="0"/>
                <a:cs typeface="tmes" charset="0"/>
              </a:rPr>
              <a:t>class Derived : private Base</a:t>
            </a:r>
            <a:endParaRPr lang="en-US" sz="2400" b="1">
              <a:latin typeface="tmes" charset="0"/>
              <a:cs typeface="tmes" charset="0"/>
            </a:endParaRPr>
          </a:p>
        </p:txBody>
      </p:sp>
      <p:sp>
        <p:nvSpPr>
          <p:cNvPr id="9" name="Text Box 8"/>
          <p:cNvSpPr txBox="1"/>
          <p:nvPr/>
        </p:nvSpPr>
        <p:spPr>
          <a:xfrm>
            <a:off x="542290" y="3644265"/>
            <a:ext cx="9147810" cy="891540"/>
          </a:xfrm>
          <a:prstGeom prst="rect">
            <a:avLst/>
          </a:prstGeom>
          <a:noFill/>
          <a:ln w="9525">
            <a:noFill/>
          </a:ln>
        </p:spPr>
        <p:txBody>
          <a:bodyPr wrap="square">
            <a:spAutoFit/>
          </a:bodyPr>
          <a:p>
            <a:pPr marL="228600" indent="-228600"/>
            <a:r>
              <a:rPr lang="en-US" sz="2800" b="1">
                <a:latin typeface="Times New Roman" panose="02020603050405020304" pitchFamily="18" charset="0"/>
              </a:rPr>
              <a:t>3. Protected Inheritance:</a:t>
            </a:r>
            <a:r>
              <a:rPr lang="en-US" sz="2400" b="0">
                <a:solidFill>
                  <a:srgbClr val="006FC0"/>
                </a:solidFill>
                <a:latin typeface="Times New Roman" panose="02020603050405020304" pitchFamily="18" charset="0"/>
              </a:rPr>
              <a:t>Syntax: </a:t>
            </a:r>
            <a:r>
              <a:rPr lang="en-US" sz="2400" b="1">
                <a:latin typeface="Times New Roman Bold" panose="02020603050405020304" charset="0"/>
                <a:cs typeface="Times New Roman Bold" panose="02020603050405020304" charset="0"/>
              </a:rPr>
              <a:t>class Derived : protected Base</a:t>
            </a:r>
            <a:endParaRPr lang="en-US" sz="2400" b="1">
              <a:latin typeface="Times New Roman Bold" panose="02020603050405020304" charset="0"/>
              <a:cs typeface="Times New Roman Bold" panose="02020603050405020304" charset="0"/>
            </a:endParaRPr>
          </a:p>
        </p:txBody>
      </p:sp>
      <p:pic>
        <p:nvPicPr>
          <p:cNvPr id="10" name="Picture 9"/>
          <p:cNvPicPr>
            <a:picLocks noChangeAspect="1"/>
          </p:cNvPicPr>
          <p:nvPr/>
        </p:nvPicPr>
        <p:blipFill>
          <a:blip r:embed="rId1"/>
          <a:srcRect t="11936" b="5567"/>
          <a:stretch>
            <a:fillRect/>
          </a:stretch>
        </p:blipFill>
        <p:spPr>
          <a:xfrm>
            <a:off x="1327785" y="4889500"/>
            <a:ext cx="9536430" cy="16751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bodyPr>
          <a:lstStyle/>
          <a:p>
            <a:pPr algn="ctr" fontAlgn="base"/>
            <a:r>
              <a:rPr lang="en-GB" sz="3600" b="1" i="0" u="none" strike="noStrike" dirty="0">
                <a:solidFill>
                  <a:srgbClr val="000000"/>
                </a:solidFill>
                <a:effectLst/>
                <a:latin typeface="Cambria" panose="02040503050406030204" pitchFamily="18" charset="0"/>
              </a:rPr>
              <a:t>TYPES of INHERITANCE</a:t>
            </a:r>
            <a:endParaRPr lang="en-GB" sz="3600" b="1" i="0" u="none" strike="noStrike" dirty="0">
              <a:solidFill>
                <a:srgbClr val="000000"/>
              </a:solidFill>
              <a:effectLst/>
              <a:latin typeface="Cambria" panose="02040503050406030204" pitchFamily="18" charset="0"/>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0741" y="1192237"/>
            <a:ext cx="9580097" cy="44735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bodyPr>
          <a:lstStyle/>
          <a:p>
            <a:pPr algn="ctr" fontAlgn="base"/>
            <a:r>
              <a:rPr lang="en-GB" sz="3600" b="1" i="0" u="none" strike="noStrike" dirty="0">
                <a:solidFill>
                  <a:srgbClr val="000000"/>
                </a:solidFill>
                <a:effectLst/>
                <a:latin typeface="Cambria" panose="02040503050406030204" pitchFamily="18" charset="0"/>
              </a:rPr>
              <a:t>Single INHERITANCE</a:t>
            </a:r>
            <a:endParaRPr lang="en-GB" sz="3600" b="1" i="0" u="none" strike="noStrike" dirty="0">
              <a:solidFill>
                <a:srgbClr val="000000"/>
              </a:solidFill>
              <a:effectLst/>
              <a:latin typeface="Cambria" panose="02040503050406030204" pitchFamily="18" charset="0"/>
            </a:endParaRPr>
          </a:p>
        </p:txBody>
      </p:sp>
      <p:pic>
        <p:nvPicPr>
          <p:cNvPr id="4098" name="Picture 2" descr="C++ Inheri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67149" y="842084"/>
            <a:ext cx="590550" cy="1628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61451" y="889391"/>
            <a:ext cx="5292969" cy="5078313"/>
          </a:xfrm>
          <a:prstGeom prst="rect">
            <a:avLst/>
          </a:prstGeom>
          <a:noFill/>
        </p:spPr>
        <p:txBody>
          <a:bodyPr wrap="square">
            <a:spAutoFit/>
          </a:bodyPr>
          <a:lstStyle/>
          <a:p>
            <a:pPr algn="just"/>
            <a:r>
              <a:rPr lang="en-IN" dirty="0"/>
              <a:t>#include &lt;iostream&gt;  </a:t>
            </a:r>
            <a:endParaRPr lang="en-IN" dirty="0"/>
          </a:p>
          <a:p>
            <a:pPr algn="just"/>
            <a:r>
              <a:rPr lang="en-IN" dirty="0"/>
              <a:t>using namespace std;  </a:t>
            </a:r>
            <a:endParaRPr lang="en-IN" dirty="0"/>
          </a:p>
          <a:p>
            <a:pPr algn="just"/>
            <a:r>
              <a:rPr lang="en-IN" dirty="0"/>
              <a:t>class Account </a:t>
            </a:r>
            <a:endParaRPr lang="en-IN" dirty="0"/>
          </a:p>
          <a:p>
            <a:pPr algn="just"/>
            <a:r>
              <a:rPr lang="en-IN" dirty="0"/>
              <a:t>{  </a:t>
            </a:r>
            <a:r>
              <a:rPr lang="en-IN" b="1" dirty="0"/>
              <a:t>//base class</a:t>
            </a:r>
            <a:endParaRPr lang="en-IN" b="1" dirty="0"/>
          </a:p>
          <a:p>
            <a:pPr algn="just"/>
            <a:r>
              <a:rPr lang="en-IN" dirty="0"/>
              <a:t>public:  </a:t>
            </a:r>
            <a:endParaRPr lang="en-IN" dirty="0"/>
          </a:p>
          <a:p>
            <a:pPr algn="just"/>
            <a:r>
              <a:rPr lang="en-IN" dirty="0"/>
              <a:t>float salary = 60000;   </a:t>
            </a:r>
            <a:endParaRPr lang="en-IN" dirty="0"/>
          </a:p>
          <a:p>
            <a:pPr algn="just"/>
            <a:r>
              <a:rPr lang="en-IN" dirty="0"/>
              <a:t>};  </a:t>
            </a:r>
            <a:endParaRPr lang="en-IN" dirty="0"/>
          </a:p>
          <a:p>
            <a:pPr algn="just"/>
            <a:r>
              <a:rPr lang="en-IN" dirty="0"/>
              <a:t>class Programmer: public Account </a:t>
            </a:r>
            <a:endParaRPr lang="en-IN" dirty="0"/>
          </a:p>
          <a:p>
            <a:pPr algn="just"/>
            <a:r>
              <a:rPr lang="en-IN" dirty="0"/>
              <a:t>{  </a:t>
            </a:r>
            <a:r>
              <a:rPr lang="en-IN" b="1" dirty="0"/>
              <a:t>//Derived class</a:t>
            </a:r>
            <a:endParaRPr lang="en-IN" dirty="0"/>
          </a:p>
          <a:p>
            <a:pPr algn="just"/>
            <a:r>
              <a:rPr lang="en-IN" dirty="0"/>
              <a:t>public:  </a:t>
            </a:r>
            <a:endParaRPr lang="en-IN" dirty="0"/>
          </a:p>
          <a:p>
            <a:pPr algn="just"/>
            <a:r>
              <a:rPr lang="en-IN" dirty="0"/>
              <a:t>float bonus = 5000;    </a:t>
            </a:r>
            <a:endParaRPr lang="en-IN" dirty="0"/>
          </a:p>
          <a:p>
            <a:pPr algn="just"/>
            <a:r>
              <a:rPr lang="en-IN" dirty="0"/>
              <a:t> };       </a:t>
            </a:r>
            <a:endParaRPr lang="en-IN" dirty="0"/>
          </a:p>
          <a:p>
            <a:pPr algn="just"/>
            <a:r>
              <a:rPr lang="en-IN" dirty="0"/>
              <a:t>int main(void) {  </a:t>
            </a:r>
            <a:endParaRPr lang="en-IN" dirty="0"/>
          </a:p>
          <a:p>
            <a:pPr algn="just"/>
            <a:r>
              <a:rPr lang="en-IN" dirty="0"/>
              <a:t>Programmer p1;  </a:t>
            </a:r>
            <a:endParaRPr lang="en-IN" dirty="0"/>
          </a:p>
          <a:p>
            <a:pPr algn="just"/>
            <a:r>
              <a:rPr lang="en-IN" dirty="0"/>
              <a:t>cout&lt;&lt;"Salary: "&lt;&lt;p1.salary&lt;&lt;</a:t>
            </a:r>
            <a:r>
              <a:rPr lang="en-IN" dirty="0" err="1"/>
              <a:t>endl</a:t>
            </a:r>
            <a:r>
              <a:rPr lang="en-IN" dirty="0"/>
              <a:t>;    </a:t>
            </a:r>
            <a:endParaRPr lang="en-IN" dirty="0"/>
          </a:p>
          <a:p>
            <a:pPr algn="just"/>
            <a:r>
              <a:rPr lang="en-IN" dirty="0"/>
              <a:t>cout&lt;&lt;"Bonus: "&lt;&lt;p1.bonus&lt;&lt;</a:t>
            </a:r>
            <a:r>
              <a:rPr lang="en-IN" dirty="0" err="1"/>
              <a:t>endl</a:t>
            </a:r>
            <a:r>
              <a:rPr lang="en-IN" dirty="0"/>
              <a:t>;    </a:t>
            </a:r>
            <a:endParaRPr lang="en-IN" dirty="0"/>
          </a:p>
          <a:p>
            <a:pPr algn="just"/>
            <a:r>
              <a:rPr lang="en-IN" dirty="0"/>
              <a:t>return 0;  </a:t>
            </a:r>
            <a:endParaRPr lang="en-IN" dirty="0"/>
          </a:p>
          <a:p>
            <a:pPr algn="just"/>
            <a:r>
              <a:rPr lang="en-IN" dirty="0"/>
              <a:t>}  </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bodyPr>
          <a:lstStyle/>
          <a:p>
            <a:pPr algn="ctr" fontAlgn="base"/>
            <a:r>
              <a:rPr lang="en-GB" sz="3600" b="1" i="0" u="none" strike="noStrike" dirty="0">
                <a:solidFill>
                  <a:srgbClr val="000000"/>
                </a:solidFill>
                <a:effectLst/>
                <a:latin typeface="Cambria" panose="02040503050406030204" pitchFamily="18" charset="0"/>
              </a:rPr>
              <a:t>Multilevel INHERITANCE</a:t>
            </a:r>
            <a:endParaRPr lang="en-GB" sz="3600" b="1" i="0" u="none" strike="noStrike" dirty="0">
              <a:solidFill>
                <a:srgbClr val="000000"/>
              </a:solidFill>
              <a:effectLst/>
              <a:latin typeface="Cambria" panose="02040503050406030204" pitchFamily="18" charset="0"/>
            </a:endParaRPr>
          </a:p>
        </p:txBody>
      </p:sp>
      <p:sp>
        <p:nvSpPr>
          <p:cNvPr id="4" name="TextBox 3"/>
          <p:cNvSpPr txBox="1"/>
          <p:nvPr/>
        </p:nvSpPr>
        <p:spPr>
          <a:xfrm>
            <a:off x="440789" y="58846"/>
            <a:ext cx="4609514" cy="6740307"/>
          </a:xfrm>
          <a:prstGeom prst="rect">
            <a:avLst/>
          </a:prstGeom>
          <a:noFill/>
        </p:spPr>
        <p:txBody>
          <a:bodyPr wrap="square">
            <a:spAutoFit/>
          </a:bodyPr>
          <a:lstStyle/>
          <a:p>
            <a:pPr algn="just"/>
            <a:r>
              <a:rPr lang="en-IN" dirty="0"/>
              <a:t>#include &lt;iostream&gt;  </a:t>
            </a:r>
            <a:endParaRPr lang="en-IN" dirty="0"/>
          </a:p>
          <a:p>
            <a:pPr algn="just"/>
            <a:r>
              <a:rPr lang="en-IN" dirty="0"/>
              <a:t>using namespace std;  </a:t>
            </a:r>
            <a:endParaRPr lang="en-IN" dirty="0"/>
          </a:p>
          <a:p>
            <a:pPr algn="just"/>
            <a:r>
              <a:rPr lang="en-IN" dirty="0"/>
              <a:t>class Account </a:t>
            </a:r>
            <a:endParaRPr lang="en-IN" dirty="0"/>
          </a:p>
          <a:p>
            <a:pPr algn="just"/>
            <a:r>
              <a:rPr lang="en-IN" dirty="0"/>
              <a:t>{  </a:t>
            </a:r>
            <a:endParaRPr lang="en-IN" b="1" dirty="0"/>
          </a:p>
          <a:p>
            <a:pPr algn="just"/>
            <a:r>
              <a:rPr lang="en-IN" dirty="0"/>
              <a:t>public:  </a:t>
            </a:r>
            <a:endParaRPr lang="en-IN" dirty="0"/>
          </a:p>
          <a:p>
            <a:pPr algn="just"/>
            <a:r>
              <a:rPr lang="en-IN" dirty="0"/>
              <a:t>float salary = 60000;   </a:t>
            </a:r>
            <a:endParaRPr lang="en-IN" dirty="0"/>
          </a:p>
          <a:p>
            <a:pPr algn="just"/>
            <a:r>
              <a:rPr lang="en-IN" dirty="0"/>
              <a:t>};  </a:t>
            </a:r>
            <a:endParaRPr lang="en-IN" dirty="0"/>
          </a:p>
          <a:p>
            <a:pPr algn="just"/>
            <a:r>
              <a:rPr lang="en-IN" dirty="0"/>
              <a:t>class Bonus: public Account </a:t>
            </a:r>
            <a:endParaRPr lang="en-IN" dirty="0"/>
          </a:p>
          <a:p>
            <a:pPr algn="just"/>
            <a:r>
              <a:rPr lang="en-IN" dirty="0"/>
              <a:t>{  </a:t>
            </a:r>
            <a:endParaRPr lang="en-IN" dirty="0"/>
          </a:p>
          <a:p>
            <a:pPr algn="just"/>
            <a:r>
              <a:rPr lang="en-IN" dirty="0"/>
              <a:t>public:  </a:t>
            </a:r>
            <a:endParaRPr lang="en-IN" dirty="0"/>
          </a:p>
          <a:p>
            <a:pPr algn="just"/>
            <a:r>
              <a:rPr lang="en-IN" dirty="0"/>
              <a:t>float bonus = 5000;    </a:t>
            </a:r>
            <a:endParaRPr lang="en-IN" dirty="0"/>
          </a:p>
          <a:p>
            <a:pPr algn="just"/>
            <a:r>
              <a:rPr lang="en-IN" dirty="0"/>
              <a:t> };    </a:t>
            </a:r>
            <a:endParaRPr lang="en-IN" dirty="0"/>
          </a:p>
          <a:p>
            <a:pPr algn="just"/>
            <a:r>
              <a:rPr lang="en-IN" dirty="0"/>
              <a:t>class Programmer: public Bonus</a:t>
            </a:r>
            <a:endParaRPr lang="en-IN" dirty="0"/>
          </a:p>
          <a:p>
            <a:pPr algn="just"/>
            <a:r>
              <a:rPr lang="en-IN" dirty="0"/>
              <a:t>{  </a:t>
            </a:r>
            <a:endParaRPr lang="en-IN" dirty="0"/>
          </a:p>
          <a:p>
            <a:pPr algn="just"/>
            <a:r>
              <a:rPr lang="en-IN" dirty="0"/>
              <a:t>public:  </a:t>
            </a:r>
            <a:endParaRPr lang="en-IN" dirty="0"/>
          </a:p>
          <a:p>
            <a:pPr algn="just"/>
            <a:r>
              <a:rPr lang="en-IN" dirty="0"/>
              <a:t>float allowance = 8000;    </a:t>
            </a:r>
            <a:endParaRPr lang="en-IN" dirty="0"/>
          </a:p>
          <a:p>
            <a:pPr algn="just"/>
            <a:r>
              <a:rPr lang="en-IN" dirty="0"/>
              <a:t> };     </a:t>
            </a:r>
            <a:endParaRPr lang="en-IN" dirty="0"/>
          </a:p>
          <a:p>
            <a:pPr algn="just"/>
            <a:r>
              <a:rPr lang="en-IN" dirty="0"/>
              <a:t>int main() {  </a:t>
            </a:r>
            <a:endParaRPr lang="en-IN" dirty="0"/>
          </a:p>
          <a:p>
            <a:pPr algn="just"/>
            <a:r>
              <a:rPr lang="en-IN" dirty="0"/>
              <a:t>Programmer p1;  </a:t>
            </a:r>
            <a:endParaRPr lang="en-IN" dirty="0"/>
          </a:p>
          <a:p>
            <a:pPr algn="just"/>
            <a:r>
              <a:rPr lang="en-IN" dirty="0"/>
              <a:t>cout&lt;&lt;"Salary: "&lt;&lt;p1.salary&lt;&lt;</a:t>
            </a:r>
            <a:r>
              <a:rPr lang="en-IN" dirty="0" err="1"/>
              <a:t>endl</a:t>
            </a:r>
            <a:r>
              <a:rPr lang="en-IN" dirty="0"/>
              <a:t>;    </a:t>
            </a:r>
            <a:endParaRPr lang="en-IN" dirty="0"/>
          </a:p>
          <a:p>
            <a:pPr algn="just"/>
            <a:r>
              <a:rPr lang="en-IN" dirty="0"/>
              <a:t>cout&lt;&lt;"Bonus: "&lt;&lt;p1.bonus&lt;&lt;</a:t>
            </a:r>
            <a:r>
              <a:rPr lang="en-IN" dirty="0" err="1"/>
              <a:t>endl</a:t>
            </a:r>
            <a:r>
              <a:rPr lang="en-IN" dirty="0"/>
              <a:t>;   </a:t>
            </a:r>
            <a:endParaRPr lang="en-IN" dirty="0"/>
          </a:p>
          <a:p>
            <a:pPr algn="just"/>
            <a:r>
              <a:rPr lang="en-IN" dirty="0"/>
              <a:t>cout&lt;&lt;“Allowance: "&lt;&lt;p1.allowance&lt;&lt;</a:t>
            </a:r>
            <a:r>
              <a:rPr lang="en-IN" dirty="0" err="1"/>
              <a:t>endl</a:t>
            </a:r>
            <a:r>
              <a:rPr lang="en-IN" dirty="0"/>
              <a:t>;   </a:t>
            </a:r>
            <a:endParaRPr lang="en-IN" dirty="0"/>
          </a:p>
          <a:p>
            <a:pPr algn="just"/>
            <a:r>
              <a:rPr lang="en-IN" dirty="0"/>
              <a:t>return 0;  </a:t>
            </a:r>
            <a:endParaRPr lang="en-IN" dirty="0"/>
          </a:p>
          <a:p>
            <a:pPr algn="just"/>
            <a:r>
              <a:rPr lang="en-IN" dirty="0"/>
              <a:t>}  </a:t>
            </a:r>
            <a:endParaRPr lang="en-IN" dirty="0"/>
          </a:p>
        </p:txBody>
      </p:sp>
      <p:pic>
        <p:nvPicPr>
          <p:cNvPr id="6146" name="Picture 2" descr="C++ Inheri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04774" y="731521"/>
            <a:ext cx="590550" cy="2771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bodyPr>
          <a:lstStyle/>
          <a:p>
            <a:pPr algn="ctr" fontAlgn="base"/>
            <a:r>
              <a:rPr lang="en-GB" sz="3600" b="1" i="0" u="none" strike="noStrike" dirty="0">
                <a:solidFill>
                  <a:srgbClr val="000000"/>
                </a:solidFill>
                <a:effectLst/>
                <a:latin typeface="Cambria" panose="02040503050406030204" pitchFamily="18" charset="0"/>
              </a:rPr>
              <a:t>Multitype INHERITANCE</a:t>
            </a:r>
            <a:endParaRPr lang="en-GB" sz="3600" b="1" i="0" u="none" strike="noStrike" dirty="0">
              <a:solidFill>
                <a:srgbClr val="000000"/>
              </a:solidFill>
              <a:effectLst/>
              <a:latin typeface="Cambria" panose="02040503050406030204" pitchFamily="18" charset="0"/>
            </a:endParaRPr>
          </a:p>
        </p:txBody>
      </p:sp>
      <p:pic>
        <p:nvPicPr>
          <p:cNvPr id="7170" name="Picture 2" descr="C++ Inheri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73901" y="850180"/>
            <a:ext cx="5444197" cy="246016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16009" y="4033911"/>
            <a:ext cx="4094944" cy="1477328"/>
          </a:xfrm>
          <a:prstGeom prst="rect">
            <a:avLst/>
          </a:prstGeom>
          <a:noFill/>
        </p:spPr>
        <p:txBody>
          <a:bodyPr wrap="square">
            <a:spAutoFit/>
          </a:bodyPr>
          <a:lstStyle/>
          <a:p>
            <a:pPr algn="just"/>
            <a:r>
              <a:rPr lang="en-GB" b="1" dirty="0"/>
              <a:t>Syntax of the Derived class:</a:t>
            </a:r>
            <a:endParaRPr lang="en-GB" b="1" dirty="0"/>
          </a:p>
          <a:p>
            <a:pPr algn="just"/>
            <a:r>
              <a:rPr lang="en-GB" dirty="0"/>
              <a:t>class D : visibility B-1, visibility B-2, ?  </a:t>
            </a:r>
            <a:endParaRPr lang="en-GB" dirty="0"/>
          </a:p>
          <a:p>
            <a:pPr algn="just"/>
            <a:r>
              <a:rPr lang="en-GB" dirty="0"/>
              <a:t>{  </a:t>
            </a:r>
            <a:endParaRPr lang="en-GB" dirty="0"/>
          </a:p>
          <a:p>
            <a:pPr algn="just"/>
            <a:r>
              <a:rPr lang="en-GB" dirty="0"/>
              <a:t>    // Body of the class;  </a:t>
            </a:r>
            <a:endParaRPr lang="en-GB" dirty="0"/>
          </a:p>
          <a:p>
            <a:pPr algn="just"/>
            <a:r>
              <a:rPr lang="en-GB" dirty="0"/>
              <a:t>};   </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Multitype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sp>
        <p:nvSpPr>
          <p:cNvPr id="4" name="TextBox 3"/>
          <p:cNvSpPr txBox="1"/>
          <p:nvPr/>
        </p:nvSpPr>
        <p:spPr>
          <a:xfrm>
            <a:off x="390379" y="731521"/>
            <a:ext cx="6098344" cy="5078313"/>
          </a:xfrm>
          <a:prstGeom prst="rect">
            <a:avLst/>
          </a:prstGeom>
          <a:noFill/>
        </p:spPr>
        <p:txBody>
          <a:bodyPr wrap="square">
            <a:spAutoFit/>
          </a:bodyPr>
          <a:lstStyle/>
          <a:p>
            <a:r>
              <a:rPr lang="en-IN" dirty="0"/>
              <a:t>#include&lt;iostream&gt;</a:t>
            </a:r>
            <a:endParaRPr lang="en-IN" dirty="0"/>
          </a:p>
          <a:p>
            <a:r>
              <a:rPr lang="en-IN" dirty="0"/>
              <a:t>using namespace std;</a:t>
            </a:r>
            <a:endParaRPr lang="en-IN" dirty="0"/>
          </a:p>
          <a:p>
            <a:r>
              <a:rPr lang="en-IN" dirty="0"/>
              <a:t>class A  </a:t>
            </a:r>
            <a:endParaRPr lang="en-IN" dirty="0"/>
          </a:p>
          <a:p>
            <a:r>
              <a:rPr lang="en-IN" dirty="0"/>
              <a:t>{  </a:t>
            </a:r>
            <a:endParaRPr lang="en-IN" dirty="0"/>
          </a:p>
          <a:p>
            <a:r>
              <a:rPr lang="en-IN" dirty="0"/>
              <a:t>   public:  </a:t>
            </a:r>
            <a:endParaRPr lang="en-IN" dirty="0"/>
          </a:p>
          <a:p>
            <a:r>
              <a:rPr lang="en-IN" dirty="0"/>
              <a:t>void display()  </a:t>
            </a:r>
            <a:endParaRPr lang="en-IN" dirty="0"/>
          </a:p>
          <a:p>
            <a:r>
              <a:rPr lang="en-IN" dirty="0"/>
              <a:t>{  </a:t>
            </a:r>
            <a:endParaRPr lang="en-IN" dirty="0"/>
          </a:p>
          <a:p>
            <a:r>
              <a:rPr lang="en-IN" dirty="0"/>
              <a:t>   cout&lt;&lt;"from class A"&lt;&lt;</a:t>
            </a:r>
            <a:r>
              <a:rPr lang="en-IN" dirty="0" err="1"/>
              <a:t>endl</a:t>
            </a:r>
            <a:r>
              <a:rPr lang="en-IN" dirty="0"/>
              <a:t>;  </a:t>
            </a:r>
            <a:endParaRPr lang="en-IN" dirty="0"/>
          </a:p>
          <a:p>
            <a:r>
              <a:rPr lang="en-IN" dirty="0"/>
              <a:t>}   </a:t>
            </a:r>
            <a:endParaRPr lang="en-IN" dirty="0"/>
          </a:p>
          <a:p>
            <a:r>
              <a:rPr lang="en-IN" dirty="0"/>
              <a:t>} ;  </a:t>
            </a:r>
            <a:endParaRPr lang="en-IN" dirty="0"/>
          </a:p>
          <a:p>
            <a:r>
              <a:rPr lang="en-IN" dirty="0"/>
              <a:t>class B </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B"&lt;&lt;</a:t>
            </a:r>
            <a:r>
              <a:rPr lang="en-IN" dirty="0" err="1"/>
              <a:t>endl</a:t>
            </a:r>
            <a:r>
              <a:rPr lang="en-IN" dirty="0"/>
              <a:t>;  </a:t>
            </a:r>
            <a:endParaRPr lang="en-IN" dirty="0"/>
          </a:p>
          <a:p>
            <a:r>
              <a:rPr lang="en-IN" dirty="0"/>
              <a:t>}  </a:t>
            </a:r>
            <a:endParaRPr lang="en-IN" dirty="0"/>
          </a:p>
          <a:p>
            <a:r>
              <a:rPr lang="en-IN" dirty="0"/>
              <a:t>} ;  </a:t>
            </a:r>
            <a:endParaRPr lang="en-IN" dirty="0"/>
          </a:p>
        </p:txBody>
      </p:sp>
      <p:sp>
        <p:nvSpPr>
          <p:cNvPr id="7" name="TextBox 6"/>
          <p:cNvSpPr txBox="1"/>
          <p:nvPr/>
        </p:nvSpPr>
        <p:spPr>
          <a:xfrm>
            <a:off x="8042030" y="1937049"/>
            <a:ext cx="3759591" cy="4524315"/>
          </a:xfrm>
          <a:prstGeom prst="rect">
            <a:avLst/>
          </a:prstGeom>
          <a:noFill/>
        </p:spPr>
        <p:txBody>
          <a:bodyPr wrap="square">
            <a:spAutoFit/>
          </a:bodyPr>
          <a:lstStyle/>
          <a:p>
            <a:r>
              <a:rPr lang="en-IN" dirty="0"/>
              <a:t>class C : public </a:t>
            </a:r>
            <a:r>
              <a:rPr lang="en-IN" dirty="0" err="1"/>
              <a:t>A,public</a:t>
            </a:r>
            <a:r>
              <a:rPr lang="en-IN" dirty="0"/>
              <a:t> B</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C"&lt;&lt;</a:t>
            </a:r>
            <a:r>
              <a:rPr lang="en-IN" dirty="0" err="1"/>
              <a:t>endl</a:t>
            </a:r>
            <a:r>
              <a:rPr lang="en-IN" dirty="0"/>
              <a:t>;  </a:t>
            </a:r>
            <a:endParaRPr lang="en-IN" dirty="0"/>
          </a:p>
          <a:p>
            <a:r>
              <a:rPr lang="en-IN" dirty="0"/>
              <a:t>}  </a:t>
            </a:r>
            <a:endParaRPr lang="en-IN" dirty="0"/>
          </a:p>
          <a:p>
            <a:r>
              <a:rPr lang="en-IN" dirty="0"/>
              <a:t>} ;  </a:t>
            </a:r>
            <a:endParaRPr lang="en-IN" dirty="0"/>
          </a:p>
          <a:p>
            <a:r>
              <a:rPr lang="en-IN" dirty="0"/>
              <a:t>int main()</a:t>
            </a:r>
            <a:endParaRPr lang="en-IN" dirty="0"/>
          </a:p>
          <a:p>
            <a:r>
              <a:rPr lang="en-IN" dirty="0"/>
              <a:t>{</a:t>
            </a:r>
            <a:endParaRPr lang="en-IN" dirty="0"/>
          </a:p>
          <a:p>
            <a:r>
              <a:rPr lang="en-IN" dirty="0"/>
              <a:t>	C </a:t>
            </a:r>
            <a:r>
              <a:rPr lang="en-IN" dirty="0" err="1"/>
              <a:t>obj</a:t>
            </a:r>
            <a:r>
              <a:rPr lang="en-IN" dirty="0"/>
              <a:t>;</a:t>
            </a:r>
            <a:endParaRPr lang="en-IN" dirty="0"/>
          </a:p>
          <a:p>
            <a:r>
              <a:rPr lang="en-IN" dirty="0"/>
              <a:t>	</a:t>
            </a:r>
            <a:r>
              <a:rPr lang="en-IN" dirty="0" err="1"/>
              <a:t>obj.display</a:t>
            </a:r>
            <a:r>
              <a:rPr lang="en-IN" dirty="0"/>
              <a:t>();</a:t>
            </a:r>
            <a:endParaRPr lang="en-IN" dirty="0"/>
          </a:p>
          <a:p>
            <a:r>
              <a:rPr lang="en-IN" dirty="0"/>
              <a:t>	</a:t>
            </a:r>
            <a:r>
              <a:rPr lang="en-IN" dirty="0" err="1"/>
              <a:t>obj.A</a:t>
            </a:r>
            <a:r>
              <a:rPr lang="en-IN" dirty="0"/>
              <a:t>::display();</a:t>
            </a:r>
            <a:endParaRPr lang="en-IN" dirty="0"/>
          </a:p>
          <a:p>
            <a:r>
              <a:rPr lang="en-IN" dirty="0"/>
              <a:t>	</a:t>
            </a:r>
            <a:r>
              <a:rPr lang="en-IN" dirty="0" err="1"/>
              <a:t>obj.B</a:t>
            </a:r>
            <a:r>
              <a:rPr lang="en-IN" dirty="0"/>
              <a:t>::display();</a:t>
            </a:r>
            <a:endParaRPr lang="en-IN" dirty="0"/>
          </a:p>
          <a:p>
            <a:r>
              <a:rPr lang="en-IN" dirty="0"/>
              <a:t>	return 0;</a:t>
            </a:r>
            <a:endParaRPr lang="en-IN" dirty="0"/>
          </a:p>
          <a:p>
            <a:r>
              <a:rPr lang="en-IN" dirty="0"/>
              <a:t>}</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Hybrid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pic>
        <p:nvPicPr>
          <p:cNvPr id="8194" name="Picture 2" descr="C++ Inheri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32517" y="1162050"/>
            <a:ext cx="4628271" cy="39867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Hybrid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sp>
        <p:nvSpPr>
          <p:cNvPr id="4" name="TextBox 3"/>
          <p:cNvSpPr txBox="1"/>
          <p:nvPr/>
        </p:nvSpPr>
        <p:spPr>
          <a:xfrm>
            <a:off x="110197" y="731521"/>
            <a:ext cx="3505200" cy="5078313"/>
          </a:xfrm>
          <a:prstGeom prst="rect">
            <a:avLst/>
          </a:prstGeom>
          <a:noFill/>
        </p:spPr>
        <p:txBody>
          <a:bodyPr wrap="square">
            <a:spAutoFit/>
          </a:bodyPr>
          <a:lstStyle/>
          <a:p>
            <a:r>
              <a:rPr lang="en-IN" dirty="0"/>
              <a:t>#include&lt;iostream&gt;</a:t>
            </a:r>
            <a:endParaRPr lang="en-IN" dirty="0"/>
          </a:p>
          <a:p>
            <a:r>
              <a:rPr lang="en-IN" dirty="0"/>
              <a:t>using namespace std;</a:t>
            </a:r>
            <a:endParaRPr lang="en-IN" dirty="0"/>
          </a:p>
          <a:p>
            <a:r>
              <a:rPr lang="en-IN" dirty="0"/>
              <a:t>class A  </a:t>
            </a:r>
            <a:endParaRPr lang="en-IN" dirty="0"/>
          </a:p>
          <a:p>
            <a:r>
              <a:rPr lang="en-IN" dirty="0"/>
              <a:t>{  </a:t>
            </a:r>
            <a:endParaRPr lang="en-IN" dirty="0"/>
          </a:p>
          <a:p>
            <a:r>
              <a:rPr lang="en-IN" dirty="0"/>
              <a:t>   public:  </a:t>
            </a:r>
            <a:endParaRPr lang="en-IN" dirty="0"/>
          </a:p>
          <a:p>
            <a:r>
              <a:rPr lang="en-IN" dirty="0"/>
              <a:t>void display()  </a:t>
            </a:r>
            <a:endParaRPr lang="en-IN" dirty="0"/>
          </a:p>
          <a:p>
            <a:r>
              <a:rPr lang="en-IN" dirty="0"/>
              <a:t>{  </a:t>
            </a:r>
            <a:endParaRPr lang="en-IN" dirty="0"/>
          </a:p>
          <a:p>
            <a:r>
              <a:rPr lang="en-IN" dirty="0"/>
              <a:t>   cout&lt;&lt;"from class A"&lt;&lt;</a:t>
            </a:r>
            <a:r>
              <a:rPr lang="en-IN" dirty="0" err="1"/>
              <a:t>endl</a:t>
            </a:r>
            <a:r>
              <a:rPr lang="en-IN" dirty="0"/>
              <a:t>;  </a:t>
            </a:r>
            <a:endParaRPr lang="en-IN" dirty="0"/>
          </a:p>
          <a:p>
            <a:r>
              <a:rPr lang="en-IN" dirty="0"/>
              <a:t>}   </a:t>
            </a:r>
            <a:endParaRPr lang="en-IN" dirty="0"/>
          </a:p>
          <a:p>
            <a:r>
              <a:rPr lang="en-IN" dirty="0"/>
              <a:t>} ;  </a:t>
            </a:r>
            <a:endParaRPr lang="en-IN" dirty="0"/>
          </a:p>
          <a:p>
            <a:r>
              <a:rPr lang="en-IN" dirty="0"/>
              <a:t>class B :public A</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B"&lt;&lt;</a:t>
            </a:r>
            <a:r>
              <a:rPr lang="en-IN" dirty="0" err="1"/>
              <a:t>endl</a:t>
            </a:r>
            <a:r>
              <a:rPr lang="en-IN" dirty="0"/>
              <a:t>;  </a:t>
            </a:r>
            <a:endParaRPr lang="en-IN" dirty="0"/>
          </a:p>
          <a:p>
            <a:r>
              <a:rPr lang="en-IN" dirty="0"/>
              <a:t>}  </a:t>
            </a:r>
            <a:endParaRPr lang="en-IN" dirty="0"/>
          </a:p>
          <a:p>
            <a:r>
              <a:rPr lang="en-IN" dirty="0"/>
              <a:t>} ;  </a:t>
            </a:r>
            <a:endParaRPr lang="en-IN" dirty="0"/>
          </a:p>
        </p:txBody>
      </p:sp>
      <p:sp>
        <p:nvSpPr>
          <p:cNvPr id="6" name="TextBox 5"/>
          <p:cNvSpPr txBox="1"/>
          <p:nvPr/>
        </p:nvSpPr>
        <p:spPr>
          <a:xfrm>
            <a:off x="8901332" y="131761"/>
            <a:ext cx="3180471" cy="6740307"/>
          </a:xfrm>
          <a:prstGeom prst="rect">
            <a:avLst/>
          </a:prstGeom>
          <a:noFill/>
        </p:spPr>
        <p:txBody>
          <a:bodyPr wrap="square">
            <a:spAutoFit/>
          </a:bodyPr>
          <a:lstStyle/>
          <a:p>
            <a:r>
              <a:rPr lang="en-IN" dirty="0"/>
              <a:t>class C </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C"&lt;&lt;</a:t>
            </a:r>
            <a:r>
              <a:rPr lang="en-IN" dirty="0" err="1"/>
              <a:t>endl</a:t>
            </a:r>
            <a:r>
              <a:rPr lang="en-IN" dirty="0"/>
              <a:t>;  </a:t>
            </a:r>
            <a:endParaRPr lang="en-IN" dirty="0"/>
          </a:p>
          <a:p>
            <a:r>
              <a:rPr lang="en-IN" dirty="0"/>
              <a:t>}  </a:t>
            </a:r>
            <a:endParaRPr lang="en-IN" dirty="0"/>
          </a:p>
          <a:p>
            <a:r>
              <a:rPr lang="en-IN" dirty="0"/>
              <a:t>} ;  </a:t>
            </a:r>
            <a:endParaRPr lang="en-IN" dirty="0"/>
          </a:p>
          <a:p>
            <a:r>
              <a:rPr lang="en-IN" dirty="0"/>
              <a:t>class D : public </a:t>
            </a:r>
            <a:r>
              <a:rPr lang="en-IN" dirty="0" err="1"/>
              <a:t>B,public</a:t>
            </a:r>
            <a:r>
              <a:rPr lang="en-IN" dirty="0"/>
              <a:t> C</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D"&lt;&lt;</a:t>
            </a:r>
            <a:r>
              <a:rPr lang="en-IN" dirty="0" err="1"/>
              <a:t>endl</a:t>
            </a:r>
            <a:r>
              <a:rPr lang="en-IN" dirty="0"/>
              <a:t>;  </a:t>
            </a:r>
            <a:endParaRPr lang="en-IN" dirty="0"/>
          </a:p>
          <a:p>
            <a:r>
              <a:rPr lang="en-IN" dirty="0"/>
              <a:t>}  </a:t>
            </a:r>
            <a:endParaRPr lang="en-IN" dirty="0"/>
          </a:p>
          <a:p>
            <a:r>
              <a:rPr lang="en-IN" dirty="0"/>
              <a:t>} ;  </a:t>
            </a:r>
            <a:endParaRPr lang="en-IN" dirty="0"/>
          </a:p>
          <a:p>
            <a:r>
              <a:rPr lang="en-IN" dirty="0"/>
              <a:t>int main()</a:t>
            </a:r>
            <a:endParaRPr lang="en-IN" dirty="0"/>
          </a:p>
          <a:p>
            <a:r>
              <a:rPr lang="en-IN" dirty="0"/>
              <a:t>{</a:t>
            </a:r>
            <a:endParaRPr lang="en-IN" dirty="0"/>
          </a:p>
          <a:p>
            <a:r>
              <a:rPr lang="en-IN" dirty="0"/>
              <a:t>	D </a:t>
            </a:r>
            <a:r>
              <a:rPr lang="en-IN" dirty="0" err="1"/>
              <a:t>obj</a:t>
            </a:r>
            <a:r>
              <a:rPr lang="en-IN" dirty="0"/>
              <a:t>;</a:t>
            </a:r>
            <a:endParaRPr lang="en-IN" dirty="0"/>
          </a:p>
          <a:p>
            <a:r>
              <a:rPr lang="en-IN" dirty="0"/>
              <a:t>	</a:t>
            </a:r>
            <a:r>
              <a:rPr lang="en-IN" dirty="0" err="1"/>
              <a:t>obj.display</a:t>
            </a:r>
            <a:r>
              <a:rPr lang="en-IN" dirty="0"/>
              <a:t>();</a:t>
            </a:r>
            <a:endParaRPr lang="en-IN" dirty="0"/>
          </a:p>
          <a:p>
            <a:r>
              <a:rPr lang="en-IN" dirty="0"/>
              <a:t>	</a:t>
            </a:r>
            <a:r>
              <a:rPr lang="en-IN" dirty="0" err="1"/>
              <a:t>obj.B</a:t>
            </a:r>
            <a:r>
              <a:rPr lang="en-IN" dirty="0"/>
              <a:t>::display();</a:t>
            </a:r>
            <a:endParaRPr lang="en-IN" dirty="0"/>
          </a:p>
          <a:p>
            <a:r>
              <a:rPr lang="en-IN" dirty="0"/>
              <a:t>	</a:t>
            </a:r>
            <a:r>
              <a:rPr lang="en-IN" dirty="0" err="1"/>
              <a:t>obj.C</a:t>
            </a:r>
            <a:r>
              <a:rPr lang="en-IN" dirty="0"/>
              <a:t>::display();</a:t>
            </a:r>
            <a:endParaRPr lang="en-IN" dirty="0"/>
          </a:p>
          <a:p>
            <a:r>
              <a:rPr lang="en-IN" dirty="0"/>
              <a:t>	return 0;</a:t>
            </a:r>
            <a:endParaRPr lang="en-IN" dirty="0"/>
          </a:p>
          <a:p>
            <a:r>
              <a:rPr lang="en-IN" dirty="0"/>
              <a:t>}</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Hierarchical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pic>
        <p:nvPicPr>
          <p:cNvPr id="9218" name="Picture 2" descr="C++ Inheritanc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08541" y="731521"/>
            <a:ext cx="4670473" cy="28860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72439" y="2056686"/>
            <a:ext cx="4394982" cy="4801314"/>
          </a:xfrm>
          <a:prstGeom prst="rect">
            <a:avLst/>
          </a:prstGeom>
          <a:noFill/>
        </p:spPr>
        <p:txBody>
          <a:bodyPr wrap="square">
            <a:spAutoFit/>
          </a:bodyPr>
          <a:lstStyle/>
          <a:p>
            <a:pPr algn="just"/>
            <a:r>
              <a:rPr lang="en-GB" sz="2000" b="1" dirty="0"/>
              <a:t>Syntax of Hierarchical inheritance:</a:t>
            </a:r>
            <a:endParaRPr lang="en-GB" sz="2000" b="1" dirty="0"/>
          </a:p>
          <a:p>
            <a:pPr algn="just"/>
            <a:r>
              <a:rPr lang="en-GB" dirty="0"/>
              <a:t>class A  </a:t>
            </a:r>
            <a:endParaRPr lang="en-GB" dirty="0"/>
          </a:p>
          <a:p>
            <a:pPr algn="just"/>
            <a:r>
              <a:rPr lang="en-GB" dirty="0"/>
              <a:t>{  </a:t>
            </a:r>
            <a:endParaRPr lang="en-GB" dirty="0"/>
          </a:p>
          <a:p>
            <a:pPr algn="just"/>
            <a:r>
              <a:rPr lang="en-GB" dirty="0"/>
              <a:t>    // body of the class A.  </a:t>
            </a:r>
            <a:endParaRPr lang="en-GB" dirty="0"/>
          </a:p>
          <a:p>
            <a:pPr algn="just"/>
            <a:r>
              <a:rPr lang="en-GB" dirty="0"/>
              <a:t>}    </a:t>
            </a:r>
            <a:endParaRPr lang="en-GB" dirty="0"/>
          </a:p>
          <a:p>
            <a:pPr algn="just"/>
            <a:r>
              <a:rPr lang="en-GB" dirty="0"/>
              <a:t>class B : public A   </a:t>
            </a:r>
            <a:endParaRPr lang="en-GB" dirty="0"/>
          </a:p>
          <a:p>
            <a:pPr algn="just"/>
            <a:r>
              <a:rPr lang="en-GB" dirty="0"/>
              <a:t>{  </a:t>
            </a:r>
            <a:endParaRPr lang="en-GB" dirty="0"/>
          </a:p>
          <a:p>
            <a:pPr algn="just"/>
            <a:r>
              <a:rPr lang="en-GB" dirty="0"/>
              <a:t>    // body of class B.  </a:t>
            </a:r>
            <a:endParaRPr lang="en-GB" dirty="0"/>
          </a:p>
          <a:p>
            <a:pPr algn="just"/>
            <a:r>
              <a:rPr lang="en-GB" dirty="0"/>
              <a:t>}  </a:t>
            </a:r>
            <a:endParaRPr lang="en-GB" dirty="0"/>
          </a:p>
          <a:p>
            <a:pPr algn="just"/>
            <a:r>
              <a:rPr lang="en-GB" dirty="0"/>
              <a:t>class C : public A  </a:t>
            </a:r>
            <a:endParaRPr lang="en-GB" dirty="0"/>
          </a:p>
          <a:p>
            <a:pPr algn="just"/>
            <a:r>
              <a:rPr lang="en-GB" dirty="0"/>
              <a:t>{  </a:t>
            </a:r>
            <a:endParaRPr lang="en-GB" dirty="0"/>
          </a:p>
          <a:p>
            <a:pPr algn="just"/>
            <a:r>
              <a:rPr lang="en-GB" dirty="0"/>
              <a:t>    // body of class C.  </a:t>
            </a:r>
            <a:endParaRPr lang="en-GB" dirty="0"/>
          </a:p>
          <a:p>
            <a:pPr algn="just"/>
            <a:r>
              <a:rPr lang="en-GB" dirty="0"/>
              <a:t>}   </a:t>
            </a:r>
            <a:endParaRPr lang="en-GB" dirty="0"/>
          </a:p>
          <a:p>
            <a:pPr algn="just"/>
            <a:r>
              <a:rPr lang="en-GB" dirty="0"/>
              <a:t>class D : public A  </a:t>
            </a:r>
            <a:endParaRPr lang="en-GB" dirty="0"/>
          </a:p>
          <a:p>
            <a:pPr algn="just"/>
            <a:r>
              <a:rPr lang="en-GB" dirty="0"/>
              <a:t>{  </a:t>
            </a:r>
            <a:endParaRPr lang="en-GB" dirty="0"/>
          </a:p>
          <a:p>
            <a:pPr algn="just"/>
            <a:r>
              <a:rPr lang="en-GB" dirty="0"/>
              <a:t>    // body of class D.  </a:t>
            </a:r>
            <a:endParaRPr lang="en-GB" dirty="0"/>
          </a:p>
          <a:p>
            <a:pPr algn="just"/>
            <a:r>
              <a:rPr lang="en-GB" dirty="0"/>
              <a:t>}   </a:t>
            </a: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Hierarchical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sp>
        <p:nvSpPr>
          <p:cNvPr id="4" name="TextBox 3"/>
          <p:cNvSpPr txBox="1"/>
          <p:nvPr/>
        </p:nvSpPr>
        <p:spPr>
          <a:xfrm>
            <a:off x="291904" y="365761"/>
            <a:ext cx="3647050" cy="5078313"/>
          </a:xfrm>
          <a:prstGeom prst="rect">
            <a:avLst/>
          </a:prstGeom>
          <a:noFill/>
        </p:spPr>
        <p:txBody>
          <a:bodyPr wrap="square">
            <a:spAutoFit/>
          </a:bodyPr>
          <a:lstStyle/>
          <a:p>
            <a:r>
              <a:rPr lang="en-IN" dirty="0"/>
              <a:t>#include&lt;iostream&gt;</a:t>
            </a:r>
            <a:endParaRPr lang="en-IN" dirty="0"/>
          </a:p>
          <a:p>
            <a:r>
              <a:rPr lang="en-IN" dirty="0"/>
              <a:t>using namespace std;</a:t>
            </a:r>
            <a:endParaRPr lang="en-IN" dirty="0"/>
          </a:p>
          <a:p>
            <a:r>
              <a:rPr lang="en-IN" dirty="0"/>
              <a:t>class A  </a:t>
            </a:r>
            <a:endParaRPr lang="en-IN" dirty="0"/>
          </a:p>
          <a:p>
            <a:r>
              <a:rPr lang="en-IN" dirty="0"/>
              <a:t>{  </a:t>
            </a:r>
            <a:endParaRPr lang="en-IN" dirty="0"/>
          </a:p>
          <a:p>
            <a:r>
              <a:rPr lang="en-IN" dirty="0"/>
              <a:t>   public:  </a:t>
            </a:r>
            <a:endParaRPr lang="en-IN" dirty="0"/>
          </a:p>
          <a:p>
            <a:r>
              <a:rPr lang="en-IN" dirty="0"/>
              <a:t>void display()  </a:t>
            </a:r>
            <a:endParaRPr lang="en-IN" dirty="0"/>
          </a:p>
          <a:p>
            <a:r>
              <a:rPr lang="en-IN" dirty="0"/>
              <a:t>{  </a:t>
            </a:r>
            <a:endParaRPr lang="en-IN" dirty="0"/>
          </a:p>
          <a:p>
            <a:r>
              <a:rPr lang="en-IN" dirty="0"/>
              <a:t>   cout&lt;&lt;"from class A"&lt;&lt;</a:t>
            </a:r>
            <a:r>
              <a:rPr lang="en-IN" dirty="0" err="1"/>
              <a:t>endl</a:t>
            </a:r>
            <a:r>
              <a:rPr lang="en-IN" dirty="0"/>
              <a:t>;  </a:t>
            </a:r>
            <a:endParaRPr lang="en-IN" dirty="0"/>
          </a:p>
          <a:p>
            <a:r>
              <a:rPr lang="en-IN" dirty="0"/>
              <a:t>}   </a:t>
            </a:r>
            <a:endParaRPr lang="en-IN" dirty="0"/>
          </a:p>
          <a:p>
            <a:r>
              <a:rPr lang="en-IN" dirty="0"/>
              <a:t>} ;  </a:t>
            </a:r>
            <a:endParaRPr lang="en-IN" dirty="0"/>
          </a:p>
          <a:p>
            <a:r>
              <a:rPr lang="en-IN" dirty="0"/>
              <a:t>class B :public A</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B"&lt;&lt;</a:t>
            </a:r>
            <a:r>
              <a:rPr lang="en-IN" dirty="0" err="1"/>
              <a:t>endl</a:t>
            </a:r>
            <a:r>
              <a:rPr lang="en-IN" dirty="0"/>
              <a:t>;  </a:t>
            </a:r>
            <a:endParaRPr lang="en-IN" dirty="0"/>
          </a:p>
          <a:p>
            <a:r>
              <a:rPr lang="en-IN" dirty="0"/>
              <a:t>}  </a:t>
            </a:r>
            <a:endParaRPr lang="en-IN" dirty="0"/>
          </a:p>
          <a:p>
            <a:r>
              <a:rPr lang="en-IN" dirty="0"/>
              <a:t>} ;  </a:t>
            </a:r>
            <a:endParaRPr lang="en-IN" dirty="0"/>
          </a:p>
        </p:txBody>
      </p:sp>
      <p:sp>
        <p:nvSpPr>
          <p:cNvPr id="6" name="TextBox 5"/>
          <p:cNvSpPr txBox="1"/>
          <p:nvPr/>
        </p:nvSpPr>
        <p:spPr>
          <a:xfrm>
            <a:off x="4448907" y="1349949"/>
            <a:ext cx="3858065" cy="4524315"/>
          </a:xfrm>
          <a:prstGeom prst="rect">
            <a:avLst/>
          </a:prstGeom>
          <a:noFill/>
        </p:spPr>
        <p:txBody>
          <a:bodyPr wrap="square">
            <a:spAutoFit/>
          </a:bodyPr>
          <a:lstStyle/>
          <a:p>
            <a:r>
              <a:rPr lang="en-IN" dirty="0"/>
              <a:t>class C :public A</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C"&lt;&lt;</a:t>
            </a:r>
            <a:r>
              <a:rPr lang="en-IN" dirty="0" err="1"/>
              <a:t>endl</a:t>
            </a:r>
            <a:r>
              <a:rPr lang="en-IN" dirty="0"/>
              <a:t>;  </a:t>
            </a:r>
            <a:endParaRPr lang="en-IN" dirty="0"/>
          </a:p>
          <a:p>
            <a:r>
              <a:rPr lang="en-IN" dirty="0"/>
              <a:t>}  </a:t>
            </a:r>
            <a:endParaRPr lang="en-IN" dirty="0"/>
          </a:p>
          <a:p>
            <a:r>
              <a:rPr lang="en-IN" dirty="0"/>
              <a:t>} ;  </a:t>
            </a:r>
            <a:endParaRPr lang="en-IN" dirty="0"/>
          </a:p>
          <a:p>
            <a:r>
              <a:rPr lang="en-IN" dirty="0"/>
              <a:t>class D : public A</a:t>
            </a:r>
            <a:endParaRPr lang="en-IN" dirty="0"/>
          </a:p>
          <a:p>
            <a:r>
              <a:rPr lang="en-IN" dirty="0"/>
              <a:t>{   </a:t>
            </a:r>
            <a:endParaRPr lang="en-IN" dirty="0"/>
          </a:p>
          <a:p>
            <a:r>
              <a:rPr lang="en-IN" dirty="0"/>
              <a:t>  public:  </a:t>
            </a:r>
            <a:endParaRPr lang="en-IN" dirty="0"/>
          </a:p>
          <a:p>
            <a:r>
              <a:rPr lang="en-IN" dirty="0"/>
              <a:t> void display()  </a:t>
            </a:r>
            <a:endParaRPr lang="en-IN" dirty="0"/>
          </a:p>
          <a:p>
            <a:r>
              <a:rPr lang="en-IN" dirty="0"/>
              <a:t>{  </a:t>
            </a:r>
            <a:endParaRPr lang="en-IN" dirty="0"/>
          </a:p>
          <a:p>
            <a:r>
              <a:rPr lang="en-IN" dirty="0"/>
              <a:t> cout&lt;&lt;"From Class D"&lt;&lt;</a:t>
            </a:r>
            <a:r>
              <a:rPr lang="en-IN" dirty="0" err="1"/>
              <a:t>endl</a:t>
            </a:r>
            <a:r>
              <a:rPr lang="en-IN" dirty="0"/>
              <a:t>;  </a:t>
            </a:r>
            <a:endParaRPr lang="en-IN" dirty="0"/>
          </a:p>
          <a:p>
            <a:r>
              <a:rPr lang="en-IN" dirty="0"/>
              <a:t>}  </a:t>
            </a:r>
            <a:endParaRPr lang="en-IN" dirty="0"/>
          </a:p>
          <a:p>
            <a:r>
              <a:rPr lang="en-IN" dirty="0"/>
              <a:t>} ;  </a:t>
            </a:r>
            <a:endParaRPr lang="en-IN" dirty="0"/>
          </a:p>
        </p:txBody>
      </p:sp>
      <p:sp>
        <p:nvSpPr>
          <p:cNvPr id="8" name="TextBox 7"/>
          <p:cNvSpPr txBox="1"/>
          <p:nvPr/>
        </p:nvSpPr>
        <p:spPr>
          <a:xfrm>
            <a:off x="8816926" y="3612107"/>
            <a:ext cx="3858065" cy="2862322"/>
          </a:xfrm>
          <a:prstGeom prst="rect">
            <a:avLst/>
          </a:prstGeom>
          <a:noFill/>
        </p:spPr>
        <p:txBody>
          <a:bodyPr wrap="square">
            <a:spAutoFit/>
          </a:bodyPr>
          <a:lstStyle/>
          <a:p>
            <a:r>
              <a:rPr lang="en-IN" dirty="0"/>
              <a:t>int main()</a:t>
            </a:r>
            <a:endParaRPr lang="en-IN" dirty="0"/>
          </a:p>
          <a:p>
            <a:r>
              <a:rPr lang="en-IN" dirty="0"/>
              <a:t>{</a:t>
            </a:r>
            <a:endParaRPr lang="en-IN" dirty="0"/>
          </a:p>
          <a:p>
            <a:r>
              <a:rPr lang="en-IN" dirty="0"/>
              <a:t>	D </a:t>
            </a:r>
            <a:r>
              <a:rPr lang="en-IN" dirty="0" err="1"/>
              <a:t>obj</a:t>
            </a:r>
            <a:r>
              <a:rPr lang="en-IN" dirty="0"/>
              <a:t>;</a:t>
            </a:r>
            <a:endParaRPr lang="en-IN" dirty="0"/>
          </a:p>
          <a:p>
            <a:r>
              <a:rPr lang="en-IN" dirty="0"/>
              <a:t>	</a:t>
            </a:r>
            <a:r>
              <a:rPr lang="en-IN" dirty="0" err="1"/>
              <a:t>obj.A</a:t>
            </a:r>
            <a:r>
              <a:rPr lang="en-IN" dirty="0"/>
              <a:t>::display();</a:t>
            </a:r>
            <a:endParaRPr lang="en-IN" dirty="0"/>
          </a:p>
          <a:p>
            <a:r>
              <a:rPr lang="en-IN" dirty="0"/>
              <a:t>		C obj1;</a:t>
            </a:r>
            <a:endParaRPr lang="en-IN" dirty="0"/>
          </a:p>
          <a:p>
            <a:r>
              <a:rPr lang="en-IN" dirty="0"/>
              <a:t>obj1.display();</a:t>
            </a:r>
            <a:endParaRPr lang="en-IN" dirty="0"/>
          </a:p>
          <a:p>
            <a:r>
              <a:rPr lang="en-IN" dirty="0"/>
              <a:t>	B obj2;</a:t>
            </a:r>
            <a:endParaRPr lang="en-IN" dirty="0"/>
          </a:p>
          <a:p>
            <a:r>
              <a:rPr lang="en-IN" dirty="0"/>
              <a:t>obj2.display();</a:t>
            </a:r>
            <a:endParaRPr lang="en-IN" dirty="0"/>
          </a:p>
          <a:p>
            <a:r>
              <a:rPr lang="en-IN" dirty="0"/>
              <a:t>	return 0;</a:t>
            </a:r>
            <a:endParaRPr lang="en-IN" dirty="0"/>
          </a:p>
          <a:p>
            <a:r>
              <a:rPr lang="en-IN" dirty="0"/>
              <a:t>}</a:t>
            </a:r>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Ambiguity Problem in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sp>
        <p:nvSpPr>
          <p:cNvPr id="4" name="TextBox 3"/>
          <p:cNvSpPr txBox="1"/>
          <p:nvPr/>
        </p:nvSpPr>
        <p:spPr>
          <a:xfrm>
            <a:off x="742070" y="970560"/>
            <a:ext cx="11215467" cy="923330"/>
          </a:xfrm>
          <a:prstGeom prst="rect">
            <a:avLst/>
          </a:prstGeom>
          <a:noFill/>
        </p:spPr>
        <p:txBody>
          <a:bodyPr wrap="square">
            <a:spAutoFit/>
          </a:bodyPr>
          <a:lstStyle/>
          <a:p>
            <a:pPr marL="285750" indent="-285750">
              <a:buFont typeface="Wingdings" panose="05000000000000000000" pitchFamily="2" charset="2"/>
              <a:buChar char="§"/>
            </a:pPr>
            <a:r>
              <a:rPr lang="en-GB" dirty="0"/>
              <a:t>In multiple inheritances, when one class is derived from two or more base classes then there may be a possibility that the base classes have functions with the same name, and the derived class may not have functions with that name as those of its base classes.</a:t>
            </a:r>
            <a:endParaRPr lang="en-IN" dirty="0"/>
          </a:p>
        </p:txBody>
      </p:sp>
      <p:sp>
        <p:nvSpPr>
          <p:cNvPr id="5" name="Rectangle 2"/>
          <p:cNvSpPr>
            <a:spLocks noChangeArrowheads="1"/>
          </p:cNvSpPr>
          <p:nvPr/>
        </p:nvSpPr>
        <p:spPr bwMode="auto">
          <a:xfrm>
            <a:off x="742070" y="2054336"/>
            <a:ext cx="4885593"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en-US" dirty="0"/>
              <a:t>#include&lt;iostream&gt;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using namespace std;</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Base class A</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A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public:</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void </a:t>
            </a:r>
            <a:r>
              <a:rPr lang="en-US" altLang="en-US" dirty="0" err="1"/>
              <a:t>func</a:t>
            </a: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cout &lt;&lt; " I am in class A" &lt;&lt; </a:t>
            </a:r>
            <a:r>
              <a:rPr lang="en-US" altLang="en-US" dirty="0" err="1"/>
              <a:t>endl</a:t>
            </a: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Base class B</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B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public:</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void </a:t>
            </a:r>
            <a:r>
              <a:rPr lang="en-US" altLang="en-US" dirty="0" err="1"/>
              <a:t>func</a:t>
            </a: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cout &lt;&lt; " I am in class B" &lt;&lt; </a:t>
            </a:r>
            <a:r>
              <a:rPr lang="en-US" altLang="en-US" dirty="0" err="1"/>
              <a:t>endl</a:t>
            </a: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a:t>
            </a:r>
            <a:endParaRPr lang="en-US" altLang="en-US" dirty="0"/>
          </a:p>
        </p:txBody>
      </p:sp>
      <p:sp>
        <p:nvSpPr>
          <p:cNvPr id="7" name="TextBox 6"/>
          <p:cNvSpPr txBox="1"/>
          <p:nvPr/>
        </p:nvSpPr>
        <p:spPr>
          <a:xfrm>
            <a:off x="5812303" y="3394450"/>
            <a:ext cx="4696263"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altLang="en-US" dirty="0"/>
              <a:t>// Derived class C</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class C: public A, public B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Driver Code</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int main()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Created an object of class C</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C obj;</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 Calling function </a:t>
            </a:r>
            <a:r>
              <a:rPr lang="en-US" altLang="en-US" dirty="0" err="1"/>
              <a:t>func</a:t>
            </a: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a:t>
            </a:r>
            <a:r>
              <a:rPr lang="en-US" altLang="en-US" dirty="0" err="1"/>
              <a:t>obj.func</a:t>
            </a:r>
            <a:r>
              <a:rPr lang="en-US" altLang="en-US" dirty="0"/>
              <a:t>();</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    return 0;</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dirty="0"/>
              <a:t>}</a:t>
            </a: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fontAlgn="base"/>
            <a:r>
              <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rPr>
              <a:t>Solution to Ambiguity Problem in INHERITANCE</a:t>
            </a:r>
            <a:endParaRPr lang="en-GB" sz="3600" b="1" i="0" u="none" strike="noStrike" dirty="0">
              <a:solidFill>
                <a:schemeClr val="accent1"/>
              </a:solidFill>
              <a:effectLst>
                <a:outerShdw blurRad="38100" dist="25400" dir="5400000" algn="ctr" rotWithShape="0">
                  <a:srgbClr val="6E747A">
                    <a:alpha val="43000"/>
                    <a:alpha val="43000"/>
                  </a:srgbClr>
                </a:outerShdw>
              </a:effectLst>
              <a:latin typeface="Cambria" panose="02040503050406030204" pitchFamily="18" charset="0"/>
            </a:endParaRPr>
          </a:p>
        </p:txBody>
      </p:sp>
      <p:sp>
        <p:nvSpPr>
          <p:cNvPr id="3" name="Rectangle 1"/>
          <p:cNvSpPr>
            <a:spLocks noChangeArrowheads="1"/>
          </p:cNvSpPr>
          <p:nvPr/>
        </p:nvSpPr>
        <p:spPr bwMode="auto">
          <a:xfrm>
            <a:off x="492369" y="921784"/>
            <a:ext cx="9622301" cy="9207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n-US" altLang="en-US" dirty="0"/>
              <a:t>To solve this ambiguity scope resolution operator is used denoted by ‘ :: ‘</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pPr>
            <a:r>
              <a:rPr lang="en-US" altLang="en-US" b="1" dirty="0"/>
              <a:t>Syntax:</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pPr>
            <a:r>
              <a:rPr lang="en-US" altLang="en-US" b="1" dirty="0" err="1"/>
              <a:t>ObjectName.ClassName</a:t>
            </a:r>
            <a:r>
              <a:rPr lang="en-US" altLang="en-US" b="1" dirty="0"/>
              <a:t>::</a:t>
            </a:r>
            <a:r>
              <a:rPr lang="en-US" altLang="en-US" b="1" dirty="0" err="1"/>
              <a:t>FunctionName</a:t>
            </a:r>
            <a:r>
              <a:rPr lang="en-US" altLang="en-US" b="1" dirty="0"/>
              <a:t>(); </a:t>
            </a:r>
            <a:endParaRPr lang="en-US" altLang="en-US" b="1" dirty="0"/>
          </a:p>
        </p:txBody>
      </p:sp>
      <p:sp>
        <p:nvSpPr>
          <p:cNvPr id="8" name="TextBox 7"/>
          <p:cNvSpPr txBox="1"/>
          <p:nvPr/>
        </p:nvSpPr>
        <p:spPr>
          <a:xfrm>
            <a:off x="492369" y="1821422"/>
            <a:ext cx="6098344" cy="5078313"/>
          </a:xfrm>
          <a:prstGeom prst="rect">
            <a:avLst/>
          </a:prstGeom>
          <a:noFill/>
        </p:spPr>
        <p:txBody>
          <a:bodyPr wrap="square">
            <a:spAutoFit/>
          </a:bodyPr>
          <a:lstStyle/>
          <a:p>
            <a:r>
              <a:rPr lang="en-IN" dirty="0"/>
              <a:t>#include&lt;iostream&gt;</a:t>
            </a:r>
            <a:endParaRPr lang="en-IN" dirty="0"/>
          </a:p>
          <a:p>
            <a:r>
              <a:rPr lang="en-IN" dirty="0"/>
              <a:t>using namespace std;</a:t>
            </a:r>
            <a:endParaRPr lang="en-IN" dirty="0"/>
          </a:p>
          <a:p>
            <a:r>
              <a:rPr lang="en-IN" dirty="0"/>
              <a:t>// Base class A</a:t>
            </a:r>
            <a:endParaRPr lang="en-IN" dirty="0"/>
          </a:p>
          <a:p>
            <a:r>
              <a:rPr lang="en-IN" dirty="0"/>
              <a:t>class A {</a:t>
            </a:r>
            <a:endParaRPr lang="en-IN" dirty="0"/>
          </a:p>
          <a:p>
            <a:r>
              <a:rPr lang="en-IN" dirty="0"/>
              <a:t>public:</a:t>
            </a:r>
            <a:endParaRPr lang="en-IN" dirty="0"/>
          </a:p>
          <a:p>
            <a:r>
              <a:rPr lang="en-IN" dirty="0"/>
              <a:t>void </a:t>
            </a:r>
            <a:r>
              <a:rPr lang="en-IN" dirty="0" err="1"/>
              <a:t>func</a:t>
            </a:r>
            <a:r>
              <a:rPr lang="en-IN" dirty="0"/>
              <a:t>() {</a:t>
            </a:r>
            <a:endParaRPr lang="en-IN" dirty="0"/>
          </a:p>
          <a:p>
            <a:r>
              <a:rPr lang="en-IN" dirty="0"/>
              <a:t>cout &lt;&lt; " I am in class A" &lt;&lt; </a:t>
            </a:r>
            <a:r>
              <a:rPr lang="en-IN" dirty="0" err="1"/>
              <a:t>endl</a:t>
            </a:r>
            <a:r>
              <a:rPr lang="en-IN" dirty="0"/>
              <a:t>;</a:t>
            </a:r>
            <a:endParaRPr lang="en-IN" dirty="0"/>
          </a:p>
          <a:p>
            <a:r>
              <a:rPr lang="en-IN" dirty="0"/>
              <a:t>}};</a:t>
            </a:r>
            <a:endParaRPr lang="en-IN" dirty="0"/>
          </a:p>
          <a:p>
            <a:r>
              <a:rPr lang="en-IN" dirty="0"/>
              <a:t>// Base class B</a:t>
            </a:r>
            <a:endParaRPr lang="en-IN" dirty="0"/>
          </a:p>
          <a:p>
            <a:r>
              <a:rPr lang="en-IN" dirty="0"/>
              <a:t>class B {</a:t>
            </a:r>
            <a:endParaRPr lang="en-IN" dirty="0"/>
          </a:p>
          <a:p>
            <a:r>
              <a:rPr lang="en-IN" dirty="0"/>
              <a:t>	public:</a:t>
            </a:r>
            <a:endParaRPr lang="en-IN" dirty="0"/>
          </a:p>
          <a:p>
            <a:r>
              <a:rPr lang="en-IN" dirty="0"/>
              <a:t>	void </a:t>
            </a:r>
            <a:r>
              <a:rPr lang="en-IN" dirty="0" err="1"/>
              <a:t>func</a:t>
            </a:r>
            <a:r>
              <a:rPr lang="en-IN" dirty="0"/>
              <a:t>() {</a:t>
            </a:r>
            <a:endParaRPr lang="en-IN" dirty="0"/>
          </a:p>
          <a:p>
            <a:r>
              <a:rPr lang="en-IN" dirty="0"/>
              <a:t>	cout &lt;&lt; " I am in class B" &lt;&lt; </a:t>
            </a:r>
            <a:r>
              <a:rPr lang="en-IN" dirty="0" err="1"/>
              <a:t>endl</a:t>
            </a:r>
            <a:r>
              <a:rPr lang="en-IN" dirty="0"/>
              <a:t>;</a:t>
            </a:r>
            <a:endParaRPr lang="en-IN" dirty="0"/>
          </a:p>
          <a:p>
            <a:r>
              <a:rPr lang="en-IN" dirty="0"/>
              <a:t>}</a:t>
            </a:r>
            <a:endParaRPr lang="en-IN" dirty="0"/>
          </a:p>
          <a:p>
            <a:r>
              <a:rPr lang="en-IN" dirty="0"/>
              <a:t>};</a:t>
            </a:r>
            <a:endParaRPr lang="en-IN" dirty="0"/>
          </a:p>
          <a:p>
            <a:r>
              <a:rPr lang="en-IN" dirty="0"/>
              <a:t>// Derived class C</a:t>
            </a:r>
            <a:endParaRPr lang="en-IN" dirty="0"/>
          </a:p>
          <a:p>
            <a:r>
              <a:rPr lang="en-IN" dirty="0"/>
              <a:t>class C: public A, public B {</a:t>
            </a:r>
            <a:endParaRPr lang="en-IN" dirty="0"/>
          </a:p>
          <a:p>
            <a:r>
              <a:rPr lang="en-IN" dirty="0"/>
              <a:t>};</a:t>
            </a:r>
            <a:endParaRPr lang="en-IN" dirty="0"/>
          </a:p>
        </p:txBody>
      </p:sp>
      <p:sp>
        <p:nvSpPr>
          <p:cNvPr id="10" name="TextBox 9"/>
          <p:cNvSpPr txBox="1"/>
          <p:nvPr/>
        </p:nvSpPr>
        <p:spPr>
          <a:xfrm>
            <a:off x="5778304" y="1631159"/>
            <a:ext cx="5688037" cy="4524315"/>
          </a:xfrm>
          <a:prstGeom prst="rect">
            <a:avLst/>
          </a:prstGeom>
          <a:noFill/>
        </p:spPr>
        <p:txBody>
          <a:bodyPr wrap="square">
            <a:spAutoFit/>
          </a:bodyPr>
          <a:lstStyle/>
          <a:p>
            <a:endParaRPr lang="en-IN" dirty="0"/>
          </a:p>
          <a:p>
            <a:r>
              <a:rPr lang="en-IN" dirty="0"/>
              <a:t>// Driver Code</a:t>
            </a:r>
            <a:endParaRPr lang="en-IN" dirty="0"/>
          </a:p>
          <a:p>
            <a:endParaRPr lang="en-IN" dirty="0"/>
          </a:p>
          <a:p>
            <a:r>
              <a:rPr lang="en-IN" dirty="0"/>
              <a:t>int main() {</a:t>
            </a:r>
            <a:endParaRPr lang="en-IN" dirty="0"/>
          </a:p>
          <a:p>
            <a:endParaRPr lang="en-IN" dirty="0"/>
          </a:p>
          <a:p>
            <a:r>
              <a:rPr lang="en-IN" dirty="0"/>
              <a:t>	// Created an object of class C</a:t>
            </a:r>
            <a:endParaRPr lang="en-IN" dirty="0"/>
          </a:p>
          <a:p>
            <a:r>
              <a:rPr lang="en-IN" dirty="0"/>
              <a:t>	C </a:t>
            </a:r>
            <a:r>
              <a:rPr lang="en-IN" dirty="0" err="1"/>
              <a:t>obj</a:t>
            </a:r>
            <a:r>
              <a:rPr lang="en-IN" dirty="0"/>
              <a:t>;</a:t>
            </a:r>
            <a:endParaRPr lang="en-IN" dirty="0"/>
          </a:p>
          <a:p>
            <a:endParaRPr lang="en-IN" dirty="0"/>
          </a:p>
          <a:p>
            <a:r>
              <a:rPr lang="en-IN" dirty="0"/>
              <a:t>	// Calling function </a:t>
            </a:r>
            <a:r>
              <a:rPr lang="en-IN" dirty="0" err="1"/>
              <a:t>func</a:t>
            </a:r>
            <a:r>
              <a:rPr lang="en-IN" dirty="0"/>
              <a:t>() in class A</a:t>
            </a:r>
            <a:endParaRPr lang="en-IN" dirty="0"/>
          </a:p>
          <a:p>
            <a:r>
              <a:rPr lang="en-IN" dirty="0"/>
              <a:t>	</a:t>
            </a:r>
            <a:r>
              <a:rPr lang="en-IN" dirty="0" err="1"/>
              <a:t>obj.A</a:t>
            </a:r>
            <a:r>
              <a:rPr lang="en-IN" dirty="0"/>
              <a:t>::</a:t>
            </a:r>
            <a:r>
              <a:rPr lang="en-IN" dirty="0" err="1"/>
              <a:t>func</a:t>
            </a:r>
            <a:r>
              <a:rPr lang="en-IN" dirty="0"/>
              <a:t>();</a:t>
            </a:r>
            <a:endParaRPr lang="en-IN" dirty="0"/>
          </a:p>
          <a:p>
            <a:endParaRPr lang="en-IN" dirty="0"/>
          </a:p>
          <a:p>
            <a:r>
              <a:rPr lang="en-IN" dirty="0"/>
              <a:t>	// Calling function </a:t>
            </a:r>
            <a:r>
              <a:rPr lang="en-IN" dirty="0" err="1"/>
              <a:t>func</a:t>
            </a:r>
            <a:r>
              <a:rPr lang="en-IN" dirty="0"/>
              <a:t>() in class B</a:t>
            </a:r>
            <a:endParaRPr lang="en-IN" dirty="0"/>
          </a:p>
          <a:p>
            <a:r>
              <a:rPr lang="en-IN" dirty="0"/>
              <a:t>	</a:t>
            </a:r>
            <a:r>
              <a:rPr lang="en-IN" dirty="0" err="1"/>
              <a:t>obj.B</a:t>
            </a:r>
            <a:r>
              <a:rPr lang="en-IN" dirty="0"/>
              <a:t>::</a:t>
            </a:r>
            <a:r>
              <a:rPr lang="en-IN" dirty="0" err="1"/>
              <a:t>func</a:t>
            </a:r>
            <a:r>
              <a:rPr lang="en-IN" dirty="0"/>
              <a:t>();</a:t>
            </a:r>
            <a:endParaRPr lang="en-IN" dirty="0"/>
          </a:p>
          <a:p>
            <a:endParaRPr lang="en-IN" dirty="0"/>
          </a:p>
          <a:p>
            <a:r>
              <a:rPr lang="en-IN" dirty="0"/>
              <a:t>	return 0;</a:t>
            </a:r>
            <a:endParaRPr lang="en-IN" dirty="0"/>
          </a:p>
          <a:p>
            <a:r>
              <a:rPr lang="en-IN" dirty="0"/>
              <a:t>}</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2800" b="1"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sym typeface="+mn-ea"/>
              </a:rPr>
              <a:t>Constructor and Destructor in Derived Class</a:t>
            </a:r>
            <a:endParaRPr lang="en-GB" sz="28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sym typeface="+mn-ea"/>
            </a:endParaRPr>
          </a:p>
        </p:txBody>
      </p:sp>
      <p:sp>
        <p:nvSpPr>
          <p:cNvPr id="5" name="TextBox 4"/>
          <p:cNvSpPr txBox="1"/>
          <p:nvPr/>
        </p:nvSpPr>
        <p:spPr>
          <a:xfrm>
            <a:off x="225082" y="731521"/>
            <a:ext cx="11241259" cy="1477328"/>
          </a:xfrm>
          <a:prstGeom prst="rect">
            <a:avLst/>
          </a:prstGeom>
          <a:noFill/>
        </p:spPr>
        <p:txBody>
          <a:bodyPr wrap="square">
            <a:spAutoFit/>
          </a:bodyPr>
          <a:lstStyle/>
          <a:p>
            <a:pPr algn="just"/>
            <a:r>
              <a:rPr lang="en-GB" dirty="0">
                <a:latin typeface="Times New Roman" panose="02020603050405020304" pitchFamily="18" charset="0"/>
                <a:cs typeface="Times New Roman" panose="02020603050405020304" pitchFamily="18" charset="0"/>
              </a:rPr>
              <a:t>Constructors in a derived class in C++ are important for several reasons:</a:t>
            </a:r>
            <a:endParaRPr lang="en-GB" dirty="0">
              <a:latin typeface="Times New Roman" panose="02020603050405020304" pitchFamily="18" charset="0"/>
              <a:cs typeface="Times New Roman" panose="02020603050405020304" pitchFamily="18" charset="0"/>
            </a:endParaRPr>
          </a:p>
          <a:p>
            <a:pPr algn="just">
              <a:buFont typeface="+mj-lt"/>
              <a:buAutoNum type="arabicPeriod"/>
            </a:pPr>
            <a:r>
              <a:rPr lang="en-GB" dirty="0">
                <a:latin typeface="Times New Roman" panose="02020603050405020304" pitchFamily="18" charset="0"/>
                <a:cs typeface="Times New Roman" panose="02020603050405020304" pitchFamily="18" charset="0"/>
              </a:rPr>
              <a:t>Initialization of Base Class Members:</a:t>
            </a:r>
            <a:endParaRPr lang="en-GB" dirty="0">
              <a:latin typeface="Times New Roman" panose="02020603050405020304" pitchFamily="18" charset="0"/>
              <a:cs typeface="Times New Roman" panose="02020603050405020304" pitchFamily="18" charset="0"/>
            </a:endParaRPr>
          </a:p>
          <a:p>
            <a:pPr algn="just">
              <a:buFont typeface="+mj-lt"/>
              <a:buAutoNum type="arabicPeriod"/>
            </a:pPr>
            <a:r>
              <a:rPr lang="en-IN" i="0" dirty="0">
                <a:effectLst/>
                <a:latin typeface="Times New Roman" panose="02020603050405020304" pitchFamily="18" charset="0"/>
                <a:cs typeface="Times New Roman" panose="02020603050405020304" pitchFamily="18" charset="0"/>
              </a:rPr>
              <a:t>Calling Base Class Constructors:</a:t>
            </a:r>
            <a:endParaRPr lang="en-IN" i="0" dirty="0">
              <a:effectLst/>
              <a:latin typeface="Times New Roman" panose="02020603050405020304" pitchFamily="18" charset="0"/>
              <a:cs typeface="Times New Roman" panose="02020603050405020304" pitchFamily="18" charset="0"/>
            </a:endParaRPr>
          </a:p>
          <a:p>
            <a:pPr algn="just">
              <a:buFont typeface="+mj-lt"/>
              <a:buAutoNum type="arabicPeriod"/>
            </a:pPr>
            <a:r>
              <a:rPr lang="en-IN" i="0" dirty="0">
                <a:effectLst/>
                <a:latin typeface="Times New Roman" panose="02020603050405020304" pitchFamily="18" charset="0"/>
                <a:cs typeface="Times New Roman" panose="02020603050405020304" pitchFamily="18" charset="0"/>
              </a:rPr>
              <a:t>Setting Default Values:</a:t>
            </a:r>
            <a:endParaRPr lang="en-IN" dirty="0">
              <a:latin typeface="Times New Roman" panose="02020603050405020304" pitchFamily="18" charset="0"/>
              <a:cs typeface="Times New Roman" panose="02020603050405020304" pitchFamily="18" charset="0"/>
            </a:endParaRPr>
          </a:p>
          <a:p>
            <a:pPr algn="just">
              <a:buFont typeface="+mj-lt"/>
              <a:buAutoNum type="arabicPeriod"/>
            </a:pPr>
            <a:r>
              <a:rPr lang="en-IN" i="0" dirty="0">
                <a:effectLst/>
                <a:latin typeface="Times New Roman" panose="02020603050405020304" pitchFamily="18" charset="0"/>
                <a:cs typeface="Times New Roman" panose="02020603050405020304" pitchFamily="18" charset="0"/>
              </a:rPr>
              <a:t>Code Clarity and Readability:</a:t>
            </a:r>
            <a:endParaRPr lang="en-GB"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88852" y="2340204"/>
            <a:ext cx="10427678" cy="1569660"/>
          </a:xfrm>
          <a:prstGeom prst="rect">
            <a:avLst/>
          </a:prstGeom>
          <a:noFill/>
        </p:spPr>
        <p:txBody>
          <a:bodyPr wrap="square">
            <a:spAutoFit/>
          </a:bodyPr>
          <a:lstStyle/>
          <a:p>
            <a:r>
              <a:rPr lang="en-IN" sz="2400" b="1" dirty="0"/>
              <a:t>Syntax:</a:t>
            </a:r>
            <a:endParaRPr lang="en-IN" sz="2400" b="1" dirty="0"/>
          </a:p>
          <a:p>
            <a:r>
              <a:rPr lang="en-IN" dirty="0"/>
              <a:t>Derived-Constructor (arg1, arg2, arg3….): Base 1-Constructor (arg1,arg2), Base 2-Constructor(arg3,arg4)</a:t>
            </a:r>
            <a:endParaRPr lang="en-IN" dirty="0"/>
          </a:p>
          <a:p>
            <a:r>
              <a:rPr lang="en-IN" dirty="0"/>
              <a:t>{</a:t>
            </a:r>
            <a:endParaRPr lang="en-IN" dirty="0"/>
          </a:p>
          <a:p>
            <a:r>
              <a:rPr lang="en-IN" dirty="0"/>
              <a:t>….</a:t>
            </a:r>
            <a:endParaRPr lang="en-IN" dirty="0"/>
          </a:p>
          <a:p>
            <a:r>
              <a:rPr lang="en-IN" dirty="0"/>
              <a:t>} Base 1-Constructor (arg1,arg2)</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TextBox 3"/>
          <p:cNvSpPr txBox="1"/>
          <p:nvPr/>
        </p:nvSpPr>
        <p:spPr>
          <a:xfrm>
            <a:off x="1065629" y="550049"/>
            <a:ext cx="3576710" cy="5355312"/>
          </a:xfrm>
          <a:prstGeom prst="rect">
            <a:avLst/>
          </a:prstGeom>
          <a:noFill/>
        </p:spPr>
        <p:txBody>
          <a:bodyPr wrap="square">
            <a:spAutoFit/>
          </a:bodyPr>
          <a:lstStyle/>
          <a:p>
            <a:r>
              <a:rPr lang="en-IN" dirty="0"/>
              <a:t>#include&lt;iostream&gt;</a:t>
            </a:r>
            <a:endParaRPr lang="en-IN" dirty="0"/>
          </a:p>
          <a:p>
            <a:r>
              <a:rPr lang="en-IN" dirty="0"/>
              <a:t>using namespace std;</a:t>
            </a:r>
            <a:endParaRPr lang="en-IN" dirty="0"/>
          </a:p>
          <a:p>
            <a:r>
              <a:rPr lang="en-IN" dirty="0"/>
              <a:t>class A</a:t>
            </a:r>
            <a:endParaRPr lang="en-IN" dirty="0"/>
          </a:p>
          <a:p>
            <a:r>
              <a:rPr lang="en-IN" dirty="0"/>
              <a:t>{</a:t>
            </a:r>
            <a:endParaRPr lang="en-IN" dirty="0"/>
          </a:p>
          <a:p>
            <a:r>
              <a:rPr lang="en-IN" dirty="0"/>
              <a:t>public:</a:t>
            </a:r>
            <a:endParaRPr lang="en-IN" dirty="0"/>
          </a:p>
          <a:p>
            <a:r>
              <a:rPr lang="en-IN" dirty="0"/>
              <a:t>	A(int x)</a:t>
            </a:r>
            <a:endParaRPr lang="en-IN" dirty="0"/>
          </a:p>
          <a:p>
            <a:r>
              <a:rPr lang="en-IN" dirty="0"/>
              <a:t>	{</a:t>
            </a:r>
            <a:endParaRPr lang="en-IN" dirty="0"/>
          </a:p>
          <a:p>
            <a:r>
              <a:rPr lang="en-IN" dirty="0"/>
              <a:t>	cout&lt;&lt;"a Constructor";</a:t>
            </a:r>
            <a:endParaRPr lang="en-IN" dirty="0"/>
          </a:p>
          <a:p>
            <a:r>
              <a:rPr lang="en-IN" dirty="0"/>
              <a:t>	}</a:t>
            </a:r>
            <a:endParaRPr lang="en-IN" dirty="0"/>
          </a:p>
          <a:p>
            <a:r>
              <a:rPr lang="en-IN" dirty="0"/>
              <a:t>};</a:t>
            </a:r>
            <a:endParaRPr lang="en-IN" dirty="0"/>
          </a:p>
          <a:p>
            <a:r>
              <a:rPr lang="en-IN" dirty="0"/>
              <a:t>class B</a:t>
            </a:r>
            <a:endParaRPr lang="en-IN" dirty="0"/>
          </a:p>
          <a:p>
            <a:r>
              <a:rPr lang="en-IN" dirty="0"/>
              <a:t>{</a:t>
            </a:r>
            <a:endParaRPr lang="en-IN" dirty="0"/>
          </a:p>
          <a:p>
            <a:r>
              <a:rPr lang="en-IN" dirty="0"/>
              <a:t>public:</a:t>
            </a:r>
            <a:endParaRPr lang="en-IN" dirty="0"/>
          </a:p>
          <a:p>
            <a:r>
              <a:rPr lang="en-IN" dirty="0"/>
              <a:t>	B(int y)</a:t>
            </a:r>
            <a:endParaRPr lang="en-IN" dirty="0"/>
          </a:p>
          <a:p>
            <a:r>
              <a:rPr lang="en-IN" dirty="0"/>
              <a:t>	{</a:t>
            </a:r>
            <a:endParaRPr lang="en-IN" dirty="0"/>
          </a:p>
          <a:p>
            <a:r>
              <a:rPr lang="en-IN" dirty="0"/>
              <a:t>	cout&lt;&lt;"b Constructor";</a:t>
            </a:r>
            <a:endParaRPr lang="en-IN" dirty="0"/>
          </a:p>
          <a:p>
            <a:r>
              <a:rPr lang="en-IN" dirty="0"/>
              <a:t>	}</a:t>
            </a:r>
            <a:endParaRPr lang="en-IN" dirty="0"/>
          </a:p>
          <a:p>
            <a:r>
              <a:rPr lang="en-IN" dirty="0"/>
              <a:t>};</a:t>
            </a:r>
            <a:endParaRPr lang="en-IN" dirty="0"/>
          </a:p>
          <a:p>
            <a:endParaRPr lang="en-IN" dirty="0"/>
          </a:p>
        </p:txBody>
      </p:sp>
      <p:sp>
        <p:nvSpPr>
          <p:cNvPr id="6" name="TextBox 5"/>
          <p:cNvSpPr txBox="1"/>
          <p:nvPr/>
        </p:nvSpPr>
        <p:spPr>
          <a:xfrm>
            <a:off x="5862710" y="731521"/>
            <a:ext cx="4659924" cy="5909310"/>
          </a:xfrm>
          <a:prstGeom prst="rect">
            <a:avLst/>
          </a:prstGeom>
          <a:noFill/>
        </p:spPr>
        <p:txBody>
          <a:bodyPr wrap="square">
            <a:spAutoFit/>
          </a:bodyPr>
          <a:lstStyle/>
          <a:p>
            <a:r>
              <a:rPr lang="en-IN" dirty="0"/>
              <a:t>class C:public </a:t>
            </a:r>
            <a:r>
              <a:rPr lang="en-IN" dirty="0" err="1"/>
              <a:t>A,public</a:t>
            </a:r>
            <a:r>
              <a:rPr lang="en-IN" dirty="0"/>
              <a:t> B</a:t>
            </a:r>
            <a:endParaRPr lang="en-IN" dirty="0"/>
          </a:p>
          <a:p>
            <a:r>
              <a:rPr lang="en-IN" dirty="0"/>
              <a:t>{</a:t>
            </a:r>
            <a:endParaRPr lang="en-IN" dirty="0"/>
          </a:p>
          <a:p>
            <a:r>
              <a:rPr lang="en-IN" dirty="0"/>
              <a:t>public:</a:t>
            </a:r>
            <a:endParaRPr lang="en-IN" dirty="0"/>
          </a:p>
          <a:p>
            <a:r>
              <a:rPr lang="en-IN" dirty="0"/>
              <a:t>	int m;</a:t>
            </a:r>
            <a:endParaRPr lang="en-IN" dirty="0"/>
          </a:p>
          <a:p>
            <a:r>
              <a:rPr lang="en-IN" dirty="0"/>
              <a:t>	C(int </a:t>
            </a:r>
            <a:r>
              <a:rPr lang="en-IN" dirty="0" err="1"/>
              <a:t>x,int</a:t>
            </a:r>
            <a:r>
              <a:rPr lang="en-IN" dirty="0"/>
              <a:t> </a:t>
            </a:r>
            <a:r>
              <a:rPr lang="en-IN" dirty="0" err="1"/>
              <a:t>y,int</a:t>
            </a:r>
            <a:r>
              <a:rPr lang="en-IN" dirty="0"/>
              <a:t> z):A(x),B(y)</a:t>
            </a:r>
            <a:endParaRPr lang="en-IN" dirty="0"/>
          </a:p>
          <a:p>
            <a:r>
              <a:rPr lang="en-IN" dirty="0"/>
              <a:t>		{</a:t>
            </a:r>
            <a:endParaRPr lang="en-IN" dirty="0"/>
          </a:p>
          <a:p>
            <a:r>
              <a:rPr lang="en-IN" dirty="0"/>
              <a:t>	cout&lt;&lt;"c Constructor";</a:t>
            </a:r>
            <a:endParaRPr lang="en-IN" dirty="0"/>
          </a:p>
          <a:p>
            <a:r>
              <a:rPr lang="en-IN" dirty="0"/>
              <a:t>	m=z;	</a:t>
            </a:r>
            <a:endParaRPr lang="en-IN" dirty="0"/>
          </a:p>
          <a:p>
            <a:r>
              <a:rPr lang="en-IN" dirty="0"/>
              <a:t>		}</a:t>
            </a:r>
            <a:endParaRPr lang="en-IN" dirty="0"/>
          </a:p>
          <a:p>
            <a:r>
              <a:rPr lang="en-IN" dirty="0"/>
              <a:t>	void </a:t>
            </a:r>
            <a:r>
              <a:rPr lang="en-IN" dirty="0" err="1"/>
              <a:t>disp</a:t>
            </a:r>
            <a:r>
              <a:rPr lang="en-IN" dirty="0"/>
              <a:t>()</a:t>
            </a:r>
            <a:endParaRPr lang="en-IN" dirty="0"/>
          </a:p>
          <a:p>
            <a:r>
              <a:rPr lang="en-IN" dirty="0"/>
              <a:t>		{</a:t>
            </a:r>
            <a:endParaRPr lang="en-IN" dirty="0"/>
          </a:p>
          <a:p>
            <a:r>
              <a:rPr lang="en-IN" dirty="0"/>
              <a:t>cout&lt;&lt;"the m is:"&lt;&lt;m&lt;&lt;</a:t>
            </a:r>
            <a:r>
              <a:rPr lang="en-IN" dirty="0" err="1"/>
              <a:t>endl</a:t>
            </a:r>
            <a:r>
              <a:rPr lang="en-IN" dirty="0"/>
              <a:t>;</a:t>
            </a:r>
            <a:endParaRPr lang="en-IN" dirty="0"/>
          </a:p>
          <a:p>
            <a:r>
              <a:rPr lang="en-IN" dirty="0"/>
              <a:t>					}</a:t>
            </a:r>
            <a:endParaRPr lang="en-IN" dirty="0"/>
          </a:p>
          <a:p>
            <a:r>
              <a:rPr lang="en-IN" dirty="0"/>
              <a:t>};</a:t>
            </a:r>
            <a:endParaRPr lang="en-IN" dirty="0"/>
          </a:p>
          <a:p>
            <a:r>
              <a:rPr lang="en-IN" dirty="0"/>
              <a:t>int main()</a:t>
            </a:r>
            <a:endParaRPr lang="en-IN" dirty="0"/>
          </a:p>
          <a:p>
            <a:r>
              <a:rPr lang="en-IN" dirty="0"/>
              <a:t>{</a:t>
            </a:r>
            <a:endParaRPr lang="en-IN" dirty="0"/>
          </a:p>
          <a:p>
            <a:r>
              <a:rPr lang="en-IN" dirty="0"/>
              <a:t>	 C </a:t>
            </a:r>
            <a:r>
              <a:rPr lang="en-IN" dirty="0" err="1"/>
              <a:t>obj</a:t>
            </a:r>
            <a:r>
              <a:rPr lang="en-IN" dirty="0"/>
              <a:t>  (1,2,3);</a:t>
            </a:r>
            <a:endParaRPr lang="en-IN" dirty="0"/>
          </a:p>
          <a:p>
            <a:r>
              <a:rPr lang="en-IN" dirty="0"/>
              <a:t>	</a:t>
            </a:r>
            <a:r>
              <a:rPr lang="en-IN" dirty="0" err="1"/>
              <a:t>obj.disp</a:t>
            </a:r>
            <a:r>
              <a:rPr lang="en-IN" dirty="0"/>
              <a:t>();</a:t>
            </a:r>
            <a:endParaRPr lang="en-IN" dirty="0"/>
          </a:p>
          <a:p>
            <a:r>
              <a:rPr lang="en-IN" dirty="0"/>
              <a:t>	return 0;</a:t>
            </a:r>
            <a:endParaRPr lang="en-IN" dirty="0"/>
          </a:p>
          <a:p>
            <a:r>
              <a:rPr lang="en-IN" dirty="0"/>
              <a:t>}</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0" name="Text Box 99"/>
          <p:cNvSpPr txBox="1"/>
          <p:nvPr/>
        </p:nvSpPr>
        <p:spPr>
          <a:xfrm>
            <a:off x="140970" y="327025"/>
            <a:ext cx="12051030" cy="1198880"/>
          </a:xfrm>
          <a:prstGeom prst="rect">
            <a:avLst/>
          </a:prstGeom>
          <a:noFill/>
          <a:ln w="9525">
            <a:noFill/>
          </a:ln>
        </p:spPr>
        <p:txBody>
          <a:bodyPr wrap="square">
            <a:spAutoFit/>
          </a:bodyPr>
          <a:p>
            <a:pPr marL="228600" indent="-228600"/>
            <a:r>
              <a:rPr lang="en-US" b="1">
                <a:solidFill>
                  <a:schemeClr val="accent1"/>
                </a:solidFill>
                <a:effectLst>
                  <a:outerShdw blurRad="38100" dist="25400" dir="5400000" algn="ctr" rotWithShape="0">
                    <a:srgbClr val="6E747A">
                      <a:alpha val="43000"/>
                      <a:alpha val="43000"/>
                    </a:srgbClr>
                  </a:outerShdw>
                </a:effectLst>
                <a:latin typeface="Times New Roman" panose="02020603050405020304" pitchFamily="18" charset="0"/>
                <a:sym typeface="+mn-ea"/>
              </a:rPr>
              <a:t>Destructors in Derived Class:</a:t>
            </a:r>
            <a:r>
              <a:rPr lang="en-US" b="0">
                <a:latin typeface="Symbol" charset="0"/>
              </a:rPr>
              <a:t>· </a:t>
            </a:r>
            <a:r>
              <a:rPr lang="en-US" b="0">
                <a:latin typeface="Times New Roman" panose="02020603050405020304" pitchFamily="18" charset="0"/>
              </a:rPr>
              <a:t>The destructor of the derived class is called before the destructor of the base class when an object is destroyed.</a:t>
            </a:r>
            <a:r>
              <a:rPr lang="en-US" b="0">
                <a:latin typeface="Symbol" charset="0"/>
              </a:rPr>
              <a:t>· </a:t>
            </a:r>
            <a:r>
              <a:rPr lang="en-US" b="0">
                <a:latin typeface="Times New Roman" panose="02020603050405020304" pitchFamily="18" charset="0"/>
              </a:rPr>
              <a:t>You don't need to explicitly call the base class destructor since it's automatically invoked.</a:t>
            </a:r>
            <a:r>
              <a:rPr lang="en-US" b="0">
                <a:latin typeface="Symbol" charset="0"/>
              </a:rPr>
              <a:t>· </a:t>
            </a:r>
            <a:r>
              <a:rPr lang="en-US">
                <a:latin typeface="Times New Roman" panose="02020603050405020304" pitchFamily="18" charset="0"/>
                <a:sym typeface="+mn-ea"/>
              </a:rPr>
              <a:t>You can define your own destructor in the derived class to perform additional cleanup specific to the derived class.</a:t>
            </a:r>
            <a:endParaRPr lang="en-US" b="0">
              <a:latin typeface="Symbol" charset="0"/>
            </a:endParaRPr>
          </a:p>
        </p:txBody>
      </p:sp>
      <p:sp>
        <p:nvSpPr>
          <p:cNvPr id="3" name="Text Box 2"/>
          <p:cNvSpPr txBox="1"/>
          <p:nvPr/>
        </p:nvSpPr>
        <p:spPr>
          <a:xfrm>
            <a:off x="782955" y="1612900"/>
            <a:ext cx="6015355" cy="4276725"/>
          </a:xfrm>
          <a:prstGeom prst="rect">
            <a:avLst/>
          </a:prstGeom>
          <a:noFill/>
          <a:ln w="9525">
            <a:noFill/>
          </a:ln>
        </p:spPr>
        <p:txBody>
          <a:bodyPr wrap="square">
            <a:spAutoFit/>
          </a:bodyPr>
          <a:p>
            <a:pPr indent="0"/>
            <a:r>
              <a:rPr lang="en-US" sz="2000" b="1" u="sng">
                <a:latin typeface="Times New Roman Bold" panose="02020603050405020304" charset="0"/>
                <a:cs typeface="Times New Roman Bold" panose="02020603050405020304" charset="0"/>
              </a:rPr>
              <a:t>Example:</a:t>
            </a:r>
            <a:endParaRPr lang="en-US" sz="2000" b="1" u="sng">
              <a:latin typeface="Times New Roman Bold" panose="02020603050405020304" charset="0"/>
              <a:cs typeface="Times New Roman Bold" panose="02020603050405020304" charset="0"/>
            </a:endParaRPr>
          </a:p>
          <a:p>
            <a:pPr indent="0"/>
            <a:r>
              <a:rPr lang="en-US" sz="1400">
                <a:solidFill>
                  <a:srgbClr val="FF0000"/>
                </a:solidFill>
              </a:rPr>
              <a:t>#include&lt;iostream&gt; using namespace std; class Base{public:Base(){cout &lt;&lt; "Base constructor called" &lt;&lt; endl;}~Base(){cout &lt;&lt; "Base destructor called" &lt;&lt; endl;}};class Derived : public Base{public:Derived(){</a:t>
            </a:r>
            <a:endParaRPr lang="en-US" sz="1400">
              <a:solidFill>
                <a:srgbClr val="FF0000"/>
              </a:solidFill>
            </a:endParaRPr>
          </a:p>
          <a:p>
            <a:pPr indent="0"/>
            <a:r>
              <a:rPr lang="en-US" sz="1400">
                <a:solidFill>
                  <a:srgbClr val="FF0000"/>
                </a:solidFill>
              </a:rPr>
              <a:t>cout &lt;&lt; "Derived constructor called" &lt;&lt; endl;</a:t>
            </a:r>
            <a:endParaRPr lang="en-US" sz="1400">
              <a:solidFill>
                <a:srgbClr val="FF0000"/>
              </a:solidFill>
            </a:endParaRPr>
          </a:p>
        </p:txBody>
      </p:sp>
      <p:sp>
        <p:nvSpPr>
          <p:cNvPr id="5" name="Text Box 4"/>
          <p:cNvSpPr txBox="1"/>
          <p:nvPr/>
        </p:nvSpPr>
        <p:spPr>
          <a:xfrm>
            <a:off x="6167120" y="2647633"/>
            <a:ext cx="5080000" cy="3207385"/>
          </a:xfrm>
          <a:prstGeom prst="rect">
            <a:avLst/>
          </a:prstGeom>
          <a:noFill/>
          <a:ln w="9525">
            <a:noFill/>
          </a:ln>
        </p:spPr>
        <p:txBody>
          <a:bodyPr>
            <a:spAutoFit/>
          </a:bodyPr>
          <a:p>
            <a:pPr marL="0" indent="0" algn="l"/>
            <a:r>
              <a:rPr lang="en-US" sz="1600" b="0">
                <a:solidFill>
                  <a:srgbClr val="FF0000"/>
                </a:solidFill>
                <a:latin typeface="Times New Roman" panose="02020603050405020304" pitchFamily="18" charset="0"/>
              </a:rPr>
              <a:t>}~Derived(){cout &lt;&lt; "Derived destructor called" &lt;&lt; endl;}}; </a:t>
            </a:r>
            <a:r>
              <a:rPr lang="en-US" sz="1050" b="0">
                <a:solidFill>
                  <a:srgbClr val="FF0000"/>
                </a:solidFill>
                <a:latin typeface="Times New Roman" panose="02020603050405020304" pitchFamily="18" charset="0"/>
              </a:rPr>
              <a:t> </a:t>
            </a:r>
            <a:r>
              <a:rPr lang="en-US" sz="1600" b="0">
                <a:solidFill>
                  <a:srgbClr val="FF0000"/>
                </a:solidFill>
                <a:latin typeface="Times New Roman" panose="02020603050405020304" pitchFamily="18" charset="0"/>
              </a:rPr>
              <a:t>int main(){Derived derivedObj; </a:t>
            </a:r>
            <a:endParaRPr lang="en-US" sz="1600" b="0">
              <a:solidFill>
                <a:srgbClr val="FF0000"/>
              </a:solidFill>
              <a:latin typeface="Times New Roman" panose="02020603050405020304" pitchFamily="18" charset="0"/>
            </a:endParaRPr>
          </a:p>
          <a:p>
            <a:pPr marL="0" indent="0" algn="l"/>
            <a:r>
              <a:rPr lang="en-US" sz="1600" b="0">
                <a:solidFill>
                  <a:srgbClr val="FF0000"/>
                </a:solidFill>
                <a:latin typeface="Times New Roman" panose="02020603050405020304" pitchFamily="18" charset="0"/>
              </a:rPr>
              <a:t>return 0;}</a:t>
            </a:r>
            <a:endParaRPr lang="en-US" sz="1600" b="0">
              <a:solidFill>
                <a:srgbClr val="FF0000"/>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Virtual Class</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pic>
        <p:nvPicPr>
          <p:cNvPr id="3074" name="Picture 2" descr="Lightbox"/>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52467" y="661181"/>
            <a:ext cx="7254241" cy="55356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Virtual Class</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4" name="TextBox 3"/>
          <p:cNvSpPr txBox="1"/>
          <p:nvPr/>
        </p:nvSpPr>
        <p:spPr>
          <a:xfrm>
            <a:off x="725659" y="422032"/>
            <a:ext cx="6054969" cy="5632311"/>
          </a:xfrm>
          <a:prstGeom prst="rect">
            <a:avLst/>
          </a:prstGeom>
          <a:noFill/>
        </p:spPr>
        <p:txBody>
          <a:bodyPr wrap="square">
            <a:spAutoFit/>
          </a:bodyPr>
          <a:lstStyle/>
          <a:p>
            <a:r>
              <a:rPr lang="en-IN" dirty="0"/>
              <a:t>#include &lt;iostream&gt; </a:t>
            </a:r>
            <a:endParaRPr lang="en-IN" dirty="0"/>
          </a:p>
          <a:p>
            <a:r>
              <a:rPr lang="en-IN" dirty="0"/>
              <a:t>using namespace std; </a:t>
            </a:r>
            <a:endParaRPr lang="en-IN" dirty="0"/>
          </a:p>
          <a:p>
            <a:r>
              <a:rPr lang="en-IN" dirty="0"/>
              <a:t>class A { </a:t>
            </a:r>
            <a:endParaRPr lang="en-IN" dirty="0"/>
          </a:p>
          <a:p>
            <a:r>
              <a:rPr lang="en-IN" dirty="0"/>
              <a:t>public: </a:t>
            </a:r>
            <a:endParaRPr lang="en-IN" dirty="0"/>
          </a:p>
          <a:p>
            <a:r>
              <a:rPr lang="en-IN" dirty="0"/>
              <a:t>	void show() </a:t>
            </a:r>
            <a:endParaRPr lang="en-IN" dirty="0"/>
          </a:p>
          <a:p>
            <a:r>
              <a:rPr lang="en-IN" dirty="0"/>
              <a:t>	{ </a:t>
            </a:r>
            <a:endParaRPr lang="en-IN" dirty="0"/>
          </a:p>
          <a:p>
            <a:r>
              <a:rPr lang="en-IN" dirty="0"/>
              <a:t>		cout &lt;&lt; "Hello form A \n"; </a:t>
            </a:r>
            <a:endParaRPr lang="en-IN" dirty="0"/>
          </a:p>
          <a:p>
            <a:r>
              <a:rPr lang="en-IN" dirty="0"/>
              <a:t>	} </a:t>
            </a:r>
            <a:endParaRPr lang="en-IN" dirty="0"/>
          </a:p>
          <a:p>
            <a:r>
              <a:rPr lang="en-IN" dirty="0"/>
              <a:t>}; </a:t>
            </a:r>
            <a:endParaRPr lang="en-IN" dirty="0"/>
          </a:p>
          <a:p>
            <a:r>
              <a:rPr lang="en-IN" dirty="0"/>
              <a:t>class B : public A { </a:t>
            </a:r>
            <a:endParaRPr lang="en-IN" dirty="0"/>
          </a:p>
          <a:p>
            <a:r>
              <a:rPr lang="en-IN" dirty="0"/>
              <a:t>}; </a:t>
            </a:r>
            <a:endParaRPr lang="en-IN" dirty="0"/>
          </a:p>
          <a:p>
            <a:r>
              <a:rPr lang="en-IN" dirty="0"/>
              <a:t>class C : public A { </a:t>
            </a:r>
            <a:endParaRPr lang="en-IN" dirty="0"/>
          </a:p>
          <a:p>
            <a:r>
              <a:rPr lang="en-IN" dirty="0"/>
              <a:t>}; </a:t>
            </a:r>
            <a:endParaRPr lang="en-IN" dirty="0"/>
          </a:p>
          <a:p>
            <a:r>
              <a:rPr lang="en-IN" dirty="0"/>
              <a:t>class D : public B, public C { </a:t>
            </a:r>
            <a:endParaRPr lang="en-IN" dirty="0"/>
          </a:p>
          <a:p>
            <a:r>
              <a:rPr lang="en-IN" dirty="0"/>
              <a:t>}; </a:t>
            </a:r>
            <a:endParaRPr lang="en-IN" dirty="0"/>
          </a:p>
          <a:p>
            <a:r>
              <a:rPr lang="en-IN" dirty="0"/>
              <a:t>int main() </a:t>
            </a:r>
            <a:endParaRPr lang="en-IN" dirty="0"/>
          </a:p>
          <a:p>
            <a:r>
              <a:rPr lang="en-IN" dirty="0"/>
              <a:t>{ </a:t>
            </a:r>
            <a:endParaRPr lang="en-IN" dirty="0"/>
          </a:p>
          <a:p>
            <a:r>
              <a:rPr lang="en-IN" dirty="0"/>
              <a:t>	D object; </a:t>
            </a:r>
            <a:endParaRPr lang="en-IN" dirty="0"/>
          </a:p>
          <a:p>
            <a:r>
              <a:rPr lang="en-IN" dirty="0"/>
              <a:t>	</a:t>
            </a:r>
            <a:r>
              <a:rPr lang="en-IN" dirty="0" err="1"/>
              <a:t>object.show</a:t>
            </a:r>
            <a:r>
              <a:rPr lang="en-IN" dirty="0"/>
              <a:t>(); </a:t>
            </a:r>
            <a:endParaRPr lang="en-IN" dirty="0"/>
          </a:p>
          <a:p>
            <a:r>
              <a:rPr lang="en-IN" dirty="0"/>
              <a:t>} </a:t>
            </a:r>
            <a:endParaRPr lang="en-IN" dirty="0"/>
          </a:p>
        </p:txBody>
      </p:sp>
      <p:sp>
        <p:nvSpPr>
          <p:cNvPr id="6" name="TextBox 5"/>
          <p:cNvSpPr txBox="1"/>
          <p:nvPr/>
        </p:nvSpPr>
        <p:spPr>
          <a:xfrm>
            <a:off x="6208541" y="4295893"/>
            <a:ext cx="2999935" cy="369332"/>
          </a:xfrm>
          <a:prstGeom prst="rect">
            <a:avLst/>
          </a:prstGeom>
          <a:noFill/>
        </p:spPr>
        <p:txBody>
          <a:bodyPr wrap="square">
            <a:spAutoFit/>
          </a:bodyPr>
          <a:lstStyle/>
          <a:p>
            <a:r>
              <a:rPr lang="en-IN" b="1" i="0" dirty="0">
                <a:solidFill>
                  <a:srgbClr val="273239"/>
                </a:solidFill>
                <a:effectLst/>
                <a:latin typeface="Nunito" pitchFamily="2" charset="0"/>
              </a:rPr>
              <a:t>Compile Errors:</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2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Solution to this Problem is Virtual Class</a:t>
            </a:r>
            <a:endParaRPr lang="en-GB" sz="32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3" name="Rectangle 1"/>
          <p:cNvSpPr>
            <a:spLocks noChangeArrowheads="1"/>
          </p:cNvSpPr>
          <p:nvPr/>
        </p:nvSpPr>
        <p:spPr bwMode="auto">
          <a:xfrm>
            <a:off x="492369" y="593022"/>
            <a:ext cx="10621107" cy="13849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resolve this ambiguity when class A is inherited in both class B and class C, it is declared as virtual base class by placing a keyword virtual as : </a:t>
            </a: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b="1" dirty="0">
                <a:latin typeface="Times New Roman" panose="02020603050405020304" pitchFamily="18" charset="0"/>
                <a:cs typeface="Times New Roman" panose="02020603050405020304" pitchFamily="18" charset="0"/>
              </a:rPr>
              <a:t>Syntax for Virtual Base Classes:</a:t>
            </a:r>
            <a:endParaRPr lang="en-US" altLang="en-US" b="1"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dirty="0">
                <a:latin typeface="Times New Roman" panose="02020603050405020304" pitchFamily="18" charset="0"/>
                <a:cs typeface="Times New Roman" panose="02020603050405020304" pitchFamily="18" charset="0"/>
              </a:rPr>
              <a:t>Syntax 1: class B : virtual public A { }; </a:t>
            </a: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lang="en-US" altLang="en-US" dirty="0">
                <a:latin typeface="Times New Roman" panose="02020603050405020304" pitchFamily="18" charset="0"/>
                <a:cs typeface="Times New Roman" panose="02020603050405020304" pitchFamily="18" charset="0"/>
              </a:rPr>
              <a:t>Syntax 2: class C : public virtual A { }; </a:t>
            </a:r>
            <a:endParaRPr lang="en-US" alt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92369" y="2087609"/>
            <a:ext cx="6098344" cy="4524315"/>
          </a:xfrm>
          <a:prstGeom prst="rect">
            <a:avLst/>
          </a:prstGeom>
          <a:noFill/>
        </p:spPr>
        <p:txBody>
          <a:bodyPr wrap="square">
            <a:spAutoFit/>
          </a:bodyPr>
          <a:lstStyle/>
          <a:p>
            <a:r>
              <a:rPr lang="en-IN" dirty="0"/>
              <a:t>#include &lt;iostream&gt; </a:t>
            </a:r>
            <a:endParaRPr lang="en-IN" dirty="0"/>
          </a:p>
          <a:p>
            <a:r>
              <a:rPr lang="en-IN" dirty="0"/>
              <a:t>using namespace std; </a:t>
            </a:r>
            <a:endParaRPr lang="en-IN" dirty="0"/>
          </a:p>
          <a:p>
            <a:r>
              <a:rPr lang="en-IN" dirty="0"/>
              <a:t>class A { </a:t>
            </a:r>
            <a:endParaRPr lang="en-IN" dirty="0"/>
          </a:p>
          <a:p>
            <a:r>
              <a:rPr lang="en-IN" dirty="0"/>
              <a:t>public: </a:t>
            </a:r>
            <a:endParaRPr lang="en-IN" dirty="0"/>
          </a:p>
          <a:p>
            <a:r>
              <a:rPr lang="en-IN" dirty="0"/>
              <a:t>	int a; </a:t>
            </a:r>
            <a:endParaRPr lang="en-IN" dirty="0"/>
          </a:p>
          <a:p>
            <a:r>
              <a:rPr lang="en-IN" dirty="0"/>
              <a:t>	A() // constructor </a:t>
            </a:r>
            <a:endParaRPr lang="en-IN" dirty="0"/>
          </a:p>
          <a:p>
            <a:r>
              <a:rPr lang="en-IN" dirty="0"/>
              <a:t>	{ </a:t>
            </a:r>
            <a:endParaRPr lang="en-IN" dirty="0"/>
          </a:p>
          <a:p>
            <a:r>
              <a:rPr lang="en-IN" dirty="0"/>
              <a:t>		a = 10; </a:t>
            </a:r>
            <a:endParaRPr lang="en-IN" dirty="0"/>
          </a:p>
          <a:p>
            <a:r>
              <a:rPr lang="en-IN" dirty="0"/>
              <a:t>	} </a:t>
            </a:r>
            <a:endParaRPr lang="en-IN" dirty="0"/>
          </a:p>
          <a:p>
            <a:r>
              <a:rPr lang="en-IN" dirty="0"/>
              <a:t>}; </a:t>
            </a:r>
            <a:endParaRPr lang="en-IN" dirty="0"/>
          </a:p>
          <a:p>
            <a:r>
              <a:rPr lang="en-IN" dirty="0"/>
              <a:t>class B : public virtual A { </a:t>
            </a:r>
            <a:endParaRPr lang="en-IN" dirty="0"/>
          </a:p>
          <a:p>
            <a:r>
              <a:rPr lang="en-IN" dirty="0"/>
              <a:t>}; </a:t>
            </a:r>
            <a:endParaRPr lang="en-IN" dirty="0"/>
          </a:p>
          <a:p>
            <a:r>
              <a:rPr lang="en-IN" dirty="0"/>
              <a:t>class C : public virtual A { </a:t>
            </a:r>
            <a:endParaRPr lang="en-IN" dirty="0"/>
          </a:p>
          <a:p>
            <a:r>
              <a:rPr lang="en-IN" dirty="0"/>
              <a:t>}; </a:t>
            </a:r>
            <a:endParaRPr lang="en-IN" dirty="0"/>
          </a:p>
          <a:p>
            <a:r>
              <a:rPr lang="en-IN" dirty="0"/>
              <a:t>class D : public B, public C { </a:t>
            </a:r>
            <a:endParaRPr lang="en-IN" dirty="0"/>
          </a:p>
          <a:p>
            <a:r>
              <a:rPr lang="en-IN" dirty="0"/>
              <a:t>}; </a:t>
            </a:r>
            <a:endParaRPr lang="en-IN" dirty="0"/>
          </a:p>
        </p:txBody>
      </p:sp>
      <p:sp>
        <p:nvSpPr>
          <p:cNvPr id="9" name="TextBox 8"/>
          <p:cNvSpPr txBox="1"/>
          <p:nvPr/>
        </p:nvSpPr>
        <p:spPr>
          <a:xfrm>
            <a:off x="5924843" y="4191561"/>
            <a:ext cx="5188633" cy="2308324"/>
          </a:xfrm>
          <a:prstGeom prst="rect">
            <a:avLst/>
          </a:prstGeom>
          <a:noFill/>
        </p:spPr>
        <p:txBody>
          <a:bodyPr wrap="square">
            <a:spAutoFit/>
          </a:bodyPr>
          <a:lstStyle/>
          <a:p>
            <a:endParaRPr lang="en-IN" dirty="0"/>
          </a:p>
          <a:p>
            <a:r>
              <a:rPr lang="en-IN" dirty="0"/>
              <a:t>int main() </a:t>
            </a:r>
            <a:endParaRPr lang="en-IN" dirty="0"/>
          </a:p>
          <a:p>
            <a:r>
              <a:rPr lang="en-IN" dirty="0"/>
              <a:t>{ </a:t>
            </a:r>
            <a:endParaRPr lang="en-IN" dirty="0"/>
          </a:p>
          <a:p>
            <a:r>
              <a:rPr lang="en-IN" dirty="0"/>
              <a:t>	D object; // object creation of class d </a:t>
            </a:r>
            <a:endParaRPr lang="en-IN" dirty="0"/>
          </a:p>
          <a:p>
            <a:r>
              <a:rPr lang="en-IN" dirty="0"/>
              <a:t>	cout &lt;&lt; "a = " &lt;&lt; </a:t>
            </a:r>
            <a:r>
              <a:rPr lang="en-IN" dirty="0" err="1"/>
              <a:t>object.a</a:t>
            </a:r>
            <a:r>
              <a:rPr lang="en-IN" dirty="0"/>
              <a:t> &lt;&lt; </a:t>
            </a:r>
            <a:r>
              <a:rPr lang="en-IN" dirty="0" err="1"/>
              <a:t>endl</a:t>
            </a:r>
            <a:r>
              <a:rPr lang="en-IN" dirty="0"/>
              <a:t>; </a:t>
            </a:r>
            <a:endParaRPr lang="en-IN" dirty="0"/>
          </a:p>
          <a:p>
            <a:endParaRPr lang="en-IN" dirty="0"/>
          </a:p>
          <a:p>
            <a:r>
              <a:rPr lang="en-IN" dirty="0"/>
              <a:t>	return 0; </a:t>
            </a:r>
            <a:endParaRPr lang="en-IN" dirty="0"/>
          </a:p>
          <a:p>
            <a:r>
              <a:rPr lang="en-IN" dirty="0"/>
              <a:t>} </a:t>
            </a:r>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2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Subclass, Subtype and Principle of Substitutability</a:t>
            </a:r>
            <a:endParaRPr lang="en-GB" sz="32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101" name="Text Box 100"/>
          <p:cNvSpPr txBox="1"/>
          <p:nvPr/>
        </p:nvSpPr>
        <p:spPr>
          <a:xfrm>
            <a:off x="271780" y="731520"/>
            <a:ext cx="11659870" cy="583565"/>
          </a:xfrm>
          <a:prstGeom prst="rect">
            <a:avLst/>
          </a:prstGeom>
          <a:noFill/>
          <a:ln w="9525">
            <a:noFill/>
          </a:ln>
        </p:spPr>
        <p:txBody>
          <a:bodyPr wrap="square">
            <a:spAutoFit/>
          </a:bodyPr>
          <a:p>
            <a:pPr indent="0"/>
            <a:r>
              <a:rPr lang="en-US" sz="1600" b="1">
                <a:latin typeface="Calibri" charset="0"/>
                <a:cs typeface="SimSun" charset="0"/>
              </a:rPr>
              <a:t>Subclass: </a:t>
            </a:r>
            <a:endParaRPr lang="en-US" sz="1600" b="1">
              <a:latin typeface="Calibri" charset="0"/>
              <a:cs typeface="SimSun" charset="0"/>
            </a:endParaRPr>
          </a:p>
          <a:p>
            <a:pPr indent="0"/>
            <a:r>
              <a:rPr lang="en-US" sz="1600" b="0">
                <a:latin typeface="Calibri" charset="0"/>
                <a:cs typeface="SimSun" charset="0"/>
              </a:rPr>
              <a:t>In C++, a subclass refers to a class that is derived from another class, known as the base class or superclass. </a:t>
            </a:r>
            <a:endParaRPr lang="en-US" sz="1600" b="0">
              <a:latin typeface="Calibri" charset="0"/>
              <a:cs typeface="SimSun" charset="0"/>
            </a:endParaRPr>
          </a:p>
        </p:txBody>
      </p:sp>
      <p:sp>
        <p:nvSpPr>
          <p:cNvPr id="4" name="Text Box 3"/>
          <p:cNvSpPr txBox="1"/>
          <p:nvPr/>
        </p:nvSpPr>
        <p:spPr>
          <a:xfrm>
            <a:off x="271780" y="1322705"/>
            <a:ext cx="11496040" cy="829945"/>
          </a:xfrm>
          <a:prstGeom prst="rect">
            <a:avLst/>
          </a:prstGeom>
          <a:noFill/>
          <a:ln w="9525">
            <a:noFill/>
          </a:ln>
        </p:spPr>
        <p:txBody>
          <a:bodyPr wrap="square">
            <a:spAutoFit/>
          </a:bodyPr>
          <a:p>
            <a:pPr indent="0"/>
            <a:r>
              <a:rPr lang="en-US" sz="1600" b="1">
                <a:latin typeface="Times New Roman" panose="02020603050405020304" pitchFamily="18" charset="0"/>
              </a:rPr>
              <a:t>Subtype: </a:t>
            </a:r>
            <a:endParaRPr lang="en-US" sz="1600" b="1">
              <a:latin typeface="Times New Roman" panose="02020603050405020304" pitchFamily="18" charset="0"/>
            </a:endParaRPr>
          </a:p>
          <a:p>
            <a:pPr indent="0"/>
            <a:r>
              <a:rPr lang="en-US" sz="1600" b="0">
                <a:latin typeface="Times New Roman" panose="02020603050405020304" pitchFamily="18" charset="0"/>
              </a:rPr>
              <a:t> In C++, a subtype refers to a type that is derived from another type, just like a subclass is derived from a base class. </a:t>
            </a:r>
            <a:endParaRPr lang="en-US" sz="1600" b="0">
              <a:latin typeface="Times New Roman" panose="02020603050405020304" pitchFamily="18" charset="0"/>
            </a:endParaRPr>
          </a:p>
          <a:p>
            <a:pPr indent="0"/>
            <a:r>
              <a:rPr lang="en-US" sz="1600" b="0">
                <a:latin typeface="Times New Roman" panose="02020603050405020304" pitchFamily="18" charset="0"/>
              </a:rPr>
              <a:t>The subtype inherits the characteristics of the supertype and can be used wherever the supertype is expected.</a:t>
            </a:r>
            <a:endParaRPr lang="en-US" sz="1600" b="0">
              <a:latin typeface="Times New Roman" panose="02020603050405020304" pitchFamily="18" charset="0"/>
            </a:endParaRPr>
          </a:p>
        </p:txBody>
      </p:sp>
      <p:sp>
        <p:nvSpPr>
          <p:cNvPr id="5" name="Text Box 4"/>
          <p:cNvSpPr txBox="1"/>
          <p:nvPr/>
        </p:nvSpPr>
        <p:spPr>
          <a:xfrm>
            <a:off x="227965" y="2660650"/>
            <a:ext cx="11583670" cy="1076325"/>
          </a:xfrm>
          <a:prstGeom prst="rect">
            <a:avLst/>
          </a:prstGeom>
          <a:noFill/>
          <a:ln w="9525">
            <a:noFill/>
          </a:ln>
        </p:spPr>
        <p:txBody>
          <a:bodyPr wrap="square">
            <a:spAutoFit/>
          </a:bodyPr>
          <a:p>
            <a:pPr marL="0" indent="0" algn="l"/>
            <a:r>
              <a:rPr lang="en-US" sz="1600" b="1">
                <a:latin typeface="Times New Roman" panose="02020603050405020304" pitchFamily="18" charset="0"/>
              </a:rPr>
              <a:t>Principle of Substitutability: </a:t>
            </a:r>
            <a:endParaRPr lang="en-US" sz="1600" b="1">
              <a:latin typeface="Times New Roman" panose="02020603050405020304" pitchFamily="18" charset="0"/>
            </a:endParaRPr>
          </a:p>
          <a:p>
            <a:pPr marL="0" indent="0" algn="l"/>
            <a:r>
              <a:rPr lang="en-US" sz="1600" b="0">
                <a:latin typeface="Times New Roman" panose="02020603050405020304" pitchFamily="18" charset="0"/>
              </a:rPr>
              <a:t>The principle of substitutability, also known as the Liskov substitution principle, is a fundamental principle of object-oriented programming. It states that objects of a derived class (</a:t>
            </a:r>
            <a:r>
              <a:rPr lang="en-US" sz="1600" b="1">
                <a:latin typeface="Times New Roman" panose="02020603050405020304" pitchFamily="18" charset="0"/>
              </a:rPr>
              <a:t>subtype</a:t>
            </a:r>
            <a:r>
              <a:rPr lang="en-US" sz="1600" b="0">
                <a:latin typeface="Times New Roman" panose="02020603050405020304" pitchFamily="18" charset="0"/>
              </a:rPr>
              <a:t>) must be able to be substituted for objects of the base class (</a:t>
            </a:r>
            <a:r>
              <a:rPr lang="en-US" sz="1600" b="1">
                <a:latin typeface="Times New Roman" panose="02020603050405020304" pitchFamily="18" charset="0"/>
              </a:rPr>
              <a:t>supertype</a:t>
            </a:r>
            <a:r>
              <a:rPr lang="en-US" sz="1600" b="0">
                <a:latin typeface="Times New Roman" panose="02020603050405020304" pitchFamily="18" charset="0"/>
              </a:rPr>
              <a:t>) without affecting the correctness of the program.</a:t>
            </a:r>
            <a:endParaRPr lang="en-US" sz="1600" b="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Composition and its Implementation</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3" name="Text Box 2"/>
          <p:cNvSpPr txBox="1"/>
          <p:nvPr/>
        </p:nvSpPr>
        <p:spPr>
          <a:xfrm>
            <a:off x="0" y="731520"/>
            <a:ext cx="12192000" cy="2061210"/>
          </a:xfrm>
          <a:prstGeom prst="rect">
            <a:avLst/>
          </a:prstGeom>
          <a:noFill/>
          <a:ln w="9525">
            <a:noFill/>
          </a:ln>
        </p:spPr>
        <p:txBody>
          <a:bodyPr wrap="square">
            <a:spAutoFit/>
          </a:bodyPr>
          <a:p>
            <a:pPr marL="285750" indent="-285750">
              <a:buFont typeface="Wingdings" panose="05000000000000000000" charset="0"/>
              <a:buChar char=""/>
            </a:pPr>
            <a:r>
              <a:rPr lang="en-US" sz="1600" b="0">
                <a:latin typeface="Times New Roman" panose="02020603050405020304" pitchFamily="18" charset="0"/>
              </a:rPr>
              <a:t>Composition is one of the fundamental approaches or concepts used in object-oriented programming (OOP) that allows you to create complex objects by combining simpler objects.</a:t>
            </a:r>
            <a:endParaRPr lang="en-US" sz="1600" b="0">
              <a:latin typeface="Times New Roman" panose="02020603050405020304" pitchFamily="18" charset="0"/>
            </a:endParaRPr>
          </a:p>
          <a:p>
            <a:pPr marL="285750" indent="-285750">
              <a:buFont typeface="Wingdings" panose="05000000000000000000" charset="0"/>
              <a:buChar char=""/>
            </a:pPr>
            <a:r>
              <a:rPr lang="en-US" sz="1600" b="0">
                <a:latin typeface="Times New Roman" panose="02020603050405020304" pitchFamily="18" charset="0"/>
              </a:rPr>
              <a:t>It is a way to establish relationships between classes, where one class contains an instance of another class as a member variable. </a:t>
            </a:r>
            <a:endParaRPr lang="en-US" sz="1600" b="0">
              <a:latin typeface="Times New Roman" panose="02020603050405020304" pitchFamily="18" charset="0"/>
            </a:endParaRPr>
          </a:p>
          <a:p>
            <a:pPr marL="285750" indent="-285750">
              <a:buFont typeface="Wingdings" panose="05000000000000000000" charset="0"/>
              <a:buChar char=""/>
            </a:pPr>
            <a:r>
              <a:rPr lang="en-US" sz="1600" b="0">
                <a:latin typeface="Times New Roman" panose="02020603050405020304" pitchFamily="18" charset="0"/>
              </a:rPr>
              <a:t>Composition in C++ is achieved by using objects and classes; therefore, it is referred to as object composition.</a:t>
            </a:r>
            <a:endParaRPr lang="en-US" sz="1600" b="0">
              <a:latin typeface="Times New Roman" panose="02020603050405020304" pitchFamily="18" charset="0"/>
            </a:endParaRPr>
          </a:p>
          <a:p>
            <a:pPr marL="285750" indent="-285750">
              <a:buFont typeface="Wingdings" panose="05000000000000000000" charset="0"/>
              <a:buChar char=""/>
            </a:pPr>
            <a:r>
              <a:rPr lang="en-US" sz="1600" b="0">
                <a:latin typeface="Times New Roman" panose="02020603050405020304" pitchFamily="18" charset="0"/>
              </a:rPr>
              <a:t>The object composition concept work on the model of has-a relationship among two different objects.</a:t>
            </a:r>
            <a:endParaRPr lang="en-US" sz="1600" b="0">
              <a:latin typeface="Times New Roman" panose="02020603050405020304" pitchFamily="18" charset="0"/>
            </a:endParaRPr>
          </a:p>
          <a:p>
            <a:pPr marL="285750" indent="-285750">
              <a:buFont typeface="Wingdings" panose="05000000000000000000" charset="0"/>
              <a:buChar char=""/>
            </a:pPr>
            <a:r>
              <a:rPr lang="en-US" sz="1600" b="0">
                <a:latin typeface="Times New Roman" panose="02020603050405020304" pitchFamily="18" charset="0"/>
              </a:rPr>
              <a:t>In object composition, the object created is a part of another object which is referred to as a sub-object and the whole object is called super-object. </a:t>
            </a:r>
            <a:endParaRPr lang="en-US" sz="1600" b="0">
              <a:latin typeface="Times New Roman" panose="02020603050405020304" pitchFamily="18" charset="0"/>
            </a:endParaRPr>
          </a:p>
          <a:p>
            <a:pPr marL="285750" indent="-285750">
              <a:buFont typeface="Wingdings" panose="05000000000000000000" charset="0"/>
              <a:buChar char=""/>
            </a:pPr>
            <a:r>
              <a:rPr lang="en-US" sz="1600" b="0">
                <a:latin typeface="Times New Roman" panose="02020603050405020304" pitchFamily="18" charset="0"/>
              </a:rPr>
              <a:t>A Sub-object is destroyed when an object composition is destroyed, known as a do and die relationship.</a:t>
            </a:r>
            <a:endParaRPr lang="en-US" sz="1600" b="0">
              <a:latin typeface="Times New Roman" panose="02020603050405020304" pitchFamily="18" charset="0"/>
            </a:endParaRPr>
          </a:p>
        </p:txBody>
      </p:sp>
      <p:sp>
        <p:nvSpPr>
          <p:cNvPr id="6" name="Text Box 5"/>
          <p:cNvSpPr txBox="1"/>
          <p:nvPr/>
        </p:nvSpPr>
        <p:spPr>
          <a:xfrm>
            <a:off x="325755" y="3384550"/>
            <a:ext cx="9537700" cy="2061210"/>
          </a:xfrm>
          <a:prstGeom prst="rect">
            <a:avLst/>
          </a:prstGeom>
          <a:noFill/>
          <a:ln w="9525">
            <a:noFill/>
          </a:ln>
        </p:spPr>
        <p:txBody>
          <a:bodyPr wrap="square">
            <a:spAutoFit/>
          </a:bodyPr>
          <a:p>
            <a:pPr marL="229235" indent="-229235" algn="l"/>
            <a:r>
              <a:rPr lang="en-US" sz="1600" b="0">
                <a:latin typeface="Symbol" charset="0"/>
              </a:rPr>
              <a:t>· </a:t>
            </a:r>
            <a:r>
              <a:rPr lang="en-US" sz="1600" b="0">
                <a:latin typeface="Times New Roman" panose="02020603050405020304" pitchFamily="18" charset="0"/>
              </a:rPr>
              <a:t>Composition is all about code reuse.</a:t>
            </a:r>
            <a:r>
              <a:rPr lang="en-US" sz="1600" b="0">
                <a:latin typeface="Symbol" charset="0"/>
              </a:rPr>
              <a:t>· </a:t>
            </a:r>
            <a:r>
              <a:rPr lang="en-US" sz="1600" b="0">
                <a:latin typeface="Times New Roman" panose="02020603050405020304" pitchFamily="18" charset="0"/>
              </a:rPr>
              <a:t>Composition is a specialized form of aggregation.</a:t>
            </a:r>
            <a:r>
              <a:rPr lang="en-US" sz="1600" b="0">
                <a:latin typeface="Symbol" charset="0"/>
              </a:rPr>
              <a:t>· </a:t>
            </a:r>
            <a:r>
              <a:rPr lang="en-US" sz="1600" b="0">
                <a:latin typeface="Times New Roman" panose="02020603050405020304" pitchFamily="18" charset="0"/>
              </a:rPr>
              <a:t>Creating objects of one class inside another class.</a:t>
            </a:r>
            <a:r>
              <a:rPr lang="en-US" sz="1600" b="0">
                <a:latin typeface="Symbol" charset="0"/>
              </a:rPr>
              <a:t>· </a:t>
            </a:r>
            <a:r>
              <a:rPr lang="en-US" sz="1600" b="1">
                <a:latin typeface="Times New Roman" panose="02020603050405020304" pitchFamily="18" charset="0"/>
              </a:rPr>
              <a:t>“Has a” </a:t>
            </a:r>
            <a:r>
              <a:rPr lang="en-US" sz="1600" b="0">
                <a:latin typeface="Times New Roman" panose="02020603050405020304" pitchFamily="18" charset="0"/>
              </a:rPr>
              <a:t>relationship</a:t>
            </a:r>
            <a:r>
              <a:rPr lang="en-US" sz="1600" b="0">
                <a:latin typeface="Courier New" panose="02070309020205020404" charset="0"/>
              </a:rPr>
              <a:t>o </a:t>
            </a:r>
            <a:r>
              <a:rPr lang="en-US" sz="1600" b="0">
                <a:latin typeface="Times New Roman" panose="02020603050405020304" pitchFamily="18" charset="0"/>
              </a:rPr>
              <a:t>Bird has a beak.</a:t>
            </a:r>
            <a:r>
              <a:rPr lang="en-US" sz="1600" b="0">
                <a:latin typeface="Courier New" panose="02070309020205020404" charset="0"/>
              </a:rPr>
              <a:t>o </a:t>
            </a:r>
            <a:r>
              <a:rPr lang="en-US" sz="1600" b="0">
                <a:latin typeface="Times New Roman" panose="02020603050405020304" pitchFamily="18" charset="0"/>
              </a:rPr>
              <a:t>Employee has a date of birth.</a:t>
            </a:r>
            <a:r>
              <a:rPr lang="en-US" sz="1600" b="0">
                <a:latin typeface="Courier New" panose="02070309020205020404" charset="0"/>
              </a:rPr>
              <a:t></a:t>
            </a:r>
            <a:r>
              <a:rPr lang="en-US" sz="1600" b="0">
                <a:latin typeface="Symbol" charset="0"/>
              </a:rPr>
              <a:t>· </a:t>
            </a:r>
            <a:r>
              <a:rPr lang="en-US" sz="1600" b="0">
                <a:latin typeface="Times New Roman" panose="02020603050405020304" pitchFamily="18" charset="0"/>
              </a:rPr>
              <a:t>Child object does not have their lifecycle and if parent object deletes all child object will also be deleted.</a:t>
            </a:r>
            <a:endParaRPr lang="en-US" sz="1600" b="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Composition and its Implementation</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grpSp>
        <p:nvGrpSpPr>
          <p:cNvPr id="1073743044" name="Group 1073743043"/>
          <p:cNvGrpSpPr/>
          <p:nvPr/>
        </p:nvGrpSpPr>
        <p:grpSpPr>
          <a:xfrm>
            <a:off x="632460" y="895350"/>
            <a:ext cx="4997450" cy="2268855"/>
            <a:chOff x="1426" y="160"/>
            <a:chExt cx="4736" cy="2235"/>
          </a:xfrm>
        </p:grpSpPr>
        <p:pic>
          <p:nvPicPr>
            <p:cNvPr id="1073743045" name="Picture 1073743044" descr="What is meant by aggregation in c++ programming? - Quora "/>
            <p:cNvPicPr>
              <a:picLocks noChangeAspect="1"/>
            </p:cNvPicPr>
            <p:nvPr/>
          </p:nvPicPr>
          <p:blipFill>
            <a:blip r:embed="rId1"/>
            <a:stretch>
              <a:fillRect/>
            </a:stretch>
          </p:blipFill>
          <p:spPr>
            <a:xfrm>
              <a:off x="1425" y="160"/>
              <a:ext cx="4736" cy="2235"/>
            </a:xfrm>
            <a:prstGeom prst="rect">
              <a:avLst/>
            </a:prstGeom>
            <a:noFill/>
            <a:ln w="9525">
              <a:noFill/>
            </a:ln>
          </p:spPr>
        </p:pic>
        <p:pic>
          <p:nvPicPr>
            <p:cNvPr id="1073743046" name="Picture 1073743045" descr="What is meant by aggregation in c++ programming? - Quora "/>
            <p:cNvPicPr>
              <a:picLocks noChangeAspect="1"/>
            </p:cNvPicPr>
            <p:nvPr/>
          </p:nvPicPr>
          <p:blipFill>
            <a:blip r:embed="rId2"/>
            <a:stretch>
              <a:fillRect/>
            </a:stretch>
          </p:blipFill>
          <p:spPr>
            <a:xfrm>
              <a:off x="1552" y="202"/>
              <a:ext cx="4568" cy="2066"/>
            </a:xfrm>
            <a:prstGeom prst="rect">
              <a:avLst/>
            </a:prstGeom>
            <a:noFill/>
            <a:ln w="9525">
              <a:noFill/>
            </a:ln>
          </p:spPr>
        </p:pic>
      </p:grpSp>
      <p:grpSp>
        <p:nvGrpSpPr>
          <p:cNvPr id="1073743047" name="Group 1073743046"/>
          <p:cNvGrpSpPr/>
          <p:nvPr/>
        </p:nvGrpSpPr>
        <p:grpSpPr>
          <a:xfrm>
            <a:off x="6963410" y="1044575"/>
            <a:ext cx="4104640" cy="2268855"/>
            <a:chOff x="6252" y="216"/>
            <a:chExt cx="4496" cy="2220"/>
          </a:xfrm>
        </p:grpSpPr>
        <p:pic>
          <p:nvPicPr>
            <p:cNvPr id="1073743048" name="Picture 1073743047" descr="Is-A and Has-A Relationship in Java "/>
            <p:cNvPicPr>
              <a:picLocks noChangeAspect="1"/>
            </p:cNvPicPr>
            <p:nvPr/>
          </p:nvPicPr>
          <p:blipFill>
            <a:blip r:embed="rId3"/>
            <a:stretch>
              <a:fillRect/>
            </a:stretch>
          </p:blipFill>
          <p:spPr>
            <a:xfrm>
              <a:off x="6252" y="215"/>
              <a:ext cx="4496" cy="2220"/>
            </a:xfrm>
            <a:prstGeom prst="rect">
              <a:avLst/>
            </a:prstGeom>
            <a:noFill/>
            <a:ln w="9525">
              <a:noFill/>
            </a:ln>
          </p:spPr>
        </p:pic>
        <p:pic>
          <p:nvPicPr>
            <p:cNvPr id="1073743049" name="Picture 1073743048" descr="Is-A and Has-A Relationship in Java "/>
            <p:cNvPicPr>
              <a:picLocks noChangeAspect="1"/>
            </p:cNvPicPr>
            <p:nvPr/>
          </p:nvPicPr>
          <p:blipFill>
            <a:blip r:embed="rId4"/>
            <a:stretch>
              <a:fillRect/>
            </a:stretch>
          </p:blipFill>
          <p:spPr>
            <a:xfrm>
              <a:off x="6337" y="238"/>
              <a:ext cx="4328" cy="2052"/>
            </a:xfrm>
            <a:prstGeom prst="rect">
              <a:avLst/>
            </a:prstGeom>
            <a:noFill/>
            <a:ln w="9525">
              <a:noFill/>
            </a:ln>
          </p:spPr>
        </p:pic>
      </p:grpSp>
      <p:grpSp>
        <p:nvGrpSpPr>
          <p:cNvPr id="1073743050" name="Group 1073743049"/>
          <p:cNvGrpSpPr/>
          <p:nvPr/>
        </p:nvGrpSpPr>
        <p:grpSpPr>
          <a:xfrm>
            <a:off x="630555" y="3536950"/>
            <a:ext cx="3836670" cy="2921000"/>
            <a:chOff x="1567" y="223"/>
            <a:chExt cx="4088" cy="3298"/>
          </a:xfrm>
        </p:grpSpPr>
        <p:pic>
          <p:nvPicPr>
            <p:cNvPr id="1073743051" name="Picture 1073743050" descr="UML Association vs Aggregation vs Composition - Javatpoint "/>
            <p:cNvPicPr>
              <a:picLocks noChangeAspect="1"/>
            </p:cNvPicPr>
            <p:nvPr/>
          </p:nvPicPr>
          <p:blipFill>
            <a:blip r:embed="rId5"/>
            <a:stretch>
              <a:fillRect/>
            </a:stretch>
          </p:blipFill>
          <p:spPr>
            <a:xfrm>
              <a:off x="1567" y="222"/>
              <a:ext cx="4088" cy="3298"/>
            </a:xfrm>
            <a:prstGeom prst="rect">
              <a:avLst/>
            </a:prstGeom>
            <a:noFill/>
            <a:ln w="9525">
              <a:noFill/>
            </a:ln>
          </p:spPr>
        </p:pic>
        <p:pic>
          <p:nvPicPr>
            <p:cNvPr id="1073743052" name="Picture 1073743051" descr="UML Association vs Aggregation vs Composition - Javatpoint "/>
            <p:cNvPicPr>
              <a:picLocks noChangeAspect="1"/>
            </p:cNvPicPr>
            <p:nvPr/>
          </p:nvPicPr>
          <p:blipFill>
            <a:blip r:embed="rId6"/>
            <a:stretch>
              <a:fillRect/>
            </a:stretch>
          </p:blipFill>
          <p:spPr>
            <a:xfrm>
              <a:off x="1651" y="366"/>
              <a:ext cx="3921" cy="3131"/>
            </a:xfrm>
            <a:prstGeom prst="rect">
              <a:avLst/>
            </a:prstGeom>
            <a:noFill/>
            <a:ln w="9525">
              <a:noFill/>
            </a:ln>
          </p:spPr>
        </p:pic>
      </p:grpSp>
      <p:grpSp>
        <p:nvGrpSpPr>
          <p:cNvPr id="1073743039" name="Group 1073743038"/>
          <p:cNvGrpSpPr/>
          <p:nvPr/>
        </p:nvGrpSpPr>
        <p:grpSpPr>
          <a:xfrm>
            <a:off x="5087620" y="4308475"/>
            <a:ext cx="4996815" cy="1376680"/>
            <a:chOff x="6209" y="11426"/>
            <a:chExt cx="5060" cy="2168"/>
          </a:xfrm>
        </p:grpSpPr>
        <p:pic>
          <p:nvPicPr>
            <p:cNvPr id="1073743040" name="Picture 1073743039"/>
            <p:cNvPicPr>
              <a:picLocks noChangeAspect="1"/>
            </p:cNvPicPr>
            <p:nvPr/>
          </p:nvPicPr>
          <p:blipFill>
            <a:blip r:embed="rId7"/>
            <a:stretch>
              <a:fillRect/>
            </a:stretch>
          </p:blipFill>
          <p:spPr>
            <a:xfrm>
              <a:off x="6208" y="11426"/>
              <a:ext cx="5060" cy="2168"/>
            </a:xfrm>
            <a:prstGeom prst="rect">
              <a:avLst/>
            </a:prstGeom>
            <a:noFill/>
            <a:ln w="9525">
              <a:noFill/>
            </a:ln>
          </p:spPr>
        </p:pic>
        <p:sp>
          <p:nvSpPr>
            <p:cNvPr id="1073743041" name="Rectangles 1073743040"/>
            <p:cNvSpPr/>
            <p:nvPr/>
          </p:nvSpPr>
          <p:spPr>
            <a:xfrm>
              <a:off x="6380" y="11597"/>
              <a:ext cx="4718" cy="1827"/>
            </a:xfrm>
            <a:prstGeom prst="rect">
              <a:avLst/>
            </a:prstGeom>
            <a:solidFill>
              <a:srgbClr val="FFFFFF"/>
            </a:solidFill>
            <a:ln w="9525">
              <a:noFill/>
            </a:ln>
          </p:spPr>
          <p:txBody>
            <a:bodyPr/>
            <a:p>
              <a:endParaRPr lang="en-US"/>
            </a:p>
          </p:txBody>
        </p:sp>
        <p:sp>
          <p:nvSpPr>
            <p:cNvPr id="1073743042" name="Rectangles 1073743041"/>
            <p:cNvSpPr/>
            <p:nvPr/>
          </p:nvSpPr>
          <p:spPr>
            <a:xfrm>
              <a:off x="6380" y="11597"/>
              <a:ext cx="4718" cy="1827"/>
            </a:xfrm>
            <a:prstGeom prst="rect">
              <a:avLst/>
            </a:prstGeom>
            <a:noFill/>
            <a:ln w="6350" cap="flat" cmpd="sng">
              <a:solidFill>
                <a:srgbClr val="000000"/>
              </a:solidFill>
              <a:prstDash val="solid"/>
              <a:miter/>
              <a:headEnd type="none" w="med" len="med"/>
              <a:tailEnd type="none" w="med" len="med"/>
            </a:ln>
          </p:spPr>
          <p:txBody>
            <a:bodyPr/>
            <a:p>
              <a:endParaRPr lang="en-US"/>
            </a:p>
          </p:txBody>
        </p:sp>
        <p:sp>
          <p:nvSpPr>
            <p:cNvPr id="1073743043" name="Text Box 1073743042"/>
            <p:cNvSpPr txBox="1"/>
            <p:nvPr/>
          </p:nvSpPr>
          <p:spPr>
            <a:xfrm>
              <a:off x="6380" y="11597"/>
              <a:ext cx="4718" cy="1827"/>
            </a:xfrm>
            <a:prstGeom prst="rect">
              <a:avLst/>
            </a:prstGeom>
            <a:noFill/>
            <a:ln w="9525">
              <a:noFill/>
            </a:ln>
          </p:spPr>
          <p:txBody>
            <a:bodyPr lIns="0" tIns="0" rIns="0" bIns="0"/>
            <a:p>
              <a:pPr marL="380365" indent="-229235" algn="l" defTabSz="914400">
                <a:spcBef>
                  <a:spcPts val="380"/>
                </a:spcBef>
                <a:tabLst>
                  <a:tab pos="380365" algn="l"/>
                  <a:tab pos="381000" algn="l"/>
                </a:tabLst>
              </a:pPr>
              <a:r>
                <a:rPr lang="en-US" b="1"/>
                <a:t>Person</a:t>
              </a:r>
              <a:r>
                <a:rPr lang="en-US"/>
                <a:t> is a whole object.</a:t>
              </a:r>
              <a:endParaRPr lang="en-US"/>
            </a:p>
            <a:p>
              <a:pPr marL="380365" indent="-229235" algn="l" defTabSz="914400">
                <a:spcBef>
                  <a:spcPts val="110"/>
                </a:spcBef>
                <a:tabLst>
                  <a:tab pos="380365" algn="l"/>
                  <a:tab pos="381000" algn="l"/>
                </a:tabLst>
              </a:pPr>
              <a:r>
                <a:rPr lang="en-US" b="1"/>
                <a:t>Brain, Heart, and Legs </a:t>
              </a:r>
              <a:r>
                <a:rPr lang="en-US"/>
                <a:t>are </a:t>
              </a:r>
              <a:r>
                <a:rPr lang="en-US" b="1"/>
                <a:t>part object</a:t>
              </a:r>
              <a:r>
                <a:rPr lang="en-US"/>
                <a:t>.</a:t>
              </a:r>
              <a:endParaRPr lang="en-US"/>
            </a:p>
            <a:p>
              <a:pPr marL="380365" indent="-229235" algn="l" defTabSz="914400">
                <a:spcBef>
                  <a:spcPts val="100"/>
                </a:spcBef>
                <a:tabLst>
                  <a:tab pos="380365" algn="l"/>
                  <a:tab pos="381000" algn="l"/>
                </a:tabLst>
              </a:pPr>
              <a:r>
                <a:rPr lang="en-US"/>
                <a:t>This whole part relationship is </a:t>
              </a:r>
              <a:r>
                <a:rPr lang="en-US" b="1"/>
                <a:t>composition</a:t>
              </a:r>
              <a:r>
                <a:rPr lang="en-US"/>
                <a:t>.</a:t>
              </a:r>
              <a:endParaRPr lang="en-US"/>
            </a:p>
            <a:p>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Composition and its Implementation</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100" name="Text Box 99"/>
          <p:cNvSpPr txBox="1"/>
          <p:nvPr/>
        </p:nvSpPr>
        <p:spPr>
          <a:xfrm>
            <a:off x="3556000" y="-2558733"/>
            <a:ext cx="5080000" cy="445135"/>
          </a:xfrm>
          <a:prstGeom prst="rect">
            <a:avLst/>
          </a:prstGeom>
          <a:noFill/>
          <a:ln w="9525">
            <a:noFill/>
          </a:ln>
        </p:spPr>
        <p:txBody>
          <a:bodyPr>
            <a:spAutoFit/>
          </a:bodyPr>
          <a:p>
            <a:pPr indent="0"/>
            <a:r>
              <a:rPr lang="en-US" sz="1100" b="0">
                <a:solidFill>
                  <a:srgbClr val="C00000"/>
                </a:solidFill>
                <a:latin typeface="Consolas" charset="0"/>
                <a:cs typeface="Times New Roman" panose="02020603050405020304" pitchFamily="18" charset="0"/>
              </a:rPr>
              <a:t>#include&lt;iostream&gt; using namespace std; class Engine{	</a:t>
            </a:r>
            <a:r>
              <a:rPr lang="en-US" sz="1200" b="1">
                <a:latin typeface="Times New Roman" panose="02020603050405020304" pitchFamily="18" charset="0"/>
              </a:rPr>
              <a:t>Output:</a:t>
            </a:r>
            <a:endParaRPr lang="en-US"/>
          </a:p>
        </p:txBody>
      </p:sp>
      <p:sp>
        <p:nvSpPr>
          <p:cNvPr id="7" name="Text Box 6"/>
          <p:cNvSpPr txBox="1"/>
          <p:nvPr/>
        </p:nvSpPr>
        <p:spPr>
          <a:xfrm>
            <a:off x="259080" y="731520"/>
            <a:ext cx="6143625" cy="5754370"/>
          </a:xfrm>
          <a:prstGeom prst="rect">
            <a:avLst/>
          </a:prstGeom>
          <a:noFill/>
        </p:spPr>
        <p:txBody>
          <a:bodyPr wrap="square" rtlCol="0" anchor="t">
            <a:spAutoFit/>
          </a:bodyPr>
          <a:p>
            <a:r>
              <a:rPr lang="en-US" sz="1600"/>
              <a:t>#include&lt;iostream&gt; </a:t>
            </a:r>
            <a:endParaRPr lang="en-US" sz="1600"/>
          </a:p>
          <a:p>
            <a:r>
              <a:rPr lang="en-US" sz="1600"/>
              <a:t>using namespace std; </a:t>
            </a:r>
            <a:endParaRPr lang="en-US" sz="1600"/>
          </a:p>
          <a:p>
            <a:r>
              <a:rPr lang="en-US" sz="1600"/>
              <a:t>class Engine</a:t>
            </a:r>
            <a:endParaRPr lang="en-US" sz="1600"/>
          </a:p>
          <a:p>
            <a:r>
              <a:rPr lang="en-US" sz="1600"/>
              <a:t>{	</a:t>
            </a:r>
            <a:endParaRPr lang="en-US" sz="1600"/>
          </a:p>
          <a:p>
            <a:r>
              <a:rPr lang="en-US" sz="1600"/>
              <a:t>public:</a:t>
            </a:r>
            <a:endParaRPr lang="en-US" sz="1600"/>
          </a:p>
          <a:p>
            <a:r>
              <a:rPr lang="en-US" sz="1600"/>
              <a:t>void start()</a:t>
            </a:r>
            <a:endParaRPr lang="en-US" sz="1600"/>
          </a:p>
          <a:p>
            <a:r>
              <a:rPr lang="en-US" sz="1600"/>
              <a:t>{</a:t>
            </a:r>
            <a:endParaRPr lang="en-US" sz="1600"/>
          </a:p>
          <a:p>
            <a:r>
              <a:rPr lang="en-US" sz="1600"/>
              <a:t>    cout&lt;&lt;"Engine starts"&lt;&lt;endl;</a:t>
            </a:r>
            <a:endParaRPr lang="en-US" sz="1600"/>
          </a:p>
          <a:p>
            <a:r>
              <a:rPr lang="en-US" sz="1600"/>
              <a:t>}</a:t>
            </a:r>
            <a:endParaRPr lang="en-US" sz="1600"/>
          </a:p>
          <a:p>
            <a:r>
              <a:rPr lang="en-US" sz="1600"/>
              <a:t>};</a:t>
            </a:r>
            <a:endParaRPr lang="en-US" sz="1600"/>
          </a:p>
          <a:p>
            <a:r>
              <a:rPr lang="en-US" sz="1600"/>
              <a:t>class Car</a:t>
            </a:r>
            <a:endParaRPr lang="en-US" sz="1600"/>
          </a:p>
          <a:p>
            <a:r>
              <a:rPr lang="en-US" sz="1600"/>
              <a:t>{</a:t>
            </a:r>
            <a:endParaRPr lang="en-US" sz="1600"/>
          </a:p>
          <a:p>
            <a:r>
              <a:rPr lang="en-US" sz="1600"/>
              <a:t>public:</a:t>
            </a:r>
            <a:endParaRPr lang="en-US" sz="1600"/>
          </a:p>
          <a:p>
            <a:r>
              <a:rPr lang="en-US" sz="1600"/>
              <a:t>Engine e; </a:t>
            </a:r>
            <a:r>
              <a:rPr lang="en-US" sz="1600">
                <a:solidFill>
                  <a:srgbClr val="00B0F0"/>
                </a:solidFill>
              </a:rPr>
              <a:t>//class Engine object as a member variable of class Car</a:t>
            </a:r>
            <a:endParaRPr lang="en-US" sz="1600"/>
          </a:p>
          <a:p>
            <a:endParaRPr lang="en-US" sz="1600"/>
          </a:p>
          <a:p>
            <a:r>
              <a:rPr lang="en-US" sz="1600"/>
              <a:t>string brand; </a:t>
            </a:r>
            <a:endParaRPr lang="en-US" sz="1600"/>
          </a:p>
          <a:p>
            <a:r>
              <a:rPr lang="en-US" sz="1600"/>
              <a:t>string color; </a:t>
            </a:r>
            <a:endParaRPr lang="en-US" sz="1600"/>
          </a:p>
          <a:p>
            <a:r>
              <a:rPr lang="en-US" sz="1600"/>
              <a:t>void showDetails()</a:t>
            </a:r>
            <a:endParaRPr lang="en-US" sz="1600"/>
          </a:p>
          <a:p>
            <a:r>
              <a:rPr lang="en-US" sz="1600"/>
              <a:t>{</a:t>
            </a:r>
            <a:endParaRPr lang="en-US" sz="1600"/>
          </a:p>
          <a:p>
            <a:r>
              <a:rPr lang="en-US" sz="1600"/>
              <a:t>cout&lt;&lt;"Brand : "&lt;&lt;brand&lt;&lt;endl; cout&lt;&lt;"Color : "&lt;&lt;color&lt;&lt;endl; </a:t>
            </a:r>
            <a:endParaRPr lang="en-US" sz="1600"/>
          </a:p>
          <a:p>
            <a:r>
              <a:rPr lang="en-US" sz="1600"/>
              <a:t>e.start();</a:t>
            </a:r>
            <a:endParaRPr lang="en-US" sz="1600"/>
          </a:p>
          <a:p>
            <a:r>
              <a:rPr lang="en-US" sz="1600"/>
              <a:t>}</a:t>
            </a:r>
            <a:endParaRPr lang="en-US" sz="1600"/>
          </a:p>
          <a:p>
            <a:r>
              <a:rPr lang="en-US" sz="1600"/>
              <a:t>};</a:t>
            </a:r>
            <a:endParaRPr lang="en-US" sz="1600"/>
          </a:p>
        </p:txBody>
      </p:sp>
      <p:sp>
        <p:nvSpPr>
          <p:cNvPr id="8" name="Text Box 7"/>
          <p:cNvSpPr txBox="1"/>
          <p:nvPr/>
        </p:nvSpPr>
        <p:spPr>
          <a:xfrm>
            <a:off x="7284085" y="1344295"/>
            <a:ext cx="4182110" cy="2306955"/>
          </a:xfrm>
          <a:prstGeom prst="rect">
            <a:avLst/>
          </a:prstGeom>
          <a:noFill/>
        </p:spPr>
        <p:txBody>
          <a:bodyPr wrap="square" rtlCol="0" anchor="t">
            <a:spAutoFit/>
          </a:bodyPr>
          <a:p>
            <a:r>
              <a:rPr lang="en-US">
                <a:sym typeface="+mn-ea"/>
              </a:rPr>
              <a:t>int main()</a:t>
            </a:r>
            <a:endParaRPr lang="en-US"/>
          </a:p>
          <a:p>
            <a:r>
              <a:rPr lang="en-US">
                <a:sym typeface="+mn-ea"/>
              </a:rPr>
              <a:t>{</a:t>
            </a:r>
            <a:endParaRPr lang="en-US"/>
          </a:p>
          <a:p>
            <a:r>
              <a:rPr lang="en-US">
                <a:sym typeface="+mn-ea"/>
              </a:rPr>
              <a:t>Car c; </a:t>
            </a:r>
            <a:endParaRPr lang="en-US"/>
          </a:p>
          <a:p>
            <a:r>
              <a:rPr lang="en-US">
                <a:sym typeface="+mn-ea"/>
              </a:rPr>
              <a:t>c.brand = "Lamborghini"; </a:t>
            </a:r>
            <a:endParaRPr lang="en-US"/>
          </a:p>
          <a:p>
            <a:r>
              <a:rPr lang="en-US">
                <a:sym typeface="+mn-ea"/>
              </a:rPr>
              <a:t>c.color = "Blue"; </a:t>
            </a:r>
            <a:endParaRPr lang="en-US"/>
          </a:p>
          <a:p>
            <a:r>
              <a:rPr lang="en-US">
                <a:sym typeface="+mn-ea"/>
              </a:rPr>
              <a:t>c.showDetails();</a:t>
            </a:r>
            <a:endParaRPr lang="en-US"/>
          </a:p>
          <a:p>
            <a:r>
              <a:rPr lang="en-US">
                <a:sym typeface="+mn-ea"/>
              </a:rPr>
              <a:t>return 0;</a:t>
            </a:r>
            <a:endParaRPr lang="en-US"/>
          </a:p>
          <a:p>
            <a:r>
              <a:rPr lang="en-US">
                <a:sym typeface="+mn-ea"/>
              </a:rPr>
              <a:t>}</a:t>
            </a:r>
            <a:endParaRPr lang="en-US"/>
          </a:p>
        </p:txBody>
      </p:sp>
      <p:sp>
        <p:nvSpPr>
          <p:cNvPr id="9" name="Text Box 8"/>
          <p:cNvSpPr txBox="1"/>
          <p:nvPr/>
        </p:nvSpPr>
        <p:spPr>
          <a:xfrm>
            <a:off x="8348980" y="4610735"/>
            <a:ext cx="2540000" cy="922020"/>
          </a:xfrm>
          <a:prstGeom prst="rect">
            <a:avLst/>
          </a:prstGeom>
          <a:noFill/>
          <a:ln w="28575">
            <a:solidFill>
              <a:srgbClr val="00B0F0"/>
            </a:solidFill>
          </a:ln>
        </p:spPr>
        <p:txBody>
          <a:bodyPr wrap="square" rtlCol="0" anchor="t">
            <a:spAutoFit/>
          </a:bodyPr>
          <a:p>
            <a:r>
              <a:rPr lang="en-US"/>
              <a:t>Brand : Lamborghini</a:t>
            </a:r>
            <a:endParaRPr lang="en-US"/>
          </a:p>
          <a:p>
            <a:r>
              <a:rPr lang="en-US"/>
              <a:t>Color : Blue</a:t>
            </a:r>
            <a:endParaRPr lang="en-US"/>
          </a:p>
          <a:p>
            <a:r>
              <a:rPr lang="en-US"/>
              <a:t>Engine starts</a:t>
            </a:r>
            <a:endParaRPr lang="en-US"/>
          </a:p>
        </p:txBody>
      </p:sp>
      <p:sp>
        <p:nvSpPr>
          <p:cNvPr id="10" name="Text Box 9"/>
          <p:cNvSpPr txBox="1"/>
          <p:nvPr/>
        </p:nvSpPr>
        <p:spPr>
          <a:xfrm>
            <a:off x="8348980" y="4128135"/>
            <a:ext cx="932180" cy="368300"/>
          </a:xfrm>
          <a:prstGeom prst="rect">
            <a:avLst/>
          </a:prstGeom>
          <a:noFill/>
        </p:spPr>
        <p:txBody>
          <a:bodyPr wrap="none" rtlCol="0">
            <a:spAutoFit/>
          </a:bodyPr>
          <a:p>
            <a:r>
              <a:rPr lang="en-US" b="1"/>
              <a:t>Output</a:t>
            </a:r>
            <a:endParaRPr lang="en-US"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Composition Relationship Diagram</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100" name="Text Box 99"/>
          <p:cNvSpPr txBox="1"/>
          <p:nvPr/>
        </p:nvSpPr>
        <p:spPr>
          <a:xfrm>
            <a:off x="3556000" y="-2558733"/>
            <a:ext cx="5080000" cy="445135"/>
          </a:xfrm>
          <a:prstGeom prst="rect">
            <a:avLst/>
          </a:prstGeom>
          <a:noFill/>
          <a:ln w="9525">
            <a:noFill/>
          </a:ln>
        </p:spPr>
        <p:txBody>
          <a:bodyPr>
            <a:spAutoFit/>
          </a:bodyPr>
          <a:p>
            <a:pPr indent="0"/>
            <a:r>
              <a:rPr lang="en-US" sz="1100" b="0">
                <a:solidFill>
                  <a:srgbClr val="C00000"/>
                </a:solidFill>
                <a:latin typeface="Consolas" charset="0"/>
                <a:cs typeface="Times New Roman" panose="02020603050405020304" pitchFamily="18" charset="0"/>
              </a:rPr>
              <a:t>#include&lt;iostream&gt; using namespace std; class Engine{	</a:t>
            </a:r>
            <a:r>
              <a:rPr lang="en-US" sz="1200" b="1">
                <a:latin typeface="Times New Roman" panose="02020603050405020304" pitchFamily="18" charset="0"/>
              </a:rPr>
              <a:t>Output:</a:t>
            </a:r>
            <a:endParaRPr lang="en-US"/>
          </a:p>
        </p:txBody>
      </p:sp>
      <p:sp>
        <p:nvSpPr>
          <p:cNvPr id="103" name="Text Box 102"/>
          <p:cNvSpPr txBox="1"/>
          <p:nvPr/>
        </p:nvSpPr>
        <p:spPr>
          <a:xfrm>
            <a:off x="0" y="731520"/>
            <a:ext cx="11673205" cy="1753235"/>
          </a:xfrm>
          <a:prstGeom prst="rect">
            <a:avLst/>
          </a:prstGeom>
          <a:noFill/>
          <a:ln w="9525">
            <a:noFill/>
          </a:ln>
        </p:spPr>
        <p:txBody>
          <a:bodyPr wrap="square">
            <a:spAutoFit/>
          </a:bodyPr>
          <a:p>
            <a:pPr marL="285750" indent="-285750" algn="l">
              <a:buFont typeface="Wingdings" panose="05000000000000000000" charset="0"/>
              <a:buChar char=""/>
            </a:pPr>
            <a:r>
              <a:rPr lang="en-US" b="0">
                <a:latin typeface="Times New Roman" panose="02020603050405020304" pitchFamily="18" charset="0"/>
              </a:rPr>
              <a:t>Composition relationship is also called a part-whole or whole-part relationship in which the part component can only be a part of a single object simultaneously. </a:t>
            </a:r>
            <a:endParaRPr lang="en-US" b="0">
              <a:latin typeface="Times New Roman" panose="02020603050405020304" pitchFamily="18" charset="0"/>
            </a:endParaRPr>
          </a:p>
          <a:p>
            <a:pPr marL="285750" indent="-285750" algn="l">
              <a:buFont typeface="Wingdings" panose="05000000000000000000" charset="0"/>
              <a:buChar char=""/>
            </a:pPr>
            <a:r>
              <a:rPr lang="en-US" b="0">
                <a:latin typeface="Times New Roman" panose="02020603050405020304" pitchFamily="18" charset="0"/>
              </a:rPr>
              <a:t>In composition relationships, the part component will be created when the object is created, and the part will be destroyed when the object is destroyed.</a:t>
            </a:r>
            <a:endParaRPr lang="en-US" b="0">
              <a:latin typeface="Times New Roman" panose="02020603050405020304" pitchFamily="18" charset="0"/>
            </a:endParaRPr>
          </a:p>
          <a:p>
            <a:pPr marL="285750" indent="-285750" algn="l">
              <a:buFont typeface="Wingdings" panose="05000000000000000000" charset="0"/>
              <a:buChar char=""/>
            </a:pPr>
            <a:r>
              <a:rPr lang="en-US" b="0">
                <a:latin typeface="Times New Roman" panose="02020603050405020304" pitchFamily="18" charset="0"/>
              </a:rPr>
              <a:t>Composition </a:t>
            </a:r>
            <a:r>
              <a:rPr lang="en-US" b="1">
                <a:latin typeface="Times New Roman" panose="02020603050405020304" pitchFamily="18" charset="0"/>
              </a:rPr>
              <a:t>(HAS-A) </a:t>
            </a:r>
            <a:r>
              <a:rPr lang="en-US" b="0">
                <a:latin typeface="Times New Roman" panose="02020603050405020304" pitchFamily="18" charset="0"/>
              </a:rPr>
              <a:t>simply mean the use of instance variables that are references to other objects. For example, Maruti has Engine, or House has Bathroom.</a:t>
            </a:r>
            <a:endParaRPr lang="en-US" b="0">
              <a:latin typeface="Times New Roman" panose="02020603050405020304" pitchFamily="18" charset="0"/>
            </a:endParaRPr>
          </a:p>
        </p:txBody>
      </p:sp>
      <p:pic>
        <p:nvPicPr>
          <p:cNvPr id="91" name="image42.png" descr="Inheritance (IS-A) vs. Composition (HAS-A) Relationship - w3resource "/>
          <p:cNvPicPr>
            <a:picLocks noChangeAspect="1"/>
          </p:cNvPicPr>
          <p:nvPr/>
        </p:nvPicPr>
        <p:blipFill>
          <a:blip r:embed="rId1" cstate="print"/>
          <a:stretch>
            <a:fillRect/>
          </a:stretch>
        </p:blipFill>
        <p:spPr>
          <a:xfrm>
            <a:off x="3427730" y="2562860"/>
            <a:ext cx="6129655" cy="35833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rmAutofit/>
            <a:scene3d>
              <a:camera prst="orthographicFront"/>
              <a:lightRig rig="threePt" dir="t"/>
            </a:scene3d>
          </a:bodyPr>
          <a:lstStyle/>
          <a:p>
            <a:pPr algn="ctr"/>
            <a:r>
              <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Software Reusability</a:t>
            </a:r>
            <a:endParaRPr lang="en-GB" sz="3600" b="1" i="0" dirty="0">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100" name="Text Box 99"/>
          <p:cNvSpPr txBox="1"/>
          <p:nvPr/>
        </p:nvSpPr>
        <p:spPr>
          <a:xfrm>
            <a:off x="3556000" y="-2558733"/>
            <a:ext cx="5080000" cy="445135"/>
          </a:xfrm>
          <a:prstGeom prst="rect">
            <a:avLst/>
          </a:prstGeom>
          <a:noFill/>
          <a:ln w="9525">
            <a:noFill/>
          </a:ln>
        </p:spPr>
        <p:txBody>
          <a:bodyPr>
            <a:spAutoFit/>
          </a:bodyPr>
          <a:p>
            <a:pPr indent="0"/>
            <a:r>
              <a:rPr lang="en-US" sz="1100" b="0">
                <a:solidFill>
                  <a:srgbClr val="C00000"/>
                </a:solidFill>
                <a:latin typeface="Consolas" charset="0"/>
                <a:cs typeface="Times New Roman" panose="02020603050405020304" pitchFamily="18" charset="0"/>
              </a:rPr>
              <a:t>#include&lt;iostream&gt; using namespace std; class Engine{	</a:t>
            </a:r>
            <a:r>
              <a:rPr lang="en-US" sz="1200" b="1">
                <a:latin typeface="Times New Roman" panose="02020603050405020304" pitchFamily="18" charset="0"/>
              </a:rPr>
              <a:t>Output:</a:t>
            </a:r>
            <a:endParaRPr lang="en-US"/>
          </a:p>
        </p:txBody>
      </p:sp>
      <p:sp>
        <p:nvSpPr>
          <p:cNvPr id="3" name="Text Box 2"/>
          <p:cNvSpPr txBox="1"/>
          <p:nvPr/>
        </p:nvSpPr>
        <p:spPr>
          <a:xfrm>
            <a:off x="168275" y="544830"/>
            <a:ext cx="12023725" cy="2183765"/>
          </a:xfrm>
          <a:prstGeom prst="rect">
            <a:avLst/>
          </a:prstGeom>
          <a:noFill/>
          <a:ln w="9525">
            <a:noFill/>
          </a:ln>
        </p:spPr>
        <p:txBody>
          <a:bodyPr wrap="square">
            <a:spAutoFit/>
          </a:bodyPr>
          <a:p>
            <a:pPr marL="285750" indent="-285750">
              <a:buFont typeface="Wingdings" panose="05000000000000000000" charset="0"/>
              <a:buChar char=""/>
            </a:pPr>
            <a:r>
              <a:rPr lang="en-US" b="0">
                <a:latin typeface="Times New Roman" panose="02020603050405020304" pitchFamily="18" charset="0"/>
              </a:rPr>
              <a:t>Software reusability is an important concept in software development that aims to maximize the reuse of existing code components in order to improve productivity, maintainability, and reduce development time and costs. </a:t>
            </a:r>
            <a:endParaRPr lang="en-US" b="0">
              <a:latin typeface="Times New Roman" panose="02020603050405020304" pitchFamily="18" charset="0"/>
            </a:endParaRPr>
          </a:p>
          <a:p>
            <a:pPr marL="285750" indent="-285750">
              <a:buFont typeface="Wingdings" panose="05000000000000000000" charset="0"/>
              <a:buChar char=""/>
            </a:pPr>
            <a:r>
              <a:rPr lang="en-US" b="0">
                <a:latin typeface="Times New Roman" panose="02020603050405020304" pitchFamily="18" charset="0"/>
              </a:rPr>
              <a:t>In C++, there are several mechanisms and practices that promote software reusability.</a:t>
            </a:r>
            <a:r>
              <a:rPr lang="en-US" sz="2800" b="0">
                <a:latin typeface="Times New Roman" panose="02020603050405020304" pitchFamily="18" charset="0"/>
              </a:rPr>
              <a:t> </a:t>
            </a:r>
            <a:r>
              <a:rPr lang="en-US" b="1">
                <a:latin typeface="Times New Roman" panose="02020603050405020304" pitchFamily="18" charset="0"/>
              </a:rPr>
              <a:t>Classes:Inheritance: Templates: </a:t>
            </a:r>
            <a:endParaRPr lang="en-US" b="0">
              <a:latin typeface="Times New Roman" panose="02020603050405020304" pitchFamily="18" charset="0"/>
            </a:endParaRPr>
          </a:p>
        </p:txBody>
      </p:sp>
      <p:grpSp>
        <p:nvGrpSpPr>
          <p:cNvPr id="1073743064" name="Group 1073743063"/>
          <p:cNvGrpSpPr/>
          <p:nvPr/>
        </p:nvGrpSpPr>
        <p:grpSpPr>
          <a:xfrm>
            <a:off x="557530" y="2845435"/>
            <a:ext cx="10431780" cy="2479040"/>
            <a:chOff x="1274" y="219"/>
            <a:chExt cx="9490" cy="2228"/>
          </a:xfrm>
        </p:grpSpPr>
        <p:pic>
          <p:nvPicPr>
            <p:cNvPr id="1073743065" name="Picture 1073743064"/>
            <p:cNvPicPr>
              <a:picLocks noChangeAspect="1"/>
            </p:cNvPicPr>
            <p:nvPr/>
          </p:nvPicPr>
          <p:blipFill>
            <a:blip r:embed="rId1"/>
            <a:stretch>
              <a:fillRect/>
            </a:stretch>
          </p:blipFill>
          <p:spPr>
            <a:xfrm>
              <a:off x="1399" y="666"/>
              <a:ext cx="9365" cy="1781"/>
            </a:xfrm>
            <a:prstGeom prst="rect">
              <a:avLst/>
            </a:prstGeom>
            <a:noFill/>
            <a:ln w="9525">
              <a:noFill/>
            </a:ln>
          </p:spPr>
        </p:pic>
        <p:sp>
          <p:nvSpPr>
            <p:cNvPr id="1073743066" name="Rectangles 1073743065"/>
            <p:cNvSpPr/>
            <p:nvPr/>
          </p:nvSpPr>
          <p:spPr>
            <a:xfrm>
              <a:off x="1587" y="853"/>
              <a:ext cx="8990" cy="1405"/>
            </a:xfrm>
            <a:prstGeom prst="rect">
              <a:avLst/>
            </a:prstGeom>
            <a:solidFill>
              <a:srgbClr val="FFFFFF"/>
            </a:solidFill>
            <a:ln w="9525">
              <a:noFill/>
            </a:ln>
          </p:spPr>
          <p:txBody>
            <a:bodyPr/>
            <a:p>
              <a:endParaRPr lang="en-US"/>
            </a:p>
          </p:txBody>
        </p:sp>
        <p:sp>
          <p:nvSpPr>
            <p:cNvPr id="1073743067" name="Rectangles 1073743066"/>
            <p:cNvSpPr/>
            <p:nvPr/>
          </p:nvSpPr>
          <p:spPr>
            <a:xfrm>
              <a:off x="1587" y="853"/>
              <a:ext cx="8990" cy="1405"/>
            </a:xfrm>
            <a:prstGeom prst="rect">
              <a:avLst/>
            </a:prstGeom>
            <a:noFill/>
            <a:ln w="28575" cap="flat" cmpd="sng">
              <a:solidFill>
                <a:srgbClr val="00AF50"/>
              </a:solidFill>
              <a:prstDash val="solid"/>
              <a:miter/>
              <a:headEnd type="none" w="med" len="med"/>
              <a:tailEnd type="none" w="med" len="med"/>
            </a:ln>
          </p:spPr>
          <p:txBody>
            <a:bodyPr/>
            <a:p>
              <a:endParaRPr lang="en-US"/>
            </a:p>
          </p:txBody>
        </p:sp>
        <p:pic>
          <p:nvPicPr>
            <p:cNvPr id="1073743068" name="Picture 1073743067"/>
            <p:cNvPicPr>
              <a:picLocks noChangeAspect="1"/>
            </p:cNvPicPr>
            <p:nvPr/>
          </p:nvPicPr>
          <p:blipFill>
            <a:blip r:embed="rId2"/>
            <a:stretch>
              <a:fillRect/>
            </a:stretch>
          </p:blipFill>
          <p:spPr>
            <a:xfrm>
              <a:off x="1274" y="219"/>
              <a:ext cx="1352" cy="1352"/>
            </a:xfrm>
            <a:prstGeom prst="rect">
              <a:avLst/>
            </a:prstGeom>
            <a:noFill/>
            <a:ln w="9525">
              <a:noFill/>
            </a:ln>
          </p:spPr>
        </p:pic>
        <p:sp>
          <p:nvSpPr>
            <p:cNvPr id="1073743069" name="Freeform 1073743068"/>
            <p:cNvSpPr/>
            <p:nvPr/>
          </p:nvSpPr>
          <p:spPr>
            <a:xfrm>
              <a:off x="1451" y="395"/>
              <a:ext cx="1000" cy="1000"/>
            </a:xfrm>
            <a:custGeom>
              <a:avLst/>
              <a:gdLst/>
              <a:ahLst/>
              <a:cxnLst/>
              <a:pathLst>
                <a:path w="20149" h="21204">
                  <a:moveTo>
                    <a:pt x="500" y="0"/>
                  </a:moveTo>
                  <a:lnTo>
                    <a:pt x="426" y="5"/>
                  </a:lnTo>
                  <a:lnTo>
                    <a:pt x="356" y="21"/>
                  </a:lnTo>
                  <a:lnTo>
                    <a:pt x="289" y="46"/>
                  </a:lnTo>
                  <a:lnTo>
                    <a:pt x="228" y="80"/>
                  </a:lnTo>
                  <a:lnTo>
                    <a:pt x="172" y="123"/>
                  </a:lnTo>
                  <a:lnTo>
                    <a:pt x="123" y="172"/>
                  </a:lnTo>
                  <a:lnTo>
                    <a:pt x="81" y="228"/>
                  </a:lnTo>
                  <a:lnTo>
                    <a:pt x="46" y="289"/>
                  </a:lnTo>
                  <a:lnTo>
                    <a:pt x="21" y="355"/>
                  </a:lnTo>
                  <a:lnTo>
                    <a:pt x="5" y="426"/>
                  </a:lnTo>
                  <a:lnTo>
                    <a:pt x="0" y="500"/>
                  </a:lnTo>
                  <a:lnTo>
                    <a:pt x="5" y="574"/>
                  </a:lnTo>
                  <a:lnTo>
                    <a:pt x="21" y="644"/>
                  </a:lnTo>
                  <a:lnTo>
                    <a:pt x="46" y="711"/>
                  </a:lnTo>
                  <a:lnTo>
                    <a:pt x="81" y="772"/>
                  </a:lnTo>
                  <a:lnTo>
                    <a:pt x="123" y="828"/>
                  </a:lnTo>
                  <a:lnTo>
                    <a:pt x="172" y="877"/>
                  </a:lnTo>
                  <a:lnTo>
                    <a:pt x="228" y="919"/>
                  </a:lnTo>
                  <a:lnTo>
                    <a:pt x="289" y="953"/>
                  </a:lnTo>
                  <a:lnTo>
                    <a:pt x="356" y="979"/>
                  </a:lnTo>
                  <a:lnTo>
                    <a:pt x="426" y="994"/>
                  </a:lnTo>
                  <a:lnTo>
                    <a:pt x="500" y="1000"/>
                  </a:lnTo>
                  <a:lnTo>
                    <a:pt x="574" y="994"/>
                  </a:lnTo>
                  <a:lnTo>
                    <a:pt x="644" y="979"/>
                  </a:lnTo>
                  <a:lnTo>
                    <a:pt x="711" y="953"/>
                  </a:lnTo>
                  <a:lnTo>
                    <a:pt x="772" y="919"/>
                  </a:lnTo>
                  <a:lnTo>
                    <a:pt x="828" y="877"/>
                  </a:lnTo>
                  <a:lnTo>
                    <a:pt x="877" y="828"/>
                  </a:lnTo>
                  <a:lnTo>
                    <a:pt x="919" y="772"/>
                  </a:lnTo>
                  <a:lnTo>
                    <a:pt x="954" y="711"/>
                  </a:lnTo>
                  <a:lnTo>
                    <a:pt x="979" y="644"/>
                  </a:lnTo>
                  <a:lnTo>
                    <a:pt x="995" y="574"/>
                  </a:lnTo>
                  <a:lnTo>
                    <a:pt x="1000" y="500"/>
                  </a:lnTo>
                  <a:lnTo>
                    <a:pt x="995" y="426"/>
                  </a:lnTo>
                  <a:lnTo>
                    <a:pt x="979" y="355"/>
                  </a:lnTo>
                  <a:lnTo>
                    <a:pt x="954" y="289"/>
                  </a:lnTo>
                  <a:lnTo>
                    <a:pt x="919" y="228"/>
                  </a:lnTo>
                  <a:lnTo>
                    <a:pt x="877" y="172"/>
                  </a:lnTo>
                  <a:lnTo>
                    <a:pt x="828" y="123"/>
                  </a:lnTo>
                  <a:lnTo>
                    <a:pt x="772" y="80"/>
                  </a:lnTo>
                  <a:lnTo>
                    <a:pt x="711" y="46"/>
                  </a:lnTo>
                  <a:lnTo>
                    <a:pt x="644" y="21"/>
                  </a:lnTo>
                  <a:lnTo>
                    <a:pt x="574" y="5"/>
                  </a:lnTo>
                  <a:lnTo>
                    <a:pt x="500" y="0"/>
                  </a:lnTo>
                  <a:close/>
                </a:path>
              </a:pathLst>
            </a:custGeom>
            <a:solidFill>
              <a:srgbClr val="00AF50"/>
            </a:solidFill>
            <a:ln w="9525">
              <a:noFill/>
            </a:ln>
          </p:spPr>
          <p:txBody>
            <a:bodyPr/>
            <a:p>
              <a:endParaRPr lang="en-US"/>
            </a:p>
          </p:txBody>
        </p:sp>
        <p:sp>
          <p:nvSpPr>
            <p:cNvPr id="1073743070" name="Freeform 1073743069"/>
            <p:cNvSpPr/>
            <p:nvPr/>
          </p:nvSpPr>
          <p:spPr>
            <a:xfrm>
              <a:off x="1451" y="395"/>
              <a:ext cx="1000" cy="1000"/>
            </a:xfrm>
            <a:custGeom>
              <a:avLst/>
              <a:gdLst/>
              <a:ahLst/>
              <a:cxnLst/>
              <a:pathLst>
                <a:path w="20149" h="21204">
                  <a:moveTo>
                    <a:pt x="0" y="500"/>
                  </a:moveTo>
                  <a:lnTo>
                    <a:pt x="5" y="426"/>
                  </a:lnTo>
                  <a:lnTo>
                    <a:pt x="21" y="355"/>
                  </a:lnTo>
                  <a:lnTo>
                    <a:pt x="46" y="289"/>
                  </a:lnTo>
                  <a:lnTo>
                    <a:pt x="81" y="228"/>
                  </a:lnTo>
                  <a:lnTo>
                    <a:pt x="123" y="172"/>
                  </a:lnTo>
                  <a:lnTo>
                    <a:pt x="172" y="123"/>
                  </a:lnTo>
                  <a:lnTo>
                    <a:pt x="228" y="80"/>
                  </a:lnTo>
                  <a:lnTo>
                    <a:pt x="289" y="46"/>
                  </a:lnTo>
                  <a:lnTo>
                    <a:pt x="356" y="21"/>
                  </a:lnTo>
                  <a:lnTo>
                    <a:pt x="426" y="5"/>
                  </a:lnTo>
                  <a:lnTo>
                    <a:pt x="500" y="0"/>
                  </a:lnTo>
                  <a:lnTo>
                    <a:pt x="574" y="5"/>
                  </a:lnTo>
                  <a:lnTo>
                    <a:pt x="644" y="21"/>
                  </a:lnTo>
                  <a:lnTo>
                    <a:pt x="711" y="46"/>
                  </a:lnTo>
                  <a:lnTo>
                    <a:pt x="772" y="80"/>
                  </a:lnTo>
                  <a:lnTo>
                    <a:pt x="828" y="123"/>
                  </a:lnTo>
                  <a:lnTo>
                    <a:pt x="877" y="172"/>
                  </a:lnTo>
                  <a:lnTo>
                    <a:pt x="919" y="228"/>
                  </a:lnTo>
                  <a:lnTo>
                    <a:pt x="954" y="289"/>
                  </a:lnTo>
                  <a:lnTo>
                    <a:pt x="979" y="355"/>
                  </a:lnTo>
                  <a:lnTo>
                    <a:pt x="995" y="426"/>
                  </a:lnTo>
                  <a:lnTo>
                    <a:pt x="1000" y="500"/>
                  </a:lnTo>
                  <a:lnTo>
                    <a:pt x="995" y="574"/>
                  </a:lnTo>
                  <a:lnTo>
                    <a:pt x="979" y="644"/>
                  </a:lnTo>
                  <a:lnTo>
                    <a:pt x="954" y="711"/>
                  </a:lnTo>
                  <a:lnTo>
                    <a:pt x="919" y="772"/>
                  </a:lnTo>
                  <a:lnTo>
                    <a:pt x="877" y="828"/>
                  </a:lnTo>
                  <a:lnTo>
                    <a:pt x="828" y="877"/>
                  </a:lnTo>
                  <a:lnTo>
                    <a:pt x="772" y="919"/>
                  </a:lnTo>
                  <a:lnTo>
                    <a:pt x="711" y="953"/>
                  </a:lnTo>
                  <a:lnTo>
                    <a:pt x="644" y="979"/>
                  </a:lnTo>
                  <a:lnTo>
                    <a:pt x="574" y="994"/>
                  </a:lnTo>
                  <a:lnTo>
                    <a:pt x="500" y="1000"/>
                  </a:lnTo>
                  <a:lnTo>
                    <a:pt x="426" y="994"/>
                  </a:lnTo>
                  <a:lnTo>
                    <a:pt x="356" y="979"/>
                  </a:lnTo>
                  <a:lnTo>
                    <a:pt x="289" y="953"/>
                  </a:lnTo>
                  <a:lnTo>
                    <a:pt x="228" y="919"/>
                  </a:lnTo>
                  <a:lnTo>
                    <a:pt x="172" y="877"/>
                  </a:lnTo>
                  <a:lnTo>
                    <a:pt x="123" y="828"/>
                  </a:lnTo>
                  <a:lnTo>
                    <a:pt x="81" y="772"/>
                  </a:lnTo>
                  <a:lnTo>
                    <a:pt x="46" y="711"/>
                  </a:lnTo>
                  <a:lnTo>
                    <a:pt x="21" y="644"/>
                  </a:lnTo>
                  <a:lnTo>
                    <a:pt x="5" y="574"/>
                  </a:lnTo>
                  <a:lnTo>
                    <a:pt x="0" y="500"/>
                  </a:lnTo>
                  <a:close/>
                </a:path>
              </a:pathLst>
            </a:custGeom>
            <a:noFill/>
            <a:ln w="12700" cap="flat" cmpd="sng">
              <a:solidFill>
                <a:srgbClr val="00AF50"/>
              </a:solidFill>
              <a:prstDash val="solid"/>
              <a:headEnd type="none" w="med" len="med"/>
              <a:tailEnd type="none" w="med" len="med"/>
            </a:ln>
          </p:spPr>
          <p:txBody>
            <a:bodyPr/>
            <a:p>
              <a:endParaRPr lang="en-US"/>
            </a:p>
          </p:txBody>
        </p:sp>
        <p:sp>
          <p:nvSpPr>
            <p:cNvPr id="1073743071" name="Text Box 1073743070"/>
            <p:cNvSpPr txBox="1"/>
            <p:nvPr/>
          </p:nvSpPr>
          <p:spPr>
            <a:xfrm>
              <a:off x="1587" y="507"/>
              <a:ext cx="810" cy="267"/>
            </a:xfrm>
            <a:prstGeom prst="rect">
              <a:avLst/>
            </a:prstGeom>
            <a:noFill/>
            <a:ln w="9525">
              <a:noFill/>
            </a:ln>
          </p:spPr>
          <p:txBody>
            <a:bodyPr lIns="0" tIns="0" rIns="0" bIns="0"/>
            <a:p>
              <a:pPr marL="0" indent="0" algn="l">
                <a:lnSpc>
                  <a:spcPts val="1500"/>
                </a:lnSpc>
                <a:spcBef>
                  <a:spcPts val="0"/>
                </a:spcBef>
              </a:pPr>
              <a:r>
                <a:rPr lang="en-US"/>
                <a:t>Note</a:t>
              </a:r>
              <a:endParaRPr lang="en-US"/>
            </a:p>
            <a:p>
              <a:endParaRPr lang="en-US"/>
            </a:p>
          </p:txBody>
        </p:sp>
        <p:sp>
          <p:nvSpPr>
            <p:cNvPr id="1073743072" name="Text Box 1073743071"/>
            <p:cNvSpPr txBox="1"/>
            <p:nvPr/>
          </p:nvSpPr>
          <p:spPr>
            <a:xfrm>
              <a:off x="2472" y="1371"/>
              <a:ext cx="7960" cy="266"/>
            </a:xfrm>
            <a:prstGeom prst="rect">
              <a:avLst/>
            </a:prstGeom>
            <a:noFill/>
            <a:ln w="9525">
              <a:noFill/>
            </a:ln>
          </p:spPr>
          <p:txBody>
            <a:bodyPr lIns="0" tIns="0" rIns="0" bIns="0"/>
            <a:p>
              <a:pPr marL="0" indent="0" algn="l">
                <a:lnSpc>
                  <a:spcPts val="1330"/>
                </a:lnSpc>
                <a:spcBef>
                  <a:spcPts val="0"/>
                </a:spcBef>
              </a:pPr>
              <a:r>
                <a:rPr lang="en-US" b="1">
                  <a:solidFill>
                    <a:srgbClr val="FF0000"/>
                  </a:solidFill>
                </a:rPr>
                <a:t>Example: Show the simple inheritance program which shows the code reusable</a:t>
              </a:r>
              <a:endParaRPr lang="en-US" b="1">
                <a:solidFill>
                  <a:srgbClr val="FF0000"/>
                </a:solidFill>
              </a:endParaRPr>
            </a:p>
            <a:p>
              <a:endParaRPr lang="en-US" b="1">
                <a:solidFill>
                  <a:srgbClr val="FF0000"/>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41" y="1"/>
            <a:ext cx="10515600" cy="731520"/>
          </a:xfrm>
        </p:spPr>
        <p:txBody>
          <a:bodyPr>
            <a:noAutofit/>
            <a:scene3d>
              <a:camera prst="orthographicFront"/>
              <a:lightRig rig="threePt" dir="t"/>
            </a:scene3d>
          </a:bodyPr>
          <a:lstStyle/>
          <a:p>
            <a:pPr algn="ctr"/>
            <a:r>
              <a:rPr lang="en-GB" sz="4000" b="1" i="0" dirty="0">
                <a:ln/>
                <a:solidFill>
                  <a:schemeClr val="accent1"/>
                </a:solidFill>
                <a:effectLst>
                  <a:outerShdw blurRad="38100" dist="25400" dir="5400000" algn="ctr" rotWithShape="0">
                    <a:srgbClr val="6E747A">
                      <a:alpha val="43000"/>
                      <a:alpha val="43000"/>
                    </a:srgbClr>
                  </a:outerShdw>
                </a:effectLst>
                <a:latin typeface="Poppins" panose="00000500000000000000" pitchFamily="2" charset="0"/>
              </a:rPr>
              <a:t>Function Overriding</a:t>
            </a:r>
            <a:endParaRPr lang="en-GB" sz="4000" b="1" i="0" dirty="0">
              <a:ln/>
              <a:solidFill>
                <a:schemeClr val="accent1"/>
              </a:solidFill>
              <a:effectLst>
                <a:outerShdw blurRad="38100" dist="25400" dir="5400000" algn="ctr" rotWithShape="0">
                  <a:srgbClr val="6E747A">
                    <a:alpha val="43000"/>
                    <a:alpha val="43000"/>
                  </a:srgbClr>
                </a:outerShdw>
              </a:effectLst>
              <a:latin typeface="Poppins" panose="00000500000000000000" pitchFamily="2" charset="0"/>
            </a:endParaRPr>
          </a:p>
        </p:txBody>
      </p:sp>
      <p:sp>
        <p:nvSpPr>
          <p:cNvPr id="4" name="TextBox 3"/>
          <p:cNvSpPr txBox="1"/>
          <p:nvPr/>
        </p:nvSpPr>
        <p:spPr>
          <a:xfrm>
            <a:off x="446649" y="482890"/>
            <a:ext cx="6066693" cy="5632311"/>
          </a:xfrm>
          <a:prstGeom prst="rect">
            <a:avLst/>
          </a:prstGeom>
          <a:noFill/>
        </p:spPr>
        <p:txBody>
          <a:bodyPr wrap="square">
            <a:spAutoFit/>
          </a:bodyPr>
          <a:lstStyle/>
          <a:p>
            <a:endParaRPr lang="en-IN" dirty="0"/>
          </a:p>
          <a:p>
            <a:r>
              <a:rPr lang="en-IN" dirty="0"/>
              <a:t>#include &lt;iostream&gt;</a:t>
            </a:r>
            <a:endParaRPr lang="en-IN" dirty="0"/>
          </a:p>
          <a:p>
            <a:r>
              <a:rPr lang="en-IN" dirty="0"/>
              <a:t>using namespace std;</a:t>
            </a:r>
            <a:endParaRPr lang="en-IN" dirty="0"/>
          </a:p>
          <a:p>
            <a:endParaRPr lang="en-IN" dirty="0"/>
          </a:p>
          <a:p>
            <a:r>
              <a:rPr lang="en-IN" dirty="0"/>
              <a:t>class Parent {</a:t>
            </a:r>
            <a:endParaRPr lang="en-IN" dirty="0"/>
          </a:p>
          <a:p>
            <a:r>
              <a:rPr lang="en-IN" dirty="0"/>
              <a:t>public:</a:t>
            </a:r>
            <a:endParaRPr lang="en-IN" dirty="0"/>
          </a:p>
          <a:p>
            <a:r>
              <a:rPr lang="en-IN" dirty="0"/>
              <a:t>	void </a:t>
            </a:r>
            <a:r>
              <a:rPr lang="en-IN" dirty="0" err="1"/>
              <a:t>disp</a:t>
            </a:r>
            <a:r>
              <a:rPr lang="en-IN" dirty="0"/>
              <a:t>()</a:t>
            </a:r>
            <a:endParaRPr lang="en-IN" dirty="0"/>
          </a:p>
          <a:p>
            <a:r>
              <a:rPr lang="en-IN" dirty="0"/>
              <a:t>	{</a:t>
            </a:r>
            <a:endParaRPr lang="en-IN" dirty="0"/>
          </a:p>
          <a:p>
            <a:r>
              <a:rPr lang="en-IN" dirty="0"/>
              <a:t>	cout &lt;&lt; "Base Function" &lt;&lt; </a:t>
            </a:r>
            <a:r>
              <a:rPr lang="en-IN" dirty="0" err="1"/>
              <a:t>endl</a:t>
            </a:r>
            <a:r>
              <a:rPr lang="en-IN" dirty="0"/>
              <a:t>;</a:t>
            </a:r>
            <a:endParaRPr lang="en-IN" dirty="0"/>
          </a:p>
          <a:p>
            <a:r>
              <a:rPr lang="en-IN" dirty="0"/>
              <a:t>	}</a:t>
            </a:r>
            <a:endParaRPr lang="en-IN" dirty="0"/>
          </a:p>
          <a:p>
            <a:r>
              <a:rPr lang="en-IN" dirty="0"/>
              <a:t>};</a:t>
            </a:r>
            <a:endParaRPr lang="en-IN" dirty="0"/>
          </a:p>
          <a:p>
            <a:endParaRPr lang="en-IN" dirty="0"/>
          </a:p>
          <a:p>
            <a:r>
              <a:rPr lang="en-IN" dirty="0"/>
              <a:t>class Child : public Parent {</a:t>
            </a:r>
            <a:endParaRPr lang="en-IN" dirty="0"/>
          </a:p>
          <a:p>
            <a:r>
              <a:rPr lang="en-IN" dirty="0"/>
              <a:t>public:</a:t>
            </a:r>
            <a:endParaRPr lang="en-IN" dirty="0"/>
          </a:p>
          <a:p>
            <a:r>
              <a:rPr lang="en-IN" dirty="0"/>
              <a:t>	void </a:t>
            </a:r>
            <a:r>
              <a:rPr lang="en-IN" dirty="0" err="1"/>
              <a:t>disp</a:t>
            </a:r>
            <a:r>
              <a:rPr lang="en-IN" dirty="0"/>
              <a:t>()</a:t>
            </a:r>
            <a:endParaRPr lang="en-IN" dirty="0"/>
          </a:p>
          <a:p>
            <a:r>
              <a:rPr lang="en-IN" dirty="0"/>
              <a:t>	{</a:t>
            </a:r>
            <a:endParaRPr lang="en-IN" dirty="0"/>
          </a:p>
          <a:p>
            <a:r>
              <a:rPr lang="en-IN" dirty="0"/>
              <a:t>cout &lt;&lt; "Derived Function" &lt;&lt; </a:t>
            </a:r>
            <a:r>
              <a:rPr lang="en-IN" dirty="0" err="1"/>
              <a:t>endl</a:t>
            </a:r>
            <a:r>
              <a:rPr lang="en-IN" dirty="0"/>
              <a:t>;</a:t>
            </a:r>
            <a:endParaRPr lang="en-IN" dirty="0"/>
          </a:p>
          <a:p>
            <a:r>
              <a:rPr lang="en-IN" dirty="0"/>
              <a:t>Parent::</a:t>
            </a:r>
            <a:r>
              <a:rPr lang="en-IN" dirty="0" err="1"/>
              <a:t>disp</a:t>
            </a:r>
            <a:r>
              <a:rPr lang="en-IN" dirty="0"/>
              <a:t>();//another method for calling </a:t>
            </a:r>
            <a:r>
              <a:rPr lang="en-IN" dirty="0" err="1"/>
              <a:t>overriden</a:t>
            </a:r>
            <a:r>
              <a:rPr lang="en-IN" dirty="0"/>
              <a:t> function</a:t>
            </a:r>
            <a:endParaRPr lang="en-IN" dirty="0"/>
          </a:p>
          <a:p>
            <a:r>
              <a:rPr lang="en-IN" dirty="0"/>
              <a:t>	}</a:t>
            </a:r>
            <a:endParaRPr lang="en-IN" dirty="0"/>
          </a:p>
          <a:p>
            <a:r>
              <a:rPr lang="en-IN" dirty="0"/>
              <a:t>};</a:t>
            </a:r>
            <a:endParaRPr lang="en-IN" dirty="0"/>
          </a:p>
        </p:txBody>
      </p:sp>
      <p:sp>
        <p:nvSpPr>
          <p:cNvPr id="6" name="TextBox 5"/>
          <p:cNvSpPr txBox="1"/>
          <p:nvPr/>
        </p:nvSpPr>
        <p:spPr>
          <a:xfrm>
            <a:off x="6513389" y="2453099"/>
            <a:ext cx="5884985" cy="2862322"/>
          </a:xfrm>
          <a:prstGeom prst="rect">
            <a:avLst/>
          </a:prstGeom>
          <a:noFill/>
        </p:spPr>
        <p:txBody>
          <a:bodyPr wrap="square">
            <a:spAutoFit/>
          </a:bodyPr>
          <a:lstStyle/>
          <a:p>
            <a:r>
              <a:rPr lang="en-IN" dirty="0"/>
              <a:t>int main()</a:t>
            </a:r>
            <a:endParaRPr lang="en-IN" dirty="0"/>
          </a:p>
          <a:p>
            <a:r>
              <a:rPr lang="en-IN" dirty="0"/>
              <a:t>{</a:t>
            </a:r>
            <a:endParaRPr lang="en-IN" dirty="0"/>
          </a:p>
          <a:p>
            <a:r>
              <a:rPr lang="en-IN" dirty="0"/>
              <a:t>	Child </a:t>
            </a:r>
            <a:r>
              <a:rPr lang="en-IN" dirty="0" err="1"/>
              <a:t>obj</a:t>
            </a:r>
            <a:r>
              <a:rPr lang="en-IN" dirty="0"/>
              <a:t>;</a:t>
            </a:r>
            <a:endParaRPr lang="en-IN" dirty="0"/>
          </a:p>
          <a:p>
            <a:r>
              <a:rPr lang="en-IN" dirty="0" err="1"/>
              <a:t>obj.disp</a:t>
            </a:r>
            <a:r>
              <a:rPr lang="en-IN" dirty="0"/>
              <a:t>();</a:t>
            </a:r>
            <a:endParaRPr lang="en-IN" dirty="0"/>
          </a:p>
          <a:p>
            <a:r>
              <a:rPr lang="en-IN" dirty="0" err="1"/>
              <a:t>obj.Parent</a:t>
            </a:r>
            <a:r>
              <a:rPr lang="en-IN" dirty="0"/>
              <a:t>::</a:t>
            </a:r>
            <a:r>
              <a:rPr lang="en-IN" dirty="0" err="1"/>
              <a:t>disp</a:t>
            </a:r>
            <a:r>
              <a:rPr lang="en-IN" dirty="0"/>
              <a:t>();</a:t>
            </a:r>
            <a:endParaRPr lang="en-IN" dirty="0"/>
          </a:p>
          <a:p>
            <a:r>
              <a:rPr lang="en-IN" dirty="0"/>
              <a:t>Parent *</a:t>
            </a:r>
            <a:r>
              <a:rPr lang="en-IN" dirty="0" err="1"/>
              <a:t>ptr</a:t>
            </a:r>
            <a:r>
              <a:rPr lang="en-IN" dirty="0"/>
              <a:t>=&amp;</a:t>
            </a:r>
            <a:r>
              <a:rPr lang="en-IN" dirty="0" err="1"/>
              <a:t>obj</a:t>
            </a:r>
            <a:r>
              <a:rPr lang="en-IN" dirty="0"/>
              <a:t>;</a:t>
            </a:r>
            <a:endParaRPr lang="en-IN" dirty="0"/>
          </a:p>
          <a:p>
            <a:r>
              <a:rPr lang="en-IN" dirty="0" err="1"/>
              <a:t>ptr</a:t>
            </a:r>
            <a:r>
              <a:rPr lang="en-IN" dirty="0"/>
              <a:t>-&gt;</a:t>
            </a:r>
            <a:r>
              <a:rPr lang="en-IN" dirty="0" err="1"/>
              <a:t>disp</a:t>
            </a:r>
            <a:r>
              <a:rPr lang="en-IN" dirty="0"/>
              <a:t>();//another method using pointer to call </a:t>
            </a:r>
            <a:r>
              <a:rPr lang="en-IN" dirty="0" err="1"/>
              <a:t>overriden</a:t>
            </a:r>
            <a:r>
              <a:rPr lang="en-IN" dirty="0"/>
              <a:t> function</a:t>
            </a:r>
            <a:endParaRPr lang="en-IN" dirty="0"/>
          </a:p>
          <a:p>
            <a:r>
              <a:rPr lang="en-IN" dirty="0"/>
              <a:t>	return 0;</a:t>
            </a:r>
            <a:endParaRPr lang="en-IN" dirty="0"/>
          </a:p>
          <a:p>
            <a:r>
              <a:rPr lang="en-IN" dirty="0"/>
              <a:t>}</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1080" y="2697480"/>
            <a:ext cx="10515600" cy="731520"/>
          </a:xfrm>
        </p:spPr>
        <p:txBody>
          <a:bodyPr>
            <a:normAutofit/>
          </a:bodyPr>
          <a:lstStyle/>
          <a:p>
            <a:pPr algn="ctr" fontAlgn="base"/>
            <a:r>
              <a:rPr lang="en-GB" sz="3600" b="1" i="0" u="none" strike="noStrike" dirty="0">
                <a:solidFill>
                  <a:srgbClr val="000000"/>
                </a:solidFill>
                <a:effectLst/>
                <a:latin typeface="Cambria" panose="02040503050406030204" pitchFamily="18" charset="0"/>
              </a:rPr>
              <a:t>END of THE UNIT 3</a:t>
            </a:r>
            <a:endParaRPr lang="en-GB" sz="3600" b="1" i="0" u="none" strike="noStrike" dirty="0">
              <a:solidFill>
                <a:srgbClr val="000000"/>
              </a:solidFill>
              <a:effectLst/>
              <a:latin typeface="Cambria" panose="020405030504060302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13747</Words>
  <Application>WPS Presentation</Application>
  <PresentationFormat>Widescreen</PresentationFormat>
  <Paragraphs>740</Paragraphs>
  <Slides>34</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34</vt:i4>
      </vt:variant>
    </vt:vector>
  </HeadingPairs>
  <TitlesOfParts>
    <vt:vector size="61" baseType="lpstr">
      <vt:lpstr>Arial</vt:lpstr>
      <vt:lpstr>SimSun</vt:lpstr>
      <vt:lpstr>Wingdings</vt:lpstr>
      <vt:lpstr>Times New Roman</vt:lpstr>
      <vt:lpstr>Arial Unicode MS</vt:lpstr>
      <vt:lpstr>times</vt:lpstr>
      <vt:lpstr>苹方-简</vt:lpstr>
      <vt:lpstr>ties</vt:lpstr>
      <vt:lpstr>Cambria</vt:lpstr>
      <vt:lpstr>Symbol</vt:lpstr>
      <vt:lpstr>Wingdings</vt:lpstr>
      <vt:lpstr>Consolas</vt:lpstr>
      <vt:lpstr>tmes</vt:lpstr>
      <vt:lpstr>Times New Roman Bold</vt:lpstr>
      <vt:lpstr>Poppins</vt:lpstr>
      <vt:lpstr>Kingsoft Sign</vt:lpstr>
      <vt:lpstr>Nunito</vt:lpstr>
      <vt:lpstr>Calibri</vt:lpstr>
      <vt:lpstr>SimSun</vt:lpstr>
      <vt:lpstr>Courier New</vt:lpstr>
      <vt:lpstr>Calibri Light</vt:lpstr>
      <vt:lpstr>Helvetica Neue</vt:lpstr>
      <vt:lpstr>Microsoft YaHei</vt:lpstr>
      <vt:lpstr>汉仪旗黑</vt:lpstr>
      <vt:lpstr>宋体-简</vt:lpstr>
      <vt:lpstr>Office Theme</vt:lpstr>
      <vt:lpstr>1_Office Theme</vt:lpstr>
      <vt:lpstr>UNIT 3 Inheritance   [8hrs]</vt:lpstr>
      <vt:lpstr>OUTLINES</vt:lpstr>
      <vt:lpstr>INTRODUCTION TO INHERITANCE</vt:lpstr>
      <vt:lpstr>ADVANTAGES and DISADVANATAGES OF INHERITANCE</vt:lpstr>
      <vt:lpstr>VISIBILITY MODES IN INHERITANCE</vt:lpstr>
      <vt:lpstr>VISIBILITY MODES IN INHERITANCE</vt:lpstr>
      <vt:lpstr>Inheritance Relationship Diagram</vt:lpstr>
      <vt:lpstr>Inheritance Relationship Diagram</vt:lpstr>
      <vt:lpstr>Inheritance Mode: Public, Private &amp; Protected</vt:lpstr>
      <vt:lpstr>TYPES of INHERITANCE</vt:lpstr>
      <vt:lpstr>Single INHERITANCE</vt:lpstr>
      <vt:lpstr>Multilevel INHERITANCE</vt:lpstr>
      <vt:lpstr>Multitype INHERITANCE</vt:lpstr>
      <vt:lpstr>Multitype INHERITANCE</vt:lpstr>
      <vt:lpstr>Hybrid INHERITANCE</vt:lpstr>
      <vt:lpstr>Hybrid INHERITANCE</vt:lpstr>
      <vt:lpstr>Hierarchical INHERITANCE</vt:lpstr>
      <vt:lpstr>Hierarchical INHERITANCE</vt:lpstr>
      <vt:lpstr>Ambiguity Problem in INHERITANCE</vt:lpstr>
      <vt:lpstr>Solution to Ambiguity Problem in INHERITANCE</vt:lpstr>
      <vt:lpstr>Constructor and Destructor in Derived Class</vt:lpstr>
      <vt:lpstr>PowerPoint 演示文稿</vt:lpstr>
      <vt:lpstr>PowerPoint 演示文稿</vt:lpstr>
      <vt:lpstr>Virtual Class</vt:lpstr>
      <vt:lpstr>Virtual Class</vt:lpstr>
      <vt:lpstr>Solution to this Problem is Virtual Class</vt:lpstr>
      <vt:lpstr>Subclass, Subtype and Principle of Substitutability</vt:lpstr>
      <vt:lpstr>Composition and its Implementation</vt:lpstr>
      <vt:lpstr>Composition and its Implementation</vt:lpstr>
      <vt:lpstr>Composition and its Implementation</vt:lpstr>
      <vt:lpstr>Composition and its Implementation</vt:lpstr>
      <vt:lpstr>Composition Relationship Diagram</vt:lpstr>
      <vt:lpstr>Function Overriding</vt:lpstr>
      <vt:lpstr>END of THE UNIT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CLASSES and OBJECTS in C++</dc:title>
  <dc:creator>Harandra Bikram Shah</dc:creator>
  <cp:lastModifiedBy>hbs</cp:lastModifiedBy>
  <cp:revision>276</cp:revision>
  <dcterms:created xsi:type="dcterms:W3CDTF">2024-05-25T11:43:53Z</dcterms:created>
  <dcterms:modified xsi:type="dcterms:W3CDTF">2024-05-25T11:43:53Z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1033-5.7.1.8093</vt:lpwstr>
  </property>
</Properties>
</file>