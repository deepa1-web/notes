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2" r:id="rId4"/>
    <p:sldId id="286" r:id="rId5"/>
    <p:sldId id="284" r:id="rId6"/>
    <p:sldId id="287" r:id="rId7"/>
    <p:sldId id="291" r:id="rId8"/>
    <p:sldId id="283" r:id="rId9"/>
    <p:sldId id="295" r:id="rId10"/>
    <p:sldId id="289" r:id="rId11"/>
    <p:sldId id="322" r:id="rId12"/>
    <p:sldId id="321" r:id="rId13"/>
    <p:sldId id="290" r:id="rId14"/>
    <p:sldId id="293" r:id="rId15"/>
    <p:sldId id="777" r:id="rId16"/>
    <p:sldId id="778" r:id="rId17"/>
    <p:sldId id="816" r:id="rId18"/>
    <p:sldId id="779" r:id="rId19"/>
    <p:sldId id="780" r:id="rId20"/>
    <p:sldId id="781" r:id="rId21"/>
    <p:sldId id="782" r:id="rId22"/>
    <p:sldId id="296" r:id="rId23"/>
    <p:sldId id="298" r:id="rId24"/>
    <p:sldId id="299" r:id="rId25"/>
    <p:sldId id="285" r:id="rId26"/>
    <p:sldId id="300" r:id="rId27"/>
    <p:sldId id="817" r:id="rId28"/>
    <p:sldId id="301" r:id="rId29"/>
    <p:sldId id="302" r:id="rId30"/>
    <p:sldId id="303" r:id="rId31"/>
    <p:sldId id="304" r:id="rId32"/>
    <p:sldId id="818" r:id="rId33"/>
    <p:sldId id="819" r:id="rId34"/>
    <p:sldId id="305" r:id="rId35"/>
    <p:sldId id="783" r:id="rId36"/>
    <p:sldId id="311" r:id="rId37"/>
    <p:sldId id="312" r:id="rId38"/>
    <p:sldId id="313" r:id="rId39"/>
    <p:sldId id="314" r:id="rId40"/>
    <p:sldId id="784" r:id="rId41"/>
    <p:sldId id="317" r:id="rId42"/>
    <p:sldId id="306" r:id="rId43"/>
    <p:sldId id="307" r:id="rId44"/>
    <p:sldId id="308" r:id="rId45"/>
    <p:sldId id="309" r:id="rId46"/>
    <p:sldId id="310" r:id="rId47"/>
    <p:sldId id="323"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7" d="100"/>
          <a:sy n="77" d="100"/>
        </p:scale>
        <p:origin x="-366" y="-4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22C2EC6-F5D4-4EB2-B55F-04434BE7B208}" type="datetimeFigureOut">
              <a:rPr lang="en-US" smtClean="0"/>
              <a:t>11/17/2024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1201032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2C2EC6-F5D4-4EB2-B55F-04434BE7B208}" type="datetimeFigureOut">
              <a:rPr lang="en-US" smtClean="0"/>
              <a:t>11/17/2024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504433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22C2EC6-F5D4-4EB2-B55F-04434BE7B208}" type="datetimeFigureOut">
              <a:rPr lang="en-US" smtClean="0"/>
              <a:t>11/17/2024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21834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22C2EC6-F5D4-4EB2-B55F-04434BE7B208}" type="datetimeFigureOut">
              <a:rPr lang="en-US" smtClean="0"/>
              <a:t>11/17/2024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1779606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22C2EC6-F5D4-4EB2-B55F-04434BE7B208}" type="datetimeFigureOut">
              <a:rPr lang="en-US" smtClean="0"/>
              <a:t>11/17/2024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40215865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22C2EC6-F5D4-4EB2-B55F-04434BE7B208}" type="datetimeFigureOut">
              <a:rPr lang="en-US" smtClean="0"/>
              <a:t>11/17/2024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3110059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2C2EC6-F5D4-4EB2-B55F-04434BE7B208}" type="datetimeFigureOut">
              <a:rPr lang="en-US" smtClean="0"/>
              <a:t>11/17/2024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4185352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22C2EC6-F5D4-4EB2-B55F-04434BE7B208}" type="datetimeFigureOut">
              <a:rPr lang="en-US" smtClean="0"/>
              <a:t>11/17/2024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3423415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22C2EC6-F5D4-4EB2-B55F-04434BE7B208}" type="datetimeFigureOut">
              <a:rPr lang="en-US" smtClean="0"/>
              <a:t>11/17/2024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38954490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2C2EC6-F5D4-4EB2-B55F-04434BE7B208}" type="datetimeFigureOut">
              <a:rPr lang="en-US" smtClean="0"/>
              <a:t>11/17/2024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1160370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2C2EC6-F5D4-4EB2-B55F-04434BE7B208}" type="datetimeFigureOut">
              <a:rPr lang="en-US" smtClean="0"/>
              <a:t>11/17/2024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731122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2C2EC6-F5D4-4EB2-B55F-04434BE7B208}" type="datetimeFigureOut">
              <a:rPr lang="en-US" smtClean="0"/>
              <a:t>11/17/2024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977A39-988E-47BA-AE30-E5DEF8B6BD4E}" type="slidenum">
              <a:rPr lang="en-US" smtClean="0"/>
              <a:t>‹#›</a:t>
            </a:fld>
            <a:endParaRPr lang="en-US"/>
          </a:p>
        </p:txBody>
      </p:sp>
    </p:spTree>
    <p:extLst>
      <p:ext uri="{BB962C8B-B14F-4D97-AF65-F5344CB8AC3E}">
        <p14:creationId xmlns:p14="http://schemas.microsoft.com/office/powerpoint/2010/main" val="37673758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www.useit.com/" TargetMode="External"/><Relationship Id="rId2" Type="http://schemas.openxmlformats.org/officeDocument/2006/relationships/hyperlink" Target="http://www.tms.org/" TargetMode="External"/><Relationship Id="rId1" Type="http://schemas.openxmlformats.org/officeDocument/2006/relationships/slideLayout" Target="../slideLayouts/slideLayout2.xml"/><Relationship Id="rId5" Type="http://schemas.openxmlformats.org/officeDocument/2006/relationships/hyperlink" Target="http://whitehouse.gov/kids" TargetMode="External"/><Relationship Id="rId4" Type="http://schemas.openxmlformats.org/officeDocument/2006/relationships/hyperlink" Target="http://www.guinness/"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solidFill>
                  <a:srgbClr val="FF0000"/>
                </a:solidFill>
              </a:rPr>
              <a:t>Communication Techniques</a:t>
            </a:r>
            <a:endParaRPr lang="en-US" b="1" dirty="0">
              <a:solidFill>
                <a:srgbClr val="FF0000"/>
              </a:solidFill>
            </a:endParaRPr>
          </a:p>
        </p:txBody>
      </p:sp>
    </p:spTree>
    <p:extLst>
      <p:ext uri="{BB962C8B-B14F-4D97-AF65-F5344CB8AC3E}">
        <p14:creationId xmlns:p14="http://schemas.microsoft.com/office/powerpoint/2010/main" val="36331470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Syllabus</a:t>
            </a:r>
            <a:endParaRPr lang="en-US" b="1" dirty="0">
              <a:solidFill>
                <a:srgbClr val="FF0000"/>
              </a:solidFill>
            </a:endParaRPr>
          </a:p>
        </p:txBody>
      </p:sp>
      <p:sp>
        <p:nvSpPr>
          <p:cNvPr id="3" name="Content Placeholder 2"/>
          <p:cNvSpPr>
            <a:spLocks noGrp="1"/>
          </p:cNvSpPr>
          <p:nvPr>
            <p:ph idx="1"/>
          </p:nvPr>
        </p:nvSpPr>
        <p:spPr/>
        <p:txBody>
          <a:bodyPr/>
          <a:lstStyle/>
          <a:p>
            <a:pPr marL="0" indent="0">
              <a:buNone/>
            </a:pPr>
            <a:r>
              <a:rPr lang="en-US" b="1" dirty="0" smtClean="0">
                <a:solidFill>
                  <a:srgbClr val="FF0000"/>
                </a:solidFill>
              </a:rPr>
              <a:t>Course title: </a:t>
            </a:r>
            <a:r>
              <a:rPr lang="en-US" b="1" dirty="0" smtClean="0"/>
              <a:t>Communication Techniques </a:t>
            </a:r>
          </a:p>
          <a:p>
            <a:pPr marL="0" indent="0">
              <a:buNone/>
            </a:pPr>
            <a:r>
              <a:rPr lang="en-US" b="1" dirty="0" smtClean="0">
                <a:solidFill>
                  <a:srgbClr val="FF0000"/>
                </a:solidFill>
              </a:rPr>
              <a:t>Nature of the course:</a:t>
            </a:r>
            <a:r>
              <a:rPr lang="en-US" b="1" dirty="0" smtClean="0"/>
              <a:t> Theory + Tutorial</a:t>
            </a:r>
          </a:p>
          <a:p>
            <a:pPr marL="0" indent="0">
              <a:buNone/>
            </a:pPr>
            <a:r>
              <a:rPr lang="en-US" b="1" dirty="0" smtClean="0">
                <a:solidFill>
                  <a:srgbClr val="FF0000"/>
                </a:solidFill>
              </a:rPr>
              <a:t>Year: </a:t>
            </a:r>
            <a:r>
              <a:rPr lang="en-US" b="1" dirty="0" smtClean="0"/>
              <a:t>First Semester </a:t>
            </a:r>
          </a:p>
          <a:p>
            <a:pPr marL="0" indent="0">
              <a:buNone/>
            </a:pPr>
            <a:r>
              <a:rPr lang="en-US" b="1" dirty="0" smtClean="0">
                <a:solidFill>
                  <a:srgbClr val="FF0000"/>
                </a:solidFill>
              </a:rPr>
              <a:t>Credits</a:t>
            </a:r>
            <a:r>
              <a:rPr lang="en-US" b="1" dirty="0" smtClean="0"/>
              <a:t>: 2</a:t>
            </a:r>
          </a:p>
          <a:p>
            <a:pPr marL="0" indent="0">
              <a:buNone/>
            </a:pPr>
            <a:r>
              <a:rPr lang="en-US" b="1" dirty="0" smtClean="0">
                <a:solidFill>
                  <a:srgbClr val="FF0000"/>
                </a:solidFill>
              </a:rPr>
              <a:t>Full marks: </a:t>
            </a:r>
            <a:r>
              <a:rPr lang="en-US" b="1" dirty="0" smtClean="0"/>
              <a:t>100 </a:t>
            </a:r>
          </a:p>
          <a:p>
            <a:pPr marL="0" indent="0">
              <a:buNone/>
            </a:pPr>
            <a:r>
              <a:rPr lang="en-US" b="1" dirty="0" smtClean="0">
                <a:solidFill>
                  <a:srgbClr val="FF0000"/>
                </a:solidFill>
              </a:rPr>
              <a:t>Pass marks: </a:t>
            </a:r>
            <a:r>
              <a:rPr lang="en-US" b="1" dirty="0" smtClean="0"/>
              <a:t>45 </a:t>
            </a:r>
          </a:p>
          <a:p>
            <a:pPr marL="0" indent="0">
              <a:buNone/>
            </a:pPr>
            <a:r>
              <a:rPr lang="en-US" b="1" dirty="0" smtClean="0">
                <a:solidFill>
                  <a:srgbClr val="FF0000"/>
                </a:solidFill>
              </a:rPr>
              <a:t>Total periods: </a:t>
            </a:r>
            <a:r>
              <a:rPr lang="en-US" b="1" dirty="0" smtClean="0"/>
              <a:t>(30)</a:t>
            </a:r>
            <a:endParaRPr lang="en-US" b="1" dirty="0"/>
          </a:p>
        </p:txBody>
      </p:sp>
    </p:spTree>
    <p:extLst>
      <p:ext uri="{BB962C8B-B14F-4D97-AF65-F5344CB8AC3E}">
        <p14:creationId xmlns:p14="http://schemas.microsoft.com/office/powerpoint/2010/main" val="242246727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Unit 1: Thinking about audience, purpose, and genre</a:t>
            </a:r>
            <a:endParaRPr lang="en-US" b="1" dirty="0">
              <a:solidFill>
                <a:srgbClr val="C00000"/>
              </a:solidFill>
            </a:endParaRPr>
          </a:p>
        </p:txBody>
      </p:sp>
      <p:sp>
        <p:nvSpPr>
          <p:cNvPr id="3" name="Content Placeholder 2"/>
          <p:cNvSpPr>
            <a:spLocks noGrp="1"/>
          </p:cNvSpPr>
          <p:nvPr>
            <p:ph idx="1"/>
          </p:nvPr>
        </p:nvSpPr>
        <p:spPr/>
        <p:txBody>
          <a:bodyPr/>
          <a:lstStyle/>
          <a:p>
            <a:pPr marL="0" indent="0">
              <a:buNone/>
            </a:pPr>
            <a:r>
              <a:rPr lang="en-US" b="1" dirty="0" smtClean="0">
                <a:solidFill>
                  <a:srgbClr val="0070C0"/>
                </a:solidFill>
                <a:latin typeface="Bahnschrift Condensed" panose="020B0502040204020203" pitchFamily="34" charset="0"/>
              </a:rPr>
              <a:t>Users</a:t>
            </a:r>
          </a:p>
          <a:p>
            <a:pPr marL="0" indent="0">
              <a:buNone/>
            </a:pPr>
            <a:r>
              <a:rPr lang="en-US" b="1" dirty="0">
                <a:solidFill>
                  <a:srgbClr val="0070C0"/>
                </a:solidFill>
              </a:rPr>
              <a:t>P</a:t>
            </a:r>
            <a:r>
              <a:rPr lang="en-US" b="1" dirty="0" smtClean="0">
                <a:solidFill>
                  <a:srgbClr val="0070C0"/>
                </a:solidFill>
              </a:rPr>
              <a:t>urpose</a:t>
            </a:r>
            <a:endParaRPr lang="en-US" b="1" dirty="0" smtClean="0">
              <a:solidFill>
                <a:srgbClr val="0070C0"/>
              </a:solidFill>
              <a:latin typeface="Bahnschrift Condensed" panose="020B0502040204020203" pitchFamily="34" charset="0"/>
            </a:endParaRPr>
          </a:p>
          <a:p>
            <a:pPr marL="0" indent="0">
              <a:buNone/>
            </a:pPr>
            <a:r>
              <a:rPr lang="en-US" b="1" dirty="0" smtClean="0">
                <a:solidFill>
                  <a:srgbClr val="0070C0"/>
                </a:solidFill>
              </a:rPr>
              <a:t>Genre</a:t>
            </a:r>
            <a:endParaRPr lang="en-US" b="1" dirty="0" smtClean="0">
              <a:solidFill>
                <a:srgbClr val="0070C0"/>
              </a:solidFill>
              <a:latin typeface="Bahnschrift Condensed" panose="020B0502040204020203" pitchFamily="34" charset="0"/>
            </a:endParaRPr>
          </a:p>
        </p:txBody>
      </p:sp>
    </p:spTree>
    <p:extLst>
      <p:ext uri="{BB962C8B-B14F-4D97-AF65-F5344CB8AC3E}">
        <p14:creationId xmlns:p14="http://schemas.microsoft.com/office/powerpoint/2010/main" val="3934110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t>
            </a:r>
          </a:p>
        </p:txBody>
      </p:sp>
      <p:sp>
        <p:nvSpPr>
          <p:cNvPr id="3" name="Content Placeholder 2"/>
          <p:cNvSpPr>
            <a:spLocks noGrp="1"/>
          </p:cNvSpPr>
          <p:nvPr>
            <p:ph idx="1"/>
          </p:nvPr>
        </p:nvSpPr>
        <p:spPr>
          <a:xfrm>
            <a:off x="1676400" y="1935480"/>
            <a:ext cx="8915400" cy="4693920"/>
          </a:xfrm>
        </p:spPr>
        <p:txBody>
          <a:bodyPr/>
          <a:lstStyle/>
          <a:p>
            <a:pPr marL="0" indent="0">
              <a:buNone/>
            </a:pPr>
            <a:endParaRPr lang="en-GB" dirty="0"/>
          </a:p>
          <a:p>
            <a:pPr marL="0" indent="0">
              <a:buNone/>
            </a:pPr>
            <a:endParaRPr lang="en-GB" dirty="0"/>
          </a:p>
          <a:p>
            <a:pPr marL="0" indent="0">
              <a:buNone/>
            </a:pPr>
            <a:r>
              <a:rPr lang="en-GB" sz="3200" b="1" i="1" dirty="0">
                <a:solidFill>
                  <a:srgbClr val="00B050"/>
                </a:solidFill>
                <a:latin typeface="Times New Roman" panose="02020603050405020304" pitchFamily="18" charset="0"/>
                <a:cs typeface="Times New Roman" panose="02020603050405020304" pitchFamily="18" charset="0"/>
              </a:rPr>
              <a:t>“As soon as you take one step up the career ladder your effectiveness depends on your ability to communicate your thoughts in writing and in speaking”.</a:t>
            </a:r>
          </a:p>
          <a:p>
            <a:pPr marL="0" indent="0" algn="r">
              <a:buNone/>
            </a:pPr>
            <a:r>
              <a:rPr lang="en-GB" sz="3200" b="1" i="1" dirty="0">
                <a:solidFill>
                  <a:srgbClr val="FF0000"/>
                </a:solidFill>
                <a:latin typeface="Times New Roman" panose="02020603050405020304" pitchFamily="18" charset="0"/>
                <a:cs typeface="Times New Roman" panose="02020603050405020304" pitchFamily="18" charset="0"/>
              </a:rPr>
              <a:t> </a:t>
            </a:r>
            <a:r>
              <a:rPr lang="en-GB" sz="3200" b="1" dirty="0">
                <a:solidFill>
                  <a:srgbClr val="FF0000"/>
                </a:solidFill>
              </a:rPr>
              <a:t>-Peter Drucker</a:t>
            </a:r>
          </a:p>
        </p:txBody>
      </p:sp>
    </p:spTree>
    <p:extLst>
      <p:ext uri="{BB962C8B-B14F-4D97-AF65-F5344CB8AC3E}">
        <p14:creationId xmlns:p14="http://schemas.microsoft.com/office/powerpoint/2010/main" val="216212071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b="1" i="1" dirty="0" smtClean="0">
                <a:latin typeface="Bahnschrift Condensed" panose="020B0502040204020203" pitchFamily="34" charset="0"/>
              </a:rPr>
              <a:t>No matter how many technical skills you have, you still need to deal with people at a level they can understand, so communication skills are just as important as technical skills.</a:t>
            </a:r>
          </a:p>
          <a:p>
            <a:pPr marL="0" indent="0" algn="r">
              <a:buNone/>
            </a:pPr>
            <a:r>
              <a:rPr lang="en-US" dirty="0" smtClean="0">
                <a:latin typeface="Bahnschrift Condensed" panose="020B0502040204020203" pitchFamily="34" charset="0"/>
              </a:rPr>
              <a:t> </a:t>
            </a:r>
            <a:r>
              <a:rPr lang="en-US" dirty="0" smtClean="0"/>
              <a:t>—</a:t>
            </a:r>
            <a:r>
              <a:rPr lang="en-US" b="1" dirty="0" smtClean="0">
                <a:solidFill>
                  <a:srgbClr val="C00000"/>
                </a:solidFill>
              </a:rPr>
              <a:t>Paula Anthony, Tech support team leader</a:t>
            </a:r>
          </a:p>
          <a:p>
            <a:endParaRPr lang="en-US" dirty="0"/>
          </a:p>
        </p:txBody>
      </p:sp>
    </p:spTree>
    <p:extLst>
      <p:ext uri="{BB962C8B-B14F-4D97-AF65-F5344CB8AC3E}">
        <p14:creationId xmlns:p14="http://schemas.microsoft.com/office/powerpoint/2010/main" val="221531338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solidFill>
                  <a:srgbClr val="FF0000"/>
                </a:solidFill>
              </a:rPr>
              <a:t>What is communication?</a:t>
            </a:r>
            <a:endParaRPr lang="en-US" sz="4000" b="1" dirty="0">
              <a:solidFill>
                <a:srgbClr val="FF0000"/>
              </a:solidFill>
            </a:endParaRPr>
          </a:p>
        </p:txBody>
      </p:sp>
      <p:sp>
        <p:nvSpPr>
          <p:cNvPr id="3" name="Content Placeholder 2"/>
          <p:cNvSpPr>
            <a:spLocks noGrp="1"/>
          </p:cNvSpPr>
          <p:nvPr>
            <p:ph idx="1"/>
          </p:nvPr>
        </p:nvSpPr>
        <p:spPr>
          <a:xfrm>
            <a:off x="838200" y="1825625"/>
            <a:ext cx="11004176" cy="4790328"/>
          </a:xfrm>
        </p:spPr>
        <p:txBody>
          <a:bodyPr>
            <a:normAutofit lnSpcReduction="10000"/>
          </a:bodyPr>
          <a:lstStyle/>
          <a:p>
            <a:pPr lvl="0"/>
            <a:r>
              <a:rPr lang="en-US" b="1" dirty="0" smtClean="0"/>
              <a:t>Transfer </a:t>
            </a:r>
            <a:r>
              <a:rPr lang="en-US" b="1" dirty="0"/>
              <a:t>of message from the sender/addressor to the receiver/addressee.</a:t>
            </a:r>
          </a:p>
          <a:p>
            <a:pPr lvl="0"/>
            <a:r>
              <a:rPr lang="en-US" b="1" dirty="0"/>
              <a:t>Exchange of information between the addresser and addressee.</a:t>
            </a:r>
          </a:p>
          <a:p>
            <a:pPr lvl="0"/>
            <a:r>
              <a:rPr lang="en-US" b="1" dirty="0"/>
              <a:t>Two directional information flow.</a:t>
            </a:r>
          </a:p>
          <a:p>
            <a:pPr lvl="0"/>
            <a:r>
              <a:rPr lang="en-US" b="1" dirty="0"/>
              <a:t>Social interaction through message</a:t>
            </a:r>
            <a:r>
              <a:rPr lang="en-US" b="1" dirty="0" smtClean="0"/>
              <a:t>.</a:t>
            </a:r>
          </a:p>
          <a:p>
            <a:r>
              <a:rPr lang="en-US" b="1" dirty="0"/>
              <a:t>Communication involves signs and codes.</a:t>
            </a:r>
          </a:p>
          <a:p>
            <a:r>
              <a:rPr lang="en-US" b="1" dirty="0"/>
              <a:t>Communication can be verbal or non-verbal</a:t>
            </a:r>
          </a:p>
          <a:p>
            <a:r>
              <a:rPr lang="en-US" b="1" dirty="0"/>
              <a:t>Communication can be internal or external.</a:t>
            </a:r>
          </a:p>
          <a:p>
            <a:r>
              <a:rPr lang="en-US" b="1" dirty="0"/>
              <a:t>Communication can take place in two people as well as in-group.</a:t>
            </a:r>
          </a:p>
          <a:p>
            <a:r>
              <a:rPr lang="en-US" b="1" dirty="0" smtClean="0"/>
              <a:t>It </a:t>
            </a:r>
            <a:r>
              <a:rPr lang="en-US" b="1" dirty="0"/>
              <a:t>is a dynamic process</a:t>
            </a:r>
          </a:p>
          <a:p>
            <a:pPr marL="0" lvl="0" indent="0">
              <a:buNone/>
            </a:pPr>
            <a:endParaRPr lang="en-US" dirty="0"/>
          </a:p>
          <a:p>
            <a:endParaRPr lang="en-US" dirty="0"/>
          </a:p>
          <a:p>
            <a:endParaRPr lang="en-US" dirty="0"/>
          </a:p>
        </p:txBody>
      </p:sp>
    </p:spTree>
    <p:extLst>
      <p:ext uri="{BB962C8B-B14F-4D97-AF65-F5344CB8AC3E}">
        <p14:creationId xmlns:p14="http://schemas.microsoft.com/office/powerpoint/2010/main" val="37889346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b="1" dirty="0">
                <a:solidFill>
                  <a:srgbClr val="0070C0"/>
                </a:solidFill>
              </a:rPr>
              <a:t>Principles of Communication (7 Cs)</a:t>
            </a:r>
          </a:p>
        </p:txBody>
      </p:sp>
      <p:sp>
        <p:nvSpPr>
          <p:cNvPr id="2" name="Content Placeholder 1"/>
          <p:cNvSpPr>
            <a:spLocks noGrp="1"/>
          </p:cNvSpPr>
          <p:nvPr>
            <p:ph idx="1"/>
          </p:nvPr>
        </p:nvSpPr>
        <p:spPr/>
        <p:txBody>
          <a:bodyPr>
            <a:noAutofit/>
          </a:bodyPr>
          <a:lstStyle/>
          <a:p>
            <a:r>
              <a:rPr lang="en-US" sz="3200" b="1" dirty="0"/>
              <a:t>Clarity</a:t>
            </a:r>
          </a:p>
          <a:p>
            <a:r>
              <a:rPr lang="en-US" sz="3200" b="1" dirty="0"/>
              <a:t>Completeness</a:t>
            </a:r>
          </a:p>
          <a:p>
            <a:r>
              <a:rPr lang="en-US" sz="3200" b="1" dirty="0"/>
              <a:t>Conciseness</a:t>
            </a:r>
          </a:p>
          <a:p>
            <a:r>
              <a:rPr lang="en-US" sz="3200" b="1" dirty="0"/>
              <a:t>Concreteness</a:t>
            </a:r>
          </a:p>
          <a:p>
            <a:r>
              <a:rPr lang="en-US" sz="3200" b="1" dirty="0"/>
              <a:t>Consideration</a:t>
            </a:r>
          </a:p>
          <a:p>
            <a:r>
              <a:rPr lang="en-US" sz="3200" b="1" dirty="0"/>
              <a:t>Correctness</a:t>
            </a:r>
          </a:p>
          <a:p>
            <a:r>
              <a:rPr lang="en-US" sz="3200" b="1" dirty="0"/>
              <a:t>Courtesy</a:t>
            </a:r>
          </a:p>
        </p:txBody>
      </p:sp>
    </p:spTree>
    <p:extLst>
      <p:ext uri="{BB962C8B-B14F-4D97-AF65-F5344CB8AC3E}">
        <p14:creationId xmlns:p14="http://schemas.microsoft.com/office/powerpoint/2010/main" val="12744310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3059" y="365125"/>
            <a:ext cx="10860741" cy="1325563"/>
          </a:xfrm>
        </p:spPr>
        <p:txBody>
          <a:bodyPr/>
          <a:lstStyle/>
          <a:p>
            <a:r>
              <a:rPr lang="en-US" b="1" dirty="0" smtClean="0">
                <a:solidFill>
                  <a:srgbClr val="C00000"/>
                </a:solidFill>
              </a:rPr>
              <a:t>What is technical communication?</a:t>
            </a:r>
            <a:endParaRPr lang="en-US" b="1" dirty="0">
              <a:solidFill>
                <a:srgbClr val="C00000"/>
              </a:solidFill>
            </a:endParaRPr>
          </a:p>
        </p:txBody>
      </p:sp>
      <p:sp>
        <p:nvSpPr>
          <p:cNvPr id="3" name="Content Placeholder 2"/>
          <p:cNvSpPr>
            <a:spLocks noGrp="1"/>
          </p:cNvSpPr>
          <p:nvPr>
            <p:ph idx="1"/>
          </p:nvPr>
        </p:nvSpPr>
        <p:spPr>
          <a:xfrm>
            <a:off x="367553" y="1825625"/>
            <a:ext cx="11519647" cy="4942728"/>
          </a:xfrm>
        </p:spPr>
        <p:txBody>
          <a:bodyPr>
            <a:normAutofit/>
          </a:bodyPr>
          <a:lstStyle/>
          <a:p>
            <a:r>
              <a:rPr lang="en-US" b="1" dirty="0" smtClean="0"/>
              <a:t> </a:t>
            </a:r>
            <a:r>
              <a:rPr lang="en-US" b="1" dirty="0"/>
              <a:t>P</a:t>
            </a:r>
            <a:r>
              <a:rPr lang="en-US" b="1" dirty="0" smtClean="0"/>
              <a:t>rocess of </a:t>
            </a:r>
            <a:r>
              <a:rPr lang="en-US" b="1" dirty="0" smtClean="0">
                <a:solidFill>
                  <a:srgbClr val="00B0F0"/>
                </a:solidFill>
              </a:rPr>
              <a:t>creating, designing, and transmitting</a:t>
            </a:r>
            <a:r>
              <a:rPr lang="en-US" b="1" dirty="0" smtClean="0"/>
              <a:t> technical information so that people can </a:t>
            </a:r>
            <a:r>
              <a:rPr lang="en-US" b="1" dirty="0" smtClean="0">
                <a:solidFill>
                  <a:srgbClr val="00B0F0"/>
                </a:solidFill>
              </a:rPr>
              <a:t>understand it easily, safely, and efficiently.</a:t>
            </a:r>
          </a:p>
          <a:p>
            <a:r>
              <a:rPr lang="en-US" b="1" dirty="0"/>
              <a:t>A</a:t>
            </a:r>
            <a:r>
              <a:rPr lang="en-US" b="1" dirty="0" smtClean="0"/>
              <a:t>ctivity </a:t>
            </a:r>
            <a:r>
              <a:rPr lang="en-US" b="1" dirty="0"/>
              <a:t>of preparing and publishing specialized information in a way that allows non-specialists to understand </a:t>
            </a:r>
            <a:r>
              <a:rPr lang="en-US" b="1" dirty="0" smtClean="0"/>
              <a:t> </a:t>
            </a:r>
            <a:r>
              <a:rPr lang="en-US" b="1" dirty="0"/>
              <a:t>to </a:t>
            </a:r>
            <a:r>
              <a:rPr lang="en-US" b="1" dirty="0">
                <a:solidFill>
                  <a:srgbClr val="00B0F0"/>
                </a:solidFill>
              </a:rPr>
              <a:t>accomplish </a:t>
            </a:r>
            <a:r>
              <a:rPr lang="en-US" b="1" dirty="0" smtClean="0">
                <a:solidFill>
                  <a:srgbClr val="00B0F0"/>
                </a:solidFill>
              </a:rPr>
              <a:t>the </a:t>
            </a:r>
            <a:r>
              <a:rPr lang="en-US" b="1" dirty="0">
                <a:solidFill>
                  <a:srgbClr val="00B0F0"/>
                </a:solidFill>
              </a:rPr>
              <a:t>task</a:t>
            </a:r>
            <a:r>
              <a:rPr lang="en-US" b="1" dirty="0" smtClean="0">
                <a:solidFill>
                  <a:srgbClr val="00B0F0"/>
                </a:solidFill>
              </a:rPr>
              <a:t>.</a:t>
            </a:r>
          </a:p>
          <a:p>
            <a:r>
              <a:rPr lang="en-US" b="1" dirty="0"/>
              <a:t>P</a:t>
            </a:r>
            <a:r>
              <a:rPr lang="en-US" b="1" dirty="0" smtClean="0"/>
              <a:t>rocess of </a:t>
            </a:r>
            <a:r>
              <a:rPr lang="en-US" b="1" dirty="0" smtClean="0">
                <a:solidFill>
                  <a:srgbClr val="00B0F0"/>
                </a:solidFill>
              </a:rPr>
              <a:t>managing technical information</a:t>
            </a:r>
            <a:r>
              <a:rPr lang="en-US" b="1" dirty="0" smtClean="0"/>
              <a:t> in ways that allow people to take actions.</a:t>
            </a:r>
          </a:p>
          <a:p>
            <a:pPr marL="0" indent="0">
              <a:buNone/>
            </a:pPr>
            <a:endParaRPr lang="en-US" b="1" dirty="0" smtClean="0"/>
          </a:p>
        </p:txBody>
      </p:sp>
    </p:spTree>
    <p:extLst>
      <p:ext uri="{BB962C8B-B14F-4D97-AF65-F5344CB8AC3E}">
        <p14:creationId xmlns:p14="http://schemas.microsoft.com/office/powerpoint/2010/main" val="29390249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Examples</a:t>
            </a:r>
            <a:r>
              <a:rPr lang="en-US" dirty="0" smtClean="0">
                <a:solidFill>
                  <a:srgbClr val="0070C0"/>
                </a:solidFill>
              </a:rPr>
              <a:t> </a:t>
            </a:r>
            <a:endParaRPr lang="en-US" dirty="0">
              <a:solidFill>
                <a:srgbClr val="0070C0"/>
              </a:solidFill>
            </a:endParaRPr>
          </a:p>
        </p:txBody>
      </p:sp>
      <p:sp>
        <p:nvSpPr>
          <p:cNvPr id="3" name="Content Placeholder 2"/>
          <p:cNvSpPr>
            <a:spLocks noGrp="1"/>
          </p:cNvSpPr>
          <p:nvPr>
            <p:ph idx="1"/>
          </p:nvPr>
        </p:nvSpPr>
        <p:spPr/>
        <p:txBody>
          <a:bodyPr>
            <a:normAutofit/>
          </a:bodyPr>
          <a:lstStyle/>
          <a:p>
            <a:r>
              <a:rPr lang="en-US" b="1" dirty="0">
                <a:solidFill>
                  <a:srgbClr val="FF0000"/>
                </a:solidFill>
              </a:rPr>
              <a:t>C</a:t>
            </a:r>
            <a:r>
              <a:rPr lang="en-US" b="1" dirty="0" smtClean="0">
                <a:solidFill>
                  <a:srgbClr val="FF0000"/>
                </a:solidFill>
              </a:rPr>
              <a:t>omputer </a:t>
            </a:r>
            <a:r>
              <a:rPr lang="en-US" b="1" dirty="0">
                <a:solidFill>
                  <a:srgbClr val="FF0000"/>
                </a:solidFill>
              </a:rPr>
              <a:t>manuals </a:t>
            </a:r>
            <a:r>
              <a:rPr lang="en-US" b="1" dirty="0"/>
              <a:t>(print versions and help screens) </a:t>
            </a:r>
          </a:p>
          <a:p>
            <a:r>
              <a:rPr lang="en-US" b="1" dirty="0" smtClean="0">
                <a:solidFill>
                  <a:srgbClr val="FF0000"/>
                </a:solidFill>
              </a:rPr>
              <a:t>Assembly </a:t>
            </a:r>
            <a:r>
              <a:rPr lang="en-US" b="1" dirty="0">
                <a:solidFill>
                  <a:srgbClr val="FF0000"/>
                </a:solidFill>
              </a:rPr>
              <a:t>instructions </a:t>
            </a:r>
            <a:r>
              <a:rPr lang="en-US" b="1" dirty="0"/>
              <a:t>for appliances, equipment, furniture, toys, and games </a:t>
            </a:r>
          </a:p>
          <a:p>
            <a:r>
              <a:rPr lang="en-US" b="1" dirty="0" smtClean="0">
                <a:solidFill>
                  <a:srgbClr val="FF0000"/>
                </a:solidFill>
              </a:rPr>
              <a:t>Research </a:t>
            </a:r>
            <a:r>
              <a:rPr lang="en-US" b="1" dirty="0">
                <a:solidFill>
                  <a:srgbClr val="FF0000"/>
                </a:solidFill>
              </a:rPr>
              <a:t>articles </a:t>
            </a:r>
            <a:r>
              <a:rPr lang="en-US" b="1" dirty="0"/>
              <a:t>that present scientific or technological discoveries </a:t>
            </a:r>
          </a:p>
          <a:p>
            <a:r>
              <a:rPr lang="en-US" b="1" dirty="0">
                <a:solidFill>
                  <a:srgbClr val="FF0000"/>
                </a:solidFill>
              </a:rPr>
              <a:t>M</a:t>
            </a:r>
            <a:r>
              <a:rPr lang="en-US" b="1" dirty="0" smtClean="0">
                <a:solidFill>
                  <a:srgbClr val="FF0000"/>
                </a:solidFill>
              </a:rPr>
              <a:t>agazine </a:t>
            </a:r>
            <a:r>
              <a:rPr lang="en-US" b="1" dirty="0">
                <a:solidFill>
                  <a:srgbClr val="FF0000"/>
                </a:solidFill>
              </a:rPr>
              <a:t>articles </a:t>
            </a:r>
            <a:r>
              <a:rPr lang="en-US" b="1" dirty="0"/>
              <a:t>that explain how to complete a process— preparing yellow chicken </a:t>
            </a:r>
            <a:r>
              <a:rPr lang="en-US" b="1" dirty="0" smtClean="0"/>
              <a:t>curry </a:t>
            </a:r>
            <a:endParaRPr lang="en-US" b="1" dirty="0"/>
          </a:p>
          <a:p>
            <a:r>
              <a:rPr lang="en-US" b="1" dirty="0">
                <a:solidFill>
                  <a:srgbClr val="FF0000"/>
                </a:solidFill>
              </a:rPr>
              <a:t>T</a:t>
            </a:r>
            <a:r>
              <a:rPr lang="en-US" b="1" dirty="0" smtClean="0">
                <a:solidFill>
                  <a:srgbClr val="FF0000"/>
                </a:solidFill>
              </a:rPr>
              <a:t>raining </a:t>
            </a:r>
            <a:r>
              <a:rPr lang="en-US" b="1" dirty="0">
                <a:solidFill>
                  <a:srgbClr val="FF0000"/>
                </a:solidFill>
              </a:rPr>
              <a:t>films </a:t>
            </a:r>
            <a:r>
              <a:rPr lang="en-US" b="1" dirty="0"/>
              <a:t>that demonstrate a process </a:t>
            </a:r>
          </a:p>
          <a:p>
            <a:r>
              <a:rPr lang="en-US" b="1" dirty="0">
                <a:solidFill>
                  <a:srgbClr val="FF0000"/>
                </a:solidFill>
              </a:rPr>
              <a:t>I</a:t>
            </a:r>
            <a:r>
              <a:rPr lang="en-US" b="1" dirty="0" smtClean="0">
                <a:solidFill>
                  <a:srgbClr val="FF0000"/>
                </a:solidFill>
              </a:rPr>
              <a:t>nstructions</a:t>
            </a:r>
            <a:r>
              <a:rPr lang="en-US" b="1" dirty="0" smtClean="0"/>
              <a:t> </a:t>
            </a:r>
            <a:r>
              <a:rPr lang="en-US" b="1" dirty="0"/>
              <a:t>on how to register online or create an online account </a:t>
            </a:r>
          </a:p>
          <a:p>
            <a:endParaRPr lang="en-US" dirty="0"/>
          </a:p>
        </p:txBody>
      </p:sp>
    </p:spTree>
    <p:extLst>
      <p:ext uri="{BB962C8B-B14F-4D97-AF65-F5344CB8AC3E}">
        <p14:creationId xmlns:p14="http://schemas.microsoft.com/office/powerpoint/2010/main" val="20877140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rPr>
              <a:t>How does it differ from other types of writing?</a:t>
            </a:r>
          </a:p>
        </p:txBody>
      </p:sp>
      <p:sp>
        <p:nvSpPr>
          <p:cNvPr id="3" name="Content Placeholder 2"/>
          <p:cNvSpPr>
            <a:spLocks noGrp="1"/>
          </p:cNvSpPr>
          <p:nvPr>
            <p:ph idx="1"/>
          </p:nvPr>
        </p:nvSpPr>
        <p:spPr>
          <a:xfrm>
            <a:off x="838199" y="1825624"/>
            <a:ext cx="11057965" cy="4673787"/>
          </a:xfrm>
        </p:spPr>
        <p:txBody>
          <a:bodyPr>
            <a:normAutofit/>
          </a:bodyPr>
          <a:lstStyle/>
          <a:p>
            <a:r>
              <a:rPr lang="en-US" b="1" dirty="0"/>
              <a:t>All writing takes place in a specific context, and all writing involves these elements: </a:t>
            </a:r>
            <a:r>
              <a:rPr lang="en-US" b="1" dirty="0">
                <a:solidFill>
                  <a:srgbClr val="FF0000"/>
                </a:solidFill>
              </a:rPr>
              <a:t>a writer/speaker, a message, and a reader/listener</a:t>
            </a:r>
            <a:r>
              <a:rPr lang="en-US" b="1" dirty="0" smtClean="0">
                <a:solidFill>
                  <a:srgbClr val="FF0000"/>
                </a:solidFill>
              </a:rPr>
              <a:t>.</a:t>
            </a:r>
          </a:p>
          <a:p>
            <a:r>
              <a:rPr lang="en-US" b="1" dirty="0" smtClean="0"/>
              <a:t> </a:t>
            </a:r>
            <a:r>
              <a:rPr lang="en-US" b="1" dirty="0">
                <a:solidFill>
                  <a:srgbClr val="C00000"/>
                </a:solidFill>
              </a:rPr>
              <a:t>Two of the main differences </a:t>
            </a:r>
            <a:r>
              <a:rPr lang="en-US" b="1" dirty="0"/>
              <a:t>between technical communication and other types of communication </a:t>
            </a:r>
            <a:r>
              <a:rPr lang="en-US" b="1" dirty="0" smtClean="0"/>
              <a:t>are:</a:t>
            </a:r>
          </a:p>
          <a:p>
            <a:pPr marL="514350" indent="-514350">
              <a:buAutoNum type="arabicParenR"/>
            </a:pPr>
            <a:r>
              <a:rPr lang="en-US" b="1" dirty="0">
                <a:solidFill>
                  <a:srgbClr val="C00000"/>
                </a:solidFill>
              </a:rPr>
              <a:t>I</a:t>
            </a:r>
            <a:r>
              <a:rPr lang="en-US" b="1" dirty="0" smtClean="0">
                <a:solidFill>
                  <a:srgbClr val="C00000"/>
                </a:solidFill>
              </a:rPr>
              <a:t>ts </a:t>
            </a:r>
            <a:r>
              <a:rPr lang="en-US" b="1" dirty="0">
                <a:solidFill>
                  <a:srgbClr val="C00000"/>
                </a:solidFill>
              </a:rPr>
              <a:t>subject matter usually requires some type of </a:t>
            </a:r>
            <a:r>
              <a:rPr lang="en-US" b="1" dirty="0" smtClean="0">
                <a:solidFill>
                  <a:srgbClr val="C00000"/>
                </a:solidFill>
              </a:rPr>
              <a:t>specialized/ technical knowledge.</a:t>
            </a:r>
          </a:p>
          <a:p>
            <a:pPr marL="514350" indent="-514350">
              <a:buAutoNum type="arabicParenR"/>
            </a:pPr>
            <a:r>
              <a:rPr lang="en-US" b="1" dirty="0" smtClean="0">
                <a:solidFill>
                  <a:srgbClr val="C00000"/>
                </a:solidFill>
              </a:rPr>
              <a:t> </a:t>
            </a:r>
            <a:r>
              <a:rPr lang="en-US" b="1" dirty="0">
                <a:solidFill>
                  <a:srgbClr val="C00000"/>
                </a:solidFill>
              </a:rPr>
              <a:t>I</a:t>
            </a:r>
            <a:r>
              <a:rPr lang="en-US" b="1" dirty="0" smtClean="0">
                <a:solidFill>
                  <a:srgbClr val="C00000"/>
                </a:solidFill>
              </a:rPr>
              <a:t>t bridges the gap between an expert and the </a:t>
            </a:r>
            <a:r>
              <a:rPr lang="en-US" b="1" dirty="0">
                <a:solidFill>
                  <a:srgbClr val="C00000"/>
                </a:solidFill>
              </a:rPr>
              <a:t>lay or non-specialist reader to complete </a:t>
            </a:r>
            <a:r>
              <a:rPr lang="en-US" b="1" dirty="0" smtClean="0">
                <a:solidFill>
                  <a:srgbClr val="C00000"/>
                </a:solidFill>
              </a:rPr>
              <a:t>the </a:t>
            </a:r>
            <a:r>
              <a:rPr lang="en-US" b="1" dirty="0">
                <a:solidFill>
                  <a:srgbClr val="C00000"/>
                </a:solidFill>
              </a:rPr>
              <a:t>action </a:t>
            </a:r>
            <a:r>
              <a:rPr lang="en-US" b="1" dirty="0" smtClean="0">
                <a:solidFill>
                  <a:srgbClr val="C00000"/>
                </a:solidFill>
              </a:rPr>
              <a:t>successfully.</a:t>
            </a:r>
          </a:p>
          <a:p>
            <a:r>
              <a:rPr lang="en-US" b="1" dirty="0" smtClean="0"/>
              <a:t>Some </a:t>
            </a:r>
            <a:r>
              <a:rPr lang="en-US" b="1" dirty="0"/>
              <a:t>people call technical communication</a:t>
            </a:r>
            <a:r>
              <a:rPr lang="en-US" b="1" dirty="0">
                <a:solidFill>
                  <a:srgbClr val="FF0000"/>
                </a:solidFill>
              </a:rPr>
              <a:t> “instrumental” </a:t>
            </a:r>
            <a:r>
              <a:rPr lang="en-US" b="1" dirty="0"/>
              <a:t>because it works as an instrument or tool for people to get something done.</a:t>
            </a:r>
            <a:endParaRPr lang="en-US" b="1" dirty="0" smtClean="0"/>
          </a:p>
          <a:p>
            <a:pPr marL="0" indent="0">
              <a:buNone/>
            </a:pPr>
            <a:endParaRPr lang="en-US" b="1" dirty="0"/>
          </a:p>
        </p:txBody>
      </p:sp>
    </p:spTree>
    <p:extLst>
      <p:ext uri="{BB962C8B-B14F-4D97-AF65-F5344CB8AC3E}">
        <p14:creationId xmlns:p14="http://schemas.microsoft.com/office/powerpoint/2010/main" val="24028215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May be an image of text that says 'Technical Writing vS Creative Writing Point of Comparison Subject Readership Format Language Style Tone Content Purpose Technical Writing Scientific/ technical Specific Formal Literal/direct/denotative Impersonal/simple Serious/unemotional Objective/neutral Informative/instructional Creative Writing Generally about life General Informal Figurative/ indirect/connotative Personal/elaborated Light/ conversational Subjective/opinionated Informative/entertaini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1718" y="0"/>
            <a:ext cx="12012706" cy="685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86402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906122"/>
          </a:xfrm>
        </p:spPr>
        <p:txBody>
          <a:bodyPr/>
          <a:lstStyle/>
          <a:p>
            <a:r>
              <a:rPr lang="en-US" b="1" dirty="0" smtClean="0">
                <a:solidFill>
                  <a:srgbClr val="FF0000"/>
                </a:solidFill>
              </a:rPr>
              <a:t>Models of communication </a:t>
            </a:r>
            <a:endParaRPr lang="en-US" b="1" dirty="0">
              <a:solidFill>
                <a:srgbClr val="FF0000"/>
              </a:solidFill>
            </a:endParaRPr>
          </a:p>
        </p:txBody>
      </p:sp>
    </p:spTree>
    <p:extLst>
      <p:ext uri="{BB962C8B-B14F-4D97-AF65-F5344CB8AC3E}">
        <p14:creationId xmlns:p14="http://schemas.microsoft.com/office/powerpoint/2010/main" val="7157508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James L. </a:t>
            </a:r>
            <a:r>
              <a:rPr lang="en-US" b="1" dirty="0" err="1" smtClean="0">
                <a:solidFill>
                  <a:srgbClr val="FF0000"/>
                </a:solidFill>
              </a:rPr>
              <a:t>Kinneavy’s</a:t>
            </a:r>
            <a:r>
              <a:rPr lang="en-US" b="1" dirty="0" smtClean="0">
                <a:solidFill>
                  <a:srgbClr val="FF0000"/>
                </a:solidFill>
              </a:rPr>
              <a:t> </a:t>
            </a:r>
            <a:r>
              <a:rPr lang="en-US" b="1" dirty="0">
                <a:solidFill>
                  <a:srgbClr val="FF0000"/>
                </a:solidFill>
              </a:rPr>
              <a:t>communication </a:t>
            </a:r>
            <a:r>
              <a:rPr lang="en-US" b="1" dirty="0" smtClean="0">
                <a:solidFill>
                  <a:srgbClr val="FF0000"/>
                </a:solidFill>
              </a:rPr>
              <a:t>triangle</a:t>
            </a:r>
            <a:endParaRPr lang="en-US" b="1" dirty="0">
              <a:solidFill>
                <a:srgbClr val="FF0000"/>
              </a:solidFill>
            </a:endParaRPr>
          </a:p>
        </p:txBody>
      </p:sp>
      <p:sp>
        <p:nvSpPr>
          <p:cNvPr id="3" name="Content Placeholder 2"/>
          <p:cNvSpPr>
            <a:spLocks noGrp="1"/>
          </p:cNvSpPr>
          <p:nvPr>
            <p:ph idx="1"/>
          </p:nvPr>
        </p:nvSpPr>
        <p:spPr>
          <a:xfrm>
            <a:off x="591671" y="1488142"/>
            <a:ext cx="7736541" cy="5369858"/>
          </a:xfrm>
        </p:spPr>
        <p:txBody>
          <a:bodyPr>
            <a:normAutofit lnSpcReduction="10000"/>
          </a:bodyPr>
          <a:lstStyle/>
          <a:p>
            <a:r>
              <a:rPr lang="en-US" b="1" dirty="0" smtClean="0"/>
              <a:t>This model shows </a:t>
            </a:r>
            <a:r>
              <a:rPr lang="en-US" b="1" dirty="0"/>
              <a:t>one way to think about the </a:t>
            </a:r>
            <a:r>
              <a:rPr lang="en-US" b="1" dirty="0">
                <a:solidFill>
                  <a:srgbClr val="00B0F0"/>
                </a:solidFill>
              </a:rPr>
              <a:t>relationship between writer, reader, and text in any kind of writing. </a:t>
            </a:r>
            <a:endParaRPr lang="en-US" b="1" dirty="0" smtClean="0">
              <a:solidFill>
                <a:srgbClr val="00B0F0"/>
              </a:solidFill>
            </a:endParaRPr>
          </a:p>
          <a:p>
            <a:r>
              <a:rPr lang="en-US" b="1" dirty="0" smtClean="0"/>
              <a:t>In </a:t>
            </a:r>
            <a:r>
              <a:rPr lang="en-US" b="1" dirty="0"/>
              <a:t>this diagram,</a:t>
            </a:r>
            <a:r>
              <a:rPr lang="en-US" b="1" dirty="0">
                <a:solidFill>
                  <a:srgbClr val="00B0F0"/>
                </a:solidFill>
              </a:rPr>
              <a:t> </a:t>
            </a:r>
            <a:r>
              <a:rPr lang="en-US" b="1" dirty="0" smtClean="0">
                <a:solidFill>
                  <a:srgbClr val="00B0F0"/>
                </a:solidFill>
              </a:rPr>
              <a:t>reality </a:t>
            </a:r>
            <a:r>
              <a:rPr lang="en-US" b="1" dirty="0">
                <a:solidFill>
                  <a:srgbClr val="00B0F0"/>
                </a:solidFill>
              </a:rPr>
              <a:t>forms a third point on the triangle, </a:t>
            </a:r>
            <a:r>
              <a:rPr lang="en-US" b="1" dirty="0"/>
              <a:t>which shapes the relationship between the writer (encoder), the reader (decoder), and the text or document (signal). </a:t>
            </a:r>
            <a:endParaRPr lang="en-US" b="1" dirty="0" smtClean="0"/>
          </a:p>
          <a:p>
            <a:r>
              <a:rPr lang="en-US" b="1" dirty="0" smtClean="0"/>
              <a:t>In </a:t>
            </a:r>
            <a:r>
              <a:rPr lang="en-US" b="1" dirty="0"/>
              <a:t>technical communication, the </a:t>
            </a:r>
            <a:r>
              <a:rPr lang="en-US" b="1" dirty="0">
                <a:solidFill>
                  <a:srgbClr val="00B0F0"/>
                </a:solidFill>
              </a:rPr>
              <a:t>text represents a </a:t>
            </a:r>
            <a:r>
              <a:rPr lang="en-US" b="1" dirty="0" smtClean="0">
                <a:solidFill>
                  <a:srgbClr val="00B0F0"/>
                </a:solidFill>
              </a:rPr>
              <a:t>kind </a:t>
            </a:r>
            <a:r>
              <a:rPr lang="en-US" b="1" dirty="0">
                <a:solidFill>
                  <a:srgbClr val="00B0F0"/>
                </a:solidFill>
              </a:rPr>
              <a:t>of reality prepared by the writer for the reader. </a:t>
            </a:r>
            <a:endParaRPr lang="en-US" b="1" dirty="0" smtClean="0">
              <a:solidFill>
                <a:srgbClr val="00B0F0"/>
              </a:solidFill>
            </a:endParaRPr>
          </a:p>
          <a:p>
            <a:r>
              <a:rPr lang="en-US" b="1" dirty="0" smtClean="0"/>
              <a:t>Each </a:t>
            </a:r>
            <a:r>
              <a:rPr lang="en-US" b="1" dirty="0"/>
              <a:t>type of writing focuses on a different aspect of the </a:t>
            </a:r>
            <a:r>
              <a:rPr lang="en-US" b="1" dirty="0" smtClean="0"/>
              <a:t>triangle</a:t>
            </a:r>
            <a:r>
              <a:rPr lang="en-US" b="1" dirty="0"/>
              <a:t> </a:t>
            </a:r>
            <a:r>
              <a:rPr lang="en-US" b="1" dirty="0" smtClean="0"/>
              <a:t>(expressive, persuasive, literary etc.)</a:t>
            </a:r>
          </a:p>
          <a:p>
            <a:pPr marL="0" indent="0">
              <a:buNone/>
            </a:pPr>
            <a:endParaRPr lang="en-US" b="1" dirty="0"/>
          </a:p>
        </p:txBody>
      </p:sp>
      <p:pic>
        <p:nvPicPr>
          <p:cNvPr id="4" name="Picture 3"/>
          <p:cNvPicPr>
            <a:picLocks noChangeAspect="1"/>
          </p:cNvPicPr>
          <p:nvPr/>
        </p:nvPicPr>
        <p:blipFill rotWithShape="1">
          <a:blip r:embed="rId2"/>
          <a:srcRect t="14469"/>
          <a:stretch/>
        </p:blipFill>
        <p:spPr>
          <a:xfrm>
            <a:off x="8328212" y="1825624"/>
            <a:ext cx="3711388" cy="435133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1089496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0342"/>
            <a:ext cx="10515600" cy="1325563"/>
          </a:xfrm>
        </p:spPr>
        <p:txBody>
          <a:bodyPr/>
          <a:lstStyle/>
          <a:p>
            <a:r>
              <a:rPr lang="en-US" b="1" dirty="0">
                <a:solidFill>
                  <a:srgbClr val="0070C0"/>
                </a:solidFill>
              </a:rPr>
              <a:t>Walter H. </a:t>
            </a:r>
            <a:r>
              <a:rPr lang="en-US" b="1" dirty="0" smtClean="0">
                <a:solidFill>
                  <a:srgbClr val="0070C0"/>
                </a:solidFill>
              </a:rPr>
              <a:t>Beale’s </a:t>
            </a:r>
            <a:r>
              <a:rPr lang="en-US" b="1" dirty="0">
                <a:solidFill>
                  <a:srgbClr val="0070C0"/>
                </a:solidFill>
              </a:rPr>
              <a:t>model of </a:t>
            </a:r>
            <a:r>
              <a:rPr lang="en-US" b="1" dirty="0" smtClean="0">
                <a:solidFill>
                  <a:srgbClr val="0070C0"/>
                </a:solidFill>
              </a:rPr>
              <a:t>communication </a:t>
            </a:r>
            <a:endParaRPr lang="en-US" b="1" dirty="0">
              <a:solidFill>
                <a:srgbClr val="0070C0"/>
              </a:solidFill>
            </a:endParaRPr>
          </a:p>
        </p:txBody>
      </p:sp>
      <p:sp>
        <p:nvSpPr>
          <p:cNvPr id="5" name="Content Placeholder 4"/>
          <p:cNvSpPr>
            <a:spLocks noGrp="1"/>
          </p:cNvSpPr>
          <p:nvPr>
            <p:ph idx="1"/>
          </p:nvPr>
        </p:nvSpPr>
        <p:spPr>
          <a:xfrm>
            <a:off x="4410635" y="1286793"/>
            <a:ext cx="7342094" cy="5262281"/>
          </a:xfrm>
        </p:spPr>
        <p:txBody>
          <a:bodyPr>
            <a:noAutofit/>
          </a:bodyPr>
          <a:lstStyle/>
          <a:p>
            <a:pPr algn="just"/>
            <a:r>
              <a:rPr lang="en-US" sz="2000" b="1" dirty="0" smtClean="0">
                <a:solidFill>
                  <a:srgbClr val="FF0000"/>
                </a:solidFill>
              </a:rPr>
              <a:t>Beale discusses the purpose or aim of different types of writing.</a:t>
            </a:r>
          </a:p>
          <a:p>
            <a:pPr algn="just"/>
            <a:r>
              <a:rPr lang="en-US" sz="2000" b="1" dirty="0" smtClean="0"/>
              <a:t> He aims to highlight the relationships created between the writer, the reader, reality, and the text in each type of writing. For example, poetic writing (or discourse) relates to the writer and enables the writer’s self-expression or self-exploration. </a:t>
            </a:r>
          </a:p>
          <a:p>
            <a:pPr algn="just"/>
            <a:r>
              <a:rPr lang="en-US" sz="2000" b="1" dirty="0" smtClean="0">
                <a:solidFill>
                  <a:srgbClr val="FF0000"/>
                </a:solidFill>
              </a:rPr>
              <a:t>Poetic (or literary) discourse</a:t>
            </a:r>
            <a:r>
              <a:rPr lang="en-US" sz="2000" b="1" dirty="0" smtClean="0"/>
              <a:t>  explores writers’ personal visions</a:t>
            </a:r>
            <a:r>
              <a:rPr lang="en-US" sz="2000" b="1" dirty="0" smtClean="0"/>
              <a:t>.- </a:t>
            </a:r>
            <a:r>
              <a:rPr lang="en-US" sz="2000" b="1" dirty="0" smtClean="0">
                <a:solidFill>
                  <a:srgbClr val="0070C0"/>
                </a:solidFill>
              </a:rPr>
              <a:t>poems, Novels</a:t>
            </a:r>
            <a:endParaRPr lang="en-US" sz="2000" b="1" dirty="0" smtClean="0">
              <a:solidFill>
                <a:srgbClr val="0070C0"/>
              </a:solidFill>
            </a:endParaRPr>
          </a:p>
          <a:p>
            <a:pPr algn="just"/>
            <a:r>
              <a:rPr lang="en-US" sz="2000" b="1" dirty="0" smtClean="0">
                <a:solidFill>
                  <a:srgbClr val="FF0000"/>
                </a:solidFill>
              </a:rPr>
              <a:t>Instrumental discourse </a:t>
            </a:r>
            <a:r>
              <a:rPr lang="en-US" sz="2000" b="1" dirty="0" smtClean="0"/>
              <a:t>links readers and reality: they provide information to help readers perform a particular action. </a:t>
            </a:r>
            <a:r>
              <a:rPr lang="en-US" sz="2000" b="1" dirty="0" smtClean="0"/>
              <a:t>– </a:t>
            </a:r>
            <a:r>
              <a:rPr lang="en-US" sz="2000" b="1" dirty="0" smtClean="0">
                <a:solidFill>
                  <a:srgbClr val="0070C0"/>
                </a:solidFill>
              </a:rPr>
              <a:t>user manual</a:t>
            </a:r>
            <a:endParaRPr lang="en-US" sz="2000" b="1" dirty="0" smtClean="0">
              <a:solidFill>
                <a:srgbClr val="0070C0"/>
              </a:solidFill>
            </a:endParaRPr>
          </a:p>
          <a:p>
            <a:pPr algn="just"/>
            <a:r>
              <a:rPr lang="en-US" sz="2000" b="1" dirty="0" smtClean="0">
                <a:solidFill>
                  <a:srgbClr val="FF0000"/>
                </a:solidFill>
              </a:rPr>
              <a:t>Rhetorical discourse </a:t>
            </a:r>
            <a:r>
              <a:rPr lang="en-US" sz="2000" b="1" dirty="0" smtClean="0"/>
              <a:t>aims to persuade readers—to change their minds about a particular issue or belief (or at least swift them to consider the writer’s viewpoint, even briefly). </a:t>
            </a:r>
            <a:r>
              <a:rPr lang="en-US" sz="2000" b="1" dirty="0" smtClean="0"/>
              <a:t>–</a:t>
            </a:r>
            <a:r>
              <a:rPr lang="en-US" sz="2000" b="1" dirty="0" smtClean="0">
                <a:solidFill>
                  <a:srgbClr val="0070C0"/>
                </a:solidFill>
              </a:rPr>
              <a:t>political speech</a:t>
            </a:r>
            <a:endParaRPr lang="en-US" sz="2000" b="1" dirty="0" smtClean="0">
              <a:solidFill>
                <a:srgbClr val="0070C0"/>
              </a:solidFill>
            </a:endParaRPr>
          </a:p>
          <a:p>
            <a:pPr algn="just"/>
            <a:r>
              <a:rPr lang="en-US" sz="2000" b="1" dirty="0" smtClean="0">
                <a:solidFill>
                  <a:srgbClr val="FF0000"/>
                </a:solidFill>
              </a:rPr>
              <a:t>Scientific discourse </a:t>
            </a:r>
            <a:r>
              <a:rPr lang="en-US" sz="2000" b="1" dirty="0" smtClean="0"/>
              <a:t>seeks to relate readers to reality  by informing and educating readers about complex technical ideas</a:t>
            </a:r>
            <a:r>
              <a:rPr lang="en-US" sz="2000" b="1" dirty="0" smtClean="0"/>
              <a:t>.- </a:t>
            </a:r>
            <a:r>
              <a:rPr lang="en-US" sz="2000" b="1" dirty="0" smtClean="0">
                <a:solidFill>
                  <a:srgbClr val="0070C0"/>
                </a:solidFill>
              </a:rPr>
              <a:t>Research article </a:t>
            </a:r>
            <a:endParaRPr lang="en-US" sz="2000" b="1" dirty="0">
              <a:solidFill>
                <a:srgbClr val="0070C0"/>
              </a:solidFill>
            </a:endParaRPr>
          </a:p>
        </p:txBody>
      </p:sp>
      <p:pic>
        <p:nvPicPr>
          <p:cNvPr id="7" name="Content Placeholder 3"/>
          <p:cNvPicPr>
            <a:picLocks noChangeAspect="1"/>
          </p:cNvPicPr>
          <p:nvPr/>
        </p:nvPicPr>
        <p:blipFill rotWithShape="1">
          <a:blip r:embed="rId2"/>
          <a:srcRect l="8397" t="34685" r="57533" b="19578"/>
          <a:stretch/>
        </p:blipFill>
        <p:spPr>
          <a:xfrm>
            <a:off x="107575" y="1324585"/>
            <a:ext cx="4168590" cy="4643719"/>
          </a:xfrm>
          <a:prstGeom prst="rect">
            <a:avLst/>
          </a:prstGeom>
        </p:spPr>
      </p:pic>
    </p:spTree>
    <p:extLst>
      <p:ext uri="{BB962C8B-B14F-4D97-AF65-F5344CB8AC3E}">
        <p14:creationId xmlns:p14="http://schemas.microsoft.com/office/powerpoint/2010/main" val="425929677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8054"/>
            <a:ext cx="10515600" cy="1325563"/>
          </a:xfrm>
        </p:spPr>
        <p:txBody>
          <a:bodyPr>
            <a:normAutofit fontScale="90000"/>
          </a:bodyPr>
          <a:lstStyle/>
          <a:p>
            <a:r>
              <a:rPr lang="en-US" b="1" dirty="0" smtClean="0">
                <a:solidFill>
                  <a:srgbClr val="FF0000"/>
                </a:solidFill>
              </a:rPr>
              <a:t>Document analysis</a:t>
            </a:r>
            <a:r>
              <a:rPr lang="en-US" b="1" dirty="0">
                <a:solidFill>
                  <a:srgbClr val="C00000"/>
                </a:solidFill>
              </a:rPr>
              <a:t> </a:t>
            </a:r>
            <a:r>
              <a:rPr lang="en-US" b="1" dirty="0" smtClean="0">
                <a:solidFill>
                  <a:srgbClr val="C00000"/>
                </a:solidFill>
              </a:rPr>
              <a:t/>
            </a:r>
            <a:br>
              <a:rPr lang="en-US" b="1" dirty="0" smtClean="0">
                <a:solidFill>
                  <a:srgbClr val="C00000"/>
                </a:solidFill>
              </a:rPr>
            </a:br>
            <a:r>
              <a:rPr lang="en-US" b="1" dirty="0" smtClean="0">
                <a:solidFill>
                  <a:srgbClr val="C00000"/>
                </a:solidFill>
              </a:rPr>
              <a:t>In-class </a:t>
            </a:r>
            <a:r>
              <a:rPr lang="en-US" b="1" dirty="0">
                <a:solidFill>
                  <a:srgbClr val="C00000"/>
                </a:solidFill>
              </a:rPr>
              <a:t>exercise 1.1</a:t>
            </a:r>
            <a:br>
              <a:rPr lang="en-US" b="1" dirty="0">
                <a:solidFill>
                  <a:srgbClr val="C00000"/>
                </a:solidFill>
              </a:rPr>
            </a:br>
            <a:endParaRPr lang="en-US" b="1" dirty="0">
              <a:solidFill>
                <a:srgbClr val="FF0000"/>
              </a:solidFill>
            </a:endParaRPr>
          </a:p>
        </p:txBody>
      </p:sp>
      <p:sp>
        <p:nvSpPr>
          <p:cNvPr id="3" name="Content Placeholder 2"/>
          <p:cNvSpPr>
            <a:spLocks noGrp="1"/>
          </p:cNvSpPr>
          <p:nvPr>
            <p:ph idx="1"/>
          </p:nvPr>
        </p:nvSpPr>
        <p:spPr>
          <a:xfrm>
            <a:off x="838199" y="1145990"/>
            <a:ext cx="11040035" cy="4664822"/>
          </a:xfrm>
        </p:spPr>
        <p:txBody>
          <a:bodyPr>
            <a:normAutofit fontScale="92500" lnSpcReduction="10000"/>
          </a:bodyPr>
          <a:lstStyle/>
          <a:p>
            <a:r>
              <a:rPr lang="en-US" dirty="0">
                <a:solidFill>
                  <a:srgbClr val="00B0F0"/>
                </a:solidFill>
              </a:rPr>
              <a:t>Applying the Communication Triangle to Sample Documents</a:t>
            </a:r>
          </a:p>
          <a:p>
            <a:r>
              <a:rPr lang="en-US" dirty="0" smtClean="0"/>
              <a:t>Assemble </a:t>
            </a:r>
            <a:r>
              <a:rPr lang="en-US" dirty="0"/>
              <a:t>a collection of print documents, some that are examples of technical </a:t>
            </a:r>
            <a:r>
              <a:rPr lang="en-US" dirty="0" smtClean="0"/>
              <a:t>communication </a:t>
            </a:r>
            <a:r>
              <a:rPr lang="en-US" dirty="0"/>
              <a:t>and others that are </a:t>
            </a:r>
            <a:r>
              <a:rPr lang="en-US" dirty="0" smtClean="0"/>
              <a:t>examples </a:t>
            </a:r>
            <a:r>
              <a:rPr lang="en-US" dirty="0"/>
              <a:t>of professional or business communication</a:t>
            </a:r>
            <a:r>
              <a:rPr lang="en-US" dirty="0" smtClean="0"/>
              <a:t>.</a:t>
            </a:r>
          </a:p>
          <a:p>
            <a:r>
              <a:rPr lang="en-US" dirty="0" smtClean="0"/>
              <a:t> </a:t>
            </a:r>
            <a:r>
              <a:rPr lang="en-US" dirty="0"/>
              <a:t>For </a:t>
            </a:r>
            <a:r>
              <a:rPr lang="en-US" dirty="0" smtClean="0"/>
              <a:t>example: </a:t>
            </a:r>
          </a:p>
          <a:p>
            <a:r>
              <a:rPr lang="en-US" dirty="0" smtClean="0"/>
              <a:t> </a:t>
            </a:r>
            <a:r>
              <a:rPr lang="en-US" dirty="0"/>
              <a:t>T</a:t>
            </a:r>
            <a:r>
              <a:rPr lang="en-US" dirty="0" smtClean="0"/>
              <a:t>he </a:t>
            </a:r>
            <a:r>
              <a:rPr lang="en-US" dirty="0"/>
              <a:t>user’s manual for an appliance such as a cd player </a:t>
            </a:r>
            <a:endParaRPr lang="en-US" dirty="0" smtClean="0"/>
          </a:p>
          <a:p>
            <a:r>
              <a:rPr lang="en-US" dirty="0" smtClean="0"/>
              <a:t> A flyer </a:t>
            </a:r>
            <a:r>
              <a:rPr lang="en-US" dirty="0"/>
              <a:t>that arrived in your junk mail recently </a:t>
            </a:r>
            <a:endParaRPr lang="en-US" dirty="0" smtClean="0"/>
          </a:p>
          <a:p>
            <a:r>
              <a:rPr lang="en-US" dirty="0" smtClean="0"/>
              <a:t> </a:t>
            </a:r>
            <a:r>
              <a:rPr lang="en-US" dirty="0"/>
              <a:t>T</a:t>
            </a:r>
            <a:r>
              <a:rPr lang="en-US" dirty="0" smtClean="0"/>
              <a:t>he </a:t>
            </a:r>
            <a:r>
              <a:rPr lang="en-US" dirty="0"/>
              <a:t>installation guide that came with the mini-blinds (or other </a:t>
            </a:r>
            <a:r>
              <a:rPr lang="en-US" dirty="0" err="1"/>
              <a:t>diy</a:t>
            </a:r>
            <a:r>
              <a:rPr lang="en-US" dirty="0"/>
              <a:t> product) </a:t>
            </a:r>
            <a:endParaRPr lang="en-US" dirty="0" smtClean="0"/>
          </a:p>
          <a:p>
            <a:r>
              <a:rPr lang="en-US" dirty="0" smtClean="0"/>
              <a:t> </a:t>
            </a:r>
            <a:r>
              <a:rPr lang="en-US" dirty="0"/>
              <a:t>A</a:t>
            </a:r>
            <a:r>
              <a:rPr lang="en-US" dirty="0" smtClean="0"/>
              <a:t> </a:t>
            </a:r>
            <a:r>
              <a:rPr lang="en-US" dirty="0"/>
              <a:t>brochure that you picked up in the grocery store or the doctor’s office </a:t>
            </a:r>
            <a:endParaRPr lang="en-US" dirty="0" smtClean="0"/>
          </a:p>
          <a:p>
            <a:r>
              <a:rPr lang="en-US" dirty="0" smtClean="0"/>
              <a:t> </a:t>
            </a:r>
            <a:r>
              <a:rPr lang="en-US" dirty="0"/>
              <a:t>A</a:t>
            </a:r>
            <a:r>
              <a:rPr lang="en-US" dirty="0" smtClean="0"/>
              <a:t> </a:t>
            </a:r>
            <a:r>
              <a:rPr lang="en-US" dirty="0"/>
              <a:t>letter from a non-profit organization asking for donations </a:t>
            </a:r>
          </a:p>
          <a:p>
            <a:r>
              <a:rPr lang="en-US" dirty="0"/>
              <a:t>T</a:t>
            </a:r>
            <a:r>
              <a:rPr lang="en-US" dirty="0" smtClean="0"/>
              <a:t>he </a:t>
            </a:r>
            <a:r>
              <a:rPr lang="en-US" dirty="0"/>
              <a:t>bill from your cell phone or land </a:t>
            </a:r>
            <a:r>
              <a:rPr lang="en-US" dirty="0" smtClean="0"/>
              <a:t>line</a:t>
            </a:r>
            <a:endParaRPr lang="en-US" dirty="0"/>
          </a:p>
        </p:txBody>
      </p:sp>
    </p:spTree>
    <p:extLst>
      <p:ext uri="{BB962C8B-B14F-4D97-AF65-F5344CB8AC3E}">
        <p14:creationId xmlns:p14="http://schemas.microsoft.com/office/powerpoint/2010/main" val="8659793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endParaRPr lang="en-US" dirty="0"/>
          </a:p>
        </p:txBody>
      </p:sp>
      <p:sp>
        <p:nvSpPr>
          <p:cNvPr id="3" name="Content Placeholder 2"/>
          <p:cNvSpPr>
            <a:spLocks noGrp="1"/>
          </p:cNvSpPr>
          <p:nvPr>
            <p:ph idx="1"/>
          </p:nvPr>
        </p:nvSpPr>
        <p:spPr/>
        <p:txBody>
          <a:bodyPr>
            <a:normAutofit fontScale="92500" lnSpcReduction="10000"/>
          </a:bodyPr>
          <a:lstStyle/>
          <a:p>
            <a:r>
              <a:rPr lang="en-US" b="1" dirty="0">
                <a:solidFill>
                  <a:srgbClr val="FF0000"/>
                </a:solidFill>
              </a:rPr>
              <a:t>Now, analyze your collection of documents individually from the perspective of the communication triangle: </a:t>
            </a:r>
            <a:endParaRPr lang="en-US" b="1" dirty="0" smtClean="0">
              <a:solidFill>
                <a:srgbClr val="FF0000"/>
              </a:solidFill>
            </a:endParaRPr>
          </a:p>
          <a:p>
            <a:r>
              <a:rPr lang="en-US" dirty="0" smtClean="0"/>
              <a:t> </a:t>
            </a:r>
            <a:r>
              <a:rPr lang="en-US" dirty="0"/>
              <a:t>Who is the writer? </a:t>
            </a:r>
            <a:endParaRPr lang="en-US" dirty="0" smtClean="0"/>
          </a:p>
          <a:p>
            <a:r>
              <a:rPr lang="en-US" dirty="0" smtClean="0"/>
              <a:t> </a:t>
            </a:r>
            <a:r>
              <a:rPr lang="en-US" dirty="0"/>
              <a:t>Who is the intended reader? </a:t>
            </a:r>
            <a:endParaRPr lang="en-US" dirty="0" smtClean="0"/>
          </a:p>
          <a:p>
            <a:r>
              <a:rPr lang="en-US" dirty="0" smtClean="0"/>
              <a:t> </a:t>
            </a:r>
            <a:r>
              <a:rPr lang="en-US" dirty="0"/>
              <a:t>What are the purposes of the document? </a:t>
            </a:r>
            <a:endParaRPr lang="en-US" dirty="0" smtClean="0"/>
          </a:p>
          <a:p>
            <a:r>
              <a:rPr lang="en-US" dirty="0" smtClean="0"/>
              <a:t> </a:t>
            </a:r>
            <a:r>
              <a:rPr lang="en-US" dirty="0"/>
              <a:t>What form does the document take? </a:t>
            </a:r>
            <a:endParaRPr lang="en-US" dirty="0" smtClean="0"/>
          </a:p>
          <a:p>
            <a:r>
              <a:rPr lang="en-US" dirty="0" smtClean="0"/>
              <a:t>In </a:t>
            </a:r>
            <a:r>
              <a:rPr lang="en-US" dirty="0"/>
              <a:t>what way does the content of the document represent reality? </a:t>
            </a:r>
          </a:p>
          <a:p>
            <a:r>
              <a:rPr lang="en-US" dirty="0" smtClean="0"/>
              <a:t>What </a:t>
            </a:r>
            <a:r>
              <a:rPr lang="en-US" dirty="0"/>
              <a:t>characteristics do these documents share? </a:t>
            </a:r>
          </a:p>
          <a:p>
            <a:r>
              <a:rPr lang="en-US" dirty="0" smtClean="0"/>
              <a:t>What </a:t>
            </a:r>
            <a:r>
              <a:rPr lang="en-US" dirty="0"/>
              <a:t>limitations do you see to the communication triangle as you seek to apply it to the selection of documents that you collected?</a:t>
            </a:r>
          </a:p>
          <a:p>
            <a:endParaRPr lang="en-US" dirty="0"/>
          </a:p>
        </p:txBody>
      </p:sp>
    </p:spTree>
    <p:extLst>
      <p:ext uri="{BB962C8B-B14F-4D97-AF65-F5344CB8AC3E}">
        <p14:creationId xmlns:p14="http://schemas.microsoft.com/office/powerpoint/2010/main" val="45339699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51710"/>
            <a:ext cx="10515600" cy="4351338"/>
          </a:xfrm>
        </p:spPr>
        <p:txBody>
          <a:bodyPr>
            <a:normAutofit fontScale="70000" lnSpcReduction="20000"/>
          </a:bodyPr>
          <a:lstStyle/>
          <a:p>
            <a:pPr marL="0" indent="0">
              <a:buNone/>
            </a:pPr>
            <a:r>
              <a:rPr lang="en-US" sz="4000" b="1" dirty="0">
                <a:solidFill>
                  <a:srgbClr val="C00000"/>
                </a:solidFill>
              </a:rPr>
              <a:t>In- class exercise 1.2</a:t>
            </a:r>
          </a:p>
          <a:p>
            <a:r>
              <a:rPr lang="en-US" sz="3200" dirty="0"/>
              <a:t>Analyzing Documents with Multiple Aims</a:t>
            </a:r>
          </a:p>
          <a:p>
            <a:r>
              <a:rPr lang="en-US" dirty="0"/>
              <a:t>Assemble a second collection of documents that includes a broader range of sample documents: add a short story or poem, as well as a newspaper </a:t>
            </a:r>
            <a:r>
              <a:rPr lang="fr-FR" dirty="0"/>
              <a:t>article; a magazine article; a set </a:t>
            </a:r>
            <a:r>
              <a:rPr lang="en-US" dirty="0"/>
              <a:t>of instructions; a business letter ; some advertising fliers or brochures; a scientific report,  a magazine or newspaper editorial; a business form, questionnaire, or bill. </a:t>
            </a:r>
          </a:p>
          <a:p>
            <a:r>
              <a:rPr lang="en-US" dirty="0"/>
              <a:t>Study these different types of documents from the perspective of Beale’s model, illustrated in Figure 1.2.</a:t>
            </a:r>
          </a:p>
          <a:p>
            <a:r>
              <a:rPr lang="en-US" dirty="0"/>
              <a:t>What is the main purpose or aim (i.e., rhetorical, scientific, poetic, or instrumental) of the document?</a:t>
            </a:r>
          </a:p>
          <a:p>
            <a:r>
              <a:rPr lang="en-US" dirty="0"/>
              <a:t>What kinds of secondary aims does it have?</a:t>
            </a:r>
          </a:p>
          <a:p>
            <a:r>
              <a:rPr lang="en-US" dirty="0" smtClean="0"/>
              <a:t>Which </a:t>
            </a:r>
            <a:r>
              <a:rPr lang="en-US" dirty="0"/>
              <a:t>other categories might it also fit well into?</a:t>
            </a:r>
          </a:p>
          <a:p>
            <a:r>
              <a:rPr lang="en-US" dirty="0"/>
              <a:t>How easy is it to assign a primary category to each document?</a:t>
            </a:r>
          </a:p>
          <a:p>
            <a:r>
              <a:rPr lang="en-US" dirty="0"/>
              <a:t>What kinds of documents make it difficult to determine a primary aim or purpose?</a:t>
            </a:r>
          </a:p>
          <a:p>
            <a:endParaRPr lang="en-US" dirty="0"/>
          </a:p>
        </p:txBody>
      </p:sp>
    </p:spTree>
    <p:extLst>
      <p:ext uri="{BB962C8B-B14F-4D97-AF65-F5344CB8AC3E}">
        <p14:creationId xmlns:p14="http://schemas.microsoft.com/office/powerpoint/2010/main" val="39235463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Sec 2 Humility | PHS Lang Fest | Pag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30823" y="89647"/>
            <a:ext cx="8328211" cy="663388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spTree>
    <p:extLst>
      <p:ext uri="{BB962C8B-B14F-4D97-AF65-F5344CB8AC3E}">
        <p14:creationId xmlns:p14="http://schemas.microsoft.com/office/powerpoint/2010/main" val="401320152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ow to read a laptop advertisement : MaestroSa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10118" y="0"/>
            <a:ext cx="7566211" cy="656216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spTree>
    <p:extLst>
      <p:ext uri="{BB962C8B-B14F-4D97-AF65-F5344CB8AC3E}">
        <p14:creationId xmlns:p14="http://schemas.microsoft.com/office/powerpoint/2010/main" val="9968662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16386" name="Picture 2" descr="See the source imag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 y="0"/>
            <a:ext cx="11679810" cy="6781800"/>
          </a:xfrm>
          <a:prstGeom prst="rect">
            <a:avLst/>
          </a:prstGeom>
          <a:ln>
            <a:noFill/>
          </a:ln>
          <a:effectLst>
            <a:softEdge rad="112500"/>
          </a:effectLst>
        </p:spPr>
      </p:pic>
    </p:spTree>
    <p:extLst>
      <p:ext uri="{BB962C8B-B14F-4D97-AF65-F5344CB8AC3E}">
        <p14:creationId xmlns:p14="http://schemas.microsoft.com/office/powerpoint/2010/main" val="224167225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ove Shampoo Intense Repair All New One Ad - Advert Gallery"/>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54941" y="-62753"/>
            <a:ext cx="7010400" cy="698350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spTree>
    <p:extLst>
      <p:ext uri="{BB962C8B-B14F-4D97-AF65-F5344CB8AC3E}">
        <p14:creationId xmlns:p14="http://schemas.microsoft.com/office/powerpoint/2010/main" val="210307862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Users</a:t>
            </a:r>
            <a:endParaRPr lang="en-US" b="1" dirty="0">
              <a:solidFill>
                <a:srgbClr val="C00000"/>
              </a:solidFill>
            </a:endParaRPr>
          </a:p>
        </p:txBody>
      </p:sp>
      <p:sp>
        <p:nvSpPr>
          <p:cNvPr id="3" name="Content Placeholder 2"/>
          <p:cNvSpPr>
            <a:spLocks noGrp="1"/>
          </p:cNvSpPr>
          <p:nvPr>
            <p:ph idx="1"/>
          </p:nvPr>
        </p:nvSpPr>
        <p:spPr>
          <a:xfrm>
            <a:off x="838199" y="1825625"/>
            <a:ext cx="11013141" cy="4351338"/>
          </a:xfrm>
        </p:spPr>
        <p:txBody>
          <a:bodyPr>
            <a:normAutofit/>
          </a:bodyPr>
          <a:lstStyle/>
          <a:p>
            <a:r>
              <a:rPr lang="en-US" b="1" dirty="0"/>
              <a:t>Users are </a:t>
            </a:r>
            <a:r>
              <a:rPr lang="en-US" b="1" dirty="0">
                <a:solidFill>
                  <a:srgbClr val="00B0F0"/>
                </a:solidFill>
              </a:rPr>
              <a:t>active participants</a:t>
            </a:r>
            <a:r>
              <a:rPr lang="en-US" b="1" dirty="0"/>
              <a:t> in the performance of the technical </a:t>
            </a:r>
            <a:r>
              <a:rPr lang="en-US" b="1" dirty="0" smtClean="0"/>
              <a:t>communication text.</a:t>
            </a:r>
          </a:p>
          <a:p>
            <a:r>
              <a:rPr lang="en-US" b="1" dirty="0" smtClean="0"/>
              <a:t>They </a:t>
            </a:r>
            <a:r>
              <a:rPr lang="en-US" b="1" dirty="0"/>
              <a:t>are much </a:t>
            </a:r>
            <a:r>
              <a:rPr lang="en-US" b="1" dirty="0">
                <a:solidFill>
                  <a:srgbClr val="00B0F0"/>
                </a:solidFill>
              </a:rPr>
              <a:t>closer to the actors’ role</a:t>
            </a:r>
            <a:r>
              <a:rPr lang="en-US" b="1" dirty="0"/>
              <a:t> than the audience’s role because they </a:t>
            </a:r>
            <a:r>
              <a:rPr lang="en-US" b="1" dirty="0">
                <a:solidFill>
                  <a:srgbClr val="00B0F0"/>
                </a:solidFill>
              </a:rPr>
              <a:t>make the writer’s words live </a:t>
            </a:r>
            <a:r>
              <a:rPr lang="en-US" b="1" dirty="0"/>
              <a:t>by using them to do something, instead of just passively observing</a:t>
            </a:r>
            <a:r>
              <a:rPr lang="en-US" b="1" dirty="0" smtClean="0"/>
              <a:t>.</a:t>
            </a:r>
            <a:r>
              <a:rPr lang="en-US" dirty="0"/>
              <a:t> </a:t>
            </a:r>
            <a:endParaRPr lang="en-US" dirty="0" smtClean="0"/>
          </a:p>
          <a:p>
            <a:r>
              <a:rPr lang="en-US" dirty="0" smtClean="0"/>
              <a:t>Readers  </a:t>
            </a:r>
            <a:r>
              <a:rPr lang="en-US" dirty="0"/>
              <a:t>judge  </a:t>
            </a:r>
            <a:r>
              <a:rPr lang="en-US" b="1" dirty="0">
                <a:solidFill>
                  <a:srgbClr val="00B0F0"/>
                </a:solidFill>
              </a:rPr>
              <a:t>competency and intelligence of writer</a:t>
            </a:r>
            <a:r>
              <a:rPr lang="en-US" dirty="0"/>
              <a:t> based on the documents </a:t>
            </a:r>
            <a:endParaRPr lang="en-US" dirty="0" smtClean="0"/>
          </a:p>
          <a:p>
            <a:r>
              <a:rPr lang="en-US" b="1" dirty="0" smtClean="0"/>
              <a:t>The </a:t>
            </a:r>
            <a:r>
              <a:rPr lang="en-US" b="1" dirty="0">
                <a:solidFill>
                  <a:srgbClr val="00B0F0"/>
                </a:solidFill>
              </a:rPr>
              <a:t>challenge for technical </a:t>
            </a:r>
            <a:r>
              <a:rPr lang="en-US" b="1" dirty="0" smtClean="0">
                <a:solidFill>
                  <a:srgbClr val="00B0F0"/>
                </a:solidFill>
              </a:rPr>
              <a:t>writers: </a:t>
            </a:r>
            <a:r>
              <a:rPr lang="en-US" b="1" dirty="0" smtClean="0"/>
              <a:t>how </a:t>
            </a:r>
            <a:r>
              <a:rPr lang="en-US" b="1" dirty="0"/>
              <a:t>to learn what users already know and what they need to know—and how to provide what they need to know for them where and when they need it.</a:t>
            </a:r>
          </a:p>
          <a:p>
            <a:endParaRPr lang="en-US" dirty="0"/>
          </a:p>
        </p:txBody>
      </p:sp>
    </p:spTree>
    <p:extLst>
      <p:ext uri="{BB962C8B-B14F-4D97-AF65-F5344CB8AC3E}">
        <p14:creationId xmlns:p14="http://schemas.microsoft.com/office/powerpoint/2010/main" val="258842769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Ways </a:t>
            </a:r>
            <a:r>
              <a:rPr lang="en-US" b="1" dirty="0">
                <a:solidFill>
                  <a:srgbClr val="C00000"/>
                </a:solidFill>
              </a:rPr>
              <a:t>of thinking about </a:t>
            </a:r>
            <a:r>
              <a:rPr lang="en-US" b="1" dirty="0" smtClean="0">
                <a:solidFill>
                  <a:srgbClr val="C00000"/>
                </a:solidFill>
              </a:rPr>
              <a:t>users/ types of users </a:t>
            </a:r>
            <a:endParaRPr lang="en-US" b="1" dirty="0">
              <a:solidFill>
                <a:srgbClr val="C00000"/>
              </a:solidFill>
            </a:endParaRPr>
          </a:p>
        </p:txBody>
      </p:sp>
      <p:sp>
        <p:nvSpPr>
          <p:cNvPr id="3" name="Content Placeholder 2"/>
          <p:cNvSpPr>
            <a:spLocks noGrp="1"/>
          </p:cNvSpPr>
          <p:nvPr>
            <p:ph idx="1"/>
          </p:nvPr>
        </p:nvSpPr>
        <p:spPr/>
        <p:txBody>
          <a:bodyPr/>
          <a:lstStyle/>
          <a:p>
            <a:r>
              <a:rPr lang="en-US" b="1" dirty="0" smtClean="0">
                <a:solidFill>
                  <a:srgbClr val="C00000"/>
                </a:solidFill>
              </a:rPr>
              <a:t>Primary audience: </a:t>
            </a:r>
            <a:r>
              <a:rPr lang="en-US" b="1" dirty="0" smtClean="0"/>
              <a:t>Your </a:t>
            </a:r>
            <a:r>
              <a:rPr lang="en-US" b="1" dirty="0"/>
              <a:t>primary audience is the </a:t>
            </a:r>
            <a:r>
              <a:rPr lang="en-US" b="1" dirty="0">
                <a:solidFill>
                  <a:srgbClr val="00B0F0"/>
                </a:solidFill>
              </a:rPr>
              <a:t>major group of users who will use your instructions</a:t>
            </a:r>
            <a:r>
              <a:rPr lang="en-US" b="1" dirty="0" smtClean="0">
                <a:solidFill>
                  <a:srgbClr val="00B0F0"/>
                </a:solidFill>
              </a:rPr>
              <a:t>.</a:t>
            </a:r>
          </a:p>
          <a:p>
            <a:r>
              <a:rPr lang="en-US" b="1" dirty="0" smtClean="0">
                <a:solidFill>
                  <a:srgbClr val="C00000"/>
                </a:solidFill>
              </a:rPr>
              <a:t>Secondary audience: </a:t>
            </a:r>
            <a:r>
              <a:rPr lang="en-US" b="1" dirty="0" smtClean="0"/>
              <a:t>Rather </a:t>
            </a:r>
            <a:r>
              <a:rPr lang="en-US" b="1" dirty="0"/>
              <a:t>than following </a:t>
            </a:r>
            <a:r>
              <a:rPr lang="en-US" b="1" dirty="0" smtClean="0"/>
              <a:t>step-by-step </a:t>
            </a:r>
            <a:r>
              <a:rPr lang="en-US" b="1" dirty="0"/>
              <a:t>through your instructions, he or she may </a:t>
            </a:r>
            <a:r>
              <a:rPr lang="en-US" b="1" dirty="0" smtClean="0">
                <a:solidFill>
                  <a:srgbClr val="00B0F0"/>
                </a:solidFill>
              </a:rPr>
              <a:t>skim/scan </a:t>
            </a:r>
            <a:r>
              <a:rPr lang="en-US" b="1" dirty="0">
                <a:solidFill>
                  <a:srgbClr val="00B0F0"/>
                </a:solidFill>
              </a:rPr>
              <a:t>the guide, </a:t>
            </a:r>
            <a:r>
              <a:rPr lang="en-US" b="1" dirty="0" smtClean="0">
                <a:solidFill>
                  <a:srgbClr val="00B0F0"/>
                </a:solidFill>
              </a:rPr>
              <a:t>noticing </a:t>
            </a:r>
            <a:r>
              <a:rPr lang="en-US" b="1" dirty="0">
                <a:solidFill>
                  <a:srgbClr val="00B0F0"/>
                </a:solidFill>
              </a:rPr>
              <a:t>forgotten details. </a:t>
            </a:r>
            <a:endParaRPr lang="en-US" b="1" dirty="0" smtClean="0">
              <a:solidFill>
                <a:srgbClr val="00B0F0"/>
              </a:solidFill>
            </a:endParaRPr>
          </a:p>
          <a:p>
            <a:r>
              <a:rPr lang="en-US" b="1" dirty="0" smtClean="0"/>
              <a:t>He/ she uses </a:t>
            </a:r>
            <a:r>
              <a:rPr lang="en-US" b="1" dirty="0"/>
              <a:t>it as a reference, not a how-to document. </a:t>
            </a:r>
            <a:endParaRPr lang="en-US" b="1" dirty="0" smtClean="0"/>
          </a:p>
          <a:p>
            <a:r>
              <a:rPr lang="en-US" b="1" dirty="0" smtClean="0"/>
              <a:t>These </a:t>
            </a:r>
            <a:r>
              <a:rPr lang="en-US" b="1" dirty="0"/>
              <a:t>secondary users have a different level of knowledge than do your primary users, but they may still consult your guide. </a:t>
            </a:r>
          </a:p>
        </p:txBody>
      </p:sp>
    </p:spTree>
    <p:extLst>
      <p:ext uri="{BB962C8B-B14F-4D97-AF65-F5344CB8AC3E}">
        <p14:creationId xmlns:p14="http://schemas.microsoft.com/office/powerpoint/2010/main" val="305183529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endParaRPr lang="en-US" dirty="0"/>
          </a:p>
        </p:txBody>
      </p:sp>
      <p:sp>
        <p:nvSpPr>
          <p:cNvPr id="3" name="Content Placeholder 2"/>
          <p:cNvSpPr>
            <a:spLocks noGrp="1"/>
          </p:cNvSpPr>
          <p:nvPr>
            <p:ph idx="1"/>
          </p:nvPr>
        </p:nvSpPr>
        <p:spPr>
          <a:xfrm>
            <a:off x="838200" y="1825625"/>
            <a:ext cx="10923494" cy="4351338"/>
          </a:xfrm>
        </p:spPr>
        <p:txBody>
          <a:bodyPr>
            <a:normAutofit fontScale="92500"/>
          </a:bodyPr>
          <a:lstStyle/>
          <a:p>
            <a:r>
              <a:rPr lang="en-US" b="1" dirty="0" smtClean="0">
                <a:solidFill>
                  <a:srgbClr val="C00000"/>
                </a:solidFill>
              </a:rPr>
              <a:t>Initial audience: </a:t>
            </a:r>
            <a:r>
              <a:rPr lang="en-US" b="1" dirty="0" smtClean="0"/>
              <a:t>When </a:t>
            </a:r>
            <a:r>
              <a:rPr lang="en-US" b="1" dirty="0"/>
              <a:t>you are first assigned the project, </a:t>
            </a:r>
            <a:r>
              <a:rPr lang="en-US" b="1" dirty="0">
                <a:solidFill>
                  <a:srgbClr val="00B0F0"/>
                </a:solidFill>
              </a:rPr>
              <a:t>your boss (or, in class, your instructor) becomes an initial </a:t>
            </a:r>
            <a:r>
              <a:rPr lang="en-US" b="1" dirty="0" smtClean="0">
                <a:solidFill>
                  <a:srgbClr val="00B0F0"/>
                </a:solidFill>
              </a:rPr>
              <a:t>audience</a:t>
            </a:r>
            <a:r>
              <a:rPr lang="en-US" b="1" dirty="0" smtClean="0"/>
              <a:t>—</a:t>
            </a:r>
            <a:r>
              <a:rPr lang="en-US" b="1" dirty="0" smtClean="0">
                <a:solidFill>
                  <a:srgbClr val="00B0F0"/>
                </a:solidFill>
              </a:rPr>
              <a:t>who </a:t>
            </a:r>
            <a:r>
              <a:rPr lang="en-US" b="1" dirty="0">
                <a:solidFill>
                  <a:srgbClr val="00B0F0"/>
                </a:solidFill>
              </a:rPr>
              <a:t>will approve your project, </a:t>
            </a:r>
            <a:r>
              <a:rPr lang="en-US" b="1" dirty="0" smtClean="0"/>
              <a:t>whether </a:t>
            </a:r>
            <a:r>
              <a:rPr lang="en-US" b="1" dirty="0"/>
              <a:t>or not your guide </a:t>
            </a:r>
            <a:r>
              <a:rPr lang="en-US" b="1" dirty="0" smtClean="0"/>
              <a:t>reaches to </a:t>
            </a:r>
            <a:r>
              <a:rPr lang="en-US" b="1" dirty="0"/>
              <a:t>the primary audience. </a:t>
            </a:r>
            <a:endParaRPr lang="en-US" b="1" dirty="0" smtClean="0"/>
          </a:p>
          <a:p>
            <a:r>
              <a:rPr lang="en-US" b="1" dirty="0" smtClean="0">
                <a:solidFill>
                  <a:srgbClr val="C00000"/>
                </a:solidFill>
              </a:rPr>
              <a:t>Gatekeeper audience: </a:t>
            </a:r>
            <a:r>
              <a:rPr lang="en-US" b="1" dirty="0" smtClean="0">
                <a:solidFill>
                  <a:srgbClr val="00B0F0"/>
                </a:solidFill>
              </a:rPr>
              <a:t>A</a:t>
            </a:r>
            <a:r>
              <a:rPr lang="en-US" b="1" dirty="0">
                <a:solidFill>
                  <a:srgbClr val="00B0F0"/>
                </a:solidFill>
              </a:rPr>
              <a:t> </a:t>
            </a:r>
            <a:r>
              <a:rPr lang="en-US" b="1" dirty="0" smtClean="0">
                <a:solidFill>
                  <a:srgbClr val="00B0F0"/>
                </a:solidFill>
              </a:rPr>
              <a:t>supervisor </a:t>
            </a:r>
            <a:r>
              <a:rPr lang="en-US" b="1" dirty="0">
                <a:solidFill>
                  <a:srgbClr val="00B0F0"/>
                </a:solidFill>
              </a:rPr>
              <a:t>higher up in the organization who will give final approval on your guide</a:t>
            </a:r>
            <a:r>
              <a:rPr lang="en-US" b="1" dirty="0" smtClean="0">
                <a:solidFill>
                  <a:srgbClr val="00B0F0"/>
                </a:solidFill>
              </a:rPr>
              <a:t>,</a:t>
            </a:r>
            <a:r>
              <a:rPr lang="en-US" b="1" dirty="0" smtClean="0"/>
              <a:t> decides </a:t>
            </a:r>
            <a:r>
              <a:rPr lang="en-US" b="1" dirty="0"/>
              <a:t>whether to </a:t>
            </a:r>
            <a:r>
              <a:rPr lang="en-US" b="1" dirty="0" smtClean="0"/>
              <a:t>publish </a:t>
            </a:r>
            <a:r>
              <a:rPr lang="en-US" b="1" dirty="0"/>
              <a:t>it</a:t>
            </a:r>
            <a:r>
              <a:rPr lang="en-US" b="1" dirty="0" smtClean="0"/>
              <a:t>.</a:t>
            </a:r>
          </a:p>
          <a:p>
            <a:r>
              <a:rPr lang="en-US" b="1" dirty="0" smtClean="0"/>
              <a:t> Gives </a:t>
            </a:r>
            <a:r>
              <a:rPr lang="en-US" b="1" dirty="0"/>
              <a:t>feedback about how the guide should contribute to the organization’s image</a:t>
            </a:r>
            <a:r>
              <a:rPr lang="en-US" b="1" dirty="0" smtClean="0"/>
              <a:t>, </a:t>
            </a:r>
            <a:r>
              <a:rPr lang="en-US" b="1" dirty="0"/>
              <a:t>that could result in revisions to its style or arrangement</a:t>
            </a:r>
            <a:r>
              <a:rPr lang="en-US" b="1" dirty="0" smtClean="0"/>
              <a:t>.</a:t>
            </a:r>
          </a:p>
          <a:p>
            <a:r>
              <a:rPr lang="en-US" b="1" dirty="0" smtClean="0">
                <a:solidFill>
                  <a:srgbClr val="C00000"/>
                </a:solidFill>
              </a:rPr>
              <a:t>Watchdog audience: </a:t>
            </a:r>
            <a:r>
              <a:rPr lang="en-US" b="1" dirty="0"/>
              <a:t>M</a:t>
            </a:r>
            <a:r>
              <a:rPr lang="en-US" b="1" dirty="0" smtClean="0"/>
              <a:t>ight </a:t>
            </a:r>
            <a:r>
              <a:rPr lang="en-US" b="1" dirty="0"/>
              <a:t>be a </a:t>
            </a:r>
            <a:r>
              <a:rPr lang="en-US" b="1" dirty="0">
                <a:solidFill>
                  <a:srgbClr val="00B0F0"/>
                </a:solidFill>
              </a:rPr>
              <a:t>government or </a:t>
            </a:r>
            <a:r>
              <a:rPr lang="en-US" b="1" dirty="0" smtClean="0">
                <a:solidFill>
                  <a:srgbClr val="00B0F0"/>
                </a:solidFill>
              </a:rPr>
              <a:t>regulatory </a:t>
            </a:r>
            <a:r>
              <a:rPr lang="en-US" b="1" dirty="0">
                <a:solidFill>
                  <a:srgbClr val="00B0F0"/>
                </a:solidFill>
              </a:rPr>
              <a:t>organization </a:t>
            </a:r>
            <a:r>
              <a:rPr lang="en-US" b="1" dirty="0" smtClean="0">
                <a:solidFill>
                  <a:srgbClr val="00B0F0"/>
                </a:solidFill>
              </a:rPr>
              <a:t>not connected </a:t>
            </a:r>
            <a:r>
              <a:rPr lang="en-US" b="1" dirty="0">
                <a:solidFill>
                  <a:srgbClr val="00B0F0"/>
                </a:solidFill>
              </a:rPr>
              <a:t>with you directly</a:t>
            </a:r>
            <a:r>
              <a:rPr lang="en-US" b="1" dirty="0"/>
              <a:t> </a:t>
            </a:r>
            <a:r>
              <a:rPr lang="en-US" b="1" dirty="0" smtClean="0"/>
              <a:t>but </a:t>
            </a:r>
            <a:r>
              <a:rPr lang="en-US" b="1" dirty="0"/>
              <a:t>reviews the products that your organization creates.</a:t>
            </a:r>
          </a:p>
        </p:txBody>
      </p:sp>
    </p:spTree>
    <p:extLst>
      <p:ext uri="{BB962C8B-B14F-4D97-AF65-F5344CB8AC3E}">
        <p14:creationId xmlns:p14="http://schemas.microsoft.com/office/powerpoint/2010/main" val="228799271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How do you learn about your users?</a:t>
            </a:r>
          </a:p>
        </p:txBody>
      </p:sp>
      <p:sp>
        <p:nvSpPr>
          <p:cNvPr id="3" name="Content Placeholder 2"/>
          <p:cNvSpPr>
            <a:spLocks noGrp="1"/>
          </p:cNvSpPr>
          <p:nvPr>
            <p:ph idx="1"/>
          </p:nvPr>
        </p:nvSpPr>
        <p:spPr>
          <a:xfrm>
            <a:off x="838200" y="1825625"/>
            <a:ext cx="10950388" cy="4351338"/>
          </a:xfrm>
        </p:spPr>
        <p:txBody>
          <a:bodyPr>
            <a:normAutofit/>
          </a:bodyPr>
          <a:lstStyle/>
          <a:p>
            <a:r>
              <a:rPr lang="en-US" b="1" dirty="0"/>
              <a:t>Take an </a:t>
            </a:r>
            <a:r>
              <a:rPr lang="en-US" b="1" dirty="0" smtClean="0">
                <a:solidFill>
                  <a:srgbClr val="00B0F0"/>
                </a:solidFill>
              </a:rPr>
              <a:t>inventory </a:t>
            </a:r>
            <a:r>
              <a:rPr lang="en-US" b="1" dirty="0" smtClean="0"/>
              <a:t>(record) </a:t>
            </a:r>
            <a:r>
              <a:rPr lang="en-US" b="1" dirty="0"/>
              <a:t>of what </a:t>
            </a:r>
            <a:r>
              <a:rPr lang="en-US" b="1" dirty="0" smtClean="0"/>
              <a:t>you </a:t>
            </a:r>
            <a:r>
              <a:rPr lang="en-US" b="1" dirty="0"/>
              <a:t>know about your target user group </a:t>
            </a:r>
          </a:p>
          <a:p>
            <a:r>
              <a:rPr lang="en-US" b="1" dirty="0" smtClean="0">
                <a:solidFill>
                  <a:srgbClr val="00B0F0"/>
                </a:solidFill>
              </a:rPr>
              <a:t>Create </a:t>
            </a:r>
            <a:r>
              <a:rPr lang="en-US" b="1" dirty="0">
                <a:solidFill>
                  <a:srgbClr val="00B0F0"/>
                </a:solidFill>
              </a:rPr>
              <a:t>a </a:t>
            </a:r>
            <a:r>
              <a:rPr lang="en-US" b="1" dirty="0" smtClean="0">
                <a:solidFill>
                  <a:srgbClr val="00B0F0"/>
                </a:solidFill>
              </a:rPr>
              <a:t>profile</a:t>
            </a:r>
            <a:r>
              <a:rPr lang="en-US" b="1" dirty="0" smtClean="0"/>
              <a:t> to distinguish </a:t>
            </a:r>
            <a:r>
              <a:rPr lang="en-US" b="1" dirty="0"/>
              <a:t>target user from other types of users </a:t>
            </a:r>
            <a:endParaRPr lang="en-US" b="1" dirty="0" smtClean="0"/>
          </a:p>
          <a:p>
            <a:r>
              <a:rPr lang="en-US" b="1" dirty="0" smtClean="0">
                <a:solidFill>
                  <a:srgbClr val="00B0F0"/>
                </a:solidFill>
              </a:rPr>
              <a:t>Interview</a:t>
            </a:r>
            <a:r>
              <a:rPr lang="en-US" b="1" dirty="0" smtClean="0"/>
              <a:t> </a:t>
            </a:r>
            <a:r>
              <a:rPr lang="en-US" b="1" dirty="0"/>
              <a:t>individuals who fit into your user profile </a:t>
            </a:r>
            <a:endParaRPr lang="en-US" b="1" dirty="0" smtClean="0"/>
          </a:p>
          <a:p>
            <a:r>
              <a:rPr lang="en-US" b="1" dirty="0" smtClean="0">
                <a:solidFill>
                  <a:srgbClr val="00B0F0"/>
                </a:solidFill>
              </a:rPr>
              <a:t>Observe</a:t>
            </a:r>
            <a:r>
              <a:rPr lang="en-US" b="1" dirty="0" smtClean="0"/>
              <a:t> </a:t>
            </a:r>
            <a:r>
              <a:rPr lang="en-US" b="1" dirty="0"/>
              <a:t>individuals who fit </a:t>
            </a:r>
            <a:r>
              <a:rPr lang="en-US" b="1" dirty="0" smtClean="0"/>
              <a:t>into your </a:t>
            </a:r>
            <a:r>
              <a:rPr lang="en-US" b="1" dirty="0"/>
              <a:t>profile using similar types of documents </a:t>
            </a:r>
            <a:endParaRPr lang="en-US" b="1" dirty="0" smtClean="0"/>
          </a:p>
          <a:p>
            <a:r>
              <a:rPr lang="en-US" b="1" dirty="0" smtClean="0"/>
              <a:t>Analyze </a:t>
            </a:r>
            <a:r>
              <a:rPr lang="en-US" b="1" dirty="0"/>
              <a:t>earlier </a:t>
            </a:r>
            <a:r>
              <a:rPr lang="en-US" b="1" dirty="0" smtClean="0"/>
              <a:t>forms </a:t>
            </a:r>
            <a:r>
              <a:rPr lang="en-US" b="1" dirty="0"/>
              <a:t>of the document to assess how the user was </a:t>
            </a:r>
            <a:r>
              <a:rPr lang="en-US" b="1" dirty="0" smtClean="0"/>
              <a:t>considered </a:t>
            </a:r>
            <a:r>
              <a:rPr lang="en-US" b="1" dirty="0"/>
              <a:t>there to note changes, useful </a:t>
            </a:r>
            <a:r>
              <a:rPr lang="en-US" b="1" dirty="0" smtClean="0"/>
              <a:t>strategies, </a:t>
            </a:r>
            <a:r>
              <a:rPr lang="en-US" b="1" dirty="0"/>
              <a:t>and </a:t>
            </a:r>
            <a:r>
              <a:rPr lang="en-US" b="1" dirty="0" smtClean="0"/>
              <a:t>gaps </a:t>
            </a:r>
            <a:r>
              <a:rPr lang="en-US" b="1" dirty="0"/>
              <a:t>with your profile</a:t>
            </a:r>
            <a:endParaRPr lang="en-US" sz="3200" b="1" dirty="0"/>
          </a:p>
        </p:txBody>
      </p:sp>
    </p:spTree>
    <p:extLst>
      <p:ext uri="{BB962C8B-B14F-4D97-AF65-F5344CB8AC3E}">
        <p14:creationId xmlns:p14="http://schemas.microsoft.com/office/powerpoint/2010/main" val="188410729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solidFill>
                  <a:srgbClr val="C00000"/>
                </a:solidFill>
              </a:rPr>
              <a:t>To build an inventory of the characteristics </a:t>
            </a:r>
            <a:r>
              <a:rPr lang="en-US" sz="4000" b="1" dirty="0" smtClean="0">
                <a:solidFill>
                  <a:srgbClr val="C00000"/>
                </a:solidFill>
              </a:rPr>
              <a:t>consider </a:t>
            </a:r>
            <a:r>
              <a:rPr lang="en-US" sz="4000" b="1" dirty="0">
                <a:solidFill>
                  <a:srgbClr val="C00000"/>
                </a:solidFill>
              </a:rPr>
              <a:t>these factors:</a:t>
            </a:r>
          </a:p>
        </p:txBody>
      </p:sp>
      <p:sp>
        <p:nvSpPr>
          <p:cNvPr id="3" name="Content Placeholder 2"/>
          <p:cNvSpPr>
            <a:spLocks noGrp="1"/>
          </p:cNvSpPr>
          <p:nvPr>
            <p:ph idx="1"/>
          </p:nvPr>
        </p:nvSpPr>
        <p:spPr/>
        <p:txBody>
          <a:bodyPr/>
          <a:lstStyle/>
          <a:p>
            <a:r>
              <a:rPr lang="en-US" dirty="0" smtClean="0"/>
              <a:t> </a:t>
            </a:r>
            <a:r>
              <a:rPr lang="en-US" b="1" dirty="0">
                <a:solidFill>
                  <a:srgbClr val="00B0F0"/>
                </a:solidFill>
              </a:rPr>
              <a:t>Level of experience</a:t>
            </a:r>
            <a:r>
              <a:rPr lang="en-US" b="1" dirty="0"/>
              <a:t> with the subject matter </a:t>
            </a:r>
            <a:endParaRPr lang="en-US" b="1" dirty="0" smtClean="0"/>
          </a:p>
          <a:p>
            <a:r>
              <a:rPr lang="en-US" b="1" dirty="0" smtClean="0"/>
              <a:t> </a:t>
            </a:r>
            <a:r>
              <a:rPr lang="en-US" b="1" dirty="0">
                <a:solidFill>
                  <a:srgbClr val="00B0F0"/>
                </a:solidFill>
              </a:rPr>
              <a:t>Educational background, </a:t>
            </a:r>
            <a:r>
              <a:rPr lang="en-US" b="1" dirty="0"/>
              <a:t>both generally and specifically, as related to your topic </a:t>
            </a:r>
            <a:endParaRPr lang="en-US" b="1" dirty="0" smtClean="0"/>
          </a:p>
          <a:p>
            <a:r>
              <a:rPr lang="en-US" b="1" dirty="0" smtClean="0"/>
              <a:t> </a:t>
            </a:r>
            <a:r>
              <a:rPr lang="en-US" b="1" dirty="0" smtClean="0">
                <a:solidFill>
                  <a:srgbClr val="00B0F0"/>
                </a:solidFill>
              </a:rPr>
              <a:t>Experience </a:t>
            </a:r>
            <a:r>
              <a:rPr lang="en-US" b="1" dirty="0">
                <a:solidFill>
                  <a:srgbClr val="00B0F0"/>
                </a:solidFill>
              </a:rPr>
              <a:t>and attitude</a:t>
            </a:r>
            <a:r>
              <a:rPr lang="en-US" b="1" dirty="0"/>
              <a:t> </a:t>
            </a:r>
            <a:r>
              <a:rPr lang="en-US" b="1" dirty="0" smtClean="0"/>
              <a:t>towards </a:t>
            </a:r>
            <a:r>
              <a:rPr lang="en-US" b="1" dirty="0"/>
              <a:t>learning new </a:t>
            </a:r>
            <a:r>
              <a:rPr lang="en-US" b="1" dirty="0" smtClean="0"/>
              <a:t>things, technology </a:t>
            </a:r>
            <a:r>
              <a:rPr lang="en-US" b="1" dirty="0"/>
              <a:t>generally and your topic specifically </a:t>
            </a:r>
            <a:endParaRPr lang="en-US" b="1" dirty="0" smtClean="0"/>
          </a:p>
          <a:p>
            <a:r>
              <a:rPr lang="en-US" b="1" dirty="0" smtClean="0"/>
              <a:t> </a:t>
            </a:r>
            <a:r>
              <a:rPr lang="en-US" b="1" dirty="0"/>
              <a:t>Relevant </a:t>
            </a:r>
            <a:r>
              <a:rPr lang="en-US" b="1" dirty="0">
                <a:solidFill>
                  <a:srgbClr val="00B0F0"/>
                </a:solidFill>
              </a:rPr>
              <a:t>demographic characteristics</a:t>
            </a:r>
            <a:r>
              <a:rPr lang="en-US" b="1" dirty="0"/>
              <a:t> such as age, sex, race, socio-economic background or class, culture</a:t>
            </a:r>
            <a:r>
              <a:rPr lang="en-US" b="1" dirty="0" smtClean="0"/>
              <a:t>, language etc.</a:t>
            </a:r>
            <a:endParaRPr lang="en-US" b="1" dirty="0"/>
          </a:p>
        </p:txBody>
      </p:sp>
    </p:spTree>
    <p:extLst>
      <p:ext uri="{BB962C8B-B14F-4D97-AF65-F5344CB8AC3E}">
        <p14:creationId xmlns:p14="http://schemas.microsoft.com/office/powerpoint/2010/main" val="299091325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98850"/>
            <a:ext cx="10515600" cy="4351338"/>
          </a:xfrm>
        </p:spPr>
        <p:txBody>
          <a:bodyPr>
            <a:normAutofit fontScale="77500" lnSpcReduction="20000"/>
          </a:bodyPr>
          <a:lstStyle/>
          <a:p>
            <a:pPr marL="0" indent="0">
              <a:buNone/>
            </a:pPr>
            <a:r>
              <a:rPr lang="en-US" sz="4000" b="1" dirty="0">
                <a:solidFill>
                  <a:srgbClr val="C00000"/>
                </a:solidFill>
              </a:rPr>
              <a:t>Class exercise 1.3</a:t>
            </a:r>
          </a:p>
          <a:p>
            <a:r>
              <a:rPr lang="en-US" dirty="0">
                <a:solidFill>
                  <a:srgbClr val="00B0F0"/>
                </a:solidFill>
              </a:rPr>
              <a:t>Analyzing Multiple Audiences for Documents</a:t>
            </a:r>
          </a:p>
          <a:p>
            <a:r>
              <a:rPr lang="en-US" dirty="0"/>
              <a:t>To help you imagine how these five categories of audience might respond in different ways to a single document, think about all the different people who might come in contact with a résumé you send as part of your application to a particular position.</a:t>
            </a:r>
          </a:p>
          <a:p>
            <a:r>
              <a:rPr lang="en-US" dirty="0"/>
              <a:t>Of the individuals who look at your résumé as it moves through the organization,</a:t>
            </a:r>
          </a:p>
          <a:p>
            <a:r>
              <a:rPr lang="en-US" dirty="0"/>
              <a:t>which category would each person fit into?</a:t>
            </a:r>
          </a:p>
          <a:p>
            <a:r>
              <a:rPr lang="en-US" dirty="0" smtClean="0"/>
              <a:t>What </a:t>
            </a:r>
            <a:r>
              <a:rPr lang="en-US" dirty="0"/>
              <a:t>would each person think about or be interested in as he or she reads your résumé?</a:t>
            </a:r>
          </a:p>
          <a:p>
            <a:r>
              <a:rPr lang="en-US" dirty="0" smtClean="0"/>
              <a:t>Of </a:t>
            </a:r>
            <a:r>
              <a:rPr lang="en-US" dirty="0"/>
              <a:t>these different readers, which would have the most and the least authority to offer you an interview?</a:t>
            </a:r>
          </a:p>
          <a:p>
            <a:r>
              <a:rPr lang="en-US" dirty="0"/>
              <a:t> After thinking about who will see your résumé and for what purpose, what changes might you make to your résumé to reach these different audiences more effectively?</a:t>
            </a:r>
          </a:p>
          <a:p>
            <a:endParaRPr lang="en-US" dirty="0"/>
          </a:p>
        </p:txBody>
      </p:sp>
    </p:spTree>
    <p:extLst>
      <p:ext uri="{BB962C8B-B14F-4D97-AF65-F5344CB8AC3E}">
        <p14:creationId xmlns:p14="http://schemas.microsoft.com/office/powerpoint/2010/main" val="42888963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solidFill>
                  <a:srgbClr val="C00000"/>
                </a:solidFill>
              </a:rPr>
              <a:t>Do </a:t>
            </a:r>
            <a:r>
              <a:rPr lang="en-US" b="1" dirty="0">
                <a:solidFill>
                  <a:srgbClr val="C00000"/>
                </a:solidFill>
              </a:rPr>
              <a:t>some </a:t>
            </a:r>
            <a:r>
              <a:rPr lang="en-US" b="1" dirty="0" smtClean="0">
                <a:solidFill>
                  <a:srgbClr val="C00000"/>
                </a:solidFill>
              </a:rPr>
              <a:t>research</a:t>
            </a:r>
            <a:endParaRPr lang="en-US" b="1" dirty="0">
              <a:solidFill>
                <a:srgbClr val="C00000"/>
              </a:solidFill>
            </a:endParaRPr>
          </a:p>
        </p:txBody>
      </p:sp>
      <p:sp>
        <p:nvSpPr>
          <p:cNvPr id="3" name="Content Placeholder 2"/>
          <p:cNvSpPr>
            <a:spLocks noGrp="1"/>
          </p:cNvSpPr>
          <p:nvPr>
            <p:ph idx="1"/>
          </p:nvPr>
        </p:nvSpPr>
        <p:spPr/>
        <p:txBody>
          <a:bodyPr/>
          <a:lstStyle/>
          <a:p>
            <a:r>
              <a:rPr lang="en-US" b="1" dirty="0"/>
              <a:t>I</a:t>
            </a:r>
            <a:r>
              <a:rPr lang="en-US" b="1" dirty="0" smtClean="0"/>
              <a:t>nterview users</a:t>
            </a:r>
          </a:p>
          <a:p>
            <a:r>
              <a:rPr lang="en-US" b="1" dirty="0"/>
              <a:t>O</a:t>
            </a:r>
            <a:r>
              <a:rPr lang="en-US" b="1" dirty="0" smtClean="0"/>
              <a:t>bserve users</a:t>
            </a:r>
          </a:p>
          <a:p>
            <a:r>
              <a:rPr lang="en-US" b="1" dirty="0"/>
              <a:t>I</a:t>
            </a:r>
            <a:r>
              <a:rPr lang="en-US" b="1" dirty="0" smtClean="0"/>
              <a:t>nterview experts</a:t>
            </a:r>
          </a:p>
          <a:p>
            <a:r>
              <a:rPr lang="en-US" b="1" dirty="0"/>
              <a:t>C</a:t>
            </a:r>
            <a:r>
              <a:rPr lang="en-US" b="1" dirty="0" smtClean="0"/>
              <a:t>reate </a:t>
            </a:r>
            <a:r>
              <a:rPr lang="en-US" b="1" dirty="0"/>
              <a:t>user profiles</a:t>
            </a:r>
          </a:p>
        </p:txBody>
      </p:sp>
    </p:spTree>
    <p:extLst>
      <p:ext uri="{BB962C8B-B14F-4D97-AF65-F5344CB8AC3E}">
        <p14:creationId xmlns:p14="http://schemas.microsoft.com/office/powerpoint/2010/main" val="294797640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Purpose: Why are you writing?</a:t>
            </a:r>
            <a:endParaRPr lang="en-US" b="1" dirty="0">
              <a:solidFill>
                <a:srgbClr val="C00000"/>
              </a:solidFill>
            </a:endParaRPr>
          </a:p>
        </p:txBody>
      </p:sp>
      <p:sp>
        <p:nvSpPr>
          <p:cNvPr id="3" name="Content Placeholder 2"/>
          <p:cNvSpPr>
            <a:spLocks noGrp="1"/>
          </p:cNvSpPr>
          <p:nvPr>
            <p:ph idx="1"/>
          </p:nvPr>
        </p:nvSpPr>
        <p:spPr/>
        <p:txBody>
          <a:bodyPr>
            <a:normAutofit/>
          </a:bodyPr>
          <a:lstStyle/>
          <a:p>
            <a:r>
              <a:rPr lang="en-US" b="1" dirty="0"/>
              <a:t>Another essential component of the writing situation, besides </a:t>
            </a:r>
            <a:r>
              <a:rPr lang="en-US" b="1" dirty="0" smtClean="0"/>
              <a:t>audience, </a:t>
            </a:r>
            <a:r>
              <a:rPr lang="en-US" b="1" dirty="0"/>
              <a:t>is purpose or aim: </a:t>
            </a:r>
            <a:r>
              <a:rPr lang="en-US" b="1" dirty="0">
                <a:solidFill>
                  <a:srgbClr val="00B0F0"/>
                </a:solidFill>
              </a:rPr>
              <a:t>what do you </a:t>
            </a:r>
            <a:r>
              <a:rPr lang="en-US" b="1" dirty="0" smtClean="0">
                <a:solidFill>
                  <a:srgbClr val="00B0F0"/>
                </a:solidFill>
              </a:rPr>
              <a:t>hope </a:t>
            </a:r>
            <a:r>
              <a:rPr lang="en-US" b="1" dirty="0">
                <a:solidFill>
                  <a:srgbClr val="00B0F0"/>
                </a:solidFill>
              </a:rPr>
              <a:t>to </a:t>
            </a:r>
            <a:r>
              <a:rPr lang="en-US" b="1" dirty="0" smtClean="0">
                <a:solidFill>
                  <a:srgbClr val="00B0F0"/>
                </a:solidFill>
              </a:rPr>
              <a:t>achieve through creating </a:t>
            </a:r>
            <a:r>
              <a:rPr lang="en-US" b="1" dirty="0">
                <a:solidFill>
                  <a:srgbClr val="00B0F0"/>
                </a:solidFill>
              </a:rPr>
              <a:t>your document? </a:t>
            </a:r>
            <a:endParaRPr lang="en-US" b="1" dirty="0" smtClean="0">
              <a:solidFill>
                <a:srgbClr val="00B0F0"/>
              </a:solidFill>
            </a:endParaRPr>
          </a:p>
          <a:p>
            <a:r>
              <a:rPr lang="en-US" b="1" dirty="0" smtClean="0"/>
              <a:t>You </a:t>
            </a:r>
            <a:r>
              <a:rPr lang="en-US" b="1" dirty="0"/>
              <a:t>may have </a:t>
            </a:r>
            <a:r>
              <a:rPr lang="en-US" b="1" dirty="0">
                <a:solidFill>
                  <a:srgbClr val="00B0F0"/>
                </a:solidFill>
              </a:rPr>
              <a:t>one main purpose or several important goals</a:t>
            </a:r>
            <a:r>
              <a:rPr lang="en-US" b="1" dirty="0"/>
              <a:t> that you want your user to understand after reading your document</a:t>
            </a:r>
            <a:r>
              <a:rPr lang="en-US" b="1" dirty="0" smtClean="0"/>
              <a:t>.</a:t>
            </a:r>
          </a:p>
          <a:p>
            <a:r>
              <a:rPr lang="en-US" b="1" dirty="0" err="1" smtClean="0"/>
              <a:t>Eg</a:t>
            </a:r>
            <a:r>
              <a:rPr lang="en-US" b="1" dirty="0"/>
              <a:t>;</a:t>
            </a:r>
            <a:r>
              <a:rPr lang="en-US" b="1" dirty="0" smtClean="0"/>
              <a:t> </a:t>
            </a:r>
            <a:r>
              <a:rPr lang="en-US" b="1" dirty="0"/>
              <a:t>in a memo to coworkers, you might want them to learn that they have one month to review their benefits selections and make any changes they want</a:t>
            </a:r>
            <a:r>
              <a:rPr lang="en-US" b="1" dirty="0" smtClean="0"/>
              <a:t>.</a:t>
            </a:r>
          </a:p>
          <a:p>
            <a:pPr marL="0" indent="0">
              <a:buNone/>
            </a:pPr>
            <a:endParaRPr lang="en-US" dirty="0"/>
          </a:p>
        </p:txBody>
      </p:sp>
    </p:spTree>
    <p:extLst>
      <p:ext uri="{BB962C8B-B14F-4D97-AF65-F5344CB8AC3E}">
        <p14:creationId xmlns:p14="http://schemas.microsoft.com/office/powerpoint/2010/main" val="130162538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endParaRPr lang="en-US" dirty="0"/>
          </a:p>
        </p:txBody>
      </p:sp>
      <p:sp>
        <p:nvSpPr>
          <p:cNvPr id="3" name="Content Placeholder 2"/>
          <p:cNvSpPr>
            <a:spLocks noGrp="1"/>
          </p:cNvSpPr>
          <p:nvPr>
            <p:ph idx="1"/>
          </p:nvPr>
        </p:nvSpPr>
        <p:spPr>
          <a:xfrm>
            <a:off x="838200" y="1515035"/>
            <a:ext cx="10515600" cy="4661928"/>
          </a:xfrm>
        </p:spPr>
        <p:txBody>
          <a:bodyPr>
            <a:normAutofit/>
          </a:bodyPr>
          <a:lstStyle/>
          <a:p>
            <a:r>
              <a:rPr lang="en-US" b="1" dirty="0" err="1" smtClean="0"/>
              <a:t>Eg</a:t>
            </a:r>
            <a:r>
              <a:rPr lang="en-US" b="1" dirty="0" smtClean="0"/>
              <a:t>; the </a:t>
            </a:r>
            <a:r>
              <a:rPr lang="en-US" b="1" dirty="0"/>
              <a:t>goal of your memo will be fourfold: </a:t>
            </a:r>
          </a:p>
          <a:p>
            <a:pPr marL="0" indent="0">
              <a:buNone/>
            </a:pPr>
            <a:r>
              <a:rPr lang="en-US" b="1" dirty="0"/>
              <a:t>1. </a:t>
            </a:r>
            <a:r>
              <a:rPr lang="en-US" b="1" dirty="0" smtClean="0"/>
              <a:t>To </a:t>
            </a:r>
            <a:r>
              <a:rPr lang="en-US" b="1" dirty="0"/>
              <a:t>get them to read your memo and understand it</a:t>
            </a:r>
            <a:r>
              <a:rPr lang="en-US" b="1" dirty="0" smtClean="0"/>
              <a:t>;</a:t>
            </a:r>
          </a:p>
          <a:p>
            <a:pPr marL="0" indent="0">
              <a:buNone/>
            </a:pPr>
            <a:r>
              <a:rPr lang="en-US" b="1" dirty="0" smtClean="0"/>
              <a:t>2</a:t>
            </a:r>
            <a:r>
              <a:rPr lang="en-US" b="1" dirty="0"/>
              <a:t>. </a:t>
            </a:r>
            <a:r>
              <a:rPr lang="en-US" b="1" dirty="0" smtClean="0"/>
              <a:t>To </a:t>
            </a:r>
            <a:r>
              <a:rPr lang="en-US" b="1" dirty="0"/>
              <a:t>persuade them to review the attached booklet (or visit the informational web page) that outlines their possible choices</a:t>
            </a:r>
            <a:r>
              <a:rPr lang="en-US" b="1" dirty="0" smtClean="0"/>
              <a:t>;</a:t>
            </a:r>
          </a:p>
          <a:p>
            <a:pPr marL="0" indent="0">
              <a:buNone/>
            </a:pPr>
            <a:r>
              <a:rPr lang="en-US" b="1" dirty="0" smtClean="0"/>
              <a:t> </a:t>
            </a:r>
            <a:r>
              <a:rPr lang="en-US" b="1" dirty="0"/>
              <a:t>3. </a:t>
            </a:r>
            <a:r>
              <a:rPr lang="en-US" b="1" dirty="0" smtClean="0"/>
              <a:t>To </a:t>
            </a:r>
            <a:r>
              <a:rPr lang="en-US" b="1" dirty="0"/>
              <a:t>motivate them to visit the website (or review the attached form) and make any changes they </a:t>
            </a:r>
            <a:r>
              <a:rPr lang="en-US" b="1" dirty="0" smtClean="0"/>
              <a:t>want</a:t>
            </a:r>
          </a:p>
          <a:p>
            <a:pPr marL="0" indent="0">
              <a:buNone/>
            </a:pPr>
            <a:r>
              <a:rPr lang="en-US" b="1" dirty="0" smtClean="0"/>
              <a:t>4</a:t>
            </a:r>
            <a:r>
              <a:rPr lang="en-US" b="1" dirty="0"/>
              <a:t>. </a:t>
            </a:r>
            <a:r>
              <a:rPr lang="en-US" b="1" dirty="0" smtClean="0"/>
              <a:t>To </a:t>
            </a:r>
            <a:r>
              <a:rPr lang="en-US" b="1" dirty="0"/>
              <a:t>do all this before the deadline (e.g., March 31</a:t>
            </a:r>
            <a:r>
              <a:rPr lang="en-US" b="1" dirty="0" smtClean="0"/>
              <a:t>).</a:t>
            </a:r>
          </a:p>
        </p:txBody>
      </p:sp>
    </p:spTree>
    <p:extLst>
      <p:ext uri="{BB962C8B-B14F-4D97-AF65-F5344CB8AC3E}">
        <p14:creationId xmlns:p14="http://schemas.microsoft.com/office/powerpoint/2010/main" val="172247759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endParaRPr lang="en-US" dirty="0"/>
          </a:p>
        </p:txBody>
      </p:sp>
      <p:sp>
        <p:nvSpPr>
          <p:cNvPr id="3" name="Content Placeholder 2"/>
          <p:cNvSpPr>
            <a:spLocks noGrp="1"/>
          </p:cNvSpPr>
          <p:nvPr>
            <p:ph idx="1"/>
          </p:nvPr>
        </p:nvSpPr>
        <p:spPr/>
        <p:txBody>
          <a:bodyPr/>
          <a:lstStyle/>
          <a:p>
            <a:r>
              <a:rPr lang="en-US" b="1" dirty="0"/>
              <a:t>One goal that often characterizes technical documentation is education, </a:t>
            </a:r>
            <a:r>
              <a:rPr lang="en-US" b="1" dirty="0">
                <a:solidFill>
                  <a:srgbClr val="FF0000"/>
                </a:solidFill>
              </a:rPr>
              <a:t>its primary purpose </a:t>
            </a:r>
            <a:r>
              <a:rPr lang="en-US" b="1" dirty="0" smtClean="0">
                <a:solidFill>
                  <a:srgbClr val="FF0000"/>
                </a:solidFill>
              </a:rPr>
              <a:t>is to </a:t>
            </a:r>
            <a:r>
              <a:rPr lang="en-US" b="1" dirty="0">
                <a:solidFill>
                  <a:srgbClr val="FF0000"/>
                </a:solidFill>
              </a:rPr>
              <a:t>instruct the reader or user.</a:t>
            </a:r>
          </a:p>
          <a:p>
            <a:r>
              <a:rPr lang="en-US" b="1" dirty="0"/>
              <a:t>Although instruction may be the primary goal of many technical documents, most texts will also have secondary goals: </a:t>
            </a:r>
            <a:r>
              <a:rPr lang="en-US" b="1" dirty="0">
                <a:solidFill>
                  <a:srgbClr val="FF0000"/>
                </a:solidFill>
              </a:rPr>
              <a:t>to inform, to satisfy, to please, to </a:t>
            </a:r>
            <a:r>
              <a:rPr lang="en-US" b="1" dirty="0" smtClean="0">
                <a:solidFill>
                  <a:srgbClr val="FF0000"/>
                </a:solidFill>
              </a:rPr>
              <a:t>persuade</a:t>
            </a:r>
            <a:r>
              <a:rPr lang="en-US" b="1" dirty="0">
                <a:solidFill>
                  <a:srgbClr val="FF0000"/>
                </a:solidFill>
              </a:rPr>
              <a:t> </a:t>
            </a:r>
            <a:r>
              <a:rPr lang="en-US" b="1" dirty="0" smtClean="0">
                <a:solidFill>
                  <a:srgbClr val="FF0000"/>
                </a:solidFill>
              </a:rPr>
              <a:t>etc.</a:t>
            </a:r>
          </a:p>
          <a:p>
            <a:r>
              <a:rPr lang="en-US" b="1" dirty="0" smtClean="0"/>
              <a:t>Technical </a:t>
            </a:r>
            <a:r>
              <a:rPr lang="en-US" b="1" dirty="0"/>
              <a:t>documents that instruct users quickly and painlessly in how to accomplish the </a:t>
            </a:r>
            <a:r>
              <a:rPr lang="en-US" b="1" dirty="0" smtClean="0"/>
              <a:t>tasks </a:t>
            </a:r>
            <a:r>
              <a:rPr lang="en-US" b="1" dirty="0"/>
              <a:t>using the associated product can only foster </a:t>
            </a:r>
            <a:r>
              <a:rPr lang="en-US" b="1" dirty="0" smtClean="0"/>
              <a:t>goodwill, </a:t>
            </a:r>
            <a:r>
              <a:rPr lang="en-US" b="1" dirty="0"/>
              <a:t>increasing users’ desires to try the company’s other products based on the positive experience with this one.</a:t>
            </a:r>
          </a:p>
        </p:txBody>
      </p:sp>
    </p:spTree>
    <p:extLst>
      <p:ext uri="{BB962C8B-B14F-4D97-AF65-F5344CB8AC3E}">
        <p14:creationId xmlns:p14="http://schemas.microsoft.com/office/powerpoint/2010/main" val="381973560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33633"/>
            <a:ext cx="10515600" cy="4351338"/>
          </a:xfrm>
        </p:spPr>
        <p:txBody>
          <a:bodyPr>
            <a:normAutofit fontScale="70000" lnSpcReduction="20000"/>
          </a:bodyPr>
          <a:lstStyle/>
          <a:p>
            <a:pPr marL="0" indent="0">
              <a:buNone/>
            </a:pPr>
            <a:r>
              <a:rPr lang="en-US" sz="3600" b="1" dirty="0">
                <a:solidFill>
                  <a:srgbClr val="C00000"/>
                </a:solidFill>
              </a:rPr>
              <a:t>In- class exercise 1.4</a:t>
            </a:r>
          </a:p>
          <a:p>
            <a:r>
              <a:rPr lang="en-US" dirty="0"/>
              <a:t>Write a User Profile</a:t>
            </a:r>
          </a:p>
          <a:p>
            <a:r>
              <a:rPr lang="en-US" dirty="0"/>
              <a:t>Write a user profile of yourself as a reader of this chapter.</a:t>
            </a:r>
          </a:p>
          <a:p>
            <a:r>
              <a:rPr lang="en-US" dirty="0"/>
              <a:t>Include whatever demographics you think are relevant, as well as personal characteristics that affect your reading and reception of the information in this chapter.</a:t>
            </a:r>
          </a:p>
          <a:p>
            <a:r>
              <a:rPr lang="en-US" b="1" dirty="0"/>
              <a:t>sample profiles</a:t>
            </a:r>
          </a:p>
          <a:p>
            <a:r>
              <a:rPr lang="en-US" b="1" dirty="0"/>
              <a:t>Gina: </a:t>
            </a:r>
            <a:r>
              <a:rPr lang="en-US" dirty="0"/>
              <a:t>50-year-old administrative assistant, in history in 1992; self-taught software programs including Word, PowerPoint®, and Excel®; makes minor changes to department’s web pages on Internet to update announcements, etc.; basic user of Dreamweaver® but eager to learn more Ambitious and not afraid of technology.</a:t>
            </a:r>
          </a:p>
          <a:p>
            <a:r>
              <a:rPr lang="en-US" b="1" dirty="0"/>
              <a:t>Karl: </a:t>
            </a:r>
            <a:r>
              <a:rPr lang="en-US" dirty="0"/>
              <a:t>27-year-old financial analyst, </a:t>
            </a:r>
            <a:r>
              <a:rPr lang="en-US" dirty="0" err="1"/>
              <a:t>bamba</a:t>
            </a:r>
            <a:r>
              <a:rPr lang="en-US" dirty="0"/>
              <a:t> in 2011; proficient user of various web-based software; owns a small consulting firm supported by website; paid consultant to develop website for him two years ago, but now needs to update it; wants to do this himself. Novice user of Dreamweaver®; concerned about whether he can make the changes that he needs to by himself.</a:t>
            </a:r>
          </a:p>
          <a:p>
            <a:endParaRPr lang="en-US" dirty="0"/>
          </a:p>
        </p:txBody>
      </p:sp>
    </p:spTree>
    <p:extLst>
      <p:ext uri="{BB962C8B-B14F-4D97-AF65-F5344CB8AC3E}">
        <p14:creationId xmlns:p14="http://schemas.microsoft.com/office/powerpoint/2010/main" val="429687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94274"/>
            <a:ext cx="10515600" cy="4351338"/>
          </a:xfrm>
        </p:spPr>
        <p:txBody>
          <a:bodyPr>
            <a:normAutofit fontScale="47500" lnSpcReduction="20000"/>
          </a:bodyPr>
          <a:lstStyle/>
          <a:p>
            <a:pPr marL="0" indent="0">
              <a:buNone/>
            </a:pPr>
            <a:r>
              <a:rPr lang="en-US" sz="4000" b="1" dirty="0">
                <a:solidFill>
                  <a:srgbClr val="C00000"/>
                </a:solidFill>
              </a:rPr>
              <a:t> Lab Assignment 1.1</a:t>
            </a:r>
          </a:p>
          <a:p>
            <a:r>
              <a:rPr lang="en-US" dirty="0"/>
              <a:t>characterizing your users</a:t>
            </a:r>
          </a:p>
          <a:p>
            <a:r>
              <a:rPr lang="en-US" dirty="0"/>
              <a:t>Choose your own favorite website and explore these sites. Using the questions that follow, try to figure out what assumptions the content developers are making about their users’ needs. See if you can develop a profile of the type of user that each of the websites addresses through its content and presentation.</a:t>
            </a:r>
          </a:p>
          <a:p>
            <a:r>
              <a:rPr lang="en-US" dirty="0"/>
              <a:t>a. </a:t>
            </a:r>
            <a:r>
              <a:rPr lang="en-US" dirty="0">
                <a:hlinkClick r:id="rId2"/>
              </a:rPr>
              <a:t>http://</a:t>
            </a:r>
            <a:r>
              <a:rPr lang="en-US" dirty="0" err="1">
                <a:hlinkClick r:id="rId2"/>
              </a:rPr>
              <a:t>www.tms.org</a:t>
            </a:r>
            <a:r>
              <a:rPr lang="en-US" dirty="0">
                <a:hlinkClick r:id="rId2"/>
              </a:rPr>
              <a:t>/</a:t>
            </a:r>
            <a:r>
              <a:rPr lang="en-US" dirty="0"/>
              <a:t>    b. </a:t>
            </a:r>
            <a:r>
              <a:rPr lang="en-US" dirty="0">
                <a:hlinkClick r:id="rId3"/>
              </a:rPr>
              <a:t>http://</a:t>
            </a:r>
            <a:r>
              <a:rPr lang="en-US" dirty="0" err="1">
                <a:hlinkClick r:id="rId3"/>
              </a:rPr>
              <a:t>www.useit.com</a:t>
            </a:r>
            <a:r>
              <a:rPr lang="en-US" dirty="0"/>
              <a:t>            c. http://</a:t>
            </a:r>
            <a:r>
              <a:rPr lang="en-US" dirty="0" err="1"/>
              <a:t>www.marijuana.org</a:t>
            </a:r>
            <a:endParaRPr lang="en-US" dirty="0"/>
          </a:p>
          <a:p>
            <a:r>
              <a:rPr lang="en-US" dirty="0"/>
              <a:t>d. </a:t>
            </a:r>
            <a:r>
              <a:rPr lang="en-US" dirty="0">
                <a:hlinkClick r:id="rId4"/>
              </a:rPr>
              <a:t>http://</a:t>
            </a:r>
            <a:r>
              <a:rPr lang="en-US" dirty="0" err="1">
                <a:hlinkClick r:id="rId4"/>
              </a:rPr>
              <a:t>www.guinness</a:t>
            </a:r>
            <a:r>
              <a:rPr lang="en-US" dirty="0"/>
              <a:t>    e. </a:t>
            </a:r>
            <a:r>
              <a:rPr lang="en-US" dirty="0">
                <a:hlinkClick r:id="rId5"/>
              </a:rPr>
              <a:t>http://</a:t>
            </a:r>
            <a:r>
              <a:rPr lang="en-US" dirty="0" err="1">
                <a:hlinkClick r:id="rId5"/>
              </a:rPr>
              <a:t>whitehouse.gov</a:t>
            </a:r>
            <a:r>
              <a:rPr lang="en-US" dirty="0">
                <a:hlinkClick r:id="rId5"/>
              </a:rPr>
              <a:t>/kids</a:t>
            </a:r>
            <a:r>
              <a:rPr lang="en-US" dirty="0"/>
              <a:t>   f. http://</a:t>
            </a:r>
            <a:r>
              <a:rPr lang="en-US" dirty="0" err="1"/>
              <a:t>www.royal.gov.uk</a:t>
            </a:r>
            <a:endParaRPr lang="en-US" dirty="0"/>
          </a:p>
          <a:p>
            <a:r>
              <a:rPr lang="en-US" b="1" dirty="0"/>
              <a:t>Generating Ideas for Your Profile</a:t>
            </a:r>
          </a:p>
          <a:p>
            <a:r>
              <a:rPr lang="en-US" dirty="0"/>
              <a:t>Who is visiting this website?</a:t>
            </a:r>
          </a:p>
          <a:p>
            <a:r>
              <a:rPr lang="en-US" dirty="0"/>
              <a:t>What special characteristics do they have?</a:t>
            </a:r>
          </a:p>
          <a:p>
            <a:r>
              <a:rPr lang="en-US" dirty="0"/>
              <a:t>What is their background in the subject matter?</a:t>
            </a:r>
          </a:p>
          <a:p>
            <a:r>
              <a:rPr lang="en-US" dirty="0"/>
              <a:t>What attitude toward or level of interest do the site designers assume the user has in the subject?</a:t>
            </a:r>
          </a:p>
          <a:p>
            <a:r>
              <a:rPr lang="en-US" dirty="0"/>
              <a:t>Why do you think users will come to this website?</a:t>
            </a:r>
          </a:p>
          <a:p>
            <a:r>
              <a:rPr lang="en-US" dirty="0"/>
              <a:t>What tasks might users perform based on the information in this website?</a:t>
            </a:r>
          </a:p>
          <a:p>
            <a:r>
              <a:rPr lang="en-US" dirty="0"/>
              <a:t>What legal issues did the website designers have to address regarding this subject matter?</a:t>
            </a:r>
          </a:p>
          <a:p>
            <a:r>
              <a:rPr lang="en-US" dirty="0"/>
              <a:t> Is the content of the website directed at a cross-cultural audience? How can you tell?</a:t>
            </a:r>
          </a:p>
          <a:p>
            <a:r>
              <a:rPr lang="en-US" dirty="0"/>
              <a:t>What level of technical knowledge does the website assume in the reader/user? How can you tell?</a:t>
            </a:r>
          </a:p>
          <a:p>
            <a:endParaRPr lang="en-US" dirty="0"/>
          </a:p>
        </p:txBody>
      </p:sp>
    </p:spTree>
    <p:extLst>
      <p:ext uri="{BB962C8B-B14F-4D97-AF65-F5344CB8AC3E}">
        <p14:creationId xmlns:p14="http://schemas.microsoft.com/office/powerpoint/2010/main" val="16152815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What is </a:t>
            </a:r>
            <a:r>
              <a:rPr lang="en-US" b="1" dirty="0" smtClean="0">
                <a:solidFill>
                  <a:srgbClr val="C00000"/>
                </a:solidFill>
              </a:rPr>
              <a:t>Genre</a:t>
            </a:r>
            <a:r>
              <a:rPr lang="en-US" b="1" dirty="0">
                <a:solidFill>
                  <a:srgbClr val="C00000"/>
                </a:solidFill>
              </a:rPr>
              <a:t>?</a:t>
            </a:r>
          </a:p>
        </p:txBody>
      </p:sp>
      <p:sp>
        <p:nvSpPr>
          <p:cNvPr id="3" name="Content Placeholder 2"/>
          <p:cNvSpPr>
            <a:spLocks noGrp="1"/>
          </p:cNvSpPr>
          <p:nvPr>
            <p:ph idx="1"/>
          </p:nvPr>
        </p:nvSpPr>
        <p:spPr>
          <a:xfrm>
            <a:off x="838200" y="1825625"/>
            <a:ext cx="11156576" cy="4351338"/>
          </a:xfrm>
        </p:spPr>
        <p:txBody>
          <a:bodyPr>
            <a:normAutofit/>
          </a:bodyPr>
          <a:lstStyle/>
          <a:p>
            <a:r>
              <a:rPr lang="en-US" b="1" dirty="0"/>
              <a:t>The word “genre” was originally a descriptive term</a:t>
            </a:r>
            <a:r>
              <a:rPr lang="en-US" b="1" dirty="0">
                <a:solidFill>
                  <a:srgbClr val="FF0000"/>
                </a:solidFill>
              </a:rPr>
              <a:t> classifying </a:t>
            </a:r>
            <a:r>
              <a:rPr lang="en-US" b="1" dirty="0" smtClean="0">
                <a:solidFill>
                  <a:srgbClr val="FF0000"/>
                </a:solidFill>
              </a:rPr>
              <a:t>documents into </a:t>
            </a:r>
            <a:r>
              <a:rPr lang="en-US" b="1" dirty="0">
                <a:solidFill>
                  <a:srgbClr val="FF0000"/>
                </a:solidFill>
              </a:rPr>
              <a:t>groups such as résumé, technical report, or user manual</a:t>
            </a:r>
            <a:r>
              <a:rPr lang="en-US" b="1" dirty="0" smtClean="0">
                <a:solidFill>
                  <a:srgbClr val="FF0000"/>
                </a:solidFill>
              </a:rPr>
              <a:t>.</a:t>
            </a:r>
          </a:p>
          <a:p>
            <a:r>
              <a:rPr lang="en-US" b="1" dirty="0" smtClean="0"/>
              <a:t>For </a:t>
            </a:r>
            <a:r>
              <a:rPr lang="en-US" b="1" dirty="0" err="1" smtClean="0"/>
              <a:t>Anis</a:t>
            </a:r>
            <a:r>
              <a:rPr lang="en-US" b="1" dirty="0" smtClean="0"/>
              <a:t> </a:t>
            </a:r>
            <a:r>
              <a:rPr lang="en-US" b="1" dirty="0" err="1" smtClean="0"/>
              <a:t>Bawarshi</a:t>
            </a:r>
            <a:r>
              <a:rPr lang="en-US" b="1" dirty="0" smtClean="0"/>
              <a:t> (2003) genre </a:t>
            </a:r>
            <a:r>
              <a:rPr lang="en-US" b="1" dirty="0"/>
              <a:t>as “typified </a:t>
            </a:r>
            <a:r>
              <a:rPr lang="en-US" b="1" dirty="0" smtClean="0"/>
              <a:t>rhetorical </a:t>
            </a:r>
            <a:r>
              <a:rPr lang="en-US" b="1" dirty="0"/>
              <a:t>strategies communicants use to recognize, organize, and act in all kinds of situations</a:t>
            </a:r>
            <a:r>
              <a:rPr lang="en-US" b="1" dirty="0" smtClean="0"/>
              <a:t>.”</a:t>
            </a:r>
          </a:p>
          <a:p>
            <a:r>
              <a:rPr lang="en-US" b="1" dirty="0">
                <a:solidFill>
                  <a:srgbClr val="FF0000"/>
                </a:solidFill>
              </a:rPr>
              <a:t>Genres are used to accomplish actions, </a:t>
            </a:r>
            <a:r>
              <a:rPr lang="en-US" b="1" dirty="0" smtClean="0">
                <a:solidFill>
                  <a:srgbClr val="FF0000"/>
                </a:solidFill>
              </a:rPr>
              <a:t>and </a:t>
            </a:r>
            <a:r>
              <a:rPr lang="en-US" b="1" dirty="0">
                <a:solidFill>
                  <a:srgbClr val="FF0000"/>
                </a:solidFill>
              </a:rPr>
              <a:t>by selecting one genre over another, writers convey </a:t>
            </a:r>
            <a:r>
              <a:rPr lang="en-US" b="1" dirty="0" smtClean="0">
                <a:solidFill>
                  <a:srgbClr val="FF0000"/>
                </a:solidFill>
              </a:rPr>
              <a:t>specific </a:t>
            </a:r>
            <a:r>
              <a:rPr lang="en-US" b="1" dirty="0">
                <a:solidFill>
                  <a:srgbClr val="FF0000"/>
                </a:solidFill>
              </a:rPr>
              <a:t>information that immediately helps readers to understand the purpose of the document</a:t>
            </a:r>
            <a:r>
              <a:rPr lang="en-US" b="1" dirty="0" smtClean="0">
                <a:solidFill>
                  <a:srgbClr val="FF0000"/>
                </a:solidFill>
              </a:rPr>
              <a:t>.</a:t>
            </a:r>
          </a:p>
          <a:p>
            <a:r>
              <a:rPr lang="en-US" b="1" dirty="0" smtClean="0"/>
              <a:t>A genre is based </a:t>
            </a:r>
            <a:r>
              <a:rPr lang="en-US" b="1" dirty="0" smtClean="0">
                <a:solidFill>
                  <a:srgbClr val="FF0000"/>
                </a:solidFill>
              </a:rPr>
              <a:t>on structural </a:t>
            </a:r>
            <a:r>
              <a:rPr lang="en-US" b="1" dirty="0">
                <a:solidFill>
                  <a:srgbClr val="FF0000"/>
                </a:solidFill>
              </a:rPr>
              <a:t>and rhetorical </a:t>
            </a:r>
            <a:r>
              <a:rPr lang="en-US" b="1" dirty="0" smtClean="0">
                <a:solidFill>
                  <a:srgbClr val="FF0000"/>
                </a:solidFill>
              </a:rPr>
              <a:t>conventions</a:t>
            </a:r>
            <a:r>
              <a:rPr lang="en-US" b="1" dirty="0" smtClean="0"/>
              <a:t>, </a:t>
            </a:r>
            <a:r>
              <a:rPr lang="en-US" b="1" dirty="0">
                <a:solidFill>
                  <a:srgbClr val="FF0000"/>
                </a:solidFill>
              </a:rPr>
              <a:t>the organization and presentation of content, and the goals and </a:t>
            </a:r>
            <a:r>
              <a:rPr lang="en-US" b="1" dirty="0" smtClean="0">
                <a:solidFill>
                  <a:srgbClr val="FF0000"/>
                </a:solidFill>
              </a:rPr>
              <a:t>function.</a:t>
            </a:r>
            <a:endParaRPr lang="en-US" b="1" dirty="0">
              <a:solidFill>
                <a:srgbClr val="FF0000"/>
              </a:solidFill>
            </a:endParaRPr>
          </a:p>
        </p:txBody>
      </p:sp>
    </p:spTree>
    <p:extLst>
      <p:ext uri="{BB962C8B-B14F-4D97-AF65-F5344CB8AC3E}">
        <p14:creationId xmlns:p14="http://schemas.microsoft.com/office/powerpoint/2010/main" val="429193302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l="7642" t="22942" r="26038" b="14840"/>
          <a:stretch/>
        </p:blipFill>
        <p:spPr>
          <a:xfrm>
            <a:off x="358588" y="0"/>
            <a:ext cx="11546541" cy="6517341"/>
          </a:xfrm>
          <a:prstGeom prst="rect">
            <a:avLst/>
          </a:prstGeom>
          <a:ln>
            <a:noFill/>
          </a:ln>
          <a:effectLst>
            <a:softEdge rad="112500"/>
          </a:effectLst>
        </p:spPr>
      </p:pic>
    </p:spTree>
    <p:extLst>
      <p:ext uri="{BB962C8B-B14F-4D97-AF65-F5344CB8AC3E}">
        <p14:creationId xmlns:p14="http://schemas.microsoft.com/office/powerpoint/2010/main" val="29818177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M</a:t>
            </a:r>
            <a:r>
              <a:rPr lang="en-US" b="1" dirty="0" smtClean="0">
                <a:solidFill>
                  <a:srgbClr val="FF0000"/>
                </a:solidFill>
              </a:rPr>
              <a:t>ain </a:t>
            </a:r>
            <a:r>
              <a:rPr lang="en-US" b="1" dirty="0">
                <a:solidFill>
                  <a:srgbClr val="FF0000"/>
                </a:solidFill>
              </a:rPr>
              <a:t>genres of technical </a:t>
            </a:r>
            <a:r>
              <a:rPr lang="en-US" b="1" dirty="0" smtClean="0">
                <a:solidFill>
                  <a:srgbClr val="FF0000"/>
                </a:solidFill>
              </a:rPr>
              <a:t>communication </a:t>
            </a:r>
            <a:endParaRPr lang="en-US" b="1" dirty="0">
              <a:solidFill>
                <a:srgbClr val="FF0000"/>
              </a:solidFill>
            </a:endParaRPr>
          </a:p>
        </p:txBody>
      </p:sp>
      <p:sp>
        <p:nvSpPr>
          <p:cNvPr id="3" name="Content Placeholder 2"/>
          <p:cNvSpPr>
            <a:spLocks noGrp="1"/>
          </p:cNvSpPr>
          <p:nvPr>
            <p:ph idx="1"/>
          </p:nvPr>
        </p:nvSpPr>
        <p:spPr/>
        <p:txBody>
          <a:bodyPr/>
          <a:lstStyle/>
          <a:p>
            <a:r>
              <a:rPr lang="en-US" b="1" dirty="0"/>
              <a:t>Procedures or instructions </a:t>
            </a:r>
            <a:endParaRPr lang="en-US" b="1" dirty="0" smtClean="0"/>
          </a:p>
          <a:p>
            <a:r>
              <a:rPr lang="en-US" b="1" dirty="0" smtClean="0"/>
              <a:t> </a:t>
            </a:r>
            <a:r>
              <a:rPr lang="en-US" b="1" dirty="0"/>
              <a:t>Manuals </a:t>
            </a:r>
            <a:endParaRPr lang="en-US" b="1" dirty="0" smtClean="0"/>
          </a:p>
          <a:p>
            <a:r>
              <a:rPr lang="en-US" b="1" dirty="0" smtClean="0"/>
              <a:t> </a:t>
            </a:r>
            <a:r>
              <a:rPr lang="en-US" b="1" dirty="0"/>
              <a:t>Reports on technical subject matter </a:t>
            </a:r>
            <a:endParaRPr lang="en-US" b="1" dirty="0" smtClean="0"/>
          </a:p>
          <a:p>
            <a:r>
              <a:rPr lang="en-US" b="1" dirty="0" smtClean="0"/>
              <a:t> </a:t>
            </a:r>
            <a:r>
              <a:rPr lang="en-US" b="1" dirty="0"/>
              <a:t>Specifications </a:t>
            </a:r>
            <a:endParaRPr lang="en-US" b="1" dirty="0" smtClean="0"/>
          </a:p>
          <a:p>
            <a:r>
              <a:rPr lang="en-US" b="1" dirty="0" smtClean="0"/>
              <a:t> </a:t>
            </a:r>
            <a:r>
              <a:rPr lang="en-US" b="1" dirty="0"/>
              <a:t>Proposals </a:t>
            </a:r>
            <a:endParaRPr lang="en-US" b="1" dirty="0" smtClean="0"/>
          </a:p>
          <a:p>
            <a:r>
              <a:rPr lang="en-US" b="1" dirty="0" smtClean="0"/>
              <a:t> </a:t>
            </a:r>
            <a:r>
              <a:rPr lang="en-US" b="1" dirty="0"/>
              <a:t>Letters </a:t>
            </a:r>
            <a:endParaRPr lang="en-US" b="1" dirty="0" smtClean="0"/>
          </a:p>
          <a:p>
            <a:r>
              <a:rPr lang="en-US" b="1" dirty="0" smtClean="0"/>
              <a:t> </a:t>
            </a:r>
            <a:r>
              <a:rPr lang="en-US" b="1" dirty="0"/>
              <a:t>Memos </a:t>
            </a:r>
            <a:endParaRPr lang="en-US" b="1" dirty="0" smtClean="0"/>
          </a:p>
          <a:p>
            <a:r>
              <a:rPr lang="en-US" b="1" dirty="0" smtClean="0"/>
              <a:t> </a:t>
            </a:r>
            <a:r>
              <a:rPr lang="en-US" b="1" dirty="0"/>
              <a:t>Oral presentation</a:t>
            </a:r>
          </a:p>
        </p:txBody>
      </p:sp>
    </p:spTree>
    <p:extLst>
      <p:ext uri="{BB962C8B-B14F-4D97-AF65-F5344CB8AC3E}">
        <p14:creationId xmlns:p14="http://schemas.microsoft.com/office/powerpoint/2010/main" val="150228296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Why does genre matter?</a:t>
            </a:r>
          </a:p>
        </p:txBody>
      </p:sp>
      <p:sp>
        <p:nvSpPr>
          <p:cNvPr id="3" name="Content Placeholder 2"/>
          <p:cNvSpPr>
            <a:spLocks noGrp="1"/>
          </p:cNvSpPr>
          <p:nvPr>
            <p:ph idx="1"/>
          </p:nvPr>
        </p:nvSpPr>
        <p:spPr>
          <a:xfrm>
            <a:off x="838200" y="1825625"/>
            <a:ext cx="10515600" cy="4763434"/>
          </a:xfrm>
        </p:spPr>
        <p:txBody>
          <a:bodyPr>
            <a:normAutofit lnSpcReduction="10000"/>
          </a:bodyPr>
          <a:lstStyle/>
          <a:p>
            <a:r>
              <a:rPr lang="en-US" b="1" dirty="0"/>
              <a:t>To be considered an educated and experienced professional in your field, you need to know about and be able to produce the </a:t>
            </a:r>
            <a:r>
              <a:rPr lang="en-US" b="1" dirty="0" smtClean="0"/>
              <a:t>principal </a:t>
            </a:r>
            <a:r>
              <a:rPr lang="en-US" b="1" dirty="0"/>
              <a:t>genres of your field</a:t>
            </a:r>
            <a:r>
              <a:rPr lang="en-US" b="1" dirty="0" smtClean="0"/>
              <a:t>.</a:t>
            </a:r>
          </a:p>
          <a:p>
            <a:r>
              <a:rPr lang="en-US" b="1" dirty="0" smtClean="0"/>
              <a:t> </a:t>
            </a:r>
            <a:r>
              <a:rPr lang="en-US" b="1" dirty="0">
                <a:solidFill>
                  <a:srgbClr val="FF0000"/>
                </a:solidFill>
              </a:rPr>
              <a:t>If you understand the conventions of the genres that you need to write and you have </a:t>
            </a:r>
            <a:r>
              <a:rPr lang="en-US" b="1" dirty="0" smtClean="0">
                <a:solidFill>
                  <a:srgbClr val="FF0000"/>
                </a:solidFill>
              </a:rPr>
              <a:t>learnt to </a:t>
            </a:r>
            <a:r>
              <a:rPr lang="en-US" b="1" dirty="0">
                <a:solidFill>
                  <a:srgbClr val="FF0000"/>
                </a:solidFill>
              </a:rPr>
              <a:t>meet those conventions effectively, </a:t>
            </a:r>
            <a:r>
              <a:rPr lang="en-US" b="1" dirty="0" smtClean="0">
                <a:solidFill>
                  <a:srgbClr val="FF0000"/>
                </a:solidFill>
              </a:rPr>
              <a:t>you </a:t>
            </a:r>
            <a:r>
              <a:rPr lang="en-US" b="1" dirty="0">
                <a:solidFill>
                  <a:srgbClr val="FF0000"/>
                </a:solidFill>
              </a:rPr>
              <a:t>will be considered a “good” (</a:t>
            </a:r>
            <a:r>
              <a:rPr lang="en-US" b="1" dirty="0" smtClean="0">
                <a:solidFill>
                  <a:srgbClr val="FF0000"/>
                </a:solidFill>
              </a:rPr>
              <a:t> </a:t>
            </a:r>
            <a:r>
              <a:rPr lang="en-US" b="1" dirty="0">
                <a:solidFill>
                  <a:srgbClr val="FF0000"/>
                </a:solidFill>
              </a:rPr>
              <a:t>even the best) writer of technical communication. </a:t>
            </a:r>
            <a:endParaRPr lang="en-US" b="1" dirty="0" smtClean="0">
              <a:solidFill>
                <a:srgbClr val="FF0000"/>
              </a:solidFill>
            </a:endParaRPr>
          </a:p>
          <a:p>
            <a:r>
              <a:rPr lang="en-US" b="1" dirty="0" smtClean="0"/>
              <a:t>If you </a:t>
            </a:r>
            <a:r>
              <a:rPr lang="en-US" b="1" dirty="0"/>
              <a:t>understand and can use the conventions of a genre, you can focus on the writing itself, making the content and presentation </a:t>
            </a:r>
            <a:r>
              <a:rPr lang="en-US" b="1" dirty="0" smtClean="0"/>
              <a:t>more effective.</a:t>
            </a:r>
          </a:p>
          <a:p>
            <a:r>
              <a:rPr lang="en-US" b="1" dirty="0" smtClean="0">
                <a:solidFill>
                  <a:srgbClr val="FF0000"/>
                </a:solidFill>
              </a:rPr>
              <a:t>Understanding </a:t>
            </a:r>
            <a:r>
              <a:rPr lang="en-US" b="1" dirty="0">
                <a:solidFill>
                  <a:srgbClr val="FF0000"/>
                </a:solidFill>
              </a:rPr>
              <a:t>the basic generic conventions of how to structure instructions helps you to focus on the process of creating the text. </a:t>
            </a:r>
          </a:p>
        </p:txBody>
      </p:sp>
    </p:spTree>
    <p:extLst>
      <p:ext uri="{BB962C8B-B14F-4D97-AF65-F5344CB8AC3E}">
        <p14:creationId xmlns:p14="http://schemas.microsoft.com/office/powerpoint/2010/main" val="40737370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How does one analyze a new genre? </a:t>
            </a:r>
          </a:p>
        </p:txBody>
      </p:sp>
      <p:sp>
        <p:nvSpPr>
          <p:cNvPr id="3" name="Content Placeholder 2"/>
          <p:cNvSpPr>
            <a:spLocks noGrp="1"/>
          </p:cNvSpPr>
          <p:nvPr>
            <p:ph idx="1"/>
          </p:nvPr>
        </p:nvSpPr>
        <p:spPr>
          <a:xfrm>
            <a:off x="838199" y="1825625"/>
            <a:ext cx="10914529" cy="4351338"/>
          </a:xfrm>
        </p:spPr>
        <p:txBody>
          <a:bodyPr>
            <a:normAutofit/>
          </a:bodyPr>
          <a:lstStyle/>
          <a:p>
            <a:pPr marL="514350" indent="-514350">
              <a:buAutoNum type="arabicPeriod"/>
            </a:pPr>
            <a:r>
              <a:rPr lang="en-US" b="1" dirty="0" smtClean="0"/>
              <a:t>Style</a:t>
            </a:r>
          </a:p>
          <a:p>
            <a:pPr marL="0" indent="0">
              <a:buNone/>
            </a:pPr>
            <a:r>
              <a:rPr lang="en-US" b="1" dirty="0" smtClean="0"/>
              <a:t>2</a:t>
            </a:r>
            <a:r>
              <a:rPr lang="en-US" b="1" dirty="0"/>
              <a:t>. Structure </a:t>
            </a:r>
            <a:endParaRPr lang="en-US" b="1" dirty="0" smtClean="0"/>
          </a:p>
          <a:p>
            <a:pPr marL="0" indent="0">
              <a:buNone/>
            </a:pPr>
            <a:r>
              <a:rPr lang="en-US" b="1" dirty="0" smtClean="0"/>
              <a:t>3</a:t>
            </a:r>
            <a:r>
              <a:rPr lang="en-US" b="1" dirty="0"/>
              <a:t>. </a:t>
            </a:r>
            <a:r>
              <a:rPr lang="en-US" b="1" dirty="0" smtClean="0"/>
              <a:t>Register</a:t>
            </a:r>
          </a:p>
        </p:txBody>
      </p:sp>
    </p:spTree>
    <p:extLst>
      <p:ext uri="{BB962C8B-B14F-4D97-AF65-F5344CB8AC3E}">
        <p14:creationId xmlns:p14="http://schemas.microsoft.com/office/powerpoint/2010/main" val="45510864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endParaRPr lang="en-US" dirty="0"/>
          </a:p>
        </p:txBody>
      </p:sp>
      <p:sp>
        <p:nvSpPr>
          <p:cNvPr id="3" name="Content Placeholder 2"/>
          <p:cNvSpPr>
            <a:spLocks noGrp="1"/>
          </p:cNvSpPr>
          <p:nvPr>
            <p:ph idx="1"/>
          </p:nvPr>
        </p:nvSpPr>
        <p:spPr>
          <a:xfrm>
            <a:off x="838199" y="1407460"/>
            <a:ext cx="11057965" cy="5226422"/>
          </a:xfrm>
        </p:spPr>
        <p:txBody>
          <a:bodyPr>
            <a:normAutofit/>
          </a:bodyPr>
          <a:lstStyle/>
          <a:p>
            <a:pPr marL="0" indent="0">
              <a:buNone/>
            </a:pPr>
            <a:r>
              <a:rPr lang="en-US" b="1" dirty="0">
                <a:solidFill>
                  <a:srgbClr val="FF0000"/>
                </a:solidFill>
              </a:rPr>
              <a:t>Style</a:t>
            </a:r>
            <a:r>
              <a:rPr lang="en-US" b="1" dirty="0"/>
              <a:t> includes elements such as </a:t>
            </a:r>
            <a:r>
              <a:rPr lang="en-US" b="1" dirty="0">
                <a:solidFill>
                  <a:srgbClr val="00B0F0"/>
                </a:solidFill>
              </a:rPr>
              <a:t>sentence length, kind, and complexity; word </a:t>
            </a:r>
            <a:r>
              <a:rPr lang="en-US" b="1" dirty="0" smtClean="0">
                <a:solidFill>
                  <a:srgbClr val="00B0F0"/>
                </a:solidFill>
              </a:rPr>
              <a:t>choice, use </a:t>
            </a:r>
            <a:r>
              <a:rPr lang="en-US" b="1" dirty="0">
                <a:solidFill>
                  <a:srgbClr val="00B0F0"/>
                </a:solidFill>
              </a:rPr>
              <a:t>of figurative language such as metaphors.</a:t>
            </a:r>
            <a:r>
              <a:rPr lang="en-US" b="1" dirty="0"/>
              <a:t> </a:t>
            </a:r>
          </a:p>
          <a:p>
            <a:pPr marL="0" indent="0">
              <a:buNone/>
            </a:pPr>
            <a:r>
              <a:rPr lang="en-US" b="1" dirty="0">
                <a:solidFill>
                  <a:srgbClr val="FF0000"/>
                </a:solidFill>
              </a:rPr>
              <a:t>Structure </a:t>
            </a:r>
            <a:r>
              <a:rPr lang="en-US" b="1" dirty="0"/>
              <a:t>refers to </a:t>
            </a:r>
            <a:r>
              <a:rPr lang="en-US" b="1" dirty="0">
                <a:solidFill>
                  <a:srgbClr val="00B0F0"/>
                </a:solidFill>
              </a:rPr>
              <a:t>how information or content in a document or genre is </a:t>
            </a:r>
            <a:r>
              <a:rPr lang="en-US" b="1" dirty="0" smtClean="0">
                <a:solidFill>
                  <a:srgbClr val="00B0F0"/>
                </a:solidFill>
              </a:rPr>
              <a:t>organized</a:t>
            </a:r>
          </a:p>
          <a:p>
            <a:pPr>
              <a:buFontTx/>
              <a:buChar char="-"/>
            </a:pPr>
            <a:r>
              <a:rPr lang="en-US" b="1" dirty="0" smtClean="0"/>
              <a:t>is </a:t>
            </a:r>
            <a:r>
              <a:rPr lang="en-US" b="1" dirty="0"/>
              <a:t>it subdivided into sections</a:t>
            </a:r>
            <a:r>
              <a:rPr lang="en-US" b="1" dirty="0" smtClean="0"/>
              <a:t>?</a:t>
            </a:r>
          </a:p>
          <a:p>
            <a:pPr>
              <a:buFontTx/>
              <a:buChar char="-"/>
            </a:pPr>
            <a:r>
              <a:rPr lang="en-US" b="1" dirty="0" smtClean="0"/>
              <a:t>How </a:t>
            </a:r>
            <a:r>
              <a:rPr lang="en-US" b="1" dirty="0"/>
              <a:t>long is each section? </a:t>
            </a:r>
            <a:endParaRPr lang="en-US" b="1" dirty="0" smtClean="0"/>
          </a:p>
          <a:p>
            <a:pPr>
              <a:buFontTx/>
              <a:buChar char="-"/>
            </a:pPr>
            <a:r>
              <a:rPr lang="en-US" b="1" dirty="0" smtClean="0"/>
              <a:t>What </a:t>
            </a:r>
            <a:r>
              <a:rPr lang="en-US" b="1" dirty="0"/>
              <a:t>type of content appears in each section? </a:t>
            </a:r>
            <a:endParaRPr lang="en-US" b="1" dirty="0" smtClean="0"/>
          </a:p>
          <a:p>
            <a:pPr>
              <a:buFontTx/>
              <a:buChar char="-"/>
            </a:pPr>
            <a:r>
              <a:rPr lang="en-US" b="1" dirty="0" smtClean="0">
                <a:solidFill>
                  <a:srgbClr val="FF0000"/>
                </a:solidFill>
              </a:rPr>
              <a:t>Register </a:t>
            </a:r>
            <a:r>
              <a:rPr lang="en-US" b="1" dirty="0"/>
              <a:t>refers to the </a:t>
            </a:r>
            <a:r>
              <a:rPr lang="en-US" b="1" dirty="0">
                <a:solidFill>
                  <a:srgbClr val="00B0F0"/>
                </a:solidFill>
              </a:rPr>
              <a:t>level of language used in the genre. </a:t>
            </a:r>
            <a:endParaRPr lang="en-US" b="1" dirty="0" smtClean="0">
              <a:solidFill>
                <a:srgbClr val="00B0F0"/>
              </a:solidFill>
            </a:endParaRPr>
          </a:p>
          <a:p>
            <a:pPr>
              <a:buFontTx/>
              <a:buChar char="-"/>
            </a:pPr>
            <a:r>
              <a:rPr lang="en-US" b="1" dirty="0" smtClean="0">
                <a:solidFill>
                  <a:srgbClr val="00B0F0"/>
                </a:solidFill>
              </a:rPr>
              <a:t>Is </a:t>
            </a:r>
            <a:r>
              <a:rPr lang="en-US" b="1" dirty="0">
                <a:solidFill>
                  <a:srgbClr val="00B0F0"/>
                </a:solidFill>
              </a:rPr>
              <a:t>it casual, informal, or formal? </a:t>
            </a:r>
            <a:endParaRPr lang="en-US" b="1" dirty="0" smtClean="0">
              <a:solidFill>
                <a:srgbClr val="00B0F0"/>
              </a:solidFill>
            </a:endParaRPr>
          </a:p>
          <a:p>
            <a:pPr>
              <a:buFontTx/>
              <a:buChar char="-"/>
            </a:pPr>
            <a:r>
              <a:rPr lang="en-US" b="1" dirty="0" smtClean="0"/>
              <a:t>Does </a:t>
            </a:r>
            <a:r>
              <a:rPr lang="en-US" b="1" dirty="0"/>
              <a:t>it use contractions (an indication of informality)? Does it use “I”? </a:t>
            </a:r>
          </a:p>
          <a:p>
            <a:endParaRPr lang="en-US" dirty="0"/>
          </a:p>
        </p:txBody>
      </p:sp>
    </p:spTree>
    <p:extLst>
      <p:ext uri="{BB962C8B-B14F-4D97-AF65-F5344CB8AC3E}">
        <p14:creationId xmlns:p14="http://schemas.microsoft.com/office/powerpoint/2010/main" val="169638297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Lab </a:t>
            </a:r>
            <a:r>
              <a:rPr lang="en-US" b="1" dirty="0">
                <a:solidFill>
                  <a:srgbClr val="FF0000"/>
                </a:solidFill>
              </a:rPr>
              <a:t>assignment </a:t>
            </a:r>
            <a:r>
              <a:rPr lang="en-US" b="1" dirty="0" smtClean="0">
                <a:solidFill>
                  <a:srgbClr val="FF0000"/>
                </a:solidFill>
              </a:rPr>
              <a:t>1.3: </a:t>
            </a:r>
            <a:r>
              <a:rPr lang="en-US" b="1" dirty="0">
                <a:solidFill>
                  <a:srgbClr val="FF0000"/>
                </a:solidFill>
              </a:rPr>
              <a:t>analyzing a new genre</a:t>
            </a:r>
          </a:p>
        </p:txBody>
      </p:sp>
      <p:sp>
        <p:nvSpPr>
          <p:cNvPr id="3" name="Content Placeholder 2"/>
          <p:cNvSpPr>
            <a:spLocks noGrp="1"/>
          </p:cNvSpPr>
          <p:nvPr>
            <p:ph idx="1"/>
          </p:nvPr>
        </p:nvSpPr>
        <p:spPr>
          <a:xfrm>
            <a:off x="838200" y="1825625"/>
            <a:ext cx="11075894" cy="4351338"/>
          </a:xfrm>
        </p:spPr>
        <p:txBody>
          <a:bodyPr/>
          <a:lstStyle/>
          <a:p>
            <a:r>
              <a:rPr lang="en-US" dirty="0" smtClean="0"/>
              <a:t>Select </a:t>
            </a:r>
            <a:r>
              <a:rPr lang="en-US" dirty="0"/>
              <a:t>two sample documents from a genre that you have never written before. </a:t>
            </a:r>
            <a:endParaRPr lang="en-US" dirty="0" smtClean="0"/>
          </a:p>
          <a:p>
            <a:r>
              <a:rPr lang="en-US" dirty="0" smtClean="0"/>
              <a:t>Apply </a:t>
            </a:r>
            <a:r>
              <a:rPr lang="en-US" dirty="0"/>
              <a:t>the process of analysis outlined in this chapter to four or five paragraphs from the two samples. When you have completed analyzing the prose style, write a memo reporting what your major conclusions are about the principal features of this genre. </a:t>
            </a:r>
            <a:endParaRPr lang="en-US" dirty="0" smtClean="0"/>
          </a:p>
          <a:p>
            <a:r>
              <a:rPr lang="en-US" dirty="0" smtClean="0"/>
              <a:t>Address </a:t>
            </a:r>
            <a:r>
              <a:rPr lang="en-US" dirty="0"/>
              <a:t>the memo to your </a:t>
            </a:r>
            <a:r>
              <a:rPr lang="en-US" dirty="0" smtClean="0"/>
              <a:t>classmates </a:t>
            </a:r>
            <a:r>
              <a:rPr lang="en-US" dirty="0"/>
              <a:t>to help them understand quickly the distinguishing characteristics of the genre that you analyzed.</a:t>
            </a:r>
          </a:p>
        </p:txBody>
      </p:sp>
    </p:spTree>
    <p:extLst>
      <p:ext uri="{BB962C8B-B14F-4D97-AF65-F5344CB8AC3E}">
        <p14:creationId xmlns:p14="http://schemas.microsoft.com/office/powerpoint/2010/main" val="40093734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What are genre sets?</a:t>
            </a:r>
          </a:p>
        </p:txBody>
      </p:sp>
      <p:sp>
        <p:nvSpPr>
          <p:cNvPr id="3" name="Content Placeholder 2"/>
          <p:cNvSpPr>
            <a:spLocks noGrp="1"/>
          </p:cNvSpPr>
          <p:nvPr>
            <p:ph idx="1"/>
          </p:nvPr>
        </p:nvSpPr>
        <p:spPr/>
        <p:txBody>
          <a:bodyPr>
            <a:normAutofit fontScale="92500" lnSpcReduction="20000"/>
          </a:bodyPr>
          <a:lstStyle/>
          <a:p>
            <a:r>
              <a:rPr lang="en-US" b="1" dirty="0">
                <a:solidFill>
                  <a:srgbClr val="00B0F0"/>
                </a:solidFill>
              </a:rPr>
              <a:t>“Genre sets” are groups of documents that go together. </a:t>
            </a:r>
            <a:endParaRPr lang="en-US" b="1" dirty="0" smtClean="0">
              <a:solidFill>
                <a:srgbClr val="00B0F0"/>
              </a:solidFill>
            </a:endParaRPr>
          </a:p>
          <a:p>
            <a:r>
              <a:rPr lang="en-US" b="1" dirty="0" smtClean="0"/>
              <a:t>For example, </a:t>
            </a:r>
            <a:r>
              <a:rPr lang="en-US" b="1" dirty="0"/>
              <a:t>if a software development firm publishes a request for proposals </a:t>
            </a:r>
            <a:r>
              <a:rPr lang="en-US" b="1" dirty="0" smtClean="0"/>
              <a:t>(RFP) </a:t>
            </a:r>
            <a:r>
              <a:rPr lang="en-US" b="1" dirty="0"/>
              <a:t>to document a new program developed by their engineers, you, as an independent technical communicator, may respond with a </a:t>
            </a:r>
            <a:r>
              <a:rPr lang="en-US" b="1" dirty="0" smtClean="0"/>
              <a:t>proposal </a:t>
            </a:r>
            <a:r>
              <a:rPr lang="en-US" b="1" dirty="0"/>
              <a:t>outlining your plan to create the manuals for the project</a:t>
            </a:r>
            <a:r>
              <a:rPr lang="en-US" b="1" dirty="0" smtClean="0"/>
              <a:t>.</a:t>
            </a:r>
          </a:p>
          <a:p>
            <a:r>
              <a:rPr lang="en-US" b="1" dirty="0" smtClean="0"/>
              <a:t> </a:t>
            </a:r>
            <a:r>
              <a:rPr lang="en-US" b="1" dirty="0">
                <a:solidFill>
                  <a:srgbClr val="00B0F0"/>
                </a:solidFill>
              </a:rPr>
              <a:t>The </a:t>
            </a:r>
            <a:r>
              <a:rPr lang="en-US" b="1" dirty="0" smtClean="0">
                <a:solidFill>
                  <a:srgbClr val="00B0F0"/>
                </a:solidFill>
              </a:rPr>
              <a:t>RFP, </a:t>
            </a:r>
            <a:r>
              <a:rPr lang="en-US" b="1" dirty="0">
                <a:solidFill>
                  <a:srgbClr val="00B0F0"/>
                </a:solidFill>
              </a:rPr>
              <a:t>the proposals that are written in response, and the documents that are created as a solution to the problem outlined in the </a:t>
            </a:r>
            <a:r>
              <a:rPr lang="en-US" b="1" dirty="0" smtClean="0">
                <a:solidFill>
                  <a:srgbClr val="00B0F0"/>
                </a:solidFill>
              </a:rPr>
              <a:t>RFP </a:t>
            </a:r>
            <a:r>
              <a:rPr lang="en-US" b="1" dirty="0">
                <a:solidFill>
                  <a:srgbClr val="00B0F0"/>
                </a:solidFill>
              </a:rPr>
              <a:t>all make up a “genre set.” </a:t>
            </a:r>
            <a:endParaRPr lang="en-US" b="1" dirty="0" smtClean="0">
              <a:solidFill>
                <a:srgbClr val="00B0F0"/>
              </a:solidFill>
            </a:endParaRPr>
          </a:p>
          <a:p>
            <a:r>
              <a:rPr lang="en-US" b="1" dirty="0" smtClean="0">
                <a:solidFill>
                  <a:srgbClr val="00B0F0"/>
                </a:solidFill>
              </a:rPr>
              <a:t>Similarly</a:t>
            </a:r>
            <a:r>
              <a:rPr lang="en-US" b="1" dirty="0">
                <a:solidFill>
                  <a:srgbClr val="00B0F0"/>
                </a:solidFill>
              </a:rPr>
              <a:t>, if you respond to a job </a:t>
            </a:r>
            <a:r>
              <a:rPr lang="en-US" b="1" dirty="0" smtClean="0">
                <a:solidFill>
                  <a:srgbClr val="00B0F0"/>
                </a:solidFill>
              </a:rPr>
              <a:t>advertisement </a:t>
            </a:r>
            <a:r>
              <a:rPr lang="en-US" b="1" dirty="0">
                <a:solidFill>
                  <a:srgbClr val="00B0F0"/>
                </a:solidFill>
              </a:rPr>
              <a:t>with an application letter and résumé, you create another genre set</a:t>
            </a:r>
            <a:r>
              <a:rPr lang="en-US" b="1" dirty="0" smtClean="0">
                <a:solidFill>
                  <a:srgbClr val="00B0F0"/>
                </a:solidFill>
              </a:rPr>
              <a:t>.</a:t>
            </a:r>
          </a:p>
          <a:p>
            <a:r>
              <a:rPr lang="en-US" b="1" dirty="0"/>
              <a:t>The interrelation of these documents constitutes some of the important activities of a business organization. </a:t>
            </a:r>
          </a:p>
        </p:txBody>
      </p:sp>
    </p:spTree>
    <p:extLst>
      <p:ext uri="{BB962C8B-B14F-4D97-AF65-F5344CB8AC3E}">
        <p14:creationId xmlns:p14="http://schemas.microsoft.com/office/powerpoint/2010/main" val="323551528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Structural </a:t>
            </a:r>
            <a:r>
              <a:rPr lang="en-US" b="1" dirty="0">
                <a:solidFill>
                  <a:srgbClr val="FF0000"/>
                </a:solidFill>
              </a:rPr>
              <a:t>C</a:t>
            </a:r>
            <a:r>
              <a:rPr lang="en-US" b="1" dirty="0" smtClean="0">
                <a:solidFill>
                  <a:srgbClr val="FF0000"/>
                </a:solidFill>
              </a:rPr>
              <a:t>onventions</a:t>
            </a:r>
            <a:endParaRPr lang="en-US" b="1" dirty="0">
              <a:solidFill>
                <a:srgbClr val="FF0000"/>
              </a:solidFill>
            </a:endParaRPr>
          </a:p>
        </p:txBody>
      </p:sp>
      <p:sp>
        <p:nvSpPr>
          <p:cNvPr id="3" name="Content Placeholder 2"/>
          <p:cNvSpPr>
            <a:spLocks noGrp="1"/>
          </p:cNvSpPr>
          <p:nvPr>
            <p:ph idx="1"/>
          </p:nvPr>
        </p:nvSpPr>
        <p:spPr/>
        <p:txBody>
          <a:bodyPr/>
          <a:lstStyle/>
          <a:p>
            <a:r>
              <a:rPr lang="en-US" b="1" dirty="0"/>
              <a:t>Each genre has a different structure that reflects what writers are trying to accomplish in using that particular </a:t>
            </a:r>
            <a:r>
              <a:rPr lang="en-US" b="1" dirty="0" smtClean="0"/>
              <a:t>genre.</a:t>
            </a:r>
          </a:p>
          <a:p>
            <a:r>
              <a:rPr lang="en-US" b="1" dirty="0">
                <a:solidFill>
                  <a:srgbClr val="00B0F0"/>
                </a:solidFill>
              </a:rPr>
              <a:t>When readers see the structural elements of a particular genre, they </a:t>
            </a:r>
            <a:r>
              <a:rPr lang="en-US" b="1" dirty="0" smtClean="0">
                <a:solidFill>
                  <a:srgbClr val="00B0F0"/>
                </a:solidFill>
              </a:rPr>
              <a:t>antedate </a:t>
            </a:r>
            <a:r>
              <a:rPr lang="en-US" b="1" dirty="0">
                <a:solidFill>
                  <a:srgbClr val="00B0F0"/>
                </a:solidFill>
              </a:rPr>
              <a:t>the specific content </a:t>
            </a:r>
            <a:r>
              <a:rPr lang="en-US" b="1" dirty="0" smtClean="0">
                <a:solidFill>
                  <a:srgbClr val="00B0F0"/>
                </a:solidFill>
              </a:rPr>
              <a:t>associated </a:t>
            </a:r>
            <a:r>
              <a:rPr lang="en-US" b="1" dirty="0">
                <a:solidFill>
                  <a:srgbClr val="00B0F0"/>
                </a:solidFill>
              </a:rPr>
              <a:t>with that genre structure before they begin reading. </a:t>
            </a:r>
            <a:endParaRPr lang="en-US" b="1" dirty="0" smtClean="0">
              <a:solidFill>
                <a:srgbClr val="00B0F0"/>
              </a:solidFill>
            </a:endParaRPr>
          </a:p>
          <a:p>
            <a:r>
              <a:rPr lang="en-US" b="1" dirty="0" smtClean="0">
                <a:solidFill>
                  <a:srgbClr val="7030A0"/>
                </a:solidFill>
              </a:rPr>
              <a:t>If </a:t>
            </a:r>
            <a:r>
              <a:rPr lang="en-US" b="1" dirty="0">
                <a:solidFill>
                  <a:srgbClr val="7030A0"/>
                </a:solidFill>
              </a:rPr>
              <a:t>the content does not match reader expectations based on the genre structure (the visual organization of the text), </a:t>
            </a:r>
            <a:r>
              <a:rPr lang="en-US" b="1" dirty="0" smtClean="0">
                <a:solidFill>
                  <a:srgbClr val="7030A0"/>
                </a:solidFill>
              </a:rPr>
              <a:t>they </a:t>
            </a:r>
            <a:r>
              <a:rPr lang="en-US" b="1" dirty="0">
                <a:solidFill>
                  <a:srgbClr val="7030A0"/>
                </a:solidFill>
              </a:rPr>
              <a:t>will be </a:t>
            </a:r>
            <a:r>
              <a:rPr lang="en-US" b="1" dirty="0" smtClean="0">
                <a:solidFill>
                  <a:srgbClr val="7030A0"/>
                </a:solidFill>
              </a:rPr>
              <a:t>confused </a:t>
            </a:r>
            <a:r>
              <a:rPr lang="en-US" b="1" dirty="0">
                <a:solidFill>
                  <a:srgbClr val="7030A0"/>
                </a:solidFill>
              </a:rPr>
              <a:t>(and </a:t>
            </a:r>
            <a:r>
              <a:rPr lang="en-US" b="1" dirty="0" smtClean="0">
                <a:solidFill>
                  <a:srgbClr val="7030A0"/>
                </a:solidFill>
              </a:rPr>
              <a:t>perhaps </a:t>
            </a:r>
            <a:r>
              <a:rPr lang="en-US" b="1" dirty="0">
                <a:solidFill>
                  <a:srgbClr val="7030A0"/>
                </a:solidFill>
              </a:rPr>
              <a:t>annoyed</a:t>
            </a:r>
            <a:r>
              <a:rPr lang="en-US" b="1" dirty="0" smtClean="0">
                <a:solidFill>
                  <a:srgbClr val="7030A0"/>
                </a:solidFill>
              </a:rPr>
              <a:t>).</a:t>
            </a:r>
            <a:endParaRPr lang="en-US" b="1" dirty="0">
              <a:solidFill>
                <a:srgbClr val="7030A0"/>
              </a:solidFill>
            </a:endParaRPr>
          </a:p>
        </p:txBody>
      </p:sp>
    </p:spTree>
    <p:extLst>
      <p:ext uri="{BB962C8B-B14F-4D97-AF65-F5344CB8AC3E}">
        <p14:creationId xmlns:p14="http://schemas.microsoft.com/office/powerpoint/2010/main" val="23222289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Rhetorical </a:t>
            </a:r>
            <a:r>
              <a:rPr lang="en-US" b="1" dirty="0">
                <a:solidFill>
                  <a:srgbClr val="FF0000"/>
                </a:solidFill>
              </a:rPr>
              <a:t>conventions</a:t>
            </a:r>
          </a:p>
        </p:txBody>
      </p:sp>
      <p:sp>
        <p:nvSpPr>
          <p:cNvPr id="3" name="Content Placeholder 2"/>
          <p:cNvSpPr>
            <a:spLocks noGrp="1"/>
          </p:cNvSpPr>
          <p:nvPr>
            <p:ph idx="1"/>
          </p:nvPr>
        </p:nvSpPr>
        <p:spPr/>
        <p:txBody>
          <a:bodyPr>
            <a:normAutofit/>
          </a:bodyPr>
          <a:lstStyle/>
          <a:p>
            <a:r>
              <a:rPr lang="en-US" b="1" dirty="0">
                <a:solidFill>
                  <a:srgbClr val="00B0F0"/>
                </a:solidFill>
              </a:rPr>
              <a:t>Each genre also has rhetorical conventions—that is, expected </a:t>
            </a:r>
            <a:r>
              <a:rPr lang="en-US" b="1" dirty="0" smtClean="0">
                <a:solidFill>
                  <a:srgbClr val="00B0F0"/>
                </a:solidFill>
              </a:rPr>
              <a:t>purposes </a:t>
            </a:r>
            <a:r>
              <a:rPr lang="en-US" b="1" dirty="0">
                <a:solidFill>
                  <a:srgbClr val="00B0F0"/>
                </a:solidFill>
              </a:rPr>
              <a:t>or aims that the type of document will accomplish</a:t>
            </a:r>
            <a:r>
              <a:rPr lang="en-US" b="1" dirty="0" smtClean="0">
                <a:solidFill>
                  <a:srgbClr val="00B0F0"/>
                </a:solidFill>
              </a:rPr>
              <a:t>.</a:t>
            </a:r>
          </a:p>
          <a:p>
            <a:r>
              <a:rPr lang="en-US" b="1" dirty="0"/>
              <a:t>A writer would never choose to present </a:t>
            </a:r>
            <a:r>
              <a:rPr lang="en-US" b="1" dirty="0">
                <a:solidFill>
                  <a:srgbClr val="7030A0"/>
                </a:solidFill>
              </a:rPr>
              <a:t>a business activity update </a:t>
            </a:r>
            <a:r>
              <a:rPr lang="en-US" b="1" dirty="0"/>
              <a:t>in the form of a </a:t>
            </a:r>
            <a:r>
              <a:rPr lang="en-US" b="1" dirty="0">
                <a:solidFill>
                  <a:srgbClr val="7030A0"/>
                </a:solidFill>
              </a:rPr>
              <a:t>technical manual</a:t>
            </a:r>
            <a:r>
              <a:rPr lang="en-US" b="1" dirty="0"/>
              <a:t>. Nor would a reader consult a manual to gain an activity update. </a:t>
            </a:r>
            <a:r>
              <a:rPr lang="en-US" b="1" dirty="0" smtClean="0"/>
              <a:t>Nor </a:t>
            </a:r>
            <a:r>
              <a:rPr lang="en-US" b="1" dirty="0"/>
              <a:t>would </a:t>
            </a:r>
            <a:r>
              <a:rPr lang="en-US" b="1" dirty="0">
                <a:solidFill>
                  <a:srgbClr val="7030A0"/>
                </a:solidFill>
              </a:rPr>
              <a:t>a mana</a:t>
            </a:r>
            <a:r>
              <a:rPr lang="en-US" b="1" dirty="0"/>
              <a:t>ger expect to find </a:t>
            </a:r>
            <a:r>
              <a:rPr lang="en-US" b="1" dirty="0">
                <a:solidFill>
                  <a:srgbClr val="7030A0"/>
                </a:solidFill>
              </a:rPr>
              <a:t>a set of instructions on creating rich text format in a subordinate’s </a:t>
            </a:r>
            <a:r>
              <a:rPr lang="en-US" b="1" dirty="0" smtClean="0">
                <a:solidFill>
                  <a:srgbClr val="7030A0"/>
                </a:solidFill>
              </a:rPr>
              <a:t>activity </a:t>
            </a:r>
            <a:r>
              <a:rPr lang="en-US" b="1" dirty="0">
                <a:solidFill>
                  <a:srgbClr val="7030A0"/>
                </a:solidFill>
              </a:rPr>
              <a:t>report </a:t>
            </a:r>
            <a:r>
              <a:rPr lang="en-US" b="1" dirty="0"/>
              <a:t>on her monthly accomplishments</a:t>
            </a:r>
            <a:r>
              <a:rPr lang="en-US" b="1" dirty="0" smtClean="0"/>
              <a:t>.</a:t>
            </a:r>
          </a:p>
          <a:p>
            <a:r>
              <a:rPr lang="en-US" b="1" dirty="0" smtClean="0">
                <a:solidFill>
                  <a:srgbClr val="7030A0"/>
                </a:solidFill>
              </a:rPr>
              <a:t>Readers </a:t>
            </a:r>
            <a:r>
              <a:rPr lang="en-US" b="1" dirty="0">
                <a:solidFill>
                  <a:srgbClr val="7030A0"/>
                </a:solidFill>
              </a:rPr>
              <a:t>have expectations about the rhetorical purpose of a genre as well as about its structure. If a document does not meet its anticipated rhetorical conventions, it is a poor </a:t>
            </a:r>
            <a:r>
              <a:rPr lang="en-US" b="1" dirty="0" smtClean="0">
                <a:solidFill>
                  <a:srgbClr val="7030A0"/>
                </a:solidFill>
              </a:rPr>
              <a:t>sample </a:t>
            </a:r>
            <a:r>
              <a:rPr lang="en-US" b="1" dirty="0">
                <a:solidFill>
                  <a:srgbClr val="7030A0"/>
                </a:solidFill>
              </a:rPr>
              <a:t>of that genre. </a:t>
            </a:r>
          </a:p>
        </p:txBody>
      </p:sp>
    </p:spTree>
    <p:extLst>
      <p:ext uri="{BB962C8B-B14F-4D97-AF65-F5344CB8AC3E}">
        <p14:creationId xmlns:p14="http://schemas.microsoft.com/office/powerpoint/2010/main" val="246368750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Organization </a:t>
            </a:r>
            <a:r>
              <a:rPr lang="en-US" b="1" dirty="0">
                <a:solidFill>
                  <a:srgbClr val="FF0000"/>
                </a:solidFill>
              </a:rPr>
              <a:t>and presentation of content</a:t>
            </a:r>
          </a:p>
        </p:txBody>
      </p:sp>
      <p:sp>
        <p:nvSpPr>
          <p:cNvPr id="3" name="Content Placeholder 2"/>
          <p:cNvSpPr>
            <a:spLocks noGrp="1"/>
          </p:cNvSpPr>
          <p:nvPr>
            <p:ph idx="1"/>
          </p:nvPr>
        </p:nvSpPr>
        <p:spPr/>
        <p:txBody>
          <a:bodyPr/>
          <a:lstStyle/>
          <a:p>
            <a:r>
              <a:rPr lang="en-US" b="1" dirty="0">
                <a:solidFill>
                  <a:srgbClr val="00B0F0"/>
                </a:solidFill>
              </a:rPr>
              <a:t>Not only </a:t>
            </a:r>
            <a:r>
              <a:rPr lang="en-US" b="1" dirty="0" smtClean="0">
                <a:solidFill>
                  <a:srgbClr val="00B0F0"/>
                </a:solidFill>
              </a:rPr>
              <a:t>genres </a:t>
            </a:r>
            <a:r>
              <a:rPr lang="en-US" b="1" dirty="0">
                <a:solidFill>
                  <a:srgbClr val="00B0F0"/>
                </a:solidFill>
              </a:rPr>
              <a:t>have structural and rhetorical conventions, they also have rules about how to organize and present the content they contain. </a:t>
            </a:r>
            <a:endParaRPr lang="en-US" b="1" dirty="0" smtClean="0">
              <a:solidFill>
                <a:srgbClr val="00B0F0"/>
              </a:solidFill>
            </a:endParaRPr>
          </a:p>
          <a:p>
            <a:r>
              <a:rPr lang="en-US" b="1" dirty="0" smtClean="0">
                <a:solidFill>
                  <a:srgbClr val="00B0F0"/>
                </a:solidFill>
              </a:rPr>
              <a:t>They should meet </a:t>
            </a:r>
            <a:r>
              <a:rPr lang="en-US" b="1" dirty="0">
                <a:solidFill>
                  <a:srgbClr val="00B0F0"/>
                </a:solidFill>
              </a:rPr>
              <a:t>reader and industry expectations, about presenting the content that readers expect in the order that they expect it for a given genre</a:t>
            </a:r>
            <a:r>
              <a:rPr lang="en-US" b="1" dirty="0" smtClean="0">
                <a:solidFill>
                  <a:srgbClr val="00B0F0"/>
                </a:solidFill>
              </a:rPr>
              <a:t>.</a:t>
            </a:r>
          </a:p>
          <a:p>
            <a:r>
              <a:rPr lang="en-US" b="1" dirty="0" smtClean="0">
                <a:solidFill>
                  <a:srgbClr val="7030A0"/>
                </a:solidFill>
              </a:rPr>
              <a:t>The way the content or information is presented differs from one genre to another.</a:t>
            </a:r>
          </a:p>
          <a:p>
            <a:r>
              <a:rPr lang="en-US" b="1" dirty="0" smtClean="0">
                <a:solidFill>
                  <a:srgbClr val="7030A0"/>
                </a:solidFill>
              </a:rPr>
              <a:t>We should use </a:t>
            </a:r>
            <a:r>
              <a:rPr lang="en-US" b="1" dirty="0">
                <a:solidFill>
                  <a:srgbClr val="7030A0"/>
                </a:solidFill>
              </a:rPr>
              <a:t>a genre</a:t>
            </a:r>
            <a:r>
              <a:rPr lang="en-US" b="1" dirty="0"/>
              <a:t>’s conventions to present information where and how readers expect it.</a:t>
            </a:r>
          </a:p>
        </p:txBody>
      </p:sp>
    </p:spTree>
    <p:extLst>
      <p:ext uri="{BB962C8B-B14F-4D97-AF65-F5344CB8AC3E}">
        <p14:creationId xmlns:p14="http://schemas.microsoft.com/office/powerpoint/2010/main" val="143563574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3436"/>
            <a:ext cx="10515600" cy="1057836"/>
          </a:xfrm>
        </p:spPr>
        <p:txBody>
          <a:bodyPr/>
          <a:lstStyle/>
          <a:p>
            <a:r>
              <a:rPr lang="en-US" b="1" dirty="0" smtClean="0">
                <a:solidFill>
                  <a:srgbClr val="FF0000"/>
                </a:solidFill>
              </a:rPr>
              <a:t>Goals </a:t>
            </a:r>
            <a:r>
              <a:rPr lang="en-US" b="1" dirty="0">
                <a:solidFill>
                  <a:srgbClr val="FF0000"/>
                </a:solidFill>
              </a:rPr>
              <a:t>and function of the genre</a:t>
            </a:r>
          </a:p>
        </p:txBody>
      </p:sp>
      <p:sp>
        <p:nvSpPr>
          <p:cNvPr id="3" name="Content Placeholder 2"/>
          <p:cNvSpPr>
            <a:spLocks noGrp="1"/>
          </p:cNvSpPr>
          <p:nvPr>
            <p:ph idx="1"/>
          </p:nvPr>
        </p:nvSpPr>
        <p:spPr>
          <a:xfrm>
            <a:off x="439271" y="1326776"/>
            <a:ext cx="11564469" cy="5459506"/>
          </a:xfrm>
        </p:spPr>
        <p:txBody>
          <a:bodyPr>
            <a:normAutofit lnSpcReduction="10000"/>
          </a:bodyPr>
          <a:lstStyle/>
          <a:p>
            <a:r>
              <a:rPr lang="en-US" b="1" dirty="0">
                <a:solidFill>
                  <a:srgbClr val="00B0F0"/>
                </a:solidFill>
              </a:rPr>
              <a:t>Each genre has a specific goal (or series of goals) and a function</a:t>
            </a:r>
            <a:r>
              <a:rPr lang="en-US" b="1" dirty="0" smtClean="0">
                <a:solidFill>
                  <a:srgbClr val="00B0F0"/>
                </a:solidFill>
              </a:rPr>
              <a:t>.</a:t>
            </a:r>
          </a:p>
          <a:p>
            <a:r>
              <a:rPr lang="en-US" b="1" dirty="0" smtClean="0"/>
              <a:t> </a:t>
            </a:r>
            <a:r>
              <a:rPr lang="en-US" b="1" dirty="0">
                <a:solidFill>
                  <a:srgbClr val="00B0F0"/>
                </a:solidFill>
              </a:rPr>
              <a:t>In the workplace, genres generally aim to facilitate an activity or the promotion of a product</a:t>
            </a:r>
            <a:r>
              <a:rPr lang="en-US" b="1" dirty="0" smtClean="0">
                <a:solidFill>
                  <a:srgbClr val="00B0F0"/>
                </a:solidFill>
              </a:rPr>
              <a:t>.</a:t>
            </a:r>
          </a:p>
          <a:p>
            <a:r>
              <a:rPr lang="en-US" b="1" dirty="0" smtClean="0">
                <a:solidFill>
                  <a:srgbClr val="00B0F0"/>
                </a:solidFill>
              </a:rPr>
              <a:t> </a:t>
            </a:r>
            <a:r>
              <a:rPr lang="en-US" b="1" dirty="0">
                <a:solidFill>
                  <a:srgbClr val="FF0000"/>
                </a:solidFill>
              </a:rPr>
              <a:t>In contrast, academic genres generally have </a:t>
            </a:r>
            <a:r>
              <a:rPr lang="en-US" b="1" dirty="0" smtClean="0">
                <a:solidFill>
                  <a:srgbClr val="FF0000"/>
                </a:solidFill>
              </a:rPr>
              <a:t>the goal of demonstration </a:t>
            </a:r>
            <a:r>
              <a:rPr lang="en-US" b="1" dirty="0">
                <a:solidFill>
                  <a:srgbClr val="FF0000"/>
                </a:solidFill>
              </a:rPr>
              <a:t>of </a:t>
            </a:r>
            <a:r>
              <a:rPr lang="en-US" b="1" dirty="0" smtClean="0">
                <a:solidFill>
                  <a:srgbClr val="FF0000"/>
                </a:solidFill>
              </a:rPr>
              <a:t>achievement: </a:t>
            </a:r>
            <a:r>
              <a:rPr lang="en-US" b="1" dirty="0">
                <a:solidFill>
                  <a:srgbClr val="FF0000"/>
                </a:solidFill>
              </a:rPr>
              <a:t>they </a:t>
            </a:r>
            <a:r>
              <a:rPr lang="en-US" b="1" dirty="0" smtClean="0">
                <a:solidFill>
                  <a:srgbClr val="FF0000"/>
                </a:solidFill>
              </a:rPr>
              <a:t>demonstrate </a:t>
            </a:r>
            <a:r>
              <a:rPr lang="en-US" b="1" dirty="0">
                <a:solidFill>
                  <a:srgbClr val="FF0000"/>
                </a:solidFill>
              </a:rPr>
              <a:t>learning of a subject matter and knowledge competence</a:t>
            </a:r>
            <a:r>
              <a:rPr lang="en-US" b="1" dirty="0" smtClean="0">
                <a:solidFill>
                  <a:srgbClr val="FF0000"/>
                </a:solidFill>
              </a:rPr>
              <a:t>.</a:t>
            </a:r>
          </a:p>
          <a:p>
            <a:r>
              <a:rPr lang="en-US" b="1" dirty="0"/>
              <a:t>W</a:t>
            </a:r>
            <a:r>
              <a:rPr lang="en-US" b="1" dirty="0" smtClean="0"/>
              <a:t>orkplace </a:t>
            </a:r>
            <a:r>
              <a:rPr lang="en-US" b="1" dirty="0"/>
              <a:t>genres do not have </a:t>
            </a:r>
            <a:r>
              <a:rPr lang="en-US" b="1" dirty="0" smtClean="0"/>
              <a:t> </a:t>
            </a:r>
            <a:r>
              <a:rPr lang="en-US" b="1" dirty="0"/>
              <a:t>a central </a:t>
            </a:r>
            <a:r>
              <a:rPr lang="en-US" b="1" dirty="0" smtClean="0"/>
              <a:t>goal of </a:t>
            </a:r>
            <a:r>
              <a:rPr lang="en-US" b="1" dirty="0"/>
              <a:t>the demonstration of </a:t>
            </a:r>
            <a:r>
              <a:rPr lang="en-US" b="1" dirty="0" smtClean="0"/>
              <a:t>writer’s competence. Rather </a:t>
            </a:r>
            <a:r>
              <a:rPr lang="en-US" b="1" dirty="0" smtClean="0">
                <a:solidFill>
                  <a:srgbClr val="7030A0"/>
                </a:solidFill>
              </a:rPr>
              <a:t>to </a:t>
            </a:r>
            <a:r>
              <a:rPr lang="en-US" b="1" dirty="0">
                <a:solidFill>
                  <a:srgbClr val="7030A0"/>
                </a:solidFill>
              </a:rPr>
              <a:t>achieve action, either by </a:t>
            </a:r>
            <a:r>
              <a:rPr lang="en-US" b="1" dirty="0" smtClean="0">
                <a:solidFill>
                  <a:srgbClr val="7030A0"/>
                </a:solidFill>
              </a:rPr>
              <a:t>consumers </a:t>
            </a:r>
            <a:r>
              <a:rPr lang="en-US" b="1" dirty="0">
                <a:solidFill>
                  <a:srgbClr val="7030A0"/>
                </a:solidFill>
              </a:rPr>
              <a:t>or employees</a:t>
            </a:r>
            <a:r>
              <a:rPr lang="en-US" b="1" dirty="0" smtClean="0">
                <a:solidFill>
                  <a:srgbClr val="7030A0"/>
                </a:solidFill>
              </a:rPr>
              <a:t>.</a:t>
            </a:r>
          </a:p>
          <a:p>
            <a:r>
              <a:rPr lang="en-US" b="1" dirty="0" smtClean="0"/>
              <a:t>Similarly</a:t>
            </a:r>
            <a:r>
              <a:rPr lang="en-US" b="1" dirty="0"/>
              <a:t>, a genre such as </a:t>
            </a:r>
            <a:r>
              <a:rPr lang="en-US" b="1" dirty="0">
                <a:solidFill>
                  <a:srgbClr val="7030A0"/>
                </a:solidFill>
              </a:rPr>
              <a:t>the job application </a:t>
            </a:r>
            <a:r>
              <a:rPr lang="en-US" b="1" dirty="0" smtClean="0">
                <a:solidFill>
                  <a:srgbClr val="7030A0"/>
                </a:solidFill>
              </a:rPr>
              <a:t>functions </a:t>
            </a:r>
            <a:r>
              <a:rPr lang="en-US" b="1" dirty="0">
                <a:solidFill>
                  <a:srgbClr val="7030A0"/>
                </a:solidFill>
              </a:rPr>
              <a:t>as a source of information and </a:t>
            </a:r>
            <a:r>
              <a:rPr lang="en-US" b="1" dirty="0" smtClean="0">
                <a:solidFill>
                  <a:srgbClr val="7030A0"/>
                </a:solidFill>
              </a:rPr>
              <a:t>argument: </a:t>
            </a:r>
            <a:r>
              <a:rPr lang="en-US" b="1" dirty="0">
                <a:solidFill>
                  <a:srgbClr val="7030A0"/>
                </a:solidFill>
              </a:rPr>
              <a:t>writers detail their qualifications for a particular job opening and show readers how they are superior to other applicants for this position.</a:t>
            </a:r>
          </a:p>
        </p:txBody>
      </p:sp>
    </p:spTree>
    <p:extLst>
      <p:ext uri="{BB962C8B-B14F-4D97-AF65-F5344CB8AC3E}">
        <p14:creationId xmlns:p14="http://schemas.microsoft.com/office/powerpoint/2010/main" val="396331202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Genre and activity sets</a:t>
            </a:r>
            <a:endParaRPr lang="en-US" b="1" dirty="0">
              <a:solidFill>
                <a:srgbClr val="FF0000"/>
              </a:solidFill>
            </a:endParaRPr>
          </a:p>
        </p:txBody>
      </p:sp>
      <p:sp>
        <p:nvSpPr>
          <p:cNvPr id="3" name="Content Placeholder 2"/>
          <p:cNvSpPr>
            <a:spLocks noGrp="1"/>
          </p:cNvSpPr>
          <p:nvPr>
            <p:ph idx="1"/>
          </p:nvPr>
        </p:nvSpPr>
        <p:spPr>
          <a:xfrm>
            <a:off x="838200" y="1825625"/>
            <a:ext cx="10515600" cy="4763434"/>
          </a:xfrm>
        </p:spPr>
        <p:txBody>
          <a:bodyPr>
            <a:normAutofit/>
          </a:bodyPr>
          <a:lstStyle/>
          <a:p>
            <a:r>
              <a:rPr lang="en-US" b="1" dirty="0">
                <a:solidFill>
                  <a:srgbClr val="00B0F0"/>
                </a:solidFill>
              </a:rPr>
              <a:t>One way to understand the role that genre plays in workplace, </a:t>
            </a:r>
            <a:r>
              <a:rPr lang="en-US" b="1" dirty="0" smtClean="0">
                <a:solidFill>
                  <a:srgbClr val="00B0F0"/>
                </a:solidFill>
              </a:rPr>
              <a:t>academic, </a:t>
            </a:r>
            <a:r>
              <a:rPr lang="en-US" b="1" dirty="0">
                <a:solidFill>
                  <a:srgbClr val="00B0F0"/>
                </a:solidFill>
              </a:rPr>
              <a:t>and other types of writing is to consider the activities of an organization </a:t>
            </a:r>
            <a:r>
              <a:rPr lang="en-US" b="1" dirty="0" smtClean="0">
                <a:solidFill>
                  <a:srgbClr val="00B0F0"/>
                </a:solidFill>
              </a:rPr>
              <a:t>centered </a:t>
            </a:r>
            <a:r>
              <a:rPr lang="en-US" b="1" dirty="0">
                <a:solidFill>
                  <a:srgbClr val="00B0F0"/>
                </a:solidFill>
              </a:rPr>
              <a:t>around writing. </a:t>
            </a:r>
            <a:endParaRPr lang="en-US" b="1" dirty="0" smtClean="0">
              <a:solidFill>
                <a:srgbClr val="00B0F0"/>
              </a:solidFill>
            </a:endParaRPr>
          </a:p>
          <a:p>
            <a:r>
              <a:rPr lang="en-US" b="1" dirty="0"/>
              <a:t>For example, in education, the </a:t>
            </a:r>
            <a:r>
              <a:rPr lang="en-US" b="1" dirty="0" smtClean="0"/>
              <a:t>goal </a:t>
            </a:r>
            <a:r>
              <a:rPr lang="en-US" b="1" dirty="0"/>
              <a:t>is focused on taking courses, </a:t>
            </a:r>
            <a:r>
              <a:rPr lang="en-US" b="1" dirty="0" smtClean="0"/>
              <a:t>reading </a:t>
            </a:r>
            <a:r>
              <a:rPr lang="en-US" b="1" dirty="0"/>
              <a:t>books and articles, listening to lectures, working on problems, and participating in discussions about the information you’ve learned through reading, listening, and thinking</a:t>
            </a:r>
            <a:r>
              <a:rPr lang="en-US" b="1" dirty="0" smtClean="0"/>
              <a:t>.</a:t>
            </a:r>
          </a:p>
        </p:txBody>
      </p:sp>
    </p:spTree>
    <p:extLst>
      <p:ext uri="{BB962C8B-B14F-4D97-AF65-F5344CB8AC3E}">
        <p14:creationId xmlns:p14="http://schemas.microsoft.com/office/powerpoint/2010/main" val="361340194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endParaRPr lang="en-US" dirty="0"/>
          </a:p>
        </p:txBody>
      </p:sp>
      <p:sp>
        <p:nvSpPr>
          <p:cNvPr id="3" name="Content Placeholder 2"/>
          <p:cNvSpPr>
            <a:spLocks noGrp="1"/>
          </p:cNvSpPr>
          <p:nvPr>
            <p:ph idx="1"/>
          </p:nvPr>
        </p:nvSpPr>
        <p:spPr/>
        <p:txBody>
          <a:bodyPr/>
          <a:lstStyle/>
          <a:p>
            <a:r>
              <a:rPr lang="en-US" b="1" dirty="0"/>
              <a:t>Workplaces resemble educational institutions </a:t>
            </a:r>
            <a:r>
              <a:rPr lang="en-US" b="1" dirty="0" smtClean="0"/>
              <a:t>are </a:t>
            </a:r>
            <a:r>
              <a:rPr lang="en-US" b="1" dirty="0"/>
              <a:t>also activity based, and many of the </a:t>
            </a:r>
            <a:r>
              <a:rPr lang="en-US" b="1" dirty="0" smtClean="0"/>
              <a:t>business activities, </a:t>
            </a:r>
            <a:r>
              <a:rPr lang="en-US" b="1" dirty="0"/>
              <a:t>either of a technical communicator, manager, engineer, or lab technician, take place through writing.</a:t>
            </a:r>
          </a:p>
          <a:p>
            <a:r>
              <a:rPr lang="en-US" b="1" dirty="0" smtClean="0">
                <a:solidFill>
                  <a:srgbClr val="00B0F0"/>
                </a:solidFill>
              </a:rPr>
              <a:t>To </a:t>
            </a:r>
            <a:r>
              <a:rPr lang="en-US" b="1" dirty="0">
                <a:solidFill>
                  <a:srgbClr val="00B0F0"/>
                </a:solidFill>
              </a:rPr>
              <a:t>contribute to the documents that ground an organization’s activities, you need to understand the main genre categories that represent the work being done</a:t>
            </a:r>
            <a:r>
              <a:rPr lang="en-US" b="1" dirty="0" smtClean="0">
                <a:solidFill>
                  <a:srgbClr val="00B0F0"/>
                </a:solidFill>
              </a:rPr>
              <a:t>.</a:t>
            </a:r>
            <a:endParaRPr lang="en-US" b="1" dirty="0">
              <a:solidFill>
                <a:srgbClr val="00B0F0"/>
              </a:solidFill>
            </a:endParaRPr>
          </a:p>
        </p:txBody>
      </p:sp>
    </p:spTree>
    <p:extLst>
      <p:ext uri="{BB962C8B-B14F-4D97-AF65-F5344CB8AC3E}">
        <p14:creationId xmlns:p14="http://schemas.microsoft.com/office/powerpoint/2010/main" val="25533556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2683</TotalTime>
  <Words>3495</Words>
  <Application>Microsoft Office PowerPoint</Application>
  <PresentationFormat>Custom</PresentationFormat>
  <Paragraphs>239</Paragraphs>
  <Slides>47</Slides>
  <Notes>0</Notes>
  <HiddenSlides>0</HiddenSlides>
  <MMClips>0</MMClips>
  <ScaleCrop>false</ScaleCrop>
  <HeadingPairs>
    <vt:vector size="4" baseType="variant">
      <vt:variant>
        <vt:lpstr>Theme</vt:lpstr>
      </vt:variant>
      <vt:variant>
        <vt:i4>1</vt:i4>
      </vt:variant>
      <vt:variant>
        <vt:lpstr>Slide Titles</vt:lpstr>
      </vt:variant>
      <vt:variant>
        <vt:i4>47</vt:i4>
      </vt:variant>
    </vt:vector>
  </HeadingPairs>
  <TitlesOfParts>
    <vt:vector size="48" baseType="lpstr">
      <vt:lpstr>Office Theme</vt:lpstr>
      <vt:lpstr>Communication Techniques</vt:lpstr>
      <vt:lpstr>Syllabus</vt:lpstr>
      <vt:lpstr>Unit 1: Thinking about audience, purpose, and genre</vt:lpstr>
      <vt:lpstr>…</vt:lpstr>
      <vt:lpstr>PowerPoint Presentation</vt:lpstr>
      <vt:lpstr>What is communication?</vt:lpstr>
      <vt:lpstr>Principles of Communication (7 Cs)</vt:lpstr>
      <vt:lpstr>What is technical communication?</vt:lpstr>
      <vt:lpstr>Examples </vt:lpstr>
      <vt:lpstr>How does it differ from other types of writing?</vt:lpstr>
      <vt:lpstr>PowerPoint Presentation</vt:lpstr>
      <vt:lpstr>Models of communication </vt:lpstr>
      <vt:lpstr>James L. Kinneavy’s communication triangle</vt:lpstr>
      <vt:lpstr>Walter H. Beale’s model of communication </vt:lpstr>
      <vt:lpstr>Document analysis  In-class exercise 1.1 </vt:lpstr>
      <vt:lpstr>…</vt:lpstr>
      <vt:lpstr>PowerPoint Presentation</vt:lpstr>
      <vt:lpstr>PowerPoint Presentation</vt:lpstr>
      <vt:lpstr>PowerPoint Presentation</vt:lpstr>
      <vt:lpstr>PowerPoint Presentation</vt:lpstr>
      <vt:lpstr>PowerPoint Presentation</vt:lpstr>
      <vt:lpstr>Users</vt:lpstr>
      <vt:lpstr>Ways of thinking about users/ types of users </vt:lpstr>
      <vt:lpstr>…</vt:lpstr>
      <vt:lpstr>How do you learn about your users?</vt:lpstr>
      <vt:lpstr>To build an inventory of the characteristics consider these factors:</vt:lpstr>
      <vt:lpstr>PowerPoint Presentation</vt:lpstr>
      <vt:lpstr>Do some research</vt:lpstr>
      <vt:lpstr>Purpose: Why are you writing?</vt:lpstr>
      <vt:lpstr>…</vt:lpstr>
      <vt:lpstr>…</vt:lpstr>
      <vt:lpstr>PowerPoint Presentation</vt:lpstr>
      <vt:lpstr>PowerPoint Presentation</vt:lpstr>
      <vt:lpstr>What is Genre?</vt:lpstr>
      <vt:lpstr>PowerPoint Presentation</vt:lpstr>
      <vt:lpstr>Main genres of technical communication </vt:lpstr>
      <vt:lpstr>Why does genre matter?</vt:lpstr>
      <vt:lpstr>How does one analyze a new genre? </vt:lpstr>
      <vt:lpstr>…</vt:lpstr>
      <vt:lpstr>Lab assignment 1.3: analyzing a new genre</vt:lpstr>
      <vt:lpstr>What are genre sets?</vt:lpstr>
      <vt:lpstr>Structural Conventions</vt:lpstr>
      <vt:lpstr>Rhetorical conventions</vt:lpstr>
      <vt:lpstr>Organization and presentation of content</vt:lpstr>
      <vt:lpstr>Goals and function of the genre</vt:lpstr>
      <vt:lpstr>Genre and activity sets</vt:lpstr>
      <vt:lpstr>…</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Communication Techniques</dc:title>
  <dc:creator>Microsoft account</dc:creator>
  <cp:lastModifiedBy>lenovo</cp:lastModifiedBy>
  <cp:revision>393</cp:revision>
  <dcterms:created xsi:type="dcterms:W3CDTF">2023-01-05T15:29:22Z</dcterms:created>
  <dcterms:modified xsi:type="dcterms:W3CDTF">2024-11-17T12:18:38Z</dcterms:modified>
</cp:coreProperties>
</file>