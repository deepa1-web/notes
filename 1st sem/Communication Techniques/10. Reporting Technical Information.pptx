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55" r:id="rId2"/>
    <p:sldId id="513" r:id="rId3"/>
    <p:sldId id="514" r:id="rId4"/>
    <p:sldId id="515" r:id="rId5"/>
    <p:sldId id="516" r:id="rId6"/>
    <p:sldId id="517" r:id="rId7"/>
    <p:sldId id="518" r:id="rId8"/>
    <p:sldId id="519" r:id="rId9"/>
    <p:sldId id="520" r:id="rId10"/>
    <p:sldId id="521" r:id="rId11"/>
    <p:sldId id="522" r:id="rId12"/>
    <p:sldId id="523" r:id="rId13"/>
    <p:sldId id="760" r:id="rId14"/>
    <p:sldId id="524" r:id="rId15"/>
    <p:sldId id="525" r:id="rId16"/>
    <p:sldId id="761" r:id="rId17"/>
    <p:sldId id="762" r:id="rId18"/>
    <p:sldId id="763" r:id="rId19"/>
    <p:sldId id="764" r:id="rId20"/>
    <p:sldId id="527" r:id="rId21"/>
    <p:sldId id="528" r:id="rId22"/>
    <p:sldId id="529" r:id="rId23"/>
    <p:sldId id="530" r:id="rId24"/>
    <p:sldId id="828" r:id="rId25"/>
    <p:sldId id="836" r:id="rId26"/>
    <p:sldId id="837" r:id="rId27"/>
    <p:sldId id="531" r:id="rId28"/>
    <p:sldId id="532" r:id="rId29"/>
    <p:sldId id="829" r:id="rId30"/>
    <p:sldId id="830" r:id="rId31"/>
    <p:sldId id="831" r:id="rId32"/>
    <p:sldId id="832" r:id="rId33"/>
    <p:sldId id="833" r:id="rId34"/>
    <p:sldId id="834" r:id="rId35"/>
    <p:sldId id="835" r:id="rId36"/>
    <p:sldId id="838" r:id="rId37"/>
    <p:sldId id="57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6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73040"/>
          </a:xfrm>
        </p:spPr>
        <p:txBody>
          <a:bodyPr/>
          <a:lstStyle/>
          <a:p>
            <a:r>
              <a:rPr lang="en-US" b="1" dirty="0" smtClean="0">
                <a:solidFill>
                  <a:srgbClr val="FF0000"/>
                </a:solidFill>
                <a:latin typeface="Arial Rounded MT Bold" panose="020F0704030504030204" pitchFamily="34" charset="0"/>
              </a:rPr>
              <a:t>Chapter- Nine- Reporting Technical </a:t>
            </a:r>
            <a:r>
              <a:rPr lang="en-US" b="1" dirty="0">
                <a:solidFill>
                  <a:srgbClr val="FF0000"/>
                </a:solidFill>
                <a:latin typeface="Arial Rounded MT Bold" panose="020F0704030504030204" pitchFamily="34" charset="0"/>
              </a:rPr>
              <a:t>I</a:t>
            </a:r>
            <a:r>
              <a:rPr lang="en-US" b="1" dirty="0" smtClean="0">
                <a:solidFill>
                  <a:srgbClr val="FF0000"/>
                </a:solidFill>
                <a:latin typeface="Arial Rounded MT Bold" panose="020F0704030504030204" pitchFamily="34" charset="0"/>
              </a:rPr>
              <a:t>nformation </a:t>
            </a:r>
            <a:endParaRPr lang="en-US" dirty="0">
              <a:latin typeface="Arial Rounded MT Bold" panose="020F0704030504030204" pitchFamily="34" charset="0"/>
            </a:endParaRPr>
          </a:p>
        </p:txBody>
      </p:sp>
    </p:spTree>
    <p:extLst>
      <p:ext uri="{BB962C8B-B14F-4D97-AF65-F5344CB8AC3E}">
        <p14:creationId xmlns:p14="http://schemas.microsoft.com/office/powerpoint/2010/main" val="4040066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Reporting technical information </a:t>
            </a:r>
            <a:endParaRPr lang="en-US" b="1" dirty="0">
              <a:solidFill>
                <a:srgbClr val="FF0000"/>
              </a:solidFill>
            </a:endParaRPr>
          </a:p>
        </p:txBody>
      </p:sp>
      <p:sp>
        <p:nvSpPr>
          <p:cNvPr id="3" name="Content Placeholder 2"/>
          <p:cNvSpPr>
            <a:spLocks noGrp="1"/>
          </p:cNvSpPr>
          <p:nvPr>
            <p:ph idx="1"/>
          </p:nvPr>
        </p:nvSpPr>
        <p:spPr>
          <a:xfrm>
            <a:off x="838200" y="1825625"/>
            <a:ext cx="11049000" cy="4351338"/>
          </a:xfrm>
        </p:spPr>
        <p:txBody>
          <a:bodyPr>
            <a:normAutofit fontScale="92500"/>
          </a:bodyPr>
          <a:lstStyle/>
          <a:p>
            <a:r>
              <a:rPr lang="en-GB" b="1" dirty="0"/>
              <a:t>A report is a document </a:t>
            </a:r>
            <a:r>
              <a:rPr lang="en-GB" b="1" dirty="0">
                <a:solidFill>
                  <a:srgbClr val="00B0F0"/>
                </a:solidFill>
              </a:rPr>
              <a:t>reporting the status of an activity or project as it </a:t>
            </a:r>
            <a:r>
              <a:rPr lang="en-GB" b="1" dirty="0" smtClean="0">
                <a:solidFill>
                  <a:srgbClr val="00B0F0"/>
                </a:solidFill>
              </a:rPr>
              <a:t>occurred, </a:t>
            </a:r>
            <a:r>
              <a:rPr lang="en-GB" b="1" dirty="0">
                <a:solidFill>
                  <a:srgbClr val="00B0F0"/>
                </a:solidFill>
              </a:rPr>
              <a:t>or after some action has been taken</a:t>
            </a:r>
            <a:r>
              <a:rPr lang="en-GB" b="1" dirty="0"/>
              <a:t>, or when they are concluded.</a:t>
            </a:r>
          </a:p>
          <a:p>
            <a:r>
              <a:rPr lang="en-GB" b="1" dirty="0"/>
              <a:t>Reports are </a:t>
            </a:r>
            <a:r>
              <a:rPr lang="en-GB" b="1" dirty="0">
                <a:solidFill>
                  <a:srgbClr val="00B0F0"/>
                </a:solidFill>
              </a:rPr>
              <a:t>written by specialists/researchers</a:t>
            </a:r>
            <a:r>
              <a:rPr lang="en-GB" b="1" dirty="0"/>
              <a:t> to special/specialist audiences.</a:t>
            </a:r>
          </a:p>
          <a:p>
            <a:r>
              <a:rPr lang="en-GB" b="1" dirty="0"/>
              <a:t>They include </a:t>
            </a:r>
            <a:r>
              <a:rPr lang="en-GB" b="1" dirty="0">
                <a:solidFill>
                  <a:srgbClr val="00B0F0"/>
                </a:solidFill>
              </a:rPr>
              <a:t>detailed information on a topic</a:t>
            </a:r>
            <a:r>
              <a:rPr lang="en-GB" b="1" dirty="0"/>
              <a:t>, or issues. </a:t>
            </a:r>
            <a:endParaRPr lang="en-GB" b="1" dirty="0" smtClean="0"/>
          </a:p>
          <a:p>
            <a:r>
              <a:rPr lang="en-GB" b="1" dirty="0" smtClean="0"/>
              <a:t>Typically</a:t>
            </a:r>
            <a:r>
              <a:rPr lang="en-GB" b="1" dirty="0"/>
              <a:t>, they</a:t>
            </a:r>
            <a:r>
              <a:rPr lang="en-GB" b="1" dirty="0">
                <a:solidFill>
                  <a:srgbClr val="00B0F0"/>
                </a:solidFill>
              </a:rPr>
              <a:t> include findings from research</a:t>
            </a:r>
            <a:r>
              <a:rPr lang="en-GB" b="1" dirty="0"/>
              <a:t>. </a:t>
            </a:r>
            <a:endParaRPr lang="en-GB" b="1" dirty="0" smtClean="0"/>
          </a:p>
          <a:p>
            <a:r>
              <a:rPr lang="en-GB" b="1" dirty="0" smtClean="0"/>
              <a:t>They </a:t>
            </a:r>
            <a:r>
              <a:rPr lang="en-GB" b="1" dirty="0"/>
              <a:t>may be useful for senior managers to make decisions.</a:t>
            </a:r>
          </a:p>
          <a:p>
            <a:r>
              <a:rPr lang="en-GB" b="1" dirty="0" err="1" smtClean="0"/>
              <a:t>Eg</a:t>
            </a:r>
            <a:r>
              <a:rPr lang="en-GB" b="1" dirty="0" smtClean="0"/>
              <a:t> </a:t>
            </a:r>
            <a:r>
              <a:rPr lang="en-GB" b="1" dirty="0"/>
              <a:t>: annual reports, monthly reports, audit report, project report, feasibility </a:t>
            </a:r>
            <a:r>
              <a:rPr lang="en-GB" b="1" dirty="0" smtClean="0"/>
              <a:t>reports/ laboratory report </a:t>
            </a:r>
            <a:r>
              <a:rPr lang="en-GB" b="1" dirty="0"/>
              <a:t>etc.</a:t>
            </a:r>
          </a:p>
          <a:p>
            <a:r>
              <a:rPr lang="en-GB" b="1" dirty="0"/>
              <a:t>A </a:t>
            </a:r>
            <a:r>
              <a:rPr lang="en-GB" b="1" dirty="0">
                <a:solidFill>
                  <a:srgbClr val="00B0F0"/>
                </a:solidFill>
              </a:rPr>
              <a:t>proposal</a:t>
            </a:r>
            <a:r>
              <a:rPr lang="en-GB" b="1" dirty="0"/>
              <a:t> is a detail plan made for carrying out a task.</a:t>
            </a:r>
          </a:p>
          <a:p>
            <a:endParaRPr lang="en-US" b="1" dirty="0"/>
          </a:p>
        </p:txBody>
      </p:sp>
    </p:spTree>
    <p:extLst>
      <p:ext uri="{BB962C8B-B14F-4D97-AF65-F5344CB8AC3E}">
        <p14:creationId xmlns:p14="http://schemas.microsoft.com/office/powerpoint/2010/main" val="26129707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Stages in </a:t>
            </a:r>
            <a:r>
              <a:rPr lang="en-US" b="1" dirty="0">
                <a:solidFill>
                  <a:srgbClr val="FF0000"/>
                </a:solidFill>
              </a:rPr>
              <a:t>W</a:t>
            </a:r>
            <a:r>
              <a:rPr lang="en-US" b="1" dirty="0" smtClean="0">
                <a:solidFill>
                  <a:srgbClr val="FF0000"/>
                </a:solidFill>
              </a:rPr>
              <a:t>riting Report</a:t>
            </a:r>
            <a:endParaRPr lang="en-US" b="1" dirty="0">
              <a:solidFill>
                <a:srgbClr val="FF0000"/>
              </a:solidFill>
            </a:endParaRPr>
          </a:p>
        </p:txBody>
      </p:sp>
      <p:sp>
        <p:nvSpPr>
          <p:cNvPr id="3" name="Content Placeholder 2"/>
          <p:cNvSpPr>
            <a:spLocks noGrp="1"/>
          </p:cNvSpPr>
          <p:nvPr>
            <p:ph idx="1"/>
          </p:nvPr>
        </p:nvSpPr>
        <p:spPr>
          <a:xfrm>
            <a:off x="838200" y="1467272"/>
            <a:ext cx="10515600" cy="4351338"/>
          </a:xfrm>
        </p:spPr>
        <p:txBody>
          <a:bodyPr>
            <a:noAutofit/>
          </a:bodyPr>
          <a:lstStyle/>
          <a:p>
            <a:r>
              <a:rPr lang="en-US" sz="2400" b="1" dirty="0">
                <a:solidFill>
                  <a:srgbClr val="00B0F0"/>
                </a:solidFill>
              </a:rPr>
              <a:t>Clarifying Your Terms of Reference</a:t>
            </a:r>
            <a:r>
              <a:rPr lang="en-US" sz="2400" dirty="0">
                <a:solidFill>
                  <a:srgbClr val="00B0F0"/>
                </a:solidFill>
              </a:rPr>
              <a:t>:</a:t>
            </a:r>
            <a:r>
              <a:rPr lang="en-US" sz="2400" dirty="0"/>
              <a:t> Define the purpose, scope, </a:t>
            </a:r>
            <a:r>
              <a:rPr lang="en-US" sz="2400" dirty="0" smtClean="0"/>
              <a:t>audience </a:t>
            </a:r>
            <a:r>
              <a:rPr lang="en-US" sz="2400" dirty="0"/>
              <a:t>and key questions of the report.</a:t>
            </a:r>
          </a:p>
          <a:p>
            <a:r>
              <a:rPr lang="en-US" sz="2400" b="1" dirty="0">
                <a:solidFill>
                  <a:srgbClr val="00B0F0"/>
                </a:solidFill>
              </a:rPr>
              <a:t>Planning Your Work</a:t>
            </a:r>
            <a:r>
              <a:rPr lang="en-US" sz="2400" dirty="0">
                <a:solidFill>
                  <a:srgbClr val="00B0F0"/>
                </a:solidFill>
              </a:rPr>
              <a:t>:</a:t>
            </a:r>
            <a:r>
              <a:rPr lang="en-US" sz="2400" dirty="0"/>
              <a:t> Outline steps, set timelines, allocate </a:t>
            </a:r>
            <a:r>
              <a:rPr lang="en-US" sz="2400" dirty="0" smtClean="0"/>
              <a:t>resources and </a:t>
            </a:r>
            <a:r>
              <a:rPr lang="en-US" sz="2400" dirty="0"/>
              <a:t>decide the report's structure.</a:t>
            </a:r>
          </a:p>
          <a:p>
            <a:r>
              <a:rPr lang="en-US" sz="2400" b="1" dirty="0">
                <a:solidFill>
                  <a:srgbClr val="00B0F0"/>
                </a:solidFill>
              </a:rPr>
              <a:t>Collecting Your Information</a:t>
            </a:r>
            <a:r>
              <a:rPr lang="en-US" sz="2400" dirty="0">
                <a:solidFill>
                  <a:srgbClr val="00B0F0"/>
                </a:solidFill>
              </a:rPr>
              <a:t>:</a:t>
            </a:r>
            <a:r>
              <a:rPr lang="en-US" sz="2400" dirty="0"/>
              <a:t> Gather credible data using suitable methods and ensure it aligns with the report's purpose.</a:t>
            </a:r>
          </a:p>
          <a:p>
            <a:r>
              <a:rPr lang="en-US" sz="2400" b="1" dirty="0">
                <a:solidFill>
                  <a:srgbClr val="00B0F0"/>
                </a:solidFill>
              </a:rPr>
              <a:t>Organizing and Structuring Your Information</a:t>
            </a:r>
            <a:r>
              <a:rPr lang="en-US" sz="2400" dirty="0">
                <a:solidFill>
                  <a:srgbClr val="00B0F0"/>
                </a:solidFill>
              </a:rPr>
              <a:t>:</a:t>
            </a:r>
            <a:r>
              <a:rPr lang="en-US" sz="2400" dirty="0"/>
              <a:t> Arrange information logically and use headings and subheadings for clarity.</a:t>
            </a:r>
          </a:p>
          <a:p>
            <a:r>
              <a:rPr lang="en-US" sz="2400" b="1" dirty="0">
                <a:solidFill>
                  <a:srgbClr val="00B0F0"/>
                </a:solidFill>
              </a:rPr>
              <a:t>Writing the First Draft</a:t>
            </a:r>
            <a:r>
              <a:rPr lang="en-US" sz="2400" dirty="0">
                <a:solidFill>
                  <a:srgbClr val="00B0F0"/>
                </a:solidFill>
              </a:rPr>
              <a:t>:</a:t>
            </a:r>
            <a:r>
              <a:rPr lang="en-US" sz="2400" dirty="0"/>
              <a:t> Focus on content over perfection and follow the planned structure while drafting.</a:t>
            </a:r>
          </a:p>
          <a:p>
            <a:r>
              <a:rPr lang="en-US" sz="2400" b="1" dirty="0">
                <a:solidFill>
                  <a:srgbClr val="00B0F0"/>
                </a:solidFill>
              </a:rPr>
              <a:t>Checking and Re-Drafting</a:t>
            </a:r>
            <a:r>
              <a:rPr lang="en-US" sz="2400" dirty="0">
                <a:solidFill>
                  <a:srgbClr val="00B0F0"/>
                </a:solidFill>
              </a:rPr>
              <a:t>:</a:t>
            </a:r>
            <a:r>
              <a:rPr lang="en-US" sz="2400" dirty="0"/>
              <a:t> Review for accuracy, </a:t>
            </a:r>
            <a:r>
              <a:rPr lang="en-US" sz="2400" dirty="0" smtClean="0"/>
              <a:t>coherence </a:t>
            </a:r>
            <a:r>
              <a:rPr lang="en-US" sz="2400" dirty="0"/>
              <a:t>and clarity, then refine and edit based on feedback</a:t>
            </a:r>
            <a:r>
              <a:rPr lang="en-US" sz="2400" dirty="0" smtClean="0"/>
              <a:t>.</a:t>
            </a:r>
            <a:endParaRPr lang="en-US" sz="2400" dirty="0"/>
          </a:p>
        </p:txBody>
      </p:sp>
    </p:spTree>
    <p:extLst>
      <p:ext uri="{BB962C8B-B14F-4D97-AF65-F5344CB8AC3E}">
        <p14:creationId xmlns:p14="http://schemas.microsoft.com/office/powerpoint/2010/main" val="33425610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Types of technical reports</a:t>
            </a:r>
            <a:endParaRPr lang="en-US" b="1" dirty="0">
              <a:solidFill>
                <a:srgbClr val="FF0000"/>
              </a:solidFill>
            </a:endParaRPr>
          </a:p>
        </p:txBody>
      </p:sp>
      <p:sp>
        <p:nvSpPr>
          <p:cNvPr id="3" name="Content Placeholder 2"/>
          <p:cNvSpPr>
            <a:spLocks noGrp="1"/>
          </p:cNvSpPr>
          <p:nvPr>
            <p:ph idx="1"/>
          </p:nvPr>
        </p:nvSpPr>
        <p:spPr/>
        <p:txBody>
          <a:bodyPr/>
          <a:lstStyle/>
          <a:p>
            <a:r>
              <a:rPr lang="en-US" b="1" dirty="0" smtClean="0"/>
              <a:t>The </a:t>
            </a:r>
            <a:r>
              <a:rPr lang="en-US" b="1" dirty="0"/>
              <a:t>status or progress report </a:t>
            </a:r>
          </a:p>
          <a:p>
            <a:r>
              <a:rPr lang="en-US" b="1" dirty="0" smtClean="0"/>
              <a:t>The </a:t>
            </a:r>
            <a:r>
              <a:rPr lang="en-US" b="1" dirty="0"/>
              <a:t>information report or white paper </a:t>
            </a:r>
            <a:endParaRPr lang="en-US" b="1" dirty="0" smtClean="0"/>
          </a:p>
          <a:p>
            <a:r>
              <a:rPr lang="en-US" b="1" dirty="0" smtClean="0"/>
              <a:t>The </a:t>
            </a:r>
            <a:r>
              <a:rPr lang="en-US" b="1" dirty="0"/>
              <a:t>laboratory report </a:t>
            </a:r>
          </a:p>
          <a:p>
            <a:r>
              <a:rPr lang="en-US" b="1" dirty="0"/>
              <a:t>T</a:t>
            </a:r>
            <a:r>
              <a:rPr lang="en-US" b="1" dirty="0" smtClean="0"/>
              <a:t>he </a:t>
            </a:r>
            <a:r>
              <a:rPr lang="en-US" b="1" dirty="0"/>
              <a:t>recommendation report</a:t>
            </a:r>
          </a:p>
        </p:txBody>
      </p:sp>
    </p:spTree>
    <p:extLst>
      <p:ext uri="{BB962C8B-B14F-4D97-AF65-F5344CB8AC3E}">
        <p14:creationId xmlns:p14="http://schemas.microsoft.com/office/powerpoint/2010/main" val="553495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1. Status </a:t>
            </a:r>
            <a:r>
              <a:rPr lang="en-US" b="1" dirty="0">
                <a:solidFill>
                  <a:srgbClr val="FF0000"/>
                </a:solidFill>
              </a:rPr>
              <a:t>or progress reports</a:t>
            </a:r>
          </a:p>
        </p:txBody>
      </p:sp>
      <p:sp>
        <p:nvSpPr>
          <p:cNvPr id="3" name="Content Placeholder 2"/>
          <p:cNvSpPr>
            <a:spLocks noGrp="1"/>
          </p:cNvSpPr>
          <p:nvPr>
            <p:ph idx="1"/>
          </p:nvPr>
        </p:nvSpPr>
        <p:spPr>
          <a:xfrm>
            <a:off x="838200" y="1825624"/>
            <a:ext cx="11147612" cy="4808257"/>
          </a:xfrm>
        </p:spPr>
        <p:txBody>
          <a:bodyPr>
            <a:normAutofit/>
          </a:bodyPr>
          <a:lstStyle/>
          <a:p>
            <a:r>
              <a:rPr lang="en-US" b="1" dirty="0" smtClean="0"/>
              <a:t>Status </a:t>
            </a:r>
            <a:r>
              <a:rPr lang="en-US" b="1" dirty="0"/>
              <a:t>reports are also known as progress or activity </a:t>
            </a:r>
            <a:r>
              <a:rPr lang="en-US" b="1" dirty="0" smtClean="0"/>
              <a:t>reports</a:t>
            </a:r>
          </a:p>
          <a:p>
            <a:r>
              <a:rPr lang="en-US" b="1" dirty="0">
                <a:solidFill>
                  <a:srgbClr val="00B0F0"/>
                </a:solidFill>
              </a:rPr>
              <a:t>Status or progress reports generally focus on the progress of a particular project. </a:t>
            </a:r>
          </a:p>
          <a:p>
            <a:r>
              <a:rPr lang="en-US" b="1" dirty="0" smtClean="0"/>
              <a:t>Progress </a:t>
            </a:r>
            <a:r>
              <a:rPr lang="en-US" b="1" dirty="0"/>
              <a:t>reports are generally used as a way for </a:t>
            </a:r>
            <a:r>
              <a:rPr lang="en-US" b="1" dirty="0">
                <a:solidFill>
                  <a:srgbClr val="00B0F0"/>
                </a:solidFill>
              </a:rPr>
              <a:t>employees to update supervisors on how they have spent their workweek, noting accomplishments on various assigned tasks or alerting managers to potential or real problems that may be </a:t>
            </a:r>
            <a:r>
              <a:rPr lang="en-US" b="1" dirty="0" smtClean="0">
                <a:solidFill>
                  <a:srgbClr val="00B0F0"/>
                </a:solidFill>
              </a:rPr>
              <a:t>awaiting. </a:t>
            </a:r>
          </a:p>
        </p:txBody>
      </p:sp>
    </p:spTree>
    <p:extLst>
      <p:ext uri="{BB962C8B-B14F-4D97-AF65-F5344CB8AC3E}">
        <p14:creationId xmlns:p14="http://schemas.microsoft.com/office/powerpoint/2010/main" val="18214724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Purpose </a:t>
            </a:r>
            <a:r>
              <a:rPr lang="en-US" b="1" dirty="0">
                <a:solidFill>
                  <a:srgbClr val="FF0000"/>
                </a:solidFill>
              </a:rPr>
              <a:t>of </a:t>
            </a:r>
            <a:r>
              <a:rPr lang="en-US" b="1" dirty="0" smtClean="0">
                <a:solidFill>
                  <a:srgbClr val="FF0000"/>
                </a:solidFill>
              </a:rPr>
              <a:t>Status </a:t>
            </a:r>
            <a:r>
              <a:rPr lang="en-US" b="1" dirty="0">
                <a:solidFill>
                  <a:srgbClr val="FF0000"/>
                </a:solidFill>
              </a:rPr>
              <a:t>R</a:t>
            </a:r>
            <a:r>
              <a:rPr lang="en-US" b="1" dirty="0" smtClean="0">
                <a:solidFill>
                  <a:srgbClr val="FF0000"/>
                </a:solidFill>
              </a:rPr>
              <a:t>eport</a:t>
            </a:r>
            <a:endParaRPr lang="en-US" b="1" dirty="0">
              <a:solidFill>
                <a:srgbClr val="FF0000"/>
              </a:solidFill>
            </a:endParaRPr>
          </a:p>
        </p:txBody>
      </p:sp>
      <p:sp>
        <p:nvSpPr>
          <p:cNvPr id="3" name="Content Placeholder 2"/>
          <p:cNvSpPr>
            <a:spLocks noGrp="1"/>
          </p:cNvSpPr>
          <p:nvPr>
            <p:ph idx="1"/>
          </p:nvPr>
        </p:nvSpPr>
        <p:spPr/>
        <p:txBody>
          <a:bodyPr/>
          <a:lstStyle/>
          <a:p>
            <a:pPr>
              <a:buFontTx/>
              <a:buChar char="-"/>
            </a:pPr>
            <a:r>
              <a:rPr lang="en-US" b="1" dirty="0" smtClean="0">
                <a:solidFill>
                  <a:srgbClr val="00B0F0"/>
                </a:solidFill>
              </a:rPr>
              <a:t>To </a:t>
            </a:r>
            <a:r>
              <a:rPr lang="en-US" b="1" dirty="0">
                <a:solidFill>
                  <a:srgbClr val="00B0F0"/>
                </a:solidFill>
              </a:rPr>
              <a:t>update team members and managers on the progress and status of projects within an organization, </a:t>
            </a:r>
            <a:endParaRPr lang="en-US" b="1" dirty="0" smtClean="0">
              <a:solidFill>
                <a:srgbClr val="00B0F0"/>
              </a:solidFill>
            </a:endParaRPr>
          </a:p>
          <a:p>
            <a:pPr>
              <a:buFontTx/>
              <a:buChar char="-"/>
            </a:pPr>
            <a:r>
              <a:rPr lang="en-US" b="1" dirty="0" smtClean="0">
                <a:solidFill>
                  <a:srgbClr val="00B0F0"/>
                </a:solidFill>
              </a:rPr>
              <a:t>To </a:t>
            </a:r>
            <a:r>
              <a:rPr lang="en-US" b="1" dirty="0">
                <a:solidFill>
                  <a:srgbClr val="00B0F0"/>
                </a:solidFill>
              </a:rPr>
              <a:t>show an organization’s /</a:t>
            </a:r>
            <a:r>
              <a:rPr lang="en-US" b="1" dirty="0" smtClean="0">
                <a:solidFill>
                  <a:srgbClr val="00B0F0"/>
                </a:solidFill>
              </a:rPr>
              <a:t>individual’s </a:t>
            </a:r>
            <a:r>
              <a:rPr lang="en-US" b="1" dirty="0">
                <a:solidFill>
                  <a:srgbClr val="00B0F0"/>
                </a:solidFill>
              </a:rPr>
              <a:t>competence in </a:t>
            </a:r>
            <a:r>
              <a:rPr lang="en-US" b="1" dirty="0" smtClean="0">
                <a:solidFill>
                  <a:srgbClr val="00B0F0"/>
                </a:solidFill>
              </a:rPr>
              <a:t>pursuing </a:t>
            </a:r>
            <a:r>
              <a:rPr lang="en-US" b="1" dirty="0">
                <a:solidFill>
                  <a:srgbClr val="00B0F0"/>
                </a:solidFill>
              </a:rPr>
              <a:t>and completing a </a:t>
            </a:r>
            <a:r>
              <a:rPr lang="en-US" b="1" dirty="0" smtClean="0">
                <a:solidFill>
                  <a:srgbClr val="00B0F0"/>
                </a:solidFill>
              </a:rPr>
              <a:t>task</a:t>
            </a:r>
            <a:r>
              <a:rPr lang="en-US" b="1" dirty="0">
                <a:solidFill>
                  <a:srgbClr val="00B0F0"/>
                </a:solidFill>
              </a:rPr>
              <a:t>.</a:t>
            </a:r>
            <a:endParaRPr lang="en-US" b="1" dirty="0" smtClean="0">
              <a:solidFill>
                <a:srgbClr val="00B0F0"/>
              </a:solidFill>
            </a:endParaRPr>
          </a:p>
          <a:p>
            <a:pPr>
              <a:buFontTx/>
              <a:buChar char="-"/>
            </a:pPr>
            <a:r>
              <a:rPr lang="en-US" b="1" dirty="0" smtClean="0">
                <a:solidFill>
                  <a:srgbClr val="00B0F0"/>
                </a:solidFill>
              </a:rPr>
              <a:t>To </a:t>
            </a:r>
            <a:r>
              <a:rPr lang="en-US" b="1" dirty="0">
                <a:solidFill>
                  <a:srgbClr val="00B0F0"/>
                </a:solidFill>
              </a:rPr>
              <a:t>help </a:t>
            </a:r>
            <a:r>
              <a:rPr lang="en-US" b="1" dirty="0" smtClean="0">
                <a:solidFill>
                  <a:srgbClr val="00B0F0"/>
                </a:solidFill>
              </a:rPr>
              <a:t>in conducting </a:t>
            </a:r>
            <a:r>
              <a:rPr lang="en-US" b="1" dirty="0">
                <a:solidFill>
                  <a:srgbClr val="00B0F0"/>
                </a:solidFill>
              </a:rPr>
              <a:t>the </a:t>
            </a:r>
            <a:r>
              <a:rPr lang="en-US" b="1" dirty="0" smtClean="0">
                <a:solidFill>
                  <a:srgbClr val="00B0F0"/>
                </a:solidFill>
              </a:rPr>
              <a:t>work, assessing </a:t>
            </a:r>
            <a:r>
              <a:rPr lang="en-US" b="1" dirty="0">
                <a:solidFill>
                  <a:srgbClr val="00B0F0"/>
                </a:solidFill>
              </a:rPr>
              <a:t>it and plan </a:t>
            </a:r>
            <a:r>
              <a:rPr lang="en-US" b="1" dirty="0" smtClean="0">
                <a:solidFill>
                  <a:srgbClr val="00B0F0"/>
                </a:solidFill>
              </a:rPr>
              <a:t>for future </a:t>
            </a:r>
            <a:r>
              <a:rPr lang="en-US" b="1" dirty="0">
                <a:solidFill>
                  <a:srgbClr val="00B0F0"/>
                </a:solidFill>
              </a:rPr>
              <a:t>work</a:t>
            </a:r>
          </a:p>
        </p:txBody>
      </p:sp>
    </p:spTree>
    <p:extLst>
      <p:ext uri="{BB962C8B-B14F-4D97-AF65-F5344CB8AC3E}">
        <p14:creationId xmlns:p14="http://schemas.microsoft.com/office/powerpoint/2010/main" val="1410467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Content </a:t>
            </a:r>
            <a:r>
              <a:rPr lang="en-US" b="1" dirty="0">
                <a:solidFill>
                  <a:srgbClr val="FF0000"/>
                </a:solidFill>
              </a:rPr>
              <a:t>of status report</a:t>
            </a:r>
          </a:p>
        </p:txBody>
      </p:sp>
      <p:sp>
        <p:nvSpPr>
          <p:cNvPr id="3" name="Content Placeholder 2"/>
          <p:cNvSpPr>
            <a:spLocks noGrp="1"/>
          </p:cNvSpPr>
          <p:nvPr>
            <p:ph idx="1"/>
          </p:nvPr>
        </p:nvSpPr>
        <p:spPr/>
        <p:txBody>
          <a:bodyPr/>
          <a:lstStyle/>
          <a:p>
            <a:r>
              <a:rPr lang="en-US" b="1" dirty="0">
                <a:solidFill>
                  <a:srgbClr val="00B0F0"/>
                </a:solidFill>
              </a:rPr>
              <a:t>It summarizes what has been accomplished. </a:t>
            </a:r>
            <a:endParaRPr lang="en-US" b="1" dirty="0" smtClean="0">
              <a:solidFill>
                <a:srgbClr val="00B0F0"/>
              </a:solidFill>
            </a:endParaRPr>
          </a:p>
          <a:p>
            <a:r>
              <a:rPr lang="en-US" b="1" dirty="0" smtClean="0">
                <a:solidFill>
                  <a:srgbClr val="00B0F0"/>
                </a:solidFill>
              </a:rPr>
              <a:t>It </a:t>
            </a:r>
            <a:r>
              <a:rPr lang="en-US" b="1" dirty="0">
                <a:solidFill>
                  <a:srgbClr val="00B0F0"/>
                </a:solidFill>
              </a:rPr>
              <a:t>supplies information about any problems. </a:t>
            </a:r>
            <a:endParaRPr lang="en-US" b="1" dirty="0" smtClean="0">
              <a:solidFill>
                <a:srgbClr val="00B0F0"/>
              </a:solidFill>
            </a:endParaRPr>
          </a:p>
          <a:p>
            <a:r>
              <a:rPr lang="en-US" b="1" dirty="0" smtClean="0">
                <a:solidFill>
                  <a:srgbClr val="00B0F0"/>
                </a:solidFill>
              </a:rPr>
              <a:t>It </a:t>
            </a:r>
            <a:r>
              <a:rPr lang="en-US" b="1" dirty="0">
                <a:solidFill>
                  <a:srgbClr val="00B0F0"/>
                </a:solidFill>
              </a:rPr>
              <a:t>describes the actions taken to resolve problems. </a:t>
            </a:r>
            <a:endParaRPr lang="en-US" b="1" dirty="0" smtClean="0">
              <a:solidFill>
                <a:srgbClr val="00B0F0"/>
              </a:solidFill>
            </a:endParaRPr>
          </a:p>
          <a:p>
            <a:r>
              <a:rPr lang="en-US" b="1" dirty="0" smtClean="0">
                <a:solidFill>
                  <a:srgbClr val="00B0F0"/>
                </a:solidFill>
              </a:rPr>
              <a:t>It </a:t>
            </a:r>
            <a:r>
              <a:rPr lang="en-US" b="1" dirty="0">
                <a:solidFill>
                  <a:srgbClr val="00B0F0"/>
                </a:solidFill>
              </a:rPr>
              <a:t>outlines the writer’s plans </a:t>
            </a:r>
            <a:r>
              <a:rPr lang="en-US" b="1" dirty="0" smtClean="0">
                <a:solidFill>
                  <a:srgbClr val="00B0F0"/>
                </a:solidFill>
              </a:rPr>
              <a:t>for </a:t>
            </a:r>
            <a:r>
              <a:rPr lang="en-US" b="1" dirty="0">
                <a:solidFill>
                  <a:srgbClr val="00B0F0"/>
                </a:solidFill>
              </a:rPr>
              <a:t>coming weeks.</a:t>
            </a:r>
          </a:p>
        </p:txBody>
      </p:sp>
    </p:spTree>
    <p:extLst>
      <p:ext uri="{BB962C8B-B14F-4D97-AF65-F5344CB8AC3E}">
        <p14:creationId xmlns:p14="http://schemas.microsoft.com/office/powerpoint/2010/main" val="38654255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Format</a:t>
            </a:r>
            <a:endParaRPr lang="en-US" b="1" dirty="0">
              <a:solidFill>
                <a:srgbClr val="FF0000"/>
              </a:solidFill>
            </a:endParaRPr>
          </a:p>
        </p:txBody>
      </p:sp>
      <p:sp>
        <p:nvSpPr>
          <p:cNvPr id="3" name="Content Placeholder 2"/>
          <p:cNvSpPr>
            <a:spLocks noGrp="1"/>
          </p:cNvSpPr>
          <p:nvPr>
            <p:ph idx="1"/>
          </p:nvPr>
        </p:nvSpPr>
        <p:spPr/>
        <p:txBody>
          <a:bodyPr/>
          <a:lstStyle/>
          <a:p>
            <a:r>
              <a:rPr lang="en-US" b="1" dirty="0" smtClean="0"/>
              <a:t>Introduction </a:t>
            </a:r>
          </a:p>
          <a:p>
            <a:r>
              <a:rPr lang="en-US" b="1" dirty="0"/>
              <a:t>Work </a:t>
            </a:r>
            <a:r>
              <a:rPr lang="en-US" b="1" dirty="0" smtClean="0"/>
              <a:t>Completed</a:t>
            </a:r>
          </a:p>
          <a:p>
            <a:r>
              <a:rPr lang="en-US" b="1" dirty="0"/>
              <a:t>Work </a:t>
            </a:r>
            <a:r>
              <a:rPr lang="en-US" b="1" dirty="0" smtClean="0"/>
              <a:t> yet to Complete</a:t>
            </a:r>
          </a:p>
          <a:p>
            <a:r>
              <a:rPr lang="en-US" b="1" dirty="0"/>
              <a:t>Overall Assessment of Progress</a:t>
            </a:r>
          </a:p>
        </p:txBody>
      </p:sp>
    </p:spTree>
    <p:extLst>
      <p:ext uri="{BB962C8B-B14F-4D97-AF65-F5344CB8AC3E}">
        <p14:creationId xmlns:p14="http://schemas.microsoft.com/office/powerpoint/2010/main" val="328122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2732" t="20881" r="35395" b="8659"/>
          <a:stretch/>
        </p:blipFill>
        <p:spPr>
          <a:xfrm>
            <a:off x="259977" y="98612"/>
            <a:ext cx="11815483" cy="6562165"/>
          </a:xfrm>
          <a:prstGeom prst="rect">
            <a:avLst/>
          </a:prstGeom>
          <a:ln>
            <a:noFill/>
          </a:ln>
          <a:effectLst>
            <a:softEdge rad="112500"/>
          </a:effectLst>
        </p:spPr>
      </p:pic>
    </p:spTree>
    <p:extLst>
      <p:ext uri="{BB962C8B-B14F-4D97-AF65-F5344CB8AC3E}">
        <p14:creationId xmlns:p14="http://schemas.microsoft.com/office/powerpoint/2010/main" val="16742425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4621" t="25001" r="36673" b="4538"/>
          <a:stretch/>
        </p:blipFill>
        <p:spPr>
          <a:xfrm>
            <a:off x="744070" y="0"/>
            <a:ext cx="11035553" cy="6857999"/>
          </a:xfrm>
          <a:prstGeom prst="rect">
            <a:avLst/>
          </a:prstGeom>
          <a:ln>
            <a:noFill/>
          </a:ln>
          <a:effectLst>
            <a:softEdge rad="112500"/>
          </a:effectLst>
        </p:spPr>
      </p:pic>
    </p:spTree>
    <p:extLst>
      <p:ext uri="{BB962C8B-B14F-4D97-AF65-F5344CB8AC3E}">
        <p14:creationId xmlns:p14="http://schemas.microsoft.com/office/powerpoint/2010/main" val="35383206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1260" t="26443" r="28097" b="5364"/>
          <a:stretch/>
        </p:blipFill>
        <p:spPr>
          <a:xfrm>
            <a:off x="762000" y="349624"/>
            <a:ext cx="10192871" cy="6329081"/>
          </a:xfrm>
          <a:prstGeom prst="rect">
            <a:avLst/>
          </a:prstGeom>
          <a:ln>
            <a:noFill/>
          </a:ln>
          <a:effectLst>
            <a:softEdge rad="112500"/>
          </a:effectLst>
        </p:spPr>
      </p:pic>
    </p:spTree>
    <p:extLst>
      <p:ext uri="{BB962C8B-B14F-4D97-AF65-F5344CB8AC3E}">
        <p14:creationId xmlns:p14="http://schemas.microsoft.com/office/powerpoint/2010/main" val="37476935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2. White </a:t>
            </a:r>
            <a:r>
              <a:rPr lang="en-US" b="1" dirty="0">
                <a:solidFill>
                  <a:srgbClr val="FF0000"/>
                </a:solidFill>
              </a:rPr>
              <a:t>papers or information reports</a:t>
            </a:r>
          </a:p>
        </p:txBody>
      </p:sp>
      <p:sp>
        <p:nvSpPr>
          <p:cNvPr id="3" name="Content Placeholder 2"/>
          <p:cNvSpPr>
            <a:spLocks noGrp="1"/>
          </p:cNvSpPr>
          <p:nvPr>
            <p:ph idx="1"/>
          </p:nvPr>
        </p:nvSpPr>
        <p:spPr>
          <a:xfrm>
            <a:off x="838199" y="1825625"/>
            <a:ext cx="11013141" cy="4351338"/>
          </a:xfrm>
        </p:spPr>
        <p:txBody>
          <a:bodyPr>
            <a:normAutofit fontScale="92500" lnSpcReduction="10000"/>
          </a:bodyPr>
          <a:lstStyle/>
          <a:p>
            <a:r>
              <a:rPr lang="en-US" b="1" dirty="0"/>
              <a:t>White papers (information reports) are reports that</a:t>
            </a:r>
            <a:r>
              <a:rPr lang="en-US" b="1" dirty="0">
                <a:solidFill>
                  <a:srgbClr val="FF0000"/>
                </a:solidFill>
              </a:rPr>
              <a:t> </a:t>
            </a:r>
            <a:r>
              <a:rPr lang="en-US" b="1" dirty="0">
                <a:solidFill>
                  <a:srgbClr val="00B0F0"/>
                </a:solidFill>
              </a:rPr>
              <a:t>provide information about a particular topic. </a:t>
            </a:r>
            <a:endParaRPr lang="en-US" b="1" dirty="0" smtClean="0">
              <a:solidFill>
                <a:srgbClr val="00B0F0"/>
              </a:solidFill>
            </a:endParaRPr>
          </a:p>
          <a:p>
            <a:r>
              <a:rPr lang="en-US" b="1" dirty="0" smtClean="0">
                <a:solidFill>
                  <a:srgbClr val="00B0F0"/>
                </a:solidFill>
              </a:rPr>
              <a:t>They </a:t>
            </a:r>
            <a:r>
              <a:rPr lang="en-US" b="1" dirty="0">
                <a:solidFill>
                  <a:srgbClr val="00B0F0"/>
                </a:solidFill>
              </a:rPr>
              <a:t>argue a specific position on the issue or </a:t>
            </a:r>
            <a:r>
              <a:rPr lang="en-US" b="1" dirty="0" smtClean="0">
                <a:solidFill>
                  <a:srgbClr val="00B0F0"/>
                </a:solidFill>
              </a:rPr>
              <a:t>provide </a:t>
            </a:r>
            <a:r>
              <a:rPr lang="en-US" b="1" dirty="0">
                <a:solidFill>
                  <a:srgbClr val="00B0F0"/>
                </a:solidFill>
              </a:rPr>
              <a:t>a solution to a problem by introducing </a:t>
            </a:r>
            <a:r>
              <a:rPr lang="en-US" b="1" dirty="0" smtClean="0">
                <a:solidFill>
                  <a:srgbClr val="00B0F0"/>
                </a:solidFill>
              </a:rPr>
              <a:t>innovative </a:t>
            </a:r>
            <a:r>
              <a:rPr lang="en-US" b="1" dirty="0">
                <a:solidFill>
                  <a:srgbClr val="00B0F0"/>
                </a:solidFill>
              </a:rPr>
              <a:t>technology or new products.</a:t>
            </a:r>
            <a:r>
              <a:rPr lang="en-US" b="1" dirty="0">
                <a:solidFill>
                  <a:srgbClr val="FF0000"/>
                </a:solidFill>
              </a:rPr>
              <a:t> </a:t>
            </a:r>
            <a:endParaRPr lang="en-US" b="1" dirty="0" smtClean="0">
              <a:solidFill>
                <a:srgbClr val="FF0000"/>
              </a:solidFill>
            </a:endParaRPr>
          </a:p>
          <a:p>
            <a:r>
              <a:rPr lang="en-US" b="1" dirty="0" smtClean="0"/>
              <a:t>In </a:t>
            </a:r>
            <a:r>
              <a:rPr lang="en-US" b="1" dirty="0"/>
              <a:t>technical fields, especially in the </a:t>
            </a:r>
            <a:r>
              <a:rPr lang="en-US" b="1" dirty="0" smtClean="0"/>
              <a:t>IT industry</a:t>
            </a:r>
            <a:r>
              <a:rPr lang="en-US" b="1" dirty="0"/>
              <a:t>, </a:t>
            </a:r>
            <a:r>
              <a:rPr lang="en-US" b="1" dirty="0">
                <a:solidFill>
                  <a:srgbClr val="00B0F0"/>
                </a:solidFill>
              </a:rPr>
              <a:t>white papers are both technical documents and marketing documents. </a:t>
            </a:r>
            <a:endParaRPr lang="en-US" b="1" dirty="0" smtClean="0">
              <a:solidFill>
                <a:srgbClr val="00B0F0"/>
              </a:solidFill>
            </a:endParaRPr>
          </a:p>
          <a:p>
            <a:r>
              <a:rPr lang="en-US" b="1" dirty="0" smtClean="0"/>
              <a:t>From </a:t>
            </a:r>
            <a:r>
              <a:rPr lang="en-US" b="1" dirty="0"/>
              <a:t>the company’s perspective, their purpose is generally </a:t>
            </a:r>
            <a:r>
              <a:rPr lang="en-US" b="1" dirty="0">
                <a:solidFill>
                  <a:srgbClr val="00B0F0"/>
                </a:solidFill>
              </a:rPr>
              <a:t>threefold:</a:t>
            </a:r>
            <a:r>
              <a:rPr lang="en-US" b="1" dirty="0">
                <a:solidFill>
                  <a:srgbClr val="FF0000"/>
                </a:solidFill>
              </a:rPr>
              <a:t> </a:t>
            </a:r>
            <a:endParaRPr lang="en-US" b="1" dirty="0" smtClean="0">
              <a:solidFill>
                <a:srgbClr val="FF0000"/>
              </a:solidFill>
            </a:endParaRPr>
          </a:p>
          <a:p>
            <a:pPr>
              <a:buFontTx/>
              <a:buChar char="-"/>
            </a:pPr>
            <a:r>
              <a:rPr lang="en-US" b="1" dirty="0">
                <a:solidFill>
                  <a:srgbClr val="0070C0"/>
                </a:solidFill>
              </a:rPr>
              <a:t>T</a:t>
            </a:r>
            <a:r>
              <a:rPr lang="en-US" b="1" dirty="0" smtClean="0">
                <a:solidFill>
                  <a:srgbClr val="0070C0"/>
                </a:solidFill>
              </a:rPr>
              <a:t>o </a:t>
            </a:r>
            <a:r>
              <a:rPr lang="en-US" b="1" dirty="0">
                <a:solidFill>
                  <a:srgbClr val="0070C0"/>
                </a:solidFill>
              </a:rPr>
              <a:t>inform </a:t>
            </a:r>
            <a:r>
              <a:rPr lang="en-US" b="1" dirty="0" smtClean="0">
                <a:solidFill>
                  <a:srgbClr val="0070C0"/>
                </a:solidFill>
              </a:rPr>
              <a:t>readers  </a:t>
            </a:r>
          </a:p>
          <a:p>
            <a:pPr>
              <a:buFontTx/>
              <a:buChar char="-"/>
            </a:pPr>
            <a:r>
              <a:rPr lang="en-US" b="1" dirty="0">
                <a:solidFill>
                  <a:srgbClr val="0070C0"/>
                </a:solidFill>
              </a:rPr>
              <a:t>T</a:t>
            </a:r>
            <a:r>
              <a:rPr lang="en-US" b="1" dirty="0" smtClean="0">
                <a:solidFill>
                  <a:srgbClr val="0070C0"/>
                </a:solidFill>
              </a:rPr>
              <a:t>o </a:t>
            </a:r>
            <a:r>
              <a:rPr lang="en-US" b="1" dirty="0">
                <a:solidFill>
                  <a:srgbClr val="0070C0"/>
                </a:solidFill>
              </a:rPr>
              <a:t>educate them about the advantages of a new product or </a:t>
            </a:r>
            <a:r>
              <a:rPr lang="en-US" b="1" dirty="0" smtClean="0">
                <a:solidFill>
                  <a:srgbClr val="0070C0"/>
                </a:solidFill>
              </a:rPr>
              <a:t>service</a:t>
            </a:r>
            <a:r>
              <a:rPr lang="en-US" b="1" dirty="0">
                <a:solidFill>
                  <a:srgbClr val="0070C0"/>
                </a:solidFill>
              </a:rPr>
              <a:t>.</a:t>
            </a:r>
            <a:r>
              <a:rPr lang="en-US" b="1" dirty="0" smtClean="0">
                <a:solidFill>
                  <a:srgbClr val="0070C0"/>
                </a:solidFill>
              </a:rPr>
              <a:t> </a:t>
            </a:r>
          </a:p>
          <a:p>
            <a:pPr>
              <a:buFontTx/>
              <a:buChar char="-"/>
            </a:pPr>
            <a:r>
              <a:rPr lang="en-US" b="1" dirty="0" smtClean="0">
                <a:solidFill>
                  <a:srgbClr val="0070C0"/>
                </a:solidFill>
              </a:rPr>
              <a:t>To </a:t>
            </a:r>
            <a:r>
              <a:rPr lang="en-US" b="1" dirty="0">
                <a:solidFill>
                  <a:srgbClr val="0070C0"/>
                </a:solidFill>
              </a:rPr>
              <a:t>persuade them that this innovation is the superior solution to a particular </a:t>
            </a:r>
            <a:r>
              <a:rPr lang="en-US" b="1" dirty="0" smtClean="0">
                <a:solidFill>
                  <a:srgbClr val="0070C0"/>
                </a:solidFill>
              </a:rPr>
              <a:t>problem</a:t>
            </a:r>
            <a:endParaRPr lang="en-US" b="1" dirty="0">
              <a:solidFill>
                <a:srgbClr val="0070C0"/>
              </a:solidFill>
            </a:endParaRPr>
          </a:p>
        </p:txBody>
      </p:sp>
    </p:spTree>
    <p:extLst>
      <p:ext uri="{BB962C8B-B14F-4D97-AF65-F5344CB8AC3E}">
        <p14:creationId xmlns:p14="http://schemas.microsoft.com/office/powerpoint/2010/main" val="755482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What </a:t>
            </a:r>
            <a:r>
              <a:rPr lang="en-US" b="1" dirty="0">
                <a:solidFill>
                  <a:srgbClr val="FF0000"/>
                </a:solidFill>
              </a:rPr>
              <a:t>are some useful strategies that will increase the effectiveness of your white paper?</a:t>
            </a:r>
          </a:p>
        </p:txBody>
      </p:sp>
      <p:sp>
        <p:nvSpPr>
          <p:cNvPr id="3" name="Content Placeholder 2"/>
          <p:cNvSpPr>
            <a:spLocks noGrp="1"/>
          </p:cNvSpPr>
          <p:nvPr>
            <p:ph idx="1"/>
          </p:nvPr>
        </p:nvSpPr>
        <p:spPr/>
        <p:txBody>
          <a:bodyPr/>
          <a:lstStyle/>
          <a:p>
            <a:r>
              <a:rPr lang="en-US" b="1" dirty="0" smtClean="0">
                <a:solidFill>
                  <a:srgbClr val="00B0F0"/>
                </a:solidFill>
              </a:rPr>
              <a:t>Summarize </a:t>
            </a:r>
            <a:r>
              <a:rPr lang="en-US" b="1" dirty="0">
                <a:solidFill>
                  <a:srgbClr val="00B0F0"/>
                </a:solidFill>
              </a:rPr>
              <a:t>the key points that newcomers need to know to appreciate the new product or </a:t>
            </a:r>
            <a:r>
              <a:rPr lang="en-US" b="1" dirty="0" smtClean="0">
                <a:solidFill>
                  <a:srgbClr val="00B0F0"/>
                </a:solidFill>
              </a:rPr>
              <a:t>service.</a:t>
            </a:r>
          </a:p>
          <a:p>
            <a:r>
              <a:rPr lang="en-US" b="1" dirty="0">
                <a:solidFill>
                  <a:srgbClr val="00B0F0"/>
                </a:solidFill>
              </a:rPr>
              <a:t>Assume your reader is a newcomer to the </a:t>
            </a:r>
            <a:r>
              <a:rPr lang="en-US" b="1" dirty="0" smtClean="0">
                <a:solidFill>
                  <a:srgbClr val="00B0F0"/>
                </a:solidFill>
              </a:rPr>
              <a:t>subject.</a:t>
            </a:r>
          </a:p>
          <a:p>
            <a:r>
              <a:rPr lang="en-US" b="1" dirty="0">
                <a:solidFill>
                  <a:srgbClr val="00B0F0"/>
                </a:solidFill>
              </a:rPr>
              <a:t>Describe the problem in specific and personalized </a:t>
            </a:r>
            <a:r>
              <a:rPr lang="en-US" b="1" dirty="0" smtClean="0">
                <a:solidFill>
                  <a:srgbClr val="00B0F0"/>
                </a:solidFill>
              </a:rPr>
              <a:t>terms.</a:t>
            </a:r>
          </a:p>
          <a:p>
            <a:r>
              <a:rPr lang="en-US" b="1" dirty="0">
                <a:solidFill>
                  <a:srgbClr val="00B0F0"/>
                </a:solidFill>
              </a:rPr>
              <a:t>In describing how your product or service works, distinguish its </a:t>
            </a:r>
            <a:r>
              <a:rPr lang="en-US" b="1" dirty="0" smtClean="0">
                <a:solidFill>
                  <a:srgbClr val="00B0F0"/>
                </a:solidFill>
              </a:rPr>
              <a:t>dominant features which benefits </a:t>
            </a:r>
            <a:r>
              <a:rPr lang="en-US" b="1" dirty="0">
                <a:solidFill>
                  <a:srgbClr val="00B0F0"/>
                </a:solidFill>
              </a:rPr>
              <a:t>the </a:t>
            </a:r>
            <a:r>
              <a:rPr lang="en-US" b="1" dirty="0" smtClean="0">
                <a:solidFill>
                  <a:srgbClr val="00B0F0"/>
                </a:solidFill>
              </a:rPr>
              <a:t>readers/users.</a:t>
            </a:r>
            <a:endParaRPr lang="en-US" b="1" dirty="0">
              <a:solidFill>
                <a:srgbClr val="00B0F0"/>
              </a:solidFill>
            </a:endParaRPr>
          </a:p>
        </p:txBody>
      </p:sp>
    </p:spTree>
    <p:extLst>
      <p:ext uri="{BB962C8B-B14F-4D97-AF65-F5344CB8AC3E}">
        <p14:creationId xmlns:p14="http://schemas.microsoft.com/office/powerpoint/2010/main" val="13715314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8397" t="22117" r="39802" b="4333"/>
          <a:stretch/>
        </p:blipFill>
        <p:spPr>
          <a:xfrm>
            <a:off x="349624" y="134471"/>
            <a:ext cx="10327341" cy="6517341"/>
          </a:xfrm>
          <a:prstGeom prst="rect">
            <a:avLst/>
          </a:prstGeom>
        </p:spPr>
      </p:pic>
    </p:spTree>
    <p:extLst>
      <p:ext uri="{BB962C8B-B14F-4D97-AF65-F5344CB8AC3E}">
        <p14:creationId xmlns:p14="http://schemas.microsoft.com/office/powerpoint/2010/main" val="3214899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2917" t="27062" r="41771" b="4745"/>
          <a:stretch/>
        </p:blipFill>
        <p:spPr>
          <a:xfrm>
            <a:off x="717176" y="421341"/>
            <a:ext cx="8453718" cy="6436659"/>
          </a:xfrm>
          <a:prstGeom prst="rect">
            <a:avLst/>
          </a:prstGeom>
        </p:spPr>
      </p:pic>
    </p:spTree>
    <p:extLst>
      <p:ext uri="{BB962C8B-B14F-4D97-AF65-F5344CB8AC3E}">
        <p14:creationId xmlns:p14="http://schemas.microsoft.com/office/powerpoint/2010/main" val="33849445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Example</a:t>
            </a:r>
            <a:r>
              <a:rPr lang="en-US" dirty="0" smtClean="0"/>
              <a:t> </a:t>
            </a:r>
            <a:endParaRPr lang="en-US" dirty="0"/>
          </a:p>
        </p:txBody>
      </p:sp>
      <p:pic>
        <p:nvPicPr>
          <p:cNvPr id="4" name="Content Placeholder 3"/>
          <p:cNvPicPr>
            <a:picLocks noGrp="1" noChangeAspect="1"/>
          </p:cNvPicPr>
          <p:nvPr>
            <p:ph idx="1"/>
          </p:nvPr>
        </p:nvPicPr>
        <p:blipFill rotWithShape="1">
          <a:blip r:embed="rId2"/>
          <a:srcRect l="16740" t="21705" r="7585" b="9895"/>
          <a:stretch/>
        </p:blipFill>
        <p:spPr>
          <a:xfrm>
            <a:off x="681318" y="1568825"/>
            <a:ext cx="10157011" cy="5127810"/>
          </a:xfrm>
          <a:prstGeom prst="rect">
            <a:avLst/>
          </a:prstGeom>
          <a:ln>
            <a:noFill/>
          </a:ln>
          <a:effectLst>
            <a:softEdge rad="112500"/>
          </a:effectLst>
        </p:spPr>
      </p:pic>
    </p:spTree>
    <p:extLst>
      <p:ext uri="{BB962C8B-B14F-4D97-AF65-F5344CB8AC3E}">
        <p14:creationId xmlns:p14="http://schemas.microsoft.com/office/powerpoint/2010/main" val="27080823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36442" t="26032" r="25663" b="10514"/>
          <a:stretch/>
        </p:blipFill>
        <p:spPr>
          <a:xfrm>
            <a:off x="1102660" y="206188"/>
            <a:ext cx="9152964" cy="6571129"/>
          </a:xfrm>
          <a:prstGeom prst="rect">
            <a:avLst/>
          </a:prstGeom>
          <a:ln>
            <a:noFill/>
          </a:ln>
          <a:effectLst>
            <a:softEdge rad="112500"/>
          </a:effectLst>
        </p:spPr>
      </p:pic>
    </p:spTree>
    <p:extLst>
      <p:ext uri="{BB962C8B-B14F-4D97-AF65-F5344CB8AC3E}">
        <p14:creationId xmlns:p14="http://schemas.microsoft.com/office/powerpoint/2010/main" val="17553029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3148" t="17790" r="28561" b="12780"/>
          <a:stretch/>
        </p:blipFill>
        <p:spPr>
          <a:xfrm>
            <a:off x="0" y="134470"/>
            <a:ext cx="11609294" cy="6615953"/>
          </a:xfrm>
          <a:prstGeom prst="rect">
            <a:avLst/>
          </a:prstGeom>
          <a:ln>
            <a:noFill/>
          </a:ln>
          <a:effectLst>
            <a:softEdge rad="112500"/>
          </a:effectLst>
        </p:spPr>
      </p:pic>
    </p:spTree>
    <p:extLst>
      <p:ext uri="{BB962C8B-B14F-4D97-AF65-F5344CB8AC3E}">
        <p14:creationId xmlns:p14="http://schemas.microsoft.com/office/powerpoint/2010/main" val="11415776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3843" t="41071" r="28677" b="34618"/>
          <a:stretch/>
        </p:blipFill>
        <p:spPr>
          <a:xfrm>
            <a:off x="735107" y="1093695"/>
            <a:ext cx="10578353" cy="2886634"/>
          </a:xfrm>
          <a:prstGeom prst="rect">
            <a:avLst/>
          </a:prstGeom>
          <a:ln>
            <a:noFill/>
          </a:ln>
          <a:effectLst>
            <a:softEdge rad="112500"/>
          </a:effectLst>
        </p:spPr>
      </p:pic>
    </p:spTree>
    <p:extLst>
      <p:ext uri="{BB962C8B-B14F-4D97-AF65-F5344CB8AC3E}">
        <p14:creationId xmlns:p14="http://schemas.microsoft.com/office/powerpoint/2010/main" val="1501938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3. The </a:t>
            </a:r>
            <a:r>
              <a:rPr lang="en-US" b="1" dirty="0">
                <a:solidFill>
                  <a:srgbClr val="FF0000"/>
                </a:solidFill>
              </a:rPr>
              <a:t>L</a:t>
            </a:r>
            <a:r>
              <a:rPr lang="en-US" b="1" dirty="0" smtClean="0">
                <a:solidFill>
                  <a:srgbClr val="FF0000"/>
                </a:solidFill>
              </a:rPr>
              <a:t>aboratory </a:t>
            </a:r>
            <a:r>
              <a:rPr lang="en-US" b="1" dirty="0">
                <a:solidFill>
                  <a:srgbClr val="FF0000"/>
                </a:solidFill>
              </a:rPr>
              <a:t>R</a:t>
            </a:r>
            <a:r>
              <a:rPr lang="en-US" b="1" dirty="0" smtClean="0">
                <a:solidFill>
                  <a:srgbClr val="FF0000"/>
                </a:solidFill>
              </a:rPr>
              <a:t>eport</a:t>
            </a:r>
            <a:endParaRPr lang="en-US" b="1"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b="1" dirty="0"/>
              <a:t>Each field that uses the laboratory report has its own specific </a:t>
            </a:r>
            <a:r>
              <a:rPr lang="en-US" b="1" dirty="0" smtClean="0"/>
              <a:t>requirements </a:t>
            </a:r>
            <a:r>
              <a:rPr lang="en-US" b="1" dirty="0"/>
              <a:t>about how to write one well. </a:t>
            </a:r>
            <a:endParaRPr lang="en-US" b="1" dirty="0" smtClean="0"/>
          </a:p>
          <a:p>
            <a:pPr marL="0" indent="0">
              <a:buNone/>
            </a:pPr>
            <a:r>
              <a:rPr lang="en-US" b="1" dirty="0"/>
              <a:t>T</a:t>
            </a:r>
            <a:r>
              <a:rPr lang="en-US" b="1" dirty="0" smtClean="0"/>
              <a:t>he </a:t>
            </a:r>
            <a:r>
              <a:rPr lang="en-US" b="1" dirty="0"/>
              <a:t>initial step that directly </a:t>
            </a:r>
            <a:r>
              <a:rPr lang="en-US" b="1" dirty="0" smtClean="0"/>
              <a:t>affects report </a:t>
            </a:r>
            <a:r>
              <a:rPr lang="en-US" b="1" dirty="0"/>
              <a:t>quality is </a:t>
            </a:r>
            <a:r>
              <a:rPr lang="en-US" b="1" dirty="0">
                <a:solidFill>
                  <a:srgbClr val="00B0F0"/>
                </a:solidFill>
              </a:rPr>
              <a:t>how well you record your experiment in the laboratory notebook while doing the experiment. </a:t>
            </a:r>
            <a:endParaRPr lang="en-US" b="1" dirty="0" smtClean="0">
              <a:solidFill>
                <a:srgbClr val="00B0F0"/>
              </a:solidFill>
            </a:endParaRPr>
          </a:p>
          <a:p>
            <a:r>
              <a:rPr lang="en-US" b="1" dirty="0">
                <a:solidFill>
                  <a:srgbClr val="00B0F0"/>
                </a:solidFill>
              </a:rPr>
              <a:t>A laboratory report helps students practice experiments, use equipment, perform lab </a:t>
            </a:r>
            <a:r>
              <a:rPr lang="en-US" b="1" dirty="0" smtClean="0">
                <a:solidFill>
                  <a:srgbClr val="00B0F0"/>
                </a:solidFill>
              </a:rPr>
              <a:t>activities and </a:t>
            </a:r>
            <a:r>
              <a:rPr lang="en-US" b="1" dirty="0">
                <a:solidFill>
                  <a:srgbClr val="00B0F0"/>
                </a:solidFill>
              </a:rPr>
              <a:t>present results in written form</a:t>
            </a:r>
            <a:r>
              <a:rPr lang="en-US" b="1" dirty="0" smtClean="0">
                <a:solidFill>
                  <a:srgbClr val="00B0F0"/>
                </a:solidFill>
              </a:rPr>
              <a:t>. </a:t>
            </a:r>
          </a:p>
          <a:p>
            <a:r>
              <a:rPr lang="en-US" dirty="0" smtClean="0"/>
              <a:t>lab </a:t>
            </a:r>
            <a:r>
              <a:rPr lang="en-US" dirty="0"/>
              <a:t>reports for school focus on </a:t>
            </a:r>
            <a:r>
              <a:rPr lang="en-US" dirty="0">
                <a:solidFill>
                  <a:srgbClr val="00B0F0"/>
                </a:solidFill>
              </a:rPr>
              <a:t>creating new knowledge</a:t>
            </a:r>
            <a:r>
              <a:rPr lang="en-US" dirty="0"/>
              <a:t> for the student rather than demonstrating a gap in existing knowledge.</a:t>
            </a:r>
            <a:endParaRPr lang="en-US" b="1" dirty="0" smtClean="0">
              <a:solidFill>
                <a:srgbClr val="C00000"/>
              </a:solidFill>
            </a:endParaRPr>
          </a:p>
        </p:txBody>
      </p:sp>
    </p:spTree>
    <p:extLst>
      <p:ext uri="{BB962C8B-B14F-4D97-AF65-F5344CB8AC3E}">
        <p14:creationId xmlns:p14="http://schemas.microsoft.com/office/powerpoint/2010/main" val="32493900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The </a:t>
            </a:r>
            <a:r>
              <a:rPr lang="en-US" b="1" dirty="0">
                <a:solidFill>
                  <a:srgbClr val="FF0000"/>
                </a:solidFill>
              </a:rPr>
              <a:t>L</a:t>
            </a:r>
            <a:r>
              <a:rPr lang="en-US" b="1" dirty="0" smtClean="0">
                <a:solidFill>
                  <a:srgbClr val="FF0000"/>
                </a:solidFill>
              </a:rPr>
              <a:t>aboratory Notebook</a:t>
            </a:r>
            <a:endParaRPr lang="en-US" b="1"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b="1" dirty="0"/>
              <a:t>Experimental descriptions </a:t>
            </a:r>
            <a:r>
              <a:rPr lang="en-US" b="1" dirty="0" smtClean="0"/>
              <a:t> </a:t>
            </a:r>
            <a:r>
              <a:rPr lang="en-US" b="1" dirty="0"/>
              <a:t>in the laboratory </a:t>
            </a:r>
            <a:r>
              <a:rPr lang="en-US" b="1" dirty="0" smtClean="0"/>
              <a:t>notebook.</a:t>
            </a:r>
          </a:p>
          <a:p>
            <a:r>
              <a:rPr lang="en-US" b="1" dirty="0">
                <a:solidFill>
                  <a:srgbClr val="00B0F0"/>
                </a:solidFill>
              </a:rPr>
              <a:t>Laboratory reports rely on experimental evidence documented in a notebook, making their quality dependent on the accuracy of those records.</a:t>
            </a:r>
          </a:p>
          <a:p>
            <a:r>
              <a:rPr lang="en-US" dirty="0" smtClean="0"/>
              <a:t>The </a:t>
            </a:r>
            <a:r>
              <a:rPr lang="en-US" dirty="0"/>
              <a:t>notebook is critical for scientific </a:t>
            </a:r>
            <a:r>
              <a:rPr lang="en-US" dirty="0" smtClean="0"/>
              <a:t>integrity and </a:t>
            </a:r>
            <a:r>
              <a:rPr lang="en-US" dirty="0"/>
              <a:t>accuracy should be maintained. </a:t>
            </a:r>
            <a:endParaRPr lang="en-US" dirty="0" smtClean="0"/>
          </a:p>
          <a:p>
            <a:r>
              <a:rPr lang="en-US" dirty="0" smtClean="0"/>
              <a:t>Accurate </a:t>
            </a:r>
            <a:r>
              <a:rPr lang="en-US" dirty="0"/>
              <a:t>and truthful records are crucial evidence in legal disputes over intellectual property and patent issues.</a:t>
            </a:r>
            <a:br>
              <a:rPr lang="en-US" dirty="0"/>
            </a:br>
            <a:r>
              <a:rPr lang="en-US" dirty="0"/>
              <a:t/>
            </a:r>
            <a:br>
              <a:rPr lang="en-US" dirty="0"/>
            </a:br>
            <a:r>
              <a:rPr lang="en-US" b="1" dirty="0" smtClean="0">
                <a:solidFill>
                  <a:srgbClr val="C00000"/>
                </a:solidFill>
              </a:rPr>
              <a:t>While </a:t>
            </a:r>
            <a:r>
              <a:rPr lang="en-US" b="1" dirty="0">
                <a:solidFill>
                  <a:srgbClr val="C00000"/>
                </a:solidFill>
              </a:rPr>
              <a:t>you are conducting the experiment, you should be recording clear and detailed notes about the following: </a:t>
            </a:r>
            <a:endParaRPr lang="en-US" b="1" dirty="0" smtClean="0">
              <a:solidFill>
                <a:srgbClr val="C00000"/>
              </a:solidFill>
            </a:endParaRPr>
          </a:p>
          <a:p>
            <a:pPr>
              <a:buFontTx/>
              <a:buChar char="-"/>
            </a:pPr>
            <a:r>
              <a:rPr lang="en-US" b="1" dirty="0" smtClean="0"/>
              <a:t>Your </a:t>
            </a:r>
            <a:r>
              <a:rPr lang="en-US" b="1" dirty="0"/>
              <a:t>actions </a:t>
            </a:r>
            <a:endParaRPr lang="en-US" b="1" dirty="0" smtClean="0"/>
          </a:p>
          <a:p>
            <a:pPr>
              <a:buFontTx/>
              <a:buChar char="-"/>
            </a:pPr>
            <a:r>
              <a:rPr lang="en-US" b="1" dirty="0" smtClean="0"/>
              <a:t>Your </a:t>
            </a:r>
            <a:r>
              <a:rPr lang="en-US" b="1" dirty="0"/>
              <a:t>observations </a:t>
            </a:r>
            <a:endParaRPr lang="en-US" b="1" dirty="0" smtClean="0"/>
          </a:p>
          <a:p>
            <a:pPr>
              <a:buFontTx/>
              <a:buChar char="-"/>
            </a:pPr>
            <a:r>
              <a:rPr lang="en-US" b="1" dirty="0" smtClean="0"/>
              <a:t>Your </a:t>
            </a:r>
            <a:r>
              <a:rPr lang="en-US" b="1" dirty="0"/>
              <a:t>thoughts</a:t>
            </a:r>
          </a:p>
        </p:txBody>
      </p:sp>
    </p:spTree>
    <p:extLst>
      <p:ext uri="{BB962C8B-B14F-4D97-AF65-F5344CB8AC3E}">
        <p14:creationId xmlns:p14="http://schemas.microsoft.com/office/powerpoint/2010/main" val="37860030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rPr>
              <a:t>Your laboratory notebook should have the following qualities</a:t>
            </a:r>
          </a:p>
        </p:txBody>
      </p:sp>
      <p:sp>
        <p:nvSpPr>
          <p:cNvPr id="3" name="Content Placeholder 2"/>
          <p:cNvSpPr>
            <a:spLocks noGrp="1"/>
          </p:cNvSpPr>
          <p:nvPr>
            <p:ph idx="1"/>
          </p:nvPr>
        </p:nvSpPr>
        <p:spPr/>
        <p:txBody>
          <a:bodyPr/>
          <a:lstStyle/>
          <a:p>
            <a:r>
              <a:rPr lang="en-US" b="1" dirty="0"/>
              <a:t>It should be a </a:t>
            </a:r>
            <a:r>
              <a:rPr lang="en-US" b="1" dirty="0" smtClean="0"/>
              <a:t>bound/certain </a:t>
            </a:r>
            <a:r>
              <a:rPr lang="en-US" b="1" dirty="0"/>
              <a:t>volume. </a:t>
            </a:r>
            <a:endParaRPr lang="en-US" b="1" dirty="0" smtClean="0"/>
          </a:p>
          <a:p>
            <a:r>
              <a:rPr lang="en-US" b="1" dirty="0" smtClean="0"/>
              <a:t>Experts </a:t>
            </a:r>
            <a:r>
              <a:rPr lang="en-US" b="1" dirty="0"/>
              <a:t>recommend that you use a bound notebook</a:t>
            </a:r>
            <a:r>
              <a:rPr lang="en-US" b="1" dirty="0" smtClean="0"/>
              <a:t>.</a:t>
            </a:r>
          </a:p>
          <a:p>
            <a:r>
              <a:rPr lang="en-US" b="1" dirty="0" smtClean="0"/>
              <a:t>Don’t </a:t>
            </a:r>
            <a:r>
              <a:rPr lang="en-US" b="1" dirty="0"/>
              <a:t>use a loose-leaf binder for your notebook because the pages can fall out easily or be moved out of sequence. </a:t>
            </a:r>
            <a:endParaRPr lang="en-US" b="1" dirty="0" smtClean="0"/>
          </a:p>
          <a:p>
            <a:r>
              <a:rPr lang="en-US" b="1" dirty="0" smtClean="0"/>
              <a:t>Don’t </a:t>
            </a:r>
            <a:r>
              <a:rPr lang="en-US" b="1" dirty="0"/>
              <a:t>use a spiral notebook because pages can be removed without it being noticeable. </a:t>
            </a:r>
          </a:p>
          <a:p>
            <a:pPr marL="0" indent="0">
              <a:buNone/>
            </a:pPr>
            <a:r>
              <a:rPr lang="en-US" b="1" dirty="0" smtClean="0"/>
              <a:t>-All </a:t>
            </a:r>
            <a:r>
              <a:rPr lang="en-US" b="1" dirty="0"/>
              <a:t>of the pages should be numbered and dated in sequence. </a:t>
            </a:r>
          </a:p>
          <a:p>
            <a:pPr marL="0" indent="0">
              <a:buNone/>
            </a:pPr>
            <a:r>
              <a:rPr lang="en-US" b="1" dirty="0" smtClean="0"/>
              <a:t>-All </a:t>
            </a:r>
            <a:r>
              <a:rPr lang="en-US" b="1" dirty="0"/>
              <a:t>entries should be in waterproof, non-erasable ink. </a:t>
            </a:r>
            <a:endParaRPr lang="en-US" b="1" dirty="0" smtClean="0"/>
          </a:p>
          <a:p>
            <a:pPr marL="0" indent="0">
              <a:buNone/>
            </a:pPr>
            <a:r>
              <a:rPr lang="en-US" b="1" dirty="0" smtClean="0"/>
              <a:t>-Don’t </a:t>
            </a:r>
            <a:r>
              <a:rPr lang="en-US" b="1" dirty="0"/>
              <a:t>leave blank pages.</a:t>
            </a:r>
          </a:p>
        </p:txBody>
      </p:sp>
    </p:spTree>
    <p:extLst>
      <p:ext uri="{BB962C8B-B14F-4D97-AF65-F5344CB8AC3E}">
        <p14:creationId xmlns:p14="http://schemas.microsoft.com/office/powerpoint/2010/main" val="13192414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Format </a:t>
            </a:r>
            <a:endParaRPr lang="en-US" b="1" dirty="0">
              <a:solidFill>
                <a:srgbClr val="FF0000"/>
              </a:solidFill>
            </a:endParaRPr>
          </a:p>
        </p:txBody>
      </p:sp>
      <p:sp>
        <p:nvSpPr>
          <p:cNvPr id="3" name="Content Placeholder 2"/>
          <p:cNvSpPr>
            <a:spLocks noGrp="1"/>
          </p:cNvSpPr>
          <p:nvPr>
            <p:ph idx="1"/>
          </p:nvPr>
        </p:nvSpPr>
        <p:spPr/>
        <p:txBody>
          <a:bodyPr/>
          <a:lstStyle/>
          <a:p>
            <a:r>
              <a:rPr lang="en-US" b="1" dirty="0"/>
              <a:t>Title (and author[s]) </a:t>
            </a:r>
          </a:p>
          <a:p>
            <a:r>
              <a:rPr lang="en-US" b="1" dirty="0" smtClean="0"/>
              <a:t>Introduction </a:t>
            </a:r>
          </a:p>
          <a:p>
            <a:r>
              <a:rPr lang="en-US" b="1" dirty="0" smtClean="0"/>
              <a:t>Procedure </a:t>
            </a:r>
            <a:r>
              <a:rPr lang="en-US" b="1" dirty="0"/>
              <a:t>and materials </a:t>
            </a:r>
            <a:endParaRPr lang="en-US" b="1" dirty="0" smtClean="0"/>
          </a:p>
          <a:p>
            <a:r>
              <a:rPr lang="en-US" b="1" dirty="0" smtClean="0"/>
              <a:t>Results </a:t>
            </a:r>
          </a:p>
          <a:p>
            <a:r>
              <a:rPr lang="en-US" b="1" dirty="0" smtClean="0"/>
              <a:t>Discussion </a:t>
            </a:r>
          </a:p>
          <a:p>
            <a:r>
              <a:rPr lang="en-US" b="1" dirty="0" smtClean="0"/>
              <a:t>References</a:t>
            </a:r>
            <a:endParaRPr lang="en-US" b="1" dirty="0"/>
          </a:p>
        </p:txBody>
      </p:sp>
    </p:spTree>
    <p:extLst>
      <p:ext uri="{BB962C8B-B14F-4D97-AF65-F5344CB8AC3E}">
        <p14:creationId xmlns:p14="http://schemas.microsoft.com/office/powerpoint/2010/main" val="15692871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8643"/>
            <a:ext cx="10515600" cy="4351338"/>
          </a:xfrm>
        </p:spPr>
        <p:txBody>
          <a:bodyPr>
            <a:noAutofit/>
          </a:bodyPr>
          <a:lstStyle/>
          <a:p>
            <a:pPr marL="0" indent="0">
              <a:buNone/>
            </a:pPr>
            <a:r>
              <a:rPr lang="en-US" sz="1600" b="1" dirty="0" smtClean="0"/>
              <a:t>The </a:t>
            </a:r>
            <a:r>
              <a:rPr lang="en-US" sz="1600" b="1" dirty="0"/>
              <a:t>effects of temperature and p</a:t>
            </a:r>
            <a:r>
              <a:rPr lang="en-US" sz="1600" b="1" dirty="0" smtClean="0"/>
              <a:t>H </a:t>
            </a:r>
            <a:r>
              <a:rPr lang="en-US" sz="1600" b="1" dirty="0"/>
              <a:t>on encouraging and deterring the growth of bacteria vs. fungus</a:t>
            </a:r>
            <a:endParaRPr lang="en-US" sz="1600" b="1" dirty="0">
              <a:solidFill>
                <a:srgbClr val="00B0F0"/>
              </a:solidFill>
            </a:endParaRPr>
          </a:p>
          <a:p>
            <a:r>
              <a:rPr lang="en-US" sz="1600" b="1" dirty="0">
                <a:solidFill>
                  <a:srgbClr val="00B0F0"/>
                </a:solidFill>
              </a:rPr>
              <a:t>Introduction</a:t>
            </a:r>
          </a:p>
          <a:p>
            <a:r>
              <a:rPr lang="en-US" sz="1600" dirty="0"/>
              <a:t>This experiment was done to determine the optimal temperature and pH conditions for </a:t>
            </a:r>
            <a:r>
              <a:rPr lang="en-US" sz="1600" dirty="0" smtClean="0"/>
              <a:t>different micro-organisms</a:t>
            </a:r>
            <a:r>
              <a:rPr lang="en-US" sz="1600" dirty="0"/>
              <a:t>. These two environmental factors have the greatest impact on </a:t>
            </a:r>
            <a:r>
              <a:rPr lang="en-US" sz="1600" dirty="0" smtClean="0"/>
              <a:t>the growth </a:t>
            </a:r>
            <a:r>
              <a:rPr lang="en-US" sz="1600" dirty="0"/>
              <a:t>of a micro-organism, which makes them both important and straightforward to </a:t>
            </a:r>
            <a:r>
              <a:rPr lang="en-US" sz="1600" dirty="0" smtClean="0"/>
              <a:t>study. It </a:t>
            </a:r>
            <a:r>
              <a:rPr lang="en-US" sz="1600" dirty="0"/>
              <a:t>is important to know the optimal temperature and pH for the growth of different </a:t>
            </a:r>
            <a:r>
              <a:rPr lang="en-US" sz="1600" dirty="0" smtClean="0"/>
              <a:t>bacteria and </a:t>
            </a:r>
            <a:r>
              <a:rPr lang="en-US" sz="1600" dirty="0"/>
              <a:t>fungi because they both affect our food and our health. In this experiment, the </a:t>
            </a:r>
            <a:r>
              <a:rPr lang="en-US" sz="1600" dirty="0" smtClean="0"/>
              <a:t>amount of </a:t>
            </a:r>
            <a:r>
              <a:rPr lang="en-US" sz="1600" dirty="0"/>
              <a:t>growth of micro-organisms was determined using a spectrophotometer as well as </a:t>
            </a:r>
            <a:r>
              <a:rPr lang="en-US" sz="1600" dirty="0" smtClean="0"/>
              <a:t>visually. Using </a:t>
            </a:r>
            <a:r>
              <a:rPr lang="en-US" sz="1600" dirty="0"/>
              <a:t>both methods also highlights the strengths and weaknesses of both techniques.</a:t>
            </a:r>
          </a:p>
          <a:p>
            <a:r>
              <a:rPr lang="en-US" sz="1600" dirty="0"/>
              <a:t>For the determination of optimum temperature, four bacteria and two fungi were used, </a:t>
            </a:r>
            <a:r>
              <a:rPr lang="en-US" sz="1600" dirty="0" smtClean="0"/>
              <a:t>and for </a:t>
            </a:r>
            <a:r>
              <a:rPr lang="en-US" sz="1600" dirty="0"/>
              <a:t>the determination of optimum pH, three bacteria and one fungus were used. The </a:t>
            </a:r>
            <a:r>
              <a:rPr lang="en-US" sz="1600" dirty="0" smtClean="0"/>
              <a:t>bacteria used </a:t>
            </a:r>
            <a:r>
              <a:rPr lang="en-US" sz="1600" dirty="0"/>
              <a:t>grow at different optimal temperatures, but were all capable of growing well on the </a:t>
            </a:r>
            <a:r>
              <a:rPr lang="en-US" sz="1600" dirty="0" smtClean="0"/>
              <a:t>same nutrient </a:t>
            </a:r>
            <a:r>
              <a:rPr lang="en-US" sz="1600" dirty="0"/>
              <a:t>agar plates or nutrient broth solutions. Similarly, the fungi used in the </a:t>
            </a:r>
            <a:r>
              <a:rPr lang="en-US" sz="1600" dirty="0" smtClean="0"/>
              <a:t>temperature determination </a:t>
            </a:r>
            <a:r>
              <a:rPr lang="en-US" sz="1600" dirty="0"/>
              <a:t>were both grown on </a:t>
            </a:r>
            <a:r>
              <a:rPr lang="en-US" sz="1600" dirty="0" err="1"/>
              <a:t>Sabouraud’s</a:t>
            </a:r>
            <a:r>
              <a:rPr lang="en-US" sz="1600" dirty="0"/>
              <a:t> agar. Every micro-organism that was </a:t>
            </a:r>
            <a:r>
              <a:rPr lang="en-US" sz="1600" dirty="0" smtClean="0"/>
              <a:t>used for </a:t>
            </a:r>
            <a:r>
              <a:rPr lang="en-US" sz="1600" dirty="0"/>
              <a:t>this experiment can be found in some type of food, either as an aid to processing it or </a:t>
            </a:r>
            <a:r>
              <a:rPr lang="en-US" sz="1600" dirty="0" smtClean="0"/>
              <a:t>as spoilage</a:t>
            </a:r>
            <a:r>
              <a:rPr lang="en-US" sz="1600" dirty="0"/>
              <a:t>.</a:t>
            </a:r>
          </a:p>
          <a:p>
            <a:r>
              <a:rPr lang="en-US" sz="1600" dirty="0"/>
              <a:t>Temperature is the most influential environmental condition that affects cell growth </a:t>
            </a:r>
            <a:r>
              <a:rPr lang="en-US" sz="1600" dirty="0" smtClean="0"/>
              <a:t>and survival </a:t>
            </a:r>
            <a:r>
              <a:rPr lang="en-US" sz="1600" dirty="0"/>
              <a:t>(Madigan </a:t>
            </a:r>
            <a:r>
              <a:rPr lang="en-US" sz="1600" i="1" dirty="0"/>
              <a:t>et al</a:t>
            </a:r>
            <a:r>
              <a:rPr lang="en-US" sz="1600" dirty="0"/>
              <a:t>., 2003). At the optimum temperature for a specific </a:t>
            </a:r>
            <a:r>
              <a:rPr lang="en-US" sz="1600" dirty="0" smtClean="0"/>
              <a:t>micro-organism, its </a:t>
            </a:r>
            <a:r>
              <a:rPr lang="en-US" sz="1600" dirty="0"/>
              <a:t>biochemical reactions run quickly, allowing the cell to grow at its maximum rate. This </a:t>
            </a:r>
            <a:r>
              <a:rPr lang="en-US" sz="1600" dirty="0" smtClean="0"/>
              <a:t>is the </a:t>
            </a:r>
            <a:r>
              <a:rPr lang="en-US" sz="1600" dirty="0"/>
              <a:t>optimal growth range for temperature for a specific organism. If the temperature is </a:t>
            </a:r>
            <a:r>
              <a:rPr lang="en-US" sz="1600" dirty="0" smtClean="0"/>
              <a:t>increased too </a:t>
            </a:r>
            <a:r>
              <a:rPr lang="en-US" sz="1600" dirty="0"/>
              <a:t>far past this point, the maximum temperature of the organism is reached. This </a:t>
            </a:r>
            <a:r>
              <a:rPr lang="en-US" sz="1600" dirty="0" smtClean="0"/>
              <a:t>is the </a:t>
            </a:r>
            <a:r>
              <a:rPr lang="en-US" sz="1600" dirty="0"/>
              <a:t>temperature at which the micro-organism’s enzymes begin to be denatured by the </a:t>
            </a:r>
            <a:r>
              <a:rPr lang="en-US" sz="1600" dirty="0" smtClean="0"/>
              <a:t>heat, prohibiting </a:t>
            </a:r>
            <a:r>
              <a:rPr lang="en-US" sz="1600" dirty="0"/>
              <a:t>the growth of the cell. The minimum temperature is the lowest temperature </a:t>
            </a:r>
            <a:r>
              <a:rPr lang="en-US" sz="1600" dirty="0" smtClean="0"/>
              <a:t>at which </a:t>
            </a:r>
            <a:r>
              <a:rPr lang="en-US" sz="1600" dirty="0"/>
              <a:t>the organism can grow. Below this temperature, the reactions within the cell occur </a:t>
            </a:r>
            <a:r>
              <a:rPr lang="en-US" sz="1600" dirty="0" smtClean="0"/>
              <a:t>too slowly</a:t>
            </a:r>
            <a:r>
              <a:rPr lang="en-US" sz="1600" dirty="0"/>
              <a:t>, and the cell membrane begins to gel, prohibiting growth (Madigan </a:t>
            </a:r>
            <a:r>
              <a:rPr lang="en-US" sz="1600" i="1" dirty="0"/>
              <a:t>et al</a:t>
            </a:r>
            <a:r>
              <a:rPr lang="en-US" sz="1600" dirty="0"/>
              <a:t>., 2003). </a:t>
            </a:r>
            <a:r>
              <a:rPr lang="en-US" sz="1600" dirty="0" smtClean="0"/>
              <a:t>The optimal </a:t>
            </a:r>
            <a:r>
              <a:rPr lang="en-US" sz="1600" dirty="0"/>
              <a:t>growth range of temperatures that micro-organisms grow best at can be </a:t>
            </a:r>
            <a:r>
              <a:rPr lang="en-US" sz="1600" dirty="0" smtClean="0"/>
              <a:t>anywhere from </a:t>
            </a:r>
            <a:r>
              <a:rPr lang="en-US" sz="1600" dirty="0"/>
              <a:t>below </a:t>
            </a:r>
            <a:r>
              <a:rPr lang="en-US" sz="1600" dirty="0" err="1"/>
              <a:t>0oC</a:t>
            </a:r>
            <a:r>
              <a:rPr lang="en-US" sz="1600" dirty="0"/>
              <a:t> to above </a:t>
            </a:r>
            <a:r>
              <a:rPr lang="en-US" sz="1600" dirty="0" err="1"/>
              <a:t>100oC</a:t>
            </a:r>
            <a:r>
              <a:rPr lang="en-US" sz="1600" dirty="0"/>
              <a:t> (Madigan </a:t>
            </a:r>
            <a:r>
              <a:rPr lang="en-US" sz="1600" i="1" dirty="0"/>
              <a:t>et al</a:t>
            </a:r>
            <a:r>
              <a:rPr lang="en-US" sz="1600" dirty="0"/>
              <a:t>., 2003). Increasing or decreasing the </a:t>
            </a:r>
            <a:r>
              <a:rPr lang="en-US" sz="1600" dirty="0" smtClean="0"/>
              <a:t>temperature of </a:t>
            </a:r>
            <a:r>
              <a:rPr lang="en-US" sz="1600" dirty="0"/>
              <a:t>an organism’s environment to within the micro-organism’s optimal temperature </a:t>
            </a:r>
            <a:r>
              <a:rPr lang="en-US" sz="1600" dirty="0" smtClean="0"/>
              <a:t>range encourages </a:t>
            </a:r>
            <a:r>
              <a:rPr lang="en-US" sz="1600" dirty="0"/>
              <a:t>growth. Conversely, if the environmental temperature is moved not only out </a:t>
            </a:r>
            <a:r>
              <a:rPr lang="en-US" sz="1600" dirty="0" smtClean="0"/>
              <a:t>of the </a:t>
            </a:r>
            <a:r>
              <a:rPr lang="en-US" sz="1600" dirty="0"/>
              <a:t>optimal range for the organism but also past the maximum or minimum temperature, </a:t>
            </a:r>
            <a:r>
              <a:rPr lang="en-US" sz="1600" dirty="0" smtClean="0"/>
              <a:t>the micro-organism </a:t>
            </a:r>
            <a:r>
              <a:rPr lang="en-US" sz="1600" dirty="0"/>
              <a:t>can no longer survive. The closer that the environmental temperature gets </a:t>
            </a:r>
            <a:r>
              <a:rPr lang="en-US" sz="1600" dirty="0" smtClean="0"/>
              <a:t>to the </a:t>
            </a:r>
            <a:r>
              <a:rPr lang="en-US" sz="1600" dirty="0"/>
              <a:t>maximum or minimum for a specific organism, the more growth is deterred.</a:t>
            </a:r>
          </a:p>
          <a:p>
            <a:endParaRPr lang="en-US" sz="1800" dirty="0"/>
          </a:p>
        </p:txBody>
      </p:sp>
    </p:spTree>
    <p:extLst>
      <p:ext uri="{BB962C8B-B14F-4D97-AF65-F5344CB8AC3E}">
        <p14:creationId xmlns:p14="http://schemas.microsoft.com/office/powerpoint/2010/main" val="36271450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0122" y="30216"/>
            <a:ext cx="5943600" cy="7512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04904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28504" y="137840"/>
            <a:ext cx="537604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8591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4. Recommendation </a:t>
            </a:r>
            <a:r>
              <a:rPr lang="en-US" b="1" dirty="0">
                <a:solidFill>
                  <a:srgbClr val="FF0000"/>
                </a:solidFill>
              </a:rPr>
              <a:t>R</a:t>
            </a:r>
            <a:r>
              <a:rPr lang="en-US" b="1" dirty="0" smtClean="0">
                <a:solidFill>
                  <a:srgbClr val="FF0000"/>
                </a:solidFill>
              </a:rPr>
              <a:t>eports</a:t>
            </a:r>
            <a:endParaRPr lang="en-US" b="1" dirty="0">
              <a:solidFill>
                <a:srgbClr val="FF0000"/>
              </a:solidFill>
            </a:endParaRPr>
          </a:p>
        </p:txBody>
      </p:sp>
      <p:sp>
        <p:nvSpPr>
          <p:cNvPr id="3" name="Content Placeholder 2"/>
          <p:cNvSpPr>
            <a:spLocks noGrp="1"/>
          </p:cNvSpPr>
          <p:nvPr>
            <p:ph idx="1"/>
          </p:nvPr>
        </p:nvSpPr>
        <p:spPr>
          <a:xfrm>
            <a:off x="838200" y="1825625"/>
            <a:ext cx="10977282" cy="4351338"/>
          </a:xfrm>
        </p:spPr>
        <p:txBody>
          <a:bodyPr>
            <a:normAutofit/>
          </a:bodyPr>
          <a:lstStyle/>
          <a:p>
            <a:r>
              <a:rPr lang="en-US" b="1" dirty="0" smtClean="0"/>
              <a:t>In </a:t>
            </a:r>
            <a:r>
              <a:rPr lang="en-US" b="1" dirty="0"/>
              <a:t>a </a:t>
            </a:r>
            <a:r>
              <a:rPr lang="en-US" b="1" dirty="0" smtClean="0"/>
              <a:t>recommendation </a:t>
            </a:r>
            <a:r>
              <a:rPr lang="en-US" b="1" dirty="0"/>
              <a:t>report,</a:t>
            </a:r>
            <a:r>
              <a:rPr lang="en-US" b="1" dirty="0">
                <a:solidFill>
                  <a:srgbClr val="C00000"/>
                </a:solidFill>
              </a:rPr>
              <a:t> </a:t>
            </a:r>
            <a:r>
              <a:rPr lang="en-US" b="1" dirty="0">
                <a:solidFill>
                  <a:srgbClr val="00B0F0"/>
                </a:solidFill>
              </a:rPr>
              <a:t>the technical communicator (or </a:t>
            </a:r>
            <a:r>
              <a:rPr lang="en-US" b="1" dirty="0" smtClean="0">
                <a:solidFill>
                  <a:srgbClr val="00B0F0"/>
                </a:solidFill>
              </a:rPr>
              <a:t>engineer) </a:t>
            </a:r>
            <a:r>
              <a:rPr lang="en-US" b="1" dirty="0">
                <a:solidFill>
                  <a:srgbClr val="00B0F0"/>
                </a:solidFill>
              </a:rPr>
              <a:t>describes the problem and then presents several possible solutions that </a:t>
            </a:r>
            <a:r>
              <a:rPr lang="en-US" b="1" dirty="0" smtClean="0">
                <a:solidFill>
                  <a:srgbClr val="00B0F0"/>
                </a:solidFill>
              </a:rPr>
              <a:t>he/she </a:t>
            </a:r>
            <a:r>
              <a:rPr lang="en-US" b="1" dirty="0">
                <a:solidFill>
                  <a:srgbClr val="00B0F0"/>
                </a:solidFill>
              </a:rPr>
              <a:t>has </a:t>
            </a:r>
            <a:r>
              <a:rPr lang="en-US" b="1" dirty="0" smtClean="0">
                <a:solidFill>
                  <a:srgbClr val="00B0F0"/>
                </a:solidFill>
              </a:rPr>
              <a:t>formulated </a:t>
            </a:r>
            <a:r>
              <a:rPr lang="en-US" b="1" dirty="0">
                <a:solidFill>
                  <a:srgbClr val="00B0F0"/>
                </a:solidFill>
              </a:rPr>
              <a:t>based on extensive research. </a:t>
            </a:r>
            <a:endParaRPr lang="en-US" b="1" dirty="0" smtClean="0">
              <a:solidFill>
                <a:srgbClr val="00B0F0"/>
              </a:solidFill>
            </a:endParaRPr>
          </a:p>
          <a:p>
            <a:r>
              <a:rPr lang="en-US" b="1" dirty="0" smtClean="0">
                <a:solidFill>
                  <a:srgbClr val="00B0F0"/>
                </a:solidFill>
              </a:rPr>
              <a:t>Among</a:t>
            </a:r>
            <a:r>
              <a:rPr lang="en-US" dirty="0" smtClean="0">
                <a:solidFill>
                  <a:srgbClr val="00B0F0"/>
                </a:solidFill>
              </a:rPr>
              <a:t> several solutions</a:t>
            </a:r>
            <a:r>
              <a:rPr lang="en-US" dirty="0">
                <a:solidFill>
                  <a:srgbClr val="00B0F0"/>
                </a:solidFill>
              </a:rPr>
              <a:t> </a:t>
            </a:r>
            <a:r>
              <a:rPr lang="en-US" dirty="0" smtClean="0">
                <a:solidFill>
                  <a:srgbClr val="00B0F0"/>
                </a:solidFill>
              </a:rPr>
              <a:t>of </a:t>
            </a:r>
            <a:r>
              <a:rPr lang="en-US" dirty="0">
                <a:solidFill>
                  <a:srgbClr val="00B0F0"/>
                </a:solidFill>
              </a:rPr>
              <a:t>the problem, the report recommends one solution over others, explaining what makes it superior.</a:t>
            </a:r>
          </a:p>
          <a:p>
            <a:r>
              <a:rPr lang="en-US" b="1" dirty="0" smtClean="0"/>
              <a:t>A </a:t>
            </a:r>
            <a:r>
              <a:rPr lang="en-US" b="1" dirty="0"/>
              <a:t>variation on the recommendation report is the feasibility report, which discusses the </a:t>
            </a:r>
            <a:r>
              <a:rPr lang="en-US" b="1" dirty="0" smtClean="0"/>
              <a:t>possibility </a:t>
            </a:r>
            <a:r>
              <a:rPr lang="en-US" b="1" dirty="0"/>
              <a:t>of applying one recommended solution to a problem</a:t>
            </a:r>
            <a:r>
              <a:rPr lang="en-US" dirty="0"/>
              <a:t>.</a:t>
            </a:r>
          </a:p>
        </p:txBody>
      </p:sp>
    </p:spTree>
    <p:extLst>
      <p:ext uri="{BB962C8B-B14F-4D97-AF65-F5344CB8AC3E}">
        <p14:creationId xmlns:p14="http://schemas.microsoft.com/office/powerpoint/2010/main" val="27051957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Format </a:t>
            </a:r>
            <a:endParaRPr lang="en-US" b="1" dirty="0">
              <a:solidFill>
                <a:srgbClr val="FF0000"/>
              </a:solidFill>
            </a:endParaRPr>
          </a:p>
        </p:txBody>
      </p:sp>
      <p:sp>
        <p:nvSpPr>
          <p:cNvPr id="3" name="Content Placeholder 2"/>
          <p:cNvSpPr>
            <a:spLocks noGrp="1"/>
          </p:cNvSpPr>
          <p:nvPr>
            <p:ph idx="1"/>
          </p:nvPr>
        </p:nvSpPr>
        <p:spPr/>
        <p:txBody>
          <a:bodyPr/>
          <a:lstStyle/>
          <a:p>
            <a:r>
              <a:rPr lang="en-US" b="1" dirty="0" smtClean="0"/>
              <a:t>Memo </a:t>
            </a:r>
            <a:r>
              <a:rPr lang="en-US" b="1" dirty="0"/>
              <a:t>or letter of transmittal </a:t>
            </a:r>
            <a:endParaRPr lang="en-US" b="1" dirty="0" smtClean="0"/>
          </a:p>
          <a:p>
            <a:r>
              <a:rPr lang="en-US" b="1" dirty="0" smtClean="0"/>
              <a:t>Title </a:t>
            </a:r>
            <a:r>
              <a:rPr lang="en-US" b="1" dirty="0"/>
              <a:t>page </a:t>
            </a:r>
          </a:p>
          <a:p>
            <a:r>
              <a:rPr lang="en-US" b="1" dirty="0" smtClean="0"/>
              <a:t>Executive </a:t>
            </a:r>
            <a:r>
              <a:rPr lang="en-US" b="1" dirty="0"/>
              <a:t>summary or abstract </a:t>
            </a:r>
            <a:endParaRPr lang="en-US" b="1" dirty="0" smtClean="0"/>
          </a:p>
          <a:p>
            <a:r>
              <a:rPr lang="en-US" b="1" dirty="0" smtClean="0"/>
              <a:t>Recommendations </a:t>
            </a:r>
          </a:p>
          <a:p>
            <a:r>
              <a:rPr lang="en-US" b="1" dirty="0" smtClean="0"/>
              <a:t>Report </a:t>
            </a:r>
            <a:r>
              <a:rPr lang="en-US" b="1" dirty="0"/>
              <a:t>body </a:t>
            </a:r>
            <a:r>
              <a:rPr lang="en-US" b="1" dirty="0" smtClean="0"/>
              <a:t>(introduction</a:t>
            </a:r>
            <a:r>
              <a:rPr lang="en-US" b="1" dirty="0"/>
              <a:t>, scope, methods, results, discussion)</a:t>
            </a:r>
            <a:endParaRPr lang="en-US" b="1" dirty="0" smtClean="0"/>
          </a:p>
          <a:p>
            <a:r>
              <a:rPr lang="en-US" b="1" dirty="0" smtClean="0"/>
              <a:t>Conclusions </a:t>
            </a:r>
            <a:endParaRPr lang="en-US" b="1" dirty="0"/>
          </a:p>
          <a:p>
            <a:r>
              <a:rPr lang="en-US" b="1" dirty="0" smtClean="0"/>
              <a:t>Notes</a:t>
            </a:r>
            <a:r>
              <a:rPr lang="en-US" b="1" dirty="0"/>
              <a:t>, references, appendixes</a:t>
            </a:r>
          </a:p>
        </p:txBody>
      </p:sp>
    </p:spTree>
    <p:extLst>
      <p:ext uri="{BB962C8B-B14F-4D97-AF65-F5344CB8AC3E}">
        <p14:creationId xmlns:p14="http://schemas.microsoft.com/office/powerpoint/2010/main" val="7825049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9925"/>
            <a:ext cx="10515600" cy="4351338"/>
          </a:xfrm>
        </p:spPr>
        <p:txBody>
          <a:bodyPr>
            <a:noAutofit/>
          </a:bodyPr>
          <a:lstStyle/>
          <a:p>
            <a:r>
              <a:rPr lang="en-US" sz="1800" dirty="0" err="1" smtClean="0"/>
              <a:t>ValuSpec</a:t>
            </a:r>
            <a:r>
              <a:rPr lang="en-US" sz="1800" dirty="0" smtClean="0"/>
              <a:t> Home </a:t>
            </a:r>
            <a:r>
              <a:rPr lang="en-US" sz="1800" dirty="0"/>
              <a:t>Inspection </a:t>
            </a:r>
            <a:r>
              <a:rPr lang="en-US" sz="1800" dirty="0" err="1"/>
              <a:t>Servi</a:t>
            </a:r>
            <a:r>
              <a:rPr lang="en-US" sz="1800" dirty="0"/>
              <a:t> </a:t>
            </a:r>
            <a:r>
              <a:rPr lang="en-US" sz="1800" dirty="0" err="1"/>
              <a:t>ce</a:t>
            </a:r>
            <a:endParaRPr lang="en-US" sz="1800" dirty="0"/>
          </a:p>
          <a:p>
            <a:r>
              <a:rPr lang="en-US" sz="1800" i="1" dirty="0"/>
              <a:t>North America’s Number One Home Inspector</a:t>
            </a:r>
          </a:p>
          <a:p>
            <a:r>
              <a:rPr lang="en-US" sz="1800" dirty="0"/>
              <a:t>July 5, </a:t>
            </a:r>
            <a:r>
              <a:rPr lang="en-US" sz="1800" dirty="0" err="1"/>
              <a:t>20XX</a:t>
            </a:r>
            <a:endParaRPr lang="en-US" sz="1800" dirty="0"/>
          </a:p>
          <a:p>
            <a:r>
              <a:rPr lang="en-US" sz="1800" dirty="0"/>
              <a:t>Dear Client:</a:t>
            </a:r>
          </a:p>
          <a:p>
            <a:r>
              <a:rPr lang="en-US" sz="1800" dirty="0"/>
              <a:t>Re. Home Inspection</a:t>
            </a:r>
          </a:p>
          <a:p>
            <a:r>
              <a:rPr lang="en-US" sz="1800" dirty="0"/>
              <a:t>947 Woodbury Dr., Winnipeg, MB.</a:t>
            </a:r>
          </a:p>
          <a:p>
            <a:r>
              <a:rPr lang="en-US" sz="1800" dirty="0" err="1"/>
              <a:t>ValuSpec</a:t>
            </a:r>
            <a:r>
              <a:rPr lang="en-US" sz="1800" dirty="0"/>
              <a:t> Home Inspection Service has completed a visual inspection of the property </a:t>
            </a:r>
            <a:r>
              <a:rPr lang="en-US" sz="1800" dirty="0" smtClean="0"/>
              <a:t>and building </a:t>
            </a:r>
            <a:r>
              <a:rPr lang="en-US" sz="1800" dirty="0"/>
              <a:t>at the address above. Thank you for choosing </a:t>
            </a:r>
            <a:r>
              <a:rPr lang="en-US" sz="1800" dirty="0" err="1"/>
              <a:t>ValuSpec</a:t>
            </a:r>
            <a:r>
              <a:rPr lang="en-US" sz="1800" dirty="0"/>
              <a:t>, and we appreciate </a:t>
            </a:r>
            <a:r>
              <a:rPr lang="en-US" sz="1800" dirty="0" smtClean="0"/>
              <a:t>the chance </a:t>
            </a:r>
            <a:r>
              <a:rPr lang="en-US" sz="1800" dirty="0"/>
              <a:t>to work with you at this time. The enclosed report provides you with extensive </a:t>
            </a:r>
            <a:r>
              <a:rPr lang="en-US" sz="1800" dirty="0" smtClean="0"/>
              <a:t>information about </a:t>
            </a:r>
            <a:r>
              <a:rPr lang="en-US" sz="1800" dirty="0"/>
              <a:t>the general condition of this property after a visual examination of the </a:t>
            </a:r>
            <a:r>
              <a:rPr lang="en-US" sz="1800" dirty="0" smtClean="0"/>
              <a:t>accessible areas </a:t>
            </a:r>
            <a:r>
              <a:rPr lang="en-US" sz="1800" dirty="0"/>
              <a:t>of the house, based on the enclosed Inspection Agreement. Please note </a:t>
            </a:r>
            <a:r>
              <a:rPr lang="en-US" sz="1800" dirty="0" smtClean="0"/>
              <a:t>that no </a:t>
            </a:r>
            <a:r>
              <a:rPr lang="en-US" sz="1800" dirty="0"/>
              <a:t>aspect of the home was dismantled, so the inspection judgments are based only on </a:t>
            </a:r>
            <a:r>
              <a:rPr lang="en-US" sz="1800" dirty="0" smtClean="0"/>
              <a:t>the evidence </a:t>
            </a:r>
            <a:r>
              <a:rPr lang="en-US" sz="1800" dirty="0"/>
              <a:t>visible without further probing.</a:t>
            </a:r>
          </a:p>
          <a:p>
            <a:r>
              <a:rPr lang="en-US" sz="1800" dirty="0"/>
              <a:t>We found three major areas of the home and property that you would want to address </a:t>
            </a:r>
            <a:r>
              <a:rPr lang="en-US" sz="1800" dirty="0" smtClean="0"/>
              <a:t>within a </a:t>
            </a:r>
            <a:r>
              <a:rPr lang="en-US" sz="1800" dirty="0"/>
              <a:t>year or two of purchasing this property. There are a number of minor issues, and </a:t>
            </a:r>
            <a:r>
              <a:rPr lang="en-US" sz="1800" dirty="0" smtClean="0"/>
              <a:t>they are </a:t>
            </a:r>
            <a:r>
              <a:rPr lang="en-US" sz="1800" dirty="0"/>
              <a:t>detailed in the report. We recommend that you complete the following at your </a:t>
            </a:r>
            <a:r>
              <a:rPr lang="en-US" sz="1800" dirty="0" smtClean="0"/>
              <a:t>earliest convenience:</a:t>
            </a:r>
            <a:endParaRPr lang="en-US" sz="1800" dirty="0"/>
          </a:p>
        </p:txBody>
      </p:sp>
    </p:spTree>
    <p:extLst>
      <p:ext uri="{BB962C8B-B14F-4D97-AF65-F5344CB8AC3E}">
        <p14:creationId xmlns:p14="http://schemas.microsoft.com/office/powerpoint/2010/main" val="25788859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0428"/>
            <a:ext cx="10515600" cy="4351338"/>
          </a:xfrm>
        </p:spPr>
        <p:txBody>
          <a:bodyPr>
            <a:noAutofit/>
          </a:bodyPr>
          <a:lstStyle/>
          <a:p>
            <a:r>
              <a:rPr lang="en-US" sz="1800" dirty="0"/>
              <a:t> Replace the roof.</a:t>
            </a:r>
          </a:p>
          <a:p>
            <a:r>
              <a:rPr lang="en-US" sz="1800" dirty="0"/>
              <a:t>2. Improve ventilation in interior to reduce overall humidity levels.</a:t>
            </a:r>
          </a:p>
          <a:p>
            <a:r>
              <a:rPr lang="en-US" sz="1800" dirty="0"/>
              <a:t>3. Improve drainage around base of foundation at southeast and northeast </a:t>
            </a:r>
            <a:r>
              <a:rPr lang="en-US" sz="1800" dirty="0" smtClean="0"/>
              <a:t>corners of </a:t>
            </a:r>
            <a:r>
              <a:rPr lang="en-US" sz="1800" dirty="0"/>
              <a:t>the house.</a:t>
            </a:r>
          </a:p>
          <a:p>
            <a:r>
              <a:rPr lang="en-US" sz="1800" dirty="0"/>
              <a:t>The inspection began at 9 a.m. and concluded at 11:30 a.m. on June 27, </a:t>
            </a:r>
            <a:r>
              <a:rPr lang="en-US" sz="1800" dirty="0" err="1"/>
              <a:t>20XX</a:t>
            </a:r>
            <a:r>
              <a:rPr lang="en-US" sz="1800" dirty="0"/>
              <a:t>. The </a:t>
            </a:r>
            <a:r>
              <a:rPr lang="en-US" sz="1800" dirty="0" smtClean="0"/>
              <a:t>current owners </a:t>
            </a:r>
            <a:r>
              <a:rPr lang="en-US" sz="1800" dirty="0"/>
              <a:t>of the property were in residence at the time, so our inspection was limited to </a:t>
            </a:r>
            <a:r>
              <a:rPr lang="en-US" sz="1800" dirty="0" smtClean="0"/>
              <a:t>a visual </a:t>
            </a:r>
            <a:r>
              <a:rPr lang="en-US" sz="1800" dirty="0"/>
              <a:t>examination with little moving of personal effects.</a:t>
            </a:r>
          </a:p>
          <a:p>
            <a:r>
              <a:rPr lang="en-US" sz="1800" dirty="0"/>
              <a:t>I would like to thank Robert Stafford, P. Eng., who allowed me to accompany him during </a:t>
            </a:r>
            <a:r>
              <a:rPr lang="en-US" sz="1800" dirty="0" smtClean="0"/>
              <a:t>the inspection </a:t>
            </a:r>
            <a:r>
              <a:rPr lang="en-US" sz="1800" dirty="0"/>
              <a:t>as part of my responsibilities as a student worker at </a:t>
            </a:r>
            <a:r>
              <a:rPr lang="en-US" sz="1800" dirty="0" err="1"/>
              <a:t>ValuSpec</a:t>
            </a:r>
            <a:r>
              <a:rPr lang="en-US" sz="1800" dirty="0"/>
              <a:t>. He also reviewed </a:t>
            </a:r>
            <a:r>
              <a:rPr lang="en-US" sz="1800" dirty="0" smtClean="0"/>
              <a:t>a draft </a:t>
            </a:r>
            <a:r>
              <a:rPr lang="en-US" sz="1800" dirty="0"/>
              <a:t>of this report, and his comments were helpful in sharpening my analysis and </a:t>
            </a:r>
            <a:r>
              <a:rPr lang="en-US" sz="1800" dirty="0" smtClean="0"/>
              <a:t>clarifying my </a:t>
            </a:r>
            <a:r>
              <a:rPr lang="en-US" sz="1800" dirty="0"/>
              <a:t>explanations, especially of obvious humidity problems on the premises.</a:t>
            </a:r>
          </a:p>
          <a:p>
            <a:r>
              <a:rPr lang="en-US" sz="1800" dirty="0"/>
              <a:t>Again, thank you for the opportunity to undertake this inspection. It has made a </a:t>
            </a:r>
            <a:r>
              <a:rPr lang="en-US" sz="1800" dirty="0" smtClean="0"/>
              <a:t>valuable contribution </a:t>
            </a:r>
            <a:r>
              <a:rPr lang="en-US" sz="1800" dirty="0"/>
              <a:t>to my education as a civil engineer.</a:t>
            </a:r>
          </a:p>
          <a:p>
            <a:r>
              <a:rPr lang="en-US" sz="1800" dirty="0"/>
              <a:t>If you have questions or concerns after reading this report, please contact me at </a:t>
            </a:r>
            <a:r>
              <a:rPr lang="en-US" sz="1800" dirty="0" err="1" smtClean="0"/>
              <a:t>mtrottie</a:t>
            </a:r>
            <a:r>
              <a:rPr lang="en-US" sz="1800" dirty="0" smtClean="0"/>
              <a:t>@ </a:t>
            </a:r>
            <a:r>
              <a:rPr lang="en-US" sz="1800" dirty="0" err="1" smtClean="0"/>
              <a:t>engmail.uwinnipeg.mb</a:t>
            </a:r>
            <a:r>
              <a:rPr lang="en-US" sz="1800" dirty="0" smtClean="0"/>
              <a:t> </a:t>
            </a:r>
            <a:r>
              <a:rPr lang="en-US" sz="1800" dirty="0"/>
              <a:t>or telephone me at 321-123-4567.</a:t>
            </a:r>
          </a:p>
          <a:p>
            <a:r>
              <a:rPr lang="en-US" sz="1800" dirty="0"/>
              <a:t>Sincerely,</a:t>
            </a:r>
          </a:p>
          <a:p>
            <a:r>
              <a:rPr lang="en-US" sz="1800" i="1" dirty="0"/>
              <a:t>Michel </a:t>
            </a:r>
            <a:r>
              <a:rPr lang="en-US" sz="1800" i="1" dirty="0" err="1"/>
              <a:t>Trottier</a:t>
            </a:r>
            <a:endParaRPr lang="en-US" sz="1800" i="1" dirty="0"/>
          </a:p>
          <a:p>
            <a:r>
              <a:rPr lang="en-US" sz="1800" dirty="0"/>
              <a:t>Michel </a:t>
            </a:r>
            <a:r>
              <a:rPr lang="en-US" sz="1800" dirty="0" err="1"/>
              <a:t>Trottier</a:t>
            </a:r>
            <a:endParaRPr lang="en-US" sz="1800" dirty="0"/>
          </a:p>
          <a:p>
            <a:endParaRPr lang="en-US" sz="1800" dirty="0"/>
          </a:p>
          <a:p>
            <a:endParaRPr lang="en-US" sz="1800" dirty="0"/>
          </a:p>
        </p:txBody>
      </p:sp>
    </p:spTree>
    <p:extLst>
      <p:ext uri="{BB962C8B-B14F-4D97-AF65-F5344CB8AC3E}">
        <p14:creationId xmlns:p14="http://schemas.microsoft.com/office/powerpoint/2010/main" val="21394890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5714"/>
            <a:ext cx="10515600" cy="4351338"/>
          </a:xfrm>
        </p:spPr>
        <p:txBody>
          <a:bodyPr>
            <a:noAutofit/>
          </a:bodyPr>
          <a:lstStyle/>
          <a:p>
            <a:r>
              <a:rPr lang="en-US" sz="1800" b="1" dirty="0"/>
              <a:t>E</a:t>
            </a:r>
            <a:r>
              <a:rPr lang="en-US" sz="1800" b="1" dirty="0" smtClean="0"/>
              <a:t>xecutive </a:t>
            </a:r>
            <a:r>
              <a:rPr lang="en-US" sz="1800" b="1" dirty="0"/>
              <a:t>summary</a:t>
            </a:r>
          </a:p>
          <a:p>
            <a:r>
              <a:rPr lang="en-US" sz="1800" b="1" dirty="0"/>
              <a:t>Conclusions</a:t>
            </a:r>
          </a:p>
          <a:p>
            <a:r>
              <a:rPr lang="en-US" sz="1800" dirty="0"/>
              <a:t>Overall the dwelling and yard are in fair condition. There appear to be no major structural problems that would affect a potential purchaser’s decision to buy this property. That said, the house is eighteen years old, and some of its systems do show wear and tear equal to a residential property of this age.</a:t>
            </a:r>
          </a:p>
          <a:p>
            <a:r>
              <a:rPr lang="en-US" sz="1800" b="1" dirty="0"/>
              <a:t>Recommendations</a:t>
            </a:r>
          </a:p>
          <a:p>
            <a:r>
              <a:rPr lang="en-US" sz="1800" dirty="0"/>
              <a:t>We recommend that the client consider the following maintenance projects within the next two years:</a:t>
            </a:r>
          </a:p>
          <a:p>
            <a:r>
              <a:rPr lang="en-US" sz="1800" dirty="0"/>
              <a:t>1. </a:t>
            </a:r>
            <a:r>
              <a:rPr lang="en-US" sz="1800" b="1" dirty="0"/>
              <a:t>Replace the roof. </a:t>
            </a:r>
            <a:r>
              <a:rPr lang="en-US" sz="1800" dirty="0"/>
              <a:t>Currently, the roof consists of one layer of asphalt composite shingles.</a:t>
            </a:r>
          </a:p>
          <a:p>
            <a:r>
              <a:rPr lang="en-US" sz="1800" dirty="0"/>
              <a:t>Noted were worn, curling shingles; loose or missing gravel; and evidence of patching. We were unable to determine whether these repairs were effective. Based on these observations and information obtained from the current owner, the shingles are nearly 18 years old. The shingles currently in place average 15–20 years, and they show normal wear and tear for their age. The age of the roofing membrane appears to be reaching its useful life, so we recommend that the client plan to replace it in the near future.</a:t>
            </a:r>
          </a:p>
          <a:p>
            <a:r>
              <a:rPr lang="en-US" sz="1800" dirty="0"/>
              <a:t>2. </a:t>
            </a:r>
            <a:r>
              <a:rPr lang="en-US" sz="1800" b="1" dirty="0"/>
              <a:t>Improve interior ventilation to reduce overall humidity levels</a:t>
            </a:r>
            <a:r>
              <a:rPr lang="en-US" sz="1800" dirty="0"/>
              <a:t>. We noted a potential environmental issue with the presence of </a:t>
            </a:r>
            <a:r>
              <a:rPr lang="en-US" sz="1800" dirty="0" err="1"/>
              <a:t>mould</a:t>
            </a:r>
            <a:r>
              <a:rPr lang="en-US" sz="1800" dirty="0"/>
              <a:t> on interior portions of several windows in the home and basement. A more intrusive examination would be needed to determine the scope and nature of the </a:t>
            </a:r>
            <a:r>
              <a:rPr lang="en-US" sz="1800" dirty="0" err="1"/>
              <a:t>mould</a:t>
            </a:r>
            <a:r>
              <a:rPr lang="en-US" sz="1800" dirty="0"/>
              <a:t> growth. We recommend removing all sources of moisture: install or repair kitchen and bathroom exhaust fans; disconnect furnace humidifier, and use dehumidifier to remove excess moisture; seal the building envelope to prevent water entering from the outside. If </a:t>
            </a:r>
            <a:r>
              <a:rPr lang="en-US" sz="1800" dirty="0" err="1"/>
              <a:t>mould</a:t>
            </a:r>
            <a:r>
              <a:rPr lang="en-US" sz="1800" dirty="0"/>
              <a:t> persists after completing these actions, consult a qualified </a:t>
            </a:r>
            <a:r>
              <a:rPr lang="en-US" sz="1800" dirty="0" err="1"/>
              <a:t>mould</a:t>
            </a:r>
            <a:r>
              <a:rPr lang="en-US" sz="1800" dirty="0"/>
              <a:t> abatement contractor for additional evaluation and treatment options to ensure safe air quality indoors</a:t>
            </a:r>
            <a:r>
              <a:rPr lang="en-US" sz="1800" dirty="0" smtClean="0"/>
              <a:t>.</a:t>
            </a:r>
            <a:endParaRPr lang="en-US" sz="1800" dirty="0"/>
          </a:p>
        </p:txBody>
      </p:sp>
    </p:spTree>
    <p:extLst>
      <p:ext uri="{BB962C8B-B14F-4D97-AF65-F5344CB8AC3E}">
        <p14:creationId xmlns:p14="http://schemas.microsoft.com/office/powerpoint/2010/main" val="5298631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0566"/>
            <a:ext cx="10515600" cy="4351338"/>
          </a:xfrm>
        </p:spPr>
        <p:txBody>
          <a:bodyPr>
            <a:normAutofit fontScale="92500" lnSpcReduction="10000"/>
          </a:bodyPr>
          <a:lstStyle/>
          <a:p>
            <a:pPr marL="0" indent="0">
              <a:buNone/>
            </a:pPr>
            <a:r>
              <a:rPr lang="en-US" dirty="0"/>
              <a:t>3. </a:t>
            </a:r>
            <a:r>
              <a:rPr lang="en-US" b="1" dirty="0"/>
              <a:t>Improve grading around building foundation. </a:t>
            </a:r>
            <a:r>
              <a:rPr lang="en-US" dirty="0"/>
              <a:t>We saw evidence of some leakage around </a:t>
            </a:r>
            <a:r>
              <a:rPr lang="en-US" dirty="0" smtClean="0"/>
              <a:t>the windows </a:t>
            </a:r>
            <a:r>
              <a:rPr lang="en-US" dirty="0"/>
              <a:t>in the basement. Ground levels around the foundation also show some </a:t>
            </a:r>
            <a:r>
              <a:rPr lang="en-US" dirty="0" smtClean="0"/>
              <a:t>compression against </a:t>
            </a:r>
            <a:r>
              <a:rPr lang="en-US" dirty="0"/>
              <a:t>the concrete where rainwater and other moisture could pool, presenting a </a:t>
            </a:r>
            <a:r>
              <a:rPr lang="en-US" dirty="0" smtClean="0"/>
              <a:t>potential leakage </a:t>
            </a:r>
            <a:r>
              <a:rPr lang="en-US" dirty="0"/>
              <a:t>problem. We recommend redoing the grading by building up earth in </a:t>
            </a:r>
            <a:r>
              <a:rPr lang="en-US" dirty="0" smtClean="0"/>
              <a:t>compression areas</a:t>
            </a:r>
            <a:r>
              <a:rPr lang="en-US" dirty="0"/>
              <a:t>. The earth against the house should slope away so that water will run away rather </a:t>
            </a:r>
            <a:r>
              <a:rPr lang="en-US" dirty="0" smtClean="0"/>
              <a:t>than pool </a:t>
            </a:r>
            <a:r>
              <a:rPr lang="en-US" dirty="0"/>
              <a:t>around the foundation.</a:t>
            </a:r>
          </a:p>
          <a:p>
            <a:r>
              <a:rPr lang="en-US" dirty="0"/>
              <a:t>The report provides a detailed discussion of all of the major systems in the house </a:t>
            </a:r>
            <a:r>
              <a:rPr lang="en-US" dirty="0" smtClean="0"/>
              <a:t>and evaluates </a:t>
            </a:r>
            <a:r>
              <a:rPr lang="en-US" dirty="0"/>
              <a:t>their condition, making suggestions where appropriate about solutions that </a:t>
            </a:r>
            <a:r>
              <a:rPr lang="en-US" dirty="0" smtClean="0"/>
              <a:t>the client </a:t>
            </a:r>
            <a:r>
              <a:rPr lang="en-US" dirty="0"/>
              <a:t>should undertake to improve conditions. Minor problems to be aware of include </a:t>
            </a:r>
            <a:r>
              <a:rPr lang="en-US" dirty="0" smtClean="0"/>
              <a:t>several inoperable </a:t>
            </a:r>
            <a:r>
              <a:rPr lang="en-US" dirty="0"/>
              <a:t>systems: electrostatic air cleaner on the furnace, garage door opener....</a:t>
            </a:r>
          </a:p>
          <a:p>
            <a:endParaRPr lang="en-US" dirty="0"/>
          </a:p>
          <a:p>
            <a:endParaRPr lang="en-US" dirty="0"/>
          </a:p>
        </p:txBody>
      </p:sp>
    </p:spTree>
    <p:extLst>
      <p:ext uri="{BB962C8B-B14F-4D97-AF65-F5344CB8AC3E}">
        <p14:creationId xmlns:p14="http://schemas.microsoft.com/office/powerpoint/2010/main" val="1301471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6858"/>
            <a:ext cx="10515600" cy="4351338"/>
          </a:xfrm>
        </p:spPr>
        <p:txBody>
          <a:bodyPr>
            <a:noAutofit/>
          </a:bodyPr>
          <a:lstStyle/>
          <a:p>
            <a:r>
              <a:rPr lang="en-US" sz="1800" b="1" dirty="0" smtClean="0"/>
              <a:t>Introduction</a:t>
            </a:r>
            <a:endParaRPr lang="en-US" sz="1800" b="1" dirty="0"/>
          </a:p>
          <a:p>
            <a:r>
              <a:rPr lang="en-US" sz="1800" dirty="0"/>
              <a:t>This report provides information about the condition of the home </a:t>
            </a:r>
            <a:r>
              <a:rPr lang="en-US" sz="1800" dirty="0" smtClean="0"/>
              <a:t>and property </a:t>
            </a:r>
            <a:r>
              <a:rPr lang="en-US" sz="1800" dirty="0"/>
              <a:t>at 947 Woodbury Dr. It was written in response to a request </a:t>
            </a:r>
            <a:r>
              <a:rPr lang="en-US" sz="1800" dirty="0" smtClean="0"/>
              <a:t>by Charles </a:t>
            </a:r>
            <a:r>
              <a:rPr lang="en-US" sz="1800" dirty="0"/>
              <a:t>Fields for an inspection of the home in connection with the </a:t>
            </a:r>
            <a:r>
              <a:rPr lang="en-US" sz="1800" dirty="0" smtClean="0"/>
              <a:t>possible purchase </a:t>
            </a:r>
            <a:r>
              <a:rPr lang="en-US" sz="1800" dirty="0"/>
              <a:t>of the property. He requested that we examine the </a:t>
            </a:r>
            <a:r>
              <a:rPr lang="en-US" sz="1800" dirty="0" smtClean="0"/>
              <a:t>systems within </a:t>
            </a:r>
            <a:r>
              <a:rPr lang="en-US" sz="1800" dirty="0"/>
              <a:t>the house with the goal of identifying any that needed repair </a:t>
            </a:r>
            <a:r>
              <a:rPr lang="en-US" sz="1800" dirty="0" smtClean="0"/>
              <a:t>or replacement</a:t>
            </a:r>
            <a:r>
              <a:rPr lang="en-US" sz="1800" dirty="0"/>
              <a:t>, with an emphasis on evaluating the potential </a:t>
            </a:r>
            <a:r>
              <a:rPr lang="en-US" sz="1800" dirty="0" smtClean="0"/>
              <a:t>seriousness and </a:t>
            </a:r>
            <a:r>
              <a:rPr lang="en-US" sz="1800" dirty="0"/>
              <a:t>costliness of addressing any structural or system-related </a:t>
            </a:r>
            <a:r>
              <a:rPr lang="en-US" sz="1800" dirty="0" smtClean="0"/>
              <a:t>problems that </a:t>
            </a:r>
            <a:r>
              <a:rPr lang="en-US" sz="1800" dirty="0"/>
              <a:t>were noted.</a:t>
            </a:r>
          </a:p>
          <a:p>
            <a:r>
              <a:rPr lang="en-US" sz="1800" dirty="0"/>
              <a:t>This report details the condition of the home as it was observed during </a:t>
            </a:r>
            <a:r>
              <a:rPr lang="en-US" sz="1800" dirty="0" smtClean="0"/>
              <a:t>the inspection </a:t>
            </a:r>
            <a:r>
              <a:rPr lang="en-US" sz="1800" dirty="0"/>
              <a:t>on June 27, </a:t>
            </a:r>
            <a:r>
              <a:rPr lang="en-US" sz="1800" dirty="0" err="1"/>
              <a:t>20XX</a:t>
            </a:r>
            <a:r>
              <a:rPr lang="en-US" sz="1800" dirty="0"/>
              <a:t>. As is routine in reports of this nature, we </a:t>
            </a:r>
            <a:r>
              <a:rPr lang="en-US" sz="1800" dirty="0" smtClean="0"/>
              <a:t>have summarized </a:t>
            </a:r>
            <a:r>
              <a:rPr lang="en-US" sz="1800" dirty="0"/>
              <a:t>the overall condition of the house before detailing the </a:t>
            </a:r>
            <a:r>
              <a:rPr lang="en-US" sz="1800" dirty="0" smtClean="0"/>
              <a:t>specific condition </a:t>
            </a:r>
            <a:r>
              <a:rPr lang="en-US" sz="1800" dirty="0"/>
              <a:t>of the various systems of the house. The discussion moves </a:t>
            </a:r>
            <a:r>
              <a:rPr lang="en-US" sz="1800" dirty="0" smtClean="0"/>
              <a:t>from the </a:t>
            </a:r>
            <a:r>
              <a:rPr lang="en-US" sz="1800" dirty="0"/>
              <a:t>exterior of the building to the lower level and then to the main level.</a:t>
            </a:r>
          </a:p>
          <a:p>
            <a:r>
              <a:rPr lang="en-US" sz="1800" dirty="0"/>
              <a:t>The major systems demanding immediate attention are summarized in </a:t>
            </a:r>
            <a:r>
              <a:rPr lang="en-US" sz="1800" dirty="0" smtClean="0"/>
              <a:t>the Recommendations </a:t>
            </a:r>
            <a:r>
              <a:rPr lang="en-US" sz="1800" dirty="0"/>
              <a:t>section of the report. More minor problems are </a:t>
            </a:r>
            <a:r>
              <a:rPr lang="en-US" sz="1800" dirty="0" smtClean="0"/>
              <a:t>noted during </a:t>
            </a:r>
            <a:r>
              <a:rPr lang="en-US" sz="1800" dirty="0"/>
              <a:t>the general description of the survey results.</a:t>
            </a:r>
          </a:p>
          <a:p>
            <a:r>
              <a:rPr lang="en-US" sz="1800" dirty="0"/>
              <a:t>Please note that the following terms are used in the report:</a:t>
            </a:r>
          </a:p>
          <a:p>
            <a:r>
              <a:rPr lang="en-US" sz="1800" b="1" dirty="0"/>
              <a:t>S = serviceable</a:t>
            </a:r>
            <a:r>
              <a:rPr lang="en-US" sz="1800" dirty="0"/>
              <a:t>, meaning the materials and workmanship </a:t>
            </a:r>
            <a:r>
              <a:rPr lang="en-US" sz="1800" dirty="0" smtClean="0"/>
              <a:t>associated with </a:t>
            </a:r>
            <a:r>
              <a:rPr lang="en-US" sz="1800" dirty="0"/>
              <a:t>the part being inspected are acceptable, and it is in </a:t>
            </a:r>
            <a:r>
              <a:rPr lang="en-US" sz="1800" dirty="0" smtClean="0"/>
              <a:t>generally satisfactory </a:t>
            </a:r>
            <a:r>
              <a:rPr lang="en-US" sz="1800" dirty="0"/>
              <a:t>condition.</a:t>
            </a:r>
          </a:p>
          <a:p>
            <a:r>
              <a:rPr lang="en-US" sz="1800" b="1" dirty="0"/>
              <a:t>N = not applicable</a:t>
            </a:r>
            <a:r>
              <a:rPr lang="en-US" sz="1800" dirty="0"/>
              <a:t>, meaning the part does not exist or apply to </a:t>
            </a:r>
            <a:r>
              <a:rPr lang="en-US" sz="1800" dirty="0" smtClean="0"/>
              <a:t>the property</a:t>
            </a:r>
            <a:r>
              <a:rPr lang="en-US" sz="1800" dirty="0"/>
              <a:t>.</a:t>
            </a:r>
          </a:p>
          <a:p>
            <a:r>
              <a:rPr lang="en-US" sz="1800" dirty="0"/>
              <a:t>Also note that the point of reference given to locate a particular </a:t>
            </a:r>
            <a:r>
              <a:rPr lang="en-US" sz="1800" dirty="0" smtClean="0"/>
              <a:t>component is </a:t>
            </a:r>
            <a:r>
              <a:rPr lang="en-US" sz="1800" dirty="0"/>
              <a:t>the front exterior of the building, facing the main entrance (e.g</a:t>
            </a:r>
            <a:r>
              <a:rPr lang="en-US" sz="1800" dirty="0" smtClean="0"/>
              <a:t>., the </a:t>
            </a:r>
            <a:r>
              <a:rPr lang="en-US" sz="1800" dirty="0"/>
              <a:t>sump pump is located in the lower level at the rear right side</a:t>
            </a:r>
            <a:r>
              <a:rPr lang="en-US" sz="1800" dirty="0" smtClean="0"/>
              <a:t>).</a:t>
            </a:r>
            <a:endParaRPr lang="en-US" sz="1800" dirty="0"/>
          </a:p>
        </p:txBody>
      </p:sp>
    </p:spTree>
    <p:extLst>
      <p:ext uri="{BB962C8B-B14F-4D97-AF65-F5344CB8AC3E}">
        <p14:creationId xmlns:p14="http://schemas.microsoft.com/office/powerpoint/2010/main" val="31828940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1710"/>
            <a:ext cx="10515600" cy="4351338"/>
          </a:xfrm>
        </p:spPr>
        <p:txBody>
          <a:bodyPr>
            <a:normAutofit fontScale="92500" lnSpcReduction="10000"/>
          </a:bodyPr>
          <a:lstStyle/>
          <a:p>
            <a:r>
              <a:rPr lang="en-US" b="1" dirty="0"/>
              <a:t>Limitations</a:t>
            </a:r>
          </a:p>
          <a:p>
            <a:r>
              <a:rPr lang="en-US" dirty="0"/>
              <a:t>Please remember that the personal effects of the current owner </a:t>
            </a:r>
            <a:r>
              <a:rPr lang="en-US" dirty="0" smtClean="0"/>
              <a:t>occasionally limited </a:t>
            </a:r>
            <a:r>
              <a:rPr lang="en-US" dirty="0"/>
              <a:t>the scope of the inspection because the inspection </a:t>
            </a:r>
            <a:r>
              <a:rPr lang="en-US" dirty="0" smtClean="0"/>
              <a:t>team was </a:t>
            </a:r>
            <a:r>
              <a:rPr lang="en-US" dirty="0"/>
              <a:t>unable to undertake extensive moving of these effects. However, </a:t>
            </a:r>
            <a:r>
              <a:rPr lang="en-US" dirty="0" smtClean="0"/>
              <a:t>we have </a:t>
            </a:r>
            <a:r>
              <a:rPr lang="en-US" dirty="0"/>
              <a:t>noted in the report those instances when the belongings limited </a:t>
            </a:r>
            <a:r>
              <a:rPr lang="en-US" dirty="0" smtClean="0"/>
              <a:t>the examination</a:t>
            </a:r>
            <a:r>
              <a:rPr lang="en-US" dirty="0"/>
              <a:t>.</a:t>
            </a:r>
          </a:p>
          <a:p>
            <a:r>
              <a:rPr lang="en-US" b="1" dirty="0"/>
              <a:t>Purpose</a:t>
            </a:r>
          </a:p>
          <a:p>
            <a:r>
              <a:rPr lang="en-US" dirty="0"/>
              <a:t>The purpose of this report is to evaluate the overall condition of </a:t>
            </a:r>
            <a:r>
              <a:rPr lang="en-US" dirty="0" smtClean="0"/>
              <a:t>the building </a:t>
            </a:r>
            <a:r>
              <a:rPr lang="en-US" dirty="0"/>
              <a:t>and property at 947 Woodbury Dr. in Winnipeg, MB, and to </a:t>
            </a:r>
            <a:r>
              <a:rPr lang="en-US" dirty="0" smtClean="0"/>
              <a:t>assess the </a:t>
            </a:r>
            <a:r>
              <a:rPr lang="en-US" dirty="0"/>
              <a:t>extent of any structural or system-related problems that will </a:t>
            </a:r>
            <a:r>
              <a:rPr lang="en-US" dirty="0" smtClean="0"/>
              <a:t>require repair </a:t>
            </a:r>
            <a:r>
              <a:rPr lang="en-US" dirty="0"/>
              <a:t>or replacement.</a:t>
            </a:r>
          </a:p>
          <a:p>
            <a:endParaRPr lang="en-US" dirty="0"/>
          </a:p>
        </p:txBody>
      </p:sp>
    </p:spTree>
    <p:extLst>
      <p:ext uri="{BB962C8B-B14F-4D97-AF65-F5344CB8AC3E}">
        <p14:creationId xmlns:p14="http://schemas.microsoft.com/office/powerpoint/2010/main" val="7015690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2213"/>
            <a:ext cx="10515600" cy="4351338"/>
          </a:xfrm>
        </p:spPr>
        <p:txBody>
          <a:bodyPr/>
          <a:lstStyle/>
          <a:p>
            <a:r>
              <a:rPr lang="en-IN" b="1" dirty="0">
                <a:solidFill>
                  <a:srgbClr val="FF0000"/>
                </a:solidFill>
              </a:rPr>
              <a:t>Short Report (for Exam</a:t>
            </a:r>
            <a:r>
              <a:rPr lang="en-IN" b="1" dirty="0" smtClean="0">
                <a:solidFill>
                  <a:srgbClr val="FF0000"/>
                </a:solidFill>
              </a:rPr>
              <a:t>)</a:t>
            </a:r>
            <a:r>
              <a:rPr lang="en-IN" b="1" dirty="0"/>
              <a:t> </a:t>
            </a:r>
            <a:endParaRPr lang="en-IN" b="1" dirty="0" smtClean="0"/>
          </a:p>
          <a:p>
            <a:r>
              <a:rPr lang="en-IN" b="1" dirty="0" smtClean="0"/>
              <a:t>Title</a:t>
            </a:r>
            <a:endParaRPr lang="en-IN" b="1" dirty="0"/>
          </a:p>
          <a:p>
            <a:r>
              <a:rPr lang="en-IN" b="1" dirty="0"/>
              <a:t>Introduction </a:t>
            </a:r>
          </a:p>
          <a:p>
            <a:r>
              <a:rPr lang="en-IN" b="1" dirty="0"/>
              <a:t>Objectives </a:t>
            </a:r>
          </a:p>
          <a:p>
            <a:r>
              <a:rPr lang="en-IN" b="1" dirty="0"/>
              <a:t>Methods </a:t>
            </a:r>
          </a:p>
          <a:p>
            <a:r>
              <a:rPr lang="en-IN" b="1" dirty="0"/>
              <a:t>Findings </a:t>
            </a:r>
          </a:p>
          <a:p>
            <a:r>
              <a:rPr lang="en-IN" b="1" dirty="0"/>
              <a:t>Discussion</a:t>
            </a:r>
          </a:p>
          <a:p>
            <a:r>
              <a:rPr lang="en-IN" b="1" dirty="0"/>
              <a:t>Conclusion and recommendation  </a:t>
            </a:r>
          </a:p>
          <a:p>
            <a:endParaRPr lang="en-GB" dirty="0"/>
          </a:p>
          <a:p>
            <a:endParaRPr lang="en-US" dirty="0"/>
          </a:p>
        </p:txBody>
      </p:sp>
    </p:spTree>
    <p:extLst>
      <p:ext uri="{BB962C8B-B14F-4D97-AF65-F5344CB8AC3E}">
        <p14:creationId xmlns:p14="http://schemas.microsoft.com/office/powerpoint/2010/main" val="21182811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574"/>
            <a:ext cx="10515600" cy="4351338"/>
          </a:xfrm>
        </p:spPr>
        <p:txBody>
          <a:bodyPr>
            <a:noAutofit/>
          </a:bodyPr>
          <a:lstStyle/>
          <a:p>
            <a:r>
              <a:rPr lang="en-US" sz="1600" b="1" dirty="0" smtClean="0"/>
              <a:t>Major Project </a:t>
            </a:r>
            <a:r>
              <a:rPr lang="en-US" sz="1600" b="1" dirty="0"/>
              <a:t>9.4</a:t>
            </a:r>
          </a:p>
          <a:p>
            <a:r>
              <a:rPr lang="en-US" sz="1600" dirty="0"/>
              <a:t>writing a recommendation report</a:t>
            </a:r>
          </a:p>
          <a:p>
            <a:r>
              <a:rPr lang="en-US" sz="1600" dirty="0"/>
              <a:t>Major Project 8.1 (option 2) in Chapter 8 asked you to write a proposal to create a recommendation report based on a topic of your choice. Create the report that you outlined in your proposal. Follow the development plan and work schedule described in your proposal to complete the report.</a:t>
            </a:r>
          </a:p>
          <a:p>
            <a:r>
              <a:rPr lang="en-US" sz="1600" dirty="0"/>
              <a:t>Many of the topics that are covered in this book will be important to consider as you write your report, including document design, adding visuals where appropriate to present statistical or technical data, organizing information, and making your writing clear for specific audiences.</a:t>
            </a:r>
          </a:p>
          <a:p>
            <a:r>
              <a:rPr lang="en-US" sz="1600" dirty="0"/>
              <a:t>Follow the format outlined in this chapter on how to structure a recommendation report.</a:t>
            </a:r>
          </a:p>
          <a:p>
            <a:r>
              <a:rPr lang="en-US" sz="1600" b="1" dirty="0"/>
              <a:t>Purpose and Audience</a:t>
            </a:r>
          </a:p>
          <a:p>
            <a:r>
              <a:rPr lang="en-US" sz="1600" dirty="0"/>
              <a:t>Before you begin, you should have a clear sense of whom your primary and secondary readers are for the report. Include the background information that they will need to understand your discussion, and tailor your arguments to match those that your readers will find convincing and compelling. Also make sure that you understand why you are writing this report and what main points you want to convey to your readers.</a:t>
            </a:r>
          </a:p>
          <a:p>
            <a:r>
              <a:rPr lang="en-US" sz="1600" dirty="0"/>
              <a:t>Use the outline below to structure your report, and draw on the rhetorical appeals discussed in Chapter 4, “Writing technical prose,” to develop and explain the solutions that you found for the problem that you identified and </a:t>
            </a:r>
            <a:r>
              <a:rPr lang="en-US" sz="1600" dirty="0" err="1"/>
              <a:t>analysed</a:t>
            </a:r>
            <a:r>
              <a:rPr lang="en-US" sz="1600" dirty="0"/>
              <a:t>:</a:t>
            </a:r>
          </a:p>
          <a:p>
            <a:r>
              <a:rPr lang="en-US" sz="1600" dirty="0"/>
              <a:t>Letter or memo of transmittal</a:t>
            </a:r>
          </a:p>
          <a:p>
            <a:r>
              <a:rPr lang="en-US" sz="1600" dirty="0" smtClean="0"/>
              <a:t>Title </a:t>
            </a:r>
            <a:r>
              <a:rPr lang="en-US" sz="1600" dirty="0"/>
              <a:t>page</a:t>
            </a:r>
          </a:p>
          <a:p>
            <a:r>
              <a:rPr lang="en-US" sz="1600" dirty="0" smtClean="0"/>
              <a:t>Executive </a:t>
            </a:r>
            <a:r>
              <a:rPr lang="en-US" sz="1600" dirty="0"/>
              <a:t>summary or abstract</a:t>
            </a:r>
          </a:p>
          <a:p>
            <a:r>
              <a:rPr lang="en-US" sz="1600" dirty="0"/>
              <a:t>Recommendations</a:t>
            </a:r>
          </a:p>
          <a:p>
            <a:r>
              <a:rPr lang="en-US" sz="1600" dirty="0" smtClean="0"/>
              <a:t>Body </a:t>
            </a:r>
            <a:r>
              <a:rPr lang="en-US" sz="1600" dirty="0"/>
              <a:t>of report (introduction, scope, methods, results, discussion)</a:t>
            </a:r>
          </a:p>
          <a:p>
            <a:r>
              <a:rPr lang="en-US" sz="1600" dirty="0" smtClean="0"/>
              <a:t>Conclusions</a:t>
            </a:r>
            <a:endParaRPr lang="en-US" sz="1600" dirty="0"/>
          </a:p>
          <a:p>
            <a:r>
              <a:rPr lang="en-US" sz="1600" dirty="0" smtClean="0"/>
              <a:t>Works </a:t>
            </a:r>
            <a:r>
              <a:rPr lang="en-US" sz="1600" dirty="0"/>
              <a:t>cited or references</a:t>
            </a:r>
          </a:p>
          <a:p>
            <a:r>
              <a:rPr lang="en-US" sz="1600" dirty="0" smtClean="0"/>
              <a:t>Appendices</a:t>
            </a:r>
            <a:endParaRPr lang="en-US" sz="1600" dirty="0"/>
          </a:p>
          <a:p>
            <a:endParaRPr lang="en-US" sz="1600" dirty="0"/>
          </a:p>
        </p:txBody>
      </p:sp>
    </p:spTree>
    <p:extLst>
      <p:ext uri="{BB962C8B-B14F-4D97-AF65-F5344CB8AC3E}">
        <p14:creationId xmlns:p14="http://schemas.microsoft.com/office/powerpoint/2010/main" val="24477055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7671"/>
            <a:ext cx="10515600" cy="3299292"/>
          </a:xfrm>
        </p:spPr>
        <p:txBody>
          <a:bodyPr>
            <a:normAutofit/>
          </a:bodyPr>
          <a:lstStyle/>
          <a:p>
            <a:pPr marL="0" indent="0" algn="ctr">
              <a:buNone/>
            </a:pPr>
            <a:r>
              <a:rPr lang="en-US" sz="6600" b="1" dirty="0" smtClean="0">
                <a:solidFill>
                  <a:srgbClr val="FF0000"/>
                </a:solidFill>
              </a:rPr>
              <a:t>THANK YOU</a:t>
            </a:r>
            <a:endParaRPr lang="en-US" sz="6600" b="1" dirty="0">
              <a:solidFill>
                <a:srgbClr val="FF0000"/>
              </a:solidFill>
            </a:endParaRPr>
          </a:p>
        </p:txBody>
      </p:sp>
    </p:spTree>
    <p:extLst>
      <p:ext uri="{BB962C8B-B14F-4D97-AF65-F5344CB8AC3E}">
        <p14:creationId xmlns:p14="http://schemas.microsoft.com/office/powerpoint/2010/main" val="1010319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5638</TotalTime>
  <Words>2946</Words>
  <Application>Microsoft Office PowerPoint</Application>
  <PresentationFormat>Custom</PresentationFormat>
  <Paragraphs>163</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Chapter- Nine- Reporting Technical Information </vt:lpstr>
      <vt:lpstr>Reporting technical information </vt:lpstr>
      <vt:lpstr>Stages in Writing Report</vt:lpstr>
      <vt:lpstr>Types of technical reports</vt:lpstr>
      <vt:lpstr>1. Status or progress reports</vt:lpstr>
      <vt:lpstr>Purpose of Status Report</vt:lpstr>
      <vt:lpstr>Content of status report</vt:lpstr>
      <vt:lpstr>Format</vt:lpstr>
      <vt:lpstr>PowerPoint Presentation</vt:lpstr>
      <vt:lpstr>PowerPoint Presentation</vt:lpstr>
      <vt:lpstr>PowerPoint Presentation</vt:lpstr>
      <vt:lpstr>2. White papers or information reports</vt:lpstr>
      <vt:lpstr>What are some useful strategies that will increase the effectiveness of your white paper?</vt:lpstr>
      <vt:lpstr>PowerPoint Presentation</vt:lpstr>
      <vt:lpstr>PowerPoint Presentation</vt:lpstr>
      <vt:lpstr>Example </vt:lpstr>
      <vt:lpstr>PowerPoint Presentation</vt:lpstr>
      <vt:lpstr>PowerPoint Presentation</vt:lpstr>
      <vt:lpstr>PowerPoint Presentation</vt:lpstr>
      <vt:lpstr>3. The Laboratory Report</vt:lpstr>
      <vt:lpstr>The Laboratory Notebook</vt:lpstr>
      <vt:lpstr>Your laboratory notebook should have the following qualities</vt:lpstr>
      <vt:lpstr>Format </vt:lpstr>
      <vt:lpstr>PowerPoint Presentation</vt:lpstr>
      <vt:lpstr>PowerPoint Presentation</vt:lpstr>
      <vt:lpstr>PowerPoint Presentation</vt:lpstr>
      <vt:lpstr>4. Recommendation Reports</vt:lpstr>
      <vt:lpstr>Format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568</cp:revision>
  <dcterms:created xsi:type="dcterms:W3CDTF">2023-01-05T15:29:22Z</dcterms:created>
  <dcterms:modified xsi:type="dcterms:W3CDTF">2025-01-25T11:48:47Z</dcterms:modified>
</cp:coreProperties>
</file>