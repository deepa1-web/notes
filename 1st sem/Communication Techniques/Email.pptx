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32" r:id="rId2"/>
    <p:sldId id="350" r:id="rId3"/>
    <p:sldId id="333" r:id="rId4"/>
    <p:sldId id="334" r:id="rId5"/>
    <p:sldId id="335" r:id="rId6"/>
    <p:sldId id="336" r:id="rId7"/>
    <p:sldId id="337" r:id="rId8"/>
    <p:sldId id="338" r:id="rId9"/>
    <p:sldId id="339" r:id="rId10"/>
    <p:sldId id="340" r:id="rId11"/>
    <p:sldId id="341" r:id="rId12"/>
    <p:sldId id="342" r:id="rId13"/>
    <p:sldId id="343" r:id="rId14"/>
    <p:sldId id="385" r:id="rId15"/>
    <p:sldId id="349" r:id="rId16"/>
    <p:sldId id="352" r:id="rId17"/>
    <p:sldId id="353" r:id="rId18"/>
    <p:sldId id="387" r:id="rId19"/>
    <p:sldId id="30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7" d="100"/>
          <a:sy n="77" d="100"/>
        </p:scale>
        <p:origin x="-378"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E0A3DD0-57A4-41AE-AB77-16A73E353C09}"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1156731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0A3DD0-57A4-41AE-AB77-16A73E353C09}"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2955430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E0A3DD0-57A4-41AE-AB77-16A73E353C09}"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1004595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0A3DD0-57A4-41AE-AB77-16A73E353C09}"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3741826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E0A3DD0-57A4-41AE-AB77-16A73E353C09}" type="datetimeFigureOut">
              <a:rPr lang="en-US" smtClean="0"/>
              <a:t>12/28/2024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2013467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0A3DD0-57A4-41AE-AB77-16A73E353C09}" type="datetimeFigureOut">
              <a:rPr lang="en-US" smtClean="0"/>
              <a:t>12/28/2024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1879606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0A3DD0-57A4-41AE-AB77-16A73E353C09}" type="datetimeFigureOut">
              <a:rPr lang="en-US" smtClean="0"/>
              <a:t>12/28/2024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2012635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0A3DD0-57A4-41AE-AB77-16A73E353C09}"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327688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0A3DD0-57A4-41AE-AB77-16A73E353C09}"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331292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0A3DD0-57A4-41AE-AB77-16A73E353C09}"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415711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0A3DD0-57A4-41AE-AB77-16A73E353C09}"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9E9C80-8E07-42DD-B898-4190708A9C88}" type="slidenum">
              <a:rPr lang="en-US" smtClean="0"/>
              <a:t>‹#›</a:t>
            </a:fld>
            <a:endParaRPr lang="en-US"/>
          </a:p>
        </p:txBody>
      </p:sp>
    </p:spTree>
    <p:extLst>
      <p:ext uri="{BB962C8B-B14F-4D97-AF65-F5344CB8AC3E}">
        <p14:creationId xmlns:p14="http://schemas.microsoft.com/office/powerpoint/2010/main" val="4006216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0A3DD0-57A4-41AE-AB77-16A73E353C09}" type="datetimeFigureOut">
              <a:rPr lang="en-US" smtClean="0"/>
              <a:t>12/28/2024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9E9C80-8E07-42DD-B898-4190708A9C88}" type="slidenum">
              <a:rPr lang="en-US" smtClean="0"/>
              <a:t>‹#›</a:t>
            </a:fld>
            <a:endParaRPr lang="en-US"/>
          </a:p>
        </p:txBody>
      </p:sp>
    </p:spTree>
    <p:extLst>
      <p:ext uri="{BB962C8B-B14F-4D97-AF65-F5344CB8AC3E}">
        <p14:creationId xmlns:p14="http://schemas.microsoft.com/office/powerpoint/2010/main" val="69090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mailto:sara@climbyoureverest.or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2.3 Using Email</a:t>
            </a:r>
          </a:p>
        </p:txBody>
      </p:sp>
      <p:sp>
        <p:nvSpPr>
          <p:cNvPr id="3" name="Content Placeholder 2"/>
          <p:cNvSpPr>
            <a:spLocks noGrp="1"/>
          </p:cNvSpPr>
          <p:nvPr>
            <p:ph idx="1"/>
          </p:nvPr>
        </p:nvSpPr>
        <p:spPr>
          <a:xfrm>
            <a:off x="838200" y="1825624"/>
            <a:ext cx="10515600" cy="4792889"/>
          </a:xfrm>
        </p:spPr>
        <p:txBody>
          <a:bodyPr>
            <a:normAutofit/>
          </a:bodyPr>
          <a:lstStyle/>
          <a:p>
            <a:r>
              <a:rPr lang="en-US" dirty="0"/>
              <a:t>Electronic mail</a:t>
            </a:r>
          </a:p>
          <a:p>
            <a:r>
              <a:rPr lang="en-US" dirty="0"/>
              <a:t>Message is sent/received through the internet</a:t>
            </a:r>
          </a:p>
          <a:p>
            <a:r>
              <a:rPr lang="en-US" dirty="0"/>
              <a:t>Email applications: Gmail, Yahoo! and Hotmail </a:t>
            </a:r>
          </a:p>
          <a:p>
            <a:endParaRPr lang="en-US" dirty="0"/>
          </a:p>
          <a:p>
            <a:endParaRPr lang="en-US" dirty="0"/>
          </a:p>
          <a:p>
            <a:endParaRPr lang="en-US" dirty="0"/>
          </a:p>
          <a:p>
            <a:r>
              <a:rPr lang="en-US" dirty="0"/>
              <a:t>Easy, immediate (only a few seconds) and cheap</a:t>
            </a:r>
          </a:p>
          <a:p>
            <a:r>
              <a:rPr lang="en-US" dirty="0"/>
              <a:t>Attach documents, reports, images etc.</a:t>
            </a:r>
          </a:p>
          <a:p>
            <a:r>
              <a:rPr lang="en-US" dirty="0"/>
              <a:t>Can be sent to more than one recipients</a:t>
            </a:r>
          </a:p>
          <a:p>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040" y="3414702"/>
            <a:ext cx="2457450" cy="114483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7227" y="3348448"/>
            <a:ext cx="2277275" cy="127733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352" y="3335563"/>
            <a:ext cx="2393337" cy="1290224"/>
          </a:xfrm>
          <a:prstGeom prst="rect">
            <a:avLst/>
          </a:prstGeom>
        </p:spPr>
      </p:pic>
    </p:spTree>
    <p:extLst>
      <p:ext uri="{BB962C8B-B14F-4D97-AF65-F5344CB8AC3E}">
        <p14:creationId xmlns:p14="http://schemas.microsoft.com/office/powerpoint/2010/main" val="394844483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557337"/>
            <a:ext cx="4534294" cy="1280890"/>
          </a:xfrm>
        </p:spPr>
        <p:txBody>
          <a:bodyPr>
            <a:normAutofit fontScale="90000"/>
          </a:bodyPr>
          <a:lstStyle/>
          <a:p>
            <a:r>
              <a:rPr lang="en-US" b="1" dirty="0" smtClean="0">
                <a:solidFill>
                  <a:srgbClr val="C00000"/>
                </a:solidFill>
              </a:rPr>
              <a:t>…</a:t>
            </a:r>
            <a:r>
              <a:rPr lang="en-GB" b="1" dirty="0">
                <a:solidFill>
                  <a:srgbClr val="C00000"/>
                </a:solidFill>
              </a:rPr>
              <a:t/>
            </a:r>
            <a:br>
              <a:rPr lang="en-GB" b="1" dirty="0">
                <a:solidFill>
                  <a:srgbClr val="C00000"/>
                </a:solidFill>
              </a:rPr>
            </a:br>
            <a:endParaRPr lang="en-GB" dirty="0"/>
          </a:p>
        </p:txBody>
      </p:sp>
      <p:sp>
        <p:nvSpPr>
          <p:cNvPr id="3" name="Content Placeholder 2"/>
          <p:cNvSpPr>
            <a:spLocks noGrp="1"/>
          </p:cNvSpPr>
          <p:nvPr>
            <p:ph idx="1"/>
          </p:nvPr>
        </p:nvSpPr>
        <p:spPr>
          <a:xfrm>
            <a:off x="669304" y="1237129"/>
            <a:ext cx="5307290" cy="5456295"/>
          </a:xfrm>
        </p:spPr>
        <p:txBody>
          <a:bodyPr>
            <a:noAutofit/>
          </a:bodyPr>
          <a:lstStyle/>
          <a:p>
            <a:r>
              <a:rPr lang="en-US" sz="2900" b="1" dirty="0"/>
              <a:t>Emails have become the </a:t>
            </a:r>
            <a:r>
              <a:rPr lang="en-US" sz="2900" b="1" dirty="0" smtClean="0"/>
              <a:t>easy</a:t>
            </a:r>
            <a:r>
              <a:rPr lang="en-US" sz="2900" b="1" dirty="0" smtClean="0"/>
              <a:t> </a:t>
            </a:r>
            <a:r>
              <a:rPr lang="en-US" sz="2900" b="1" dirty="0"/>
              <a:t>form of communication inside and outside of an </a:t>
            </a:r>
            <a:r>
              <a:rPr lang="en-US" sz="2900" b="1" dirty="0" smtClean="0"/>
              <a:t>organization</a:t>
            </a:r>
            <a:endParaRPr lang="en-GB" sz="2900" b="1" dirty="0"/>
          </a:p>
          <a:p>
            <a:r>
              <a:rPr lang="en-GB" sz="2900" b="1" dirty="0"/>
              <a:t>Replacing letters </a:t>
            </a:r>
            <a:r>
              <a:rPr lang="en-GB" sz="2900" b="1" dirty="0" smtClean="0"/>
              <a:t>and </a:t>
            </a:r>
            <a:r>
              <a:rPr lang="en-GB" sz="2900" b="1" dirty="0"/>
              <a:t>memos</a:t>
            </a:r>
          </a:p>
          <a:p>
            <a:r>
              <a:rPr lang="en-GB" sz="2900" b="1" dirty="0" smtClean="0"/>
              <a:t>Fast</a:t>
            </a:r>
            <a:r>
              <a:rPr lang="en-GB" sz="2900" b="1" dirty="0"/>
              <a:t>, secure and confidential</a:t>
            </a:r>
          </a:p>
          <a:p>
            <a:r>
              <a:rPr lang="en-GB" sz="2900" b="1" dirty="0"/>
              <a:t>Quicker feedback</a:t>
            </a:r>
          </a:p>
          <a:p>
            <a:r>
              <a:rPr lang="en-GB" sz="2900" b="1" dirty="0"/>
              <a:t>Formal as well as informal purpose</a:t>
            </a:r>
          </a:p>
          <a:p>
            <a:r>
              <a:rPr lang="en-GB" sz="2900" b="1" dirty="0"/>
              <a:t>C</a:t>
            </a:r>
            <a:r>
              <a:rPr lang="en-GB" sz="2900" b="1" dirty="0" smtClean="0"/>
              <a:t>an </a:t>
            </a:r>
            <a:r>
              <a:rPr lang="en-GB" sz="2900" b="1" dirty="0"/>
              <a:t>attach </a:t>
            </a:r>
            <a:r>
              <a:rPr lang="en-GB" sz="2900" b="1" dirty="0" smtClean="0"/>
              <a:t>the documents </a:t>
            </a:r>
            <a:endParaRPr lang="en-GB" sz="2900" b="1" dirty="0"/>
          </a:p>
          <a:p>
            <a:endParaRPr lang="en-GB" sz="2900" dirty="0"/>
          </a:p>
        </p:txBody>
      </p:sp>
      <p:pic>
        <p:nvPicPr>
          <p:cNvPr id="4" name="Picture 2"/>
          <p:cNvPicPr>
            <a:picLocks noChangeAspect="1" noChangeArrowheads="1"/>
          </p:cNvPicPr>
          <p:nvPr/>
        </p:nvPicPr>
        <p:blipFill rotWithShape="1">
          <a:blip r:embed="rId2" cstate="print"/>
          <a:srcRect l="21825" t="36192" r="21617" b="5717"/>
          <a:stretch/>
        </p:blipFill>
        <p:spPr bwMode="auto">
          <a:xfrm>
            <a:off x="5906079" y="1075210"/>
            <a:ext cx="5920032" cy="52416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1031017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Importance</a:t>
            </a:r>
          </a:p>
        </p:txBody>
      </p:sp>
      <p:sp>
        <p:nvSpPr>
          <p:cNvPr id="3" name="Content Placeholder 2"/>
          <p:cNvSpPr>
            <a:spLocks noGrp="1"/>
          </p:cNvSpPr>
          <p:nvPr>
            <p:ph idx="1"/>
          </p:nvPr>
        </p:nvSpPr>
        <p:spPr>
          <a:xfrm>
            <a:off x="838200" y="1578484"/>
            <a:ext cx="10515600" cy="4655857"/>
          </a:xfrm>
        </p:spPr>
        <p:txBody>
          <a:bodyPr>
            <a:normAutofit/>
          </a:bodyPr>
          <a:lstStyle/>
          <a:p>
            <a:r>
              <a:rPr lang="en-US" b="1" dirty="0"/>
              <a:t>Saves </a:t>
            </a:r>
            <a:r>
              <a:rPr lang="en-US" b="1" dirty="0" smtClean="0"/>
              <a:t>money and </a:t>
            </a:r>
            <a:r>
              <a:rPr lang="en-US" b="1" dirty="0"/>
              <a:t>time</a:t>
            </a:r>
          </a:p>
          <a:p>
            <a:r>
              <a:rPr lang="en-US" b="1" dirty="0" smtClean="0"/>
              <a:t>Prompt </a:t>
            </a:r>
            <a:r>
              <a:rPr lang="en-US" b="1" dirty="0"/>
              <a:t>response</a:t>
            </a:r>
          </a:p>
          <a:p>
            <a:r>
              <a:rPr lang="en-US" b="1" dirty="0"/>
              <a:t>No need to speak to recipient</a:t>
            </a:r>
          </a:p>
          <a:p>
            <a:r>
              <a:rPr lang="en-US" b="1" dirty="0"/>
              <a:t>Messages can be marked as urgent</a:t>
            </a:r>
          </a:p>
          <a:p>
            <a:r>
              <a:rPr lang="en-US" b="1" dirty="0"/>
              <a:t>Messages can be read as </a:t>
            </a:r>
            <a:r>
              <a:rPr lang="en-US" b="1" dirty="0" smtClean="0"/>
              <a:t>useful</a:t>
            </a:r>
            <a:endParaRPr lang="en-US" b="1" dirty="0"/>
          </a:p>
          <a:p>
            <a:r>
              <a:rPr lang="en-US" b="1" dirty="0"/>
              <a:t>Incoming messages are saved</a:t>
            </a:r>
          </a:p>
          <a:p>
            <a:r>
              <a:rPr lang="en-US" b="1" dirty="0"/>
              <a:t>Emails reduce volume of paper</a:t>
            </a:r>
          </a:p>
          <a:p>
            <a:r>
              <a:rPr lang="en-US" b="1" dirty="0"/>
              <a:t>Can be sent to many recipients</a:t>
            </a:r>
          </a:p>
          <a:p>
            <a:r>
              <a:rPr lang="en-US" b="1" dirty="0"/>
              <a:t>Forward the information</a:t>
            </a:r>
          </a:p>
          <a:p>
            <a:endParaRPr lang="en-US" dirty="0"/>
          </a:p>
          <a:p>
            <a:endParaRPr lang="en-US" dirty="0"/>
          </a:p>
        </p:txBody>
      </p:sp>
    </p:spTree>
    <p:extLst>
      <p:ext uri="{BB962C8B-B14F-4D97-AF65-F5344CB8AC3E}">
        <p14:creationId xmlns:p14="http://schemas.microsoft.com/office/powerpoint/2010/main" val="679485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Tips </a:t>
            </a:r>
            <a:r>
              <a:rPr lang="en-US" b="1" dirty="0">
                <a:solidFill>
                  <a:srgbClr val="FF0000"/>
                </a:solidFill>
              </a:rPr>
              <a:t>for writing effective email messages</a:t>
            </a:r>
          </a:p>
        </p:txBody>
      </p:sp>
      <p:sp>
        <p:nvSpPr>
          <p:cNvPr id="3" name="Content Placeholder 2"/>
          <p:cNvSpPr>
            <a:spLocks noGrp="1"/>
          </p:cNvSpPr>
          <p:nvPr>
            <p:ph idx="1"/>
          </p:nvPr>
        </p:nvSpPr>
        <p:spPr/>
        <p:txBody>
          <a:bodyPr/>
          <a:lstStyle/>
          <a:p>
            <a:r>
              <a:rPr lang="en-US" b="1" dirty="0"/>
              <a:t>Keep business and personal email </a:t>
            </a:r>
            <a:r>
              <a:rPr lang="en-US" b="1" dirty="0" smtClean="0"/>
              <a:t>separate.</a:t>
            </a:r>
          </a:p>
          <a:p>
            <a:r>
              <a:rPr lang="en-US" b="1" dirty="0"/>
              <a:t>Think twice before </a:t>
            </a:r>
            <a:r>
              <a:rPr lang="en-US" b="1" dirty="0" smtClean="0"/>
              <a:t>you hit “send.”</a:t>
            </a:r>
          </a:p>
          <a:p>
            <a:r>
              <a:rPr lang="en-US" b="1" dirty="0"/>
              <a:t>Proofread before you </a:t>
            </a:r>
            <a:r>
              <a:rPr lang="en-US" b="1" dirty="0" smtClean="0"/>
              <a:t>send.</a:t>
            </a:r>
          </a:p>
          <a:p>
            <a:r>
              <a:rPr lang="en-US" b="1" dirty="0" smtClean="0"/>
              <a:t>Keep </a:t>
            </a:r>
            <a:r>
              <a:rPr lang="en-US" b="1" dirty="0"/>
              <a:t>private information </a:t>
            </a:r>
            <a:r>
              <a:rPr lang="en-US" b="1" dirty="0" smtClean="0"/>
              <a:t>confidential.</a:t>
            </a:r>
          </a:p>
          <a:p>
            <a:r>
              <a:rPr lang="en-US" b="1" dirty="0"/>
              <a:t>Write informative subject lines.</a:t>
            </a:r>
          </a:p>
        </p:txBody>
      </p:sp>
    </p:spTree>
    <p:extLst>
      <p:ext uri="{BB962C8B-B14F-4D97-AF65-F5344CB8AC3E}">
        <p14:creationId xmlns:p14="http://schemas.microsoft.com/office/powerpoint/2010/main" val="25501522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6891" t="23727" r="22649" b="5092"/>
          <a:stretch/>
        </p:blipFill>
        <p:spPr>
          <a:xfrm>
            <a:off x="143435" y="0"/>
            <a:ext cx="11985812" cy="6687671"/>
          </a:xfrm>
          <a:prstGeom prst="rect">
            <a:avLst/>
          </a:prstGeom>
          <a:ln>
            <a:noFill/>
          </a:ln>
          <a:effectLst>
            <a:softEdge rad="112500"/>
          </a:effectLst>
        </p:spPr>
      </p:pic>
    </p:spTree>
    <p:extLst>
      <p:ext uri="{BB962C8B-B14F-4D97-AF65-F5344CB8AC3E}">
        <p14:creationId xmlns:p14="http://schemas.microsoft.com/office/powerpoint/2010/main" val="23370871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6625" t="17794" r="20780" b="32615"/>
          <a:stretch/>
        </p:blipFill>
        <p:spPr>
          <a:xfrm>
            <a:off x="215153" y="62753"/>
            <a:ext cx="11976847" cy="6678706"/>
          </a:xfrm>
          <a:prstGeom prst="rect">
            <a:avLst/>
          </a:prstGeom>
          <a:ln>
            <a:noFill/>
          </a:ln>
          <a:effectLst>
            <a:softEdge rad="112500"/>
          </a:effectLst>
        </p:spPr>
      </p:pic>
    </p:spTree>
    <p:extLst>
      <p:ext uri="{BB962C8B-B14F-4D97-AF65-F5344CB8AC3E}">
        <p14:creationId xmlns:p14="http://schemas.microsoft.com/office/powerpoint/2010/main" val="9781277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6757" t="18508" r="21581" b="4616"/>
          <a:stretch/>
        </p:blipFill>
        <p:spPr>
          <a:xfrm>
            <a:off x="224118" y="107576"/>
            <a:ext cx="11860306" cy="66338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408119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Some important things to pay attention</a:t>
            </a:r>
          </a:p>
        </p:txBody>
      </p:sp>
      <p:sp>
        <p:nvSpPr>
          <p:cNvPr id="3" name="Content Placeholder 2"/>
          <p:cNvSpPr>
            <a:spLocks noGrp="1"/>
          </p:cNvSpPr>
          <p:nvPr>
            <p:ph idx="1"/>
          </p:nvPr>
        </p:nvSpPr>
        <p:spPr/>
        <p:txBody>
          <a:bodyPr/>
          <a:lstStyle/>
          <a:p>
            <a:pPr marL="514350" indent="-514350">
              <a:buAutoNum type="alphaUcPeriod"/>
            </a:pPr>
            <a:r>
              <a:rPr lang="en-US" b="1" dirty="0"/>
              <a:t>Format</a:t>
            </a:r>
          </a:p>
          <a:p>
            <a:pPr marL="514350" indent="-514350">
              <a:buAutoNum type="alphaUcPeriod"/>
            </a:pPr>
            <a:r>
              <a:rPr lang="en-US" b="1" dirty="0"/>
              <a:t>Tone</a:t>
            </a:r>
          </a:p>
          <a:p>
            <a:pPr marL="514350" indent="-514350">
              <a:buAutoNum type="alphaUcPeriod"/>
            </a:pPr>
            <a:r>
              <a:rPr lang="en-US" b="1" dirty="0"/>
              <a:t>Netiquette</a:t>
            </a:r>
          </a:p>
          <a:p>
            <a:pPr marL="514350" indent="-514350">
              <a:buAutoNum type="alphaUcPeriod"/>
            </a:pPr>
            <a:r>
              <a:rPr lang="en-US" b="1" dirty="0"/>
              <a:t>Language</a:t>
            </a:r>
          </a:p>
          <a:p>
            <a:pPr marL="514350" indent="-514350">
              <a:buAutoNum type="alphaUcPeriod"/>
            </a:pPr>
            <a:r>
              <a:rPr lang="en-US" b="1" dirty="0"/>
              <a:t>Managing your email account</a:t>
            </a:r>
          </a:p>
        </p:txBody>
      </p:sp>
    </p:spTree>
    <p:extLst>
      <p:ext uri="{BB962C8B-B14F-4D97-AF65-F5344CB8AC3E}">
        <p14:creationId xmlns:p14="http://schemas.microsoft.com/office/powerpoint/2010/main" val="37653692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 Format</a:t>
            </a:r>
          </a:p>
        </p:txBody>
      </p:sp>
      <p:sp>
        <p:nvSpPr>
          <p:cNvPr id="3" name="Content Placeholder 2"/>
          <p:cNvSpPr>
            <a:spLocks noGrp="1"/>
          </p:cNvSpPr>
          <p:nvPr>
            <p:ph idx="1"/>
          </p:nvPr>
        </p:nvSpPr>
        <p:spPr/>
        <p:txBody>
          <a:bodyPr/>
          <a:lstStyle/>
          <a:p>
            <a:r>
              <a:rPr lang="en-US" dirty="0"/>
              <a:t>Avoid long and complex emails</a:t>
            </a:r>
          </a:p>
          <a:p>
            <a:r>
              <a:rPr lang="en-US" dirty="0"/>
              <a:t>Format to help access and read the message</a:t>
            </a:r>
          </a:p>
          <a:p>
            <a:r>
              <a:rPr lang="en-US" dirty="0"/>
              <a:t>Be careful when using unusual fonts or colors</a:t>
            </a:r>
          </a:p>
        </p:txBody>
      </p:sp>
    </p:spTree>
    <p:extLst>
      <p:ext uri="{BB962C8B-B14F-4D97-AF65-F5344CB8AC3E}">
        <p14:creationId xmlns:p14="http://schemas.microsoft.com/office/powerpoint/2010/main" val="4801630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 Tone </a:t>
            </a:r>
          </a:p>
        </p:txBody>
      </p:sp>
      <p:sp>
        <p:nvSpPr>
          <p:cNvPr id="3" name="Content Placeholder 2"/>
          <p:cNvSpPr>
            <a:spLocks noGrp="1"/>
          </p:cNvSpPr>
          <p:nvPr>
            <p:ph idx="1"/>
          </p:nvPr>
        </p:nvSpPr>
        <p:spPr/>
        <p:txBody>
          <a:bodyPr/>
          <a:lstStyle/>
          <a:p>
            <a:r>
              <a:rPr lang="en-US" dirty="0"/>
              <a:t>Generally, less formal than standard letters</a:t>
            </a:r>
          </a:p>
          <a:p>
            <a:r>
              <a:rPr lang="en-US" dirty="0"/>
              <a:t>Business emails need to be formal</a:t>
            </a:r>
          </a:p>
          <a:p>
            <a:r>
              <a:rPr lang="en-US" dirty="0"/>
              <a:t>Recipient, nature and purpose of message determines the tone</a:t>
            </a:r>
          </a:p>
          <a:p>
            <a:pPr marL="0" indent="0">
              <a:buNone/>
            </a:pPr>
            <a:endParaRPr lang="en-US" dirty="0"/>
          </a:p>
        </p:txBody>
      </p:sp>
    </p:spTree>
    <p:extLst>
      <p:ext uri="{BB962C8B-B14F-4D97-AF65-F5344CB8AC3E}">
        <p14:creationId xmlns:p14="http://schemas.microsoft.com/office/powerpoint/2010/main" val="37538988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 Netiquette</a:t>
            </a:r>
          </a:p>
        </p:txBody>
      </p:sp>
      <p:sp>
        <p:nvSpPr>
          <p:cNvPr id="3" name="Content Placeholder 2"/>
          <p:cNvSpPr>
            <a:spLocks noGrp="1"/>
          </p:cNvSpPr>
          <p:nvPr>
            <p:ph idx="1"/>
          </p:nvPr>
        </p:nvSpPr>
        <p:spPr/>
        <p:txBody>
          <a:bodyPr/>
          <a:lstStyle/>
          <a:p>
            <a:r>
              <a:rPr lang="en-US" dirty="0"/>
              <a:t>Make the message easy and understandable</a:t>
            </a:r>
          </a:p>
          <a:p>
            <a:r>
              <a:rPr lang="en-US" dirty="0"/>
              <a:t>Use decent language</a:t>
            </a:r>
          </a:p>
          <a:p>
            <a:r>
              <a:rPr lang="en-US" dirty="0"/>
              <a:t>Do not </a:t>
            </a:r>
            <a:r>
              <a:rPr lang="en-US" dirty="0" smtClean="0"/>
              <a:t>spam (unsolicited mail)</a:t>
            </a:r>
            <a:endParaRPr lang="en-US" dirty="0"/>
          </a:p>
          <a:p>
            <a:r>
              <a:rPr lang="en-US" dirty="0"/>
              <a:t>Use email header carefully (must reflect the content of the body)</a:t>
            </a:r>
          </a:p>
          <a:p>
            <a:r>
              <a:rPr lang="en-US" dirty="0"/>
              <a:t>Avoid over use of emoticons, slangs and abbreviations</a:t>
            </a:r>
          </a:p>
          <a:p>
            <a:r>
              <a:rPr lang="en-US" dirty="0"/>
              <a:t>Respect the privacy of others</a:t>
            </a:r>
          </a:p>
          <a:p>
            <a:endParaRPr lang="en-US" dirty="0"/>
          </a:p>
        </p:txBody>
      </p:sp>
    </p:spTree>
    <p:extLst>
      <p:ext uri="{BB962C8B-B14F-4D97-AF65-F5344CB8AC3E}">
        <p14:creationId xmlns:p14="http://schemas.microsoft.com/office/powerpoint/2010/main" val="12909573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 Language</a:t>
            </a:r>
          </a:p>
        </p:txBody>
      </p:sp>
      <p:sp>
        <p:nvSpPr>
          <p:cNvPr id="3" name="Content Placeholder 2"/>
          <p:cNvSpPr>
            <a:spLocks noGrp="1"/>
          </p:cNvSpPr>
          <p:nvPr>
            <p:ph idx="1"/>
          </p:nvPr>
        </p:nvSpPr>
        <p:spPr/>
        <p:txBody>
          <a:bodyPr/>
          <a:lstStyle/>
          <a:p>
            <a:r>
              <a:rPr lang="en-US" dirty="0"/>
              <a:t>Business letters in formal language</a:t>
            </a:r>
          </a:p>
          <a:p>
            <a:r>
              <a:rPr lang="en-US" dirty="0"/>
              <a:t>Pay attention to grammar, spelling and capitalization</a:t>
            </a:r>
          </a:p>
          <a:p>
            <a:r>
              <a:rPr lang="en-US" dirty="0"/>
              <a:t>Avoid using acronyms like LOL, BTW,  </a:t>
            </a:r>
            <a:r>
              <a:rPr lang="en-US" dirty="0" err="1"/>
              <a:t>Gr8</a:t>
            </a:r>
            <a:r>
              <a:rPr lang="en-US" dirty="0"/>
              <a:t> </a:t>
            </a:r>
            <a:r>
              <a:rPr lang="en-US" dirty="0" smtClean="0"/>
              <a:t>etc</a:t>
            </a:r>
            <a:r>
              <a:rPr lang="en-US" dirty="0"/>
              <a:t>.</a:t>
            </a:r>
          </a:p>
          <a:p>
            <a:endParaRPr lang="en-US" dirty="0"/>
          </a:p>
        </p:txBody>
      </p:sp>
    </p:spTree>
    <p:extLst>
      <p:ext uri="{BB962C8B-B14F-4D97-AF65-F5344CB8AC3E}">
        <p14:creationId xmlns:p14="http://schemas.microsoft.com/office/powerpoint/2010/main" val="21381811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 Managing your email account</a:t>
            </a:r>
          </a:p>
        </p:txBody>
      </p:sp>
      <p:sp>
        <p:nvSpPr>
          <p:cNvPr id="3" name="Content Placeholder 2"/>
          <p:cNvSpPr>
            <a:spLocks noGrp="1"/>
          </p:cNvSpPr>
          <p:nvPr>
            <p:ph idx="1"/>
          </p:nvPr>
        </p:nvSpPr>
        <p:spPr/>
        <p:txBody>
          <a:bodyPr/>
          <a:lstStyle/>
          <a:p>
            <a:r>
              <a:rPr lang="en-US" dirty="0"/>
              <a:t>Activate your signature file (to save time)</a:t>
            </a:r>
          </a:p>
          <a:p>
            <a:r>
              <a:rPr lang="en-US" dirty="0"/>
              <a:t>Don’t keep messages pile up in your inbox</a:t>
            </a:r>
          </a:p>
          <a:p>
            <a:r>
              <a:rPr lang="en-US" dirty="0"/>
              <a:t>Be careful about what to write  in email</a:t>
            </a:r>
          </a:p>
          <a:p>
            <a:r>
              <a:rPr lang="en-US" dirty="0"/>
              <a:t>Keep up-to-date on email features </a:t>
            </a:r>
          </a:p>
        </p:txBody>
      </p:sp>
    </p:spTree>
    <p:extLst>
      <p:ext uri="{BB962C8B-B14F-4D97-AF65-F5344CB8AC3E}">
        <p14:creationId xmlns:p14="http://schemas.microsoft.com/office/powerpoint/2010/main" val="9358478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376" y="365125"/>
            <a:ext cx="10179424" cy="4637181"/>
          </a:xfrm>
        </p:spPr>
        <p:txBody>
          <a:bodyPr>
            <a:normAutofit/>
          </a:bodyPr>
          <a:lstStyle/>
          <a:p>
            <a:r>
              <a:rPr lang="en-US" sz="6000" b="1" dirty="0">
                <a:solidFill>
                  <a:srgbClr val="C00000"/>
                </a:solidFill>
                <a:latin typeface="Arial Black" panose="020B0A04020102020204" pitchFamily="34" charset="0"/>
              </a:rPr>
              <a:t>Samples</a:t>
            </a:r>
            <a:r>
              <a:rPr lang="en-US" sz="6000" b="1" dirty="0">
                <a:solidFill>
                  <a:srgbClr val="C00000"/>
                </a:solidFill>
              </a:rPr>
              <a:t> </a:t>
            </a:r>
            <a:r>
              <a:rPr lang="en-GB" sz="6000" b="1" dirty="0">
                <a:solidFill>
                  <a:srgbClr val="C00000"/>
                </a:solidFill>
              </a:rPr>
              <a:t/>
            </a:r>
            <a:br>
              <a:rPr lang="en-GB" sz="6000" b="1" dirty="0">
                <a:solidFill>
                  <a:srgbClr val="C00000"/>
                </a:solidFill>
              </a:rPr>
            </a:br>
            <a:endParaRPr lang="en-US" sz="6000" dirty="0"/>
          </a:p>
        </p:txBody>
      </p:sp>
    </p:spTree>
    <p:extLst>
      <p:ext uri="{BB962C8B-B14F-4D97-AF65-F5344CB8AC3E}">
        <p14:creationId xmlns:p14="http://schemas.microsoft.com/office/powerpoint/2010/main" val="40948534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rotWithShape="1">
          <a:blip r:embed="rId2"/>
          <a:srcRect l="11172" t="16836" r="35795" b="10768"/>
          <a:stretch/>
        </p:blipFill>
        <p:spPr>
          <a:xfrm>
            <a:off x="0" y="0"/>
            <a:ext cx="12192000" cy="672352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00891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4447" y="188258"/>
            <a:ext cx="11797553" cy="6669741"/>
          </a:xfrm>
        </p:spPr>
        <p:txBody>
          <a:bodyPr>
            <a:normAutofit/>
          </a:bodyPr>
          <a:lstStyle/>
          <a:p>
            <a:pPr marL="0" indent="0">
              <a:buNone/>
            </a:pPr>
            <a:r>
              <a:rPr lang="en-US" sz="2400" b="1" dirty="0" smtClean="0"/>
              <a:t>Forwarded message</a:t>
            </a:r>
          </a:p>
          <a:p>
            <a:pPr marL="0" indent="0">
              <a:buNone/>
            </a:pPr>
            <a:r>
              <a:rPr lang="en-US" sz="2400" b="1" dirty="0" smtClean="0">
                <a:solidFill>
                  <a:srgbClr val="00B0F0"/>
                </a:solidFill>
              </a:rPr>
              <a:t>From</a:t>
            </a:r>
            <a:r>
              <a:rPr lang="en-US" sz="2400" b="1" dirty="0">
                <a:solidFill>
                  <a:srgbClr val="00B0F0"/>
                </a:solidFill>
              </a:rPr>
              <a:t>: </a:t>
            </a:r>
            <a:r>
              <a:rPr lang="en-US" sz="2400" b="1" dirty="0" smtClean="0">
                <a:solidFill>
                  <a:srgbClr val="00B0F0"/>
                </a:solidFill>
                <a:hlinkClick r:id="rId2"/>
              </a:rPr>
              <a:t>sara@climbyoureverest.org</a:t>
            </a:r>
            <a:endParaRPr lang="en-US" sz="2400" b="1" dirty="0" smtClean="0">
              <a:solidFill>
                <a:srgbClr val="00B0F0"/>
              </a:solidFill>
            </a:endParaRPr>
          </a:p>
          <a:p>
            <a:pPr marL="0" indent="0">
              <a:buNone/>
            </a:pPr>
            <a:r>
              <a:rPr lang="en-US" sz="2400" b="1" dirty="0" smtClean="0">
                <a:solidFill>
                  <a:srgbClr val="00B0F0"/>
                </a:solidFill>
              </a:rPr>
              <a:t>To: dawadimin2021@gmail.com</a:t>
            </a:r>
            <a:r>
              <a:rPr lang="en-US" sz="2400" b="1" dirty="0">
                <a:solidFill>
                  <a:srgbClr val="00B0F0"/>
                </a:solidFill>
              </a:rPr>
              <a:t/>
            </a:r>
            <a:br>
              <a:rPr lang="en-US" sz="2400" b="1" dirty="0">
                <a:solidFill>
                  <a:srgbClr val="00B0F0"/>
                </a:solidFill>
              </a:rPr>
            </a:br>
            <a:r>
              <a:rPr lang="en-US" sz="2400" b="1" dirty="0">
                <a:solidFill>
                  <a:srgbClr val="00B0F0"/>
                </a:solidFill>
              </a:rPr>
              <a:t>Date: Wed, Apr 19, 2023, 3:42 AM</a:t>
            </a:r>
            <a:br>
              <a:rPr lang="en-US" sz="2400" b="1" dirty="0">
                <a:solidFill>
                  <a:srgbClr val="00B0F0"/>
                </a:solidFill>
              </a:rPr>
            </a:br>
            <a:r>
              <a:rPr lang="en-US" sz="2400" b="1" dirty="0">
                <a:solidFill>
                  <a:srgbClr val="00B0F0"/>
                </a:solidFill>
              </a:rPr>
              <a:t>Subject: Leadership Training Starting this Saturday</a:t>
            </a:r>
            <a:br>
              <a:rPr lang="en-US" sz="2400" b="1" dirty="0">
                <a:solidFill>
                  <a:srgbClr val="00B0F0"/>
                </a:solidFill>
              </a:rPr>
            </a:br>
            <a:endParaRPr lang="en-US" sz="2400" b="1" dirty="0">
              <a:solidFill>
                <a:srgbClr val="00B0F0"/>
              </a:solidFill>
            </a:endParaRPr>
          </a:p>
          <a:p>
            <a:pPr marL="0" indent="0">
              <a:buNone/>
            </a:pPr>
            <a:r>
              <a:rPr lang="en-US" sz="2400" b="1" dirty="0" smtClean="0">
                <a:solidFill>
                  <a:srgbClr val="00B050"/>
                </a:solidFill>
              </a:rPr>
              <a:t>Hi everyone,</a:t>
            </a:r>
          </a:p>
          <a:p>
            <a:pPr marL="0" indent="0">
              <a:buNone/>
            </a:pPr>
            <a:r>
              <a:rPr lang="en-US" sz="2400" b="1" dirty="0" smtClean="0"/>
              <a:t> </a:t>
            </a:r>
            <a:r>
              <a:rPr lang="en-US" sz="2400" b="1" dirty="0" smtClean="0">
                <a:solidFill>
                  <a:srgbClr val="7030A0"/>
                </a:solidFill>
              </a:rPr>
              <a:t>I </a:t>
            </a:r>
            <a:r>
              <a:rPr lang="en-US" sz="2400" b="1" dirty="0">
                <a:solidFill>
                  <a:srgbClr val="7030A0"/>
                </a:solidFill>
              </a:rPr>
              <a:t>hope this email finds you well. As a fellow educator, I know the importance of staying up-to-date with the latest teaching practices and techniques to create an engaging and inspiring learning environment for our </a:t>
            </a:r>
            <a:r>
              <a:rPr lang="en-US" sz="2400" b="1" dirty="0" smtClean="0">
                <a:solidFill>
                  <a:srgbClr val="7030A0"/>
                </a:solidFill>
              </a:rPr>
              <a:t>students. That </a:t>
            </a:r>
            <a:r>
              <a:rPr lang="en-US" sz="2400" b="1" dirty="0">
                <a:solidFill>
                  <a:srgbClr val="7030A0"/>
                </a:solidFill>
              </a:rPr>
              <a:t>is why I am excited to invite you to a training program that is aimed at providing teachers with new teaching strategies and insights to improve their instructional effectiveness. </a:t>
            </a:r>
            <a:endParaRPr lang="en-US" sz="2400" b="1" dirty="0" smtClean="0">
              <a:solidFill>
                <a:srgbClr val="7030A0"/>
              </a:solidFill>
            </a:endParaRPr>
          </a:p>
          <a:p>
            <a:pPr marL="0" indent="0">
              <a:buNone/>
            </a:pPr>
            <a:r>
              <a:rPr lang="en-US" sz="2400" b="1" dirty="0" smtClean="0">
                <a:solidFill>
                  <a:srgbClr val="002060"/>
                </a:solidFill>
              </a:rPr>
              <a:t>The </a:t>
            </a:r>
            <a:r>
              <a:rPr lang="en-US" sz="2400" b="1" dirty="0">
                <a:solidFill>
                  <a:srgbClr val="002060"/>
                </a:solidFill>
              </a:rPr>
              <a:t>program is </a:t>
            </a:r>
            <a:r>
              <a:rPr lang="en-US" sz="2400" b="1" dirty="0" smtClean="0">
                <a:solidFill>
                  <a:srgbClr val="002060"/>
                </a:solidFill>
              </a:rPr>
              <a:t>entitled </a:t>
            </a:r>
            <a:r>
              <a:rPr lang="en-US" sz="2400" b="1" dirty="0">
                <a:solidFill>
                  <a:srgbClr val="002060"/>
                </a:solidFill>
              </a:rPr>
              <a:t>“Climb your Everest” and will take place on Saturday morning/ night from 8 to 9:30 on </a:t>
            </a:r>
            <a:r>
              <a:rPr lang="en-US" sz="2400" b="1" dirty="0" smtClean="0">
                <a:solidFill>
                  <a:srgbClr val="002060"/>
                </a:solidFill>
              </a:rPr>
              <a:t>Zoom. This </a:t>
            </a:r>
            <a:r>
              <a:rPr lang="en-US" sz="2400" b="1" dirty="0">
                <a:solidFill>
                  <a:srgbClr val="002060"/>
                </a:solidFill>
              </a:rPr>
              <a:t>training program will be conducted by highly experienced and qualified instructors who have years of experience in the field of education. They will be sharing the latest research and trends in teaching methods and practices, as well as practical tips and tools to help you create a more engaging and interactive classroom environment.</a:t>
            </a:r>
          </a:p>
          <a:p>
            <a:pPr marL="0" indent="0">
              <a:buNone/>
            </a:pPr>
            <a:endParaRPr lang="en-US" sz="2400" b="1" dirty="0"/>
          </a:p>
          <a:p>
            <a:pPr marL="0" indent="0">
              <a:buNone/>
            </a:pPr>
            <a:endParaRPr lang="en-US" sz="2400" b="1" dirty="0"/>
          </a:p>
        </p:txBody>
      </p:sp>
    </p:spTree>
    <p:extLst>
      <p:ext uri="{BB962C8B-B14F-4D97-AF65-F5344CB8AC3E}">
        <p14:creationId xmlns:p14="http://schemas.microsoft.com/office/powerpoint/2010/main" val="6716500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6871" y="206188"/>
            <a:ext cx="11905129" cy="6651812"/>
          </a:xfrm>
        </p:spPr>
        <p:txBody>
          <a:bodyPr>
            <a:noAutofit/>
          </a:bodyPr>
          <a:lstStyle/>
          <a:p>
            <a:pPr marL="0" indent="0">
              <a:buNone/>
            </a:pPr>
            <a:r>
              <a:rPr lang="en-US" sz="2200" b="1" dirty="0">
                <a:solidFill>
                  <a:srgbClr val="002060"/>
                </a:solidFill>
              </a:rPr>
              <a:t>Furthermore, the program will cover topics such as:</a:t>
            </a:r>
          </a:p>
          <a:p>
            <a:r>
              <a:rPr lang="en-US" sz="2200" b="1" dirty="0">
                <a:solidFill>
                  <a:srgbClr val="002060"/>
                </a:solidFill>
              </a:rPr>
              <a:t>Developing critical thinking skills in students</a:t>
            </a:r>
          </a:p>
          <a:p>
            <a:r>
              <a:rPr lang="en-US" sz="2200" b="1" dirty="0">
                <a:solidFill>
                  <a:srgbClr val="002060"/>
                </a:solidFill>
              </a:rPr>
              <a:t>Incorporating technology into classroom instruction</a:t>
            </a:r>
          </a:p>
          <a:p>
            <a:r>
              <a:rPr lang="en-US" sz="2200" b="1" dirty="0">
                <a:solidFill>
                  <a:srgbClr val="002060"/>
                </a:solidFill>
              </a:rPr>
              <a:t>Enhancing creativity and innovation in the classroom</a:t>
            </a:r>
          </a:p>
          <a:p>
            <a:r>
              <a:rPr lang="en-US" sz="2200" b="1" dirty="0">
                <a:solidFill>
                  <a:srgbClr val="002060"/>
                </a:solidFill>
              </a:rPr>
              <a:t>Creating a positive classroom culture</a:t>
            </a:r>
          </a:p>
          <a:p>
            <a:r>
              <a:rPr lang="en-US" sz="2200" b="1" dirty="0">
                <a:solidFill>
                  <a:srgbClr val="002060"/>
                </a:solidFill>
              </a:rPr>
              <a:t>Implementing effective assessment strategies</a:t>
            </a:r>
          </a:p>
          <a:p>
            <a:pPr marL="0" indent="0">
              <a:buNone/>
            </a:pPr>
            <a:r>
              <a:rPr lang="en-US" sz="2200" b="1" dirty="0">
                <a:solidFill>
                  <a:srgbClr val="002060"/>
                </a:solidFill>
              </a:rPr>
              <a:t>Participating in this training program will not only help you improve your teaching skills but also provide an opportunity to network with other educators, exchange ideas, and gain inspiration from their experiences.</a:t>
            </a:r>
            <a:r>
              <a:rPr lang="en-US" sz="2200" b="1" dirty="0"/>
              <a:t> </a:t>
            </a:r>
            <a:endParaRPr lang="en-US" sz="2200" b="1" dirty="0" smtClean="0"/>
          </a:p>
          <a:p>
            <a:pPr marL="0" indent="0">
              <a:buNone/>
            </a:pPr>
            <a:r>
              <a:rPr lang="en-US" sz="2200" b="1" dirty="0" smtClean="0">
                <a:solidFill>
                  <a:srgbClr val="FF0000"/>
                </a:solidFill>
              </a:rPr>
              <a:t>Please </a:t>
            </a:r>
            <a:r>
              <a:rPr lang="en-US" sz="2200" b="1" dirty="0">
                <a:solidFill>
                  <a:srgbClr val="FF0000"/>
                </a:solidFill>
              </a:rPr>
              <a:t>confirm your attendance by Thursday by replying to this email. Also, feel free to invite any other colleagues who might be interested in participating in this program.</a:t>
            </a:r>
          </a:p>
          <a:p>
            <a:pPr marL="0" indent="0">
              <a:buNone/>
            </a:pPr>
            <a:r>
              <a:rPr lang="en-US" sz="2200" b="1" dirty="0">
                <a:solidFill>
                  <a:srgbClr val="FFC000"/>
                </a:solidFill>
              </a:rPr>
              <a:t>Thank you for your dedication to the education profession, and I look forward to seeing you at the training.</a:t>
            </a:r>
          </a:p>
          <a:p>
            <a:pPr marL="0" indent="0">
              <a:buNone/>
            </a:pPr>
            <a:r>
              <a:rPr lang="en-US" sz="2200" b="1" dirty="0" smtClean="0">
                <a:solidFill>
                  <a:srgbClr val="FFC000"/>
                </a:solidFill>
              </a:rPr>
              <a:t>Best regards,</a:t>
            </a:r>
            <a:endParaRPr lang="en-US" sz="2200" b="1" dirty="0">
              <a:solidFill>
                <a:srgbClr val="FFC000"/>
              </a:solidFill>
            </a:endParaRPr>
          </a:p>
          <a:p>
            <a:pPr marL="0" indent="0">
              <a:buNone/>
            </a:pPr>
            <a:r>
              <a:rPr lang="en-US" sz="2200" b="1" dirty="0" smtClean="0">
                <a:solidFill>
                  <a:srgbClr val="FFC000"/>
                </a:solidFill>
              </a:rPr>
              <a:t>Dr</a:t>
            </a:r>
            <a:r>
              <a:rPr lang="en-US" sz="2200" b="1" dirty="0">
                <a:solidFill>
                  <a:srgbClr val="FFC000"/>
                </a:solidFill>
              </a:rPr>
              <a:t>. Sara Safari</a:t>
            </a:r>
          </a:p>
          <a:p>
            <a:pPr marL="0" indent="0">
              <a:buNone/>
            </a:pPr>
            <a:r>
              <a:rPr lang="en-US" sz="2200" b="1" dirty="0">
                <a:solidFill>
                  <a:srgbClr val="FFC000"/>
                </a:solidFill>
              </a:rPr>
              <a:t>Author, Speaker, Coach</a:t>
            </a:r>
          </a:p>
          <a:p>
            <a:endParaRPr lang="en-US" sz="2400" dirty="0"/>
          </a:p>
        </p:txBody>
      </p:sp>
    </p:spTree>
    <p:extLst>
      <p:ext uri="{BB962C8B-B14F-4D97-AF65-F5344CB8AC3E}">
        <p14:creationId xmlns:p14="http://schemas.microsoft.com/office/powerpoint/2010/main" val="2388899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30201"/>
            <a:ext cx="10515600" cy="4351338"/>
          </a:xfrm>
        </p:spPr>
        <p:txBody>
          <a:bodyPr/>
          <a:lstStyle/>
          <a:p>
            <a:pPr marL="0" indent="0">
              <a:buNone/>
            </a:pPr>
            <a:r>
              <a:rPr lang="en-US" dirty="0">
                <a:solidFill>
                  <a:srgbClr val="FF0000"/>
                </a:solidFill>
              </a:rPr>
              <a:t>Assignment</a:t>
            </a:r>
          </a:p>
          <a:p>
            <a:r>
              <a:rPr lang="en-US" dirty="0"/>
              <a:t>Suppose you are working on a group project, and there are disagreements within the team. How would you address these conflicts through email to maintain a positive and collaborative atmosphere?</a:t>
            </a:r>
            <a:br>
              <a:rPr lang="en-US" dirty="0"/>
            </a:br>
            <a:endParaRPr lang="en-US" dirty="0"/>
          </a:p>
          <a:p>
            <a:endParaRPr lang="en-US" dirty="0"/>
          </a:p>
        </p:txBody>
      </p:sp>
    </p:spTree>
    <p:extLst>
      <p:ext uri="{BB962C8B-B14F-4D97-AF65-F5344CB8AC3E}">
        <p14:creationId xmlns:p14="http://schemas.microsoft.com/office/powerpoint/2010/main" val="7557471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9504" y="728869"/>
            <a:ext cx="9551504" cy="5499652"/>
          </a:xfrm>
        </p:spPr>
      </p:pic>
    </p:spTree>
    <p:extLst>
      <p:ext uri="{BB962C8B-B14F-4D97-AF65-F5344CB8AC3E}">
        <p14:creationId xmlns:p14="http://schemas.microsoft.com/office/powerpoint/2010/main" val="1424259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1338</TotalTime>
  <Words>511</Words>
  <Application>Microsoft Office PowerPoint</Application>
  <PresentationFormat>Custom</PresentationFormat>
  <Paragraphs>85</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2.3 Using Email</vt:lpstr>
      <vt:lpstr>… </vt:lpstr>
      <vt:lpstr>Importance</vt:lpstr>
      <vt:lpstr>Tips for writing effective email messages</vt:lpstr>
      <vt:lpstr>PowerPoint Presentation</vt:lpstr>
      <vt:lpstr>PowerPoint Presentation</vt:lpstr>
      <vt:lpstr>PowerPoint Presentation</vt:lpstr>
      <vt:lpstr>Some important things to pay attention</vt:lpstr>
      <vt:lpstr>A. Format</vt:lpstr>
      <vt:lpstr>B. Tone </vt:lpstr>
      <vt:lpstr>C. Netiquette</vt:lpstr>
      <vt:lpstr>D. Language</vt:lpstr>
      <vt:lpstr>E. Managing your email account</vt:lpstr>
      <vt:lpstr>Samples  </vt:lpstr>
      <vt:lpstr>PowerPoint Presentation</vt:lpstr>
      <vt:lpstr>PowerPoint Presentation</vt:lpstr>
      <vt:lpstr>PowerPoint Presentation</vt:lpstr>
      <vt:lpstr>PowerPoint Presentation</vt:lpstr>
      <vt:lpst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- 2</dc:title>
  <dc:creator>MANI  PANDEY</dc:creator>
  <cp:lastModifiedBy>lenovo</cp:lastModifiedBy>
  <cp:revision>154</cp:revision>
  <dcterms:created xsi:type="dcterms:W3CDTF">2020-10-17T15:12:10Z</dcterms:created>
  <dcterms:modified xsi:type="dcterms:W3CDTF">2024-12-28T02:41:42Z</dcterms:modified>
</cp:coreProperties>
</file>