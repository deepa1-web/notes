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4" r:id="rId2"/>
    <p:sldId id="325" r:id="rId3"/>
    <p:sldId id="326" r:id="rId4"/>
    <p:sldId id="327" r:id="rId5"/>
    <p:sldId id="328" r:id="rId6"/>
    <p:sldId id="364" r:id="rId7"/>
    <p:sldId id="362" r:id="rId8"/>
    <p:sldId id="363" r:id="rId9"/>
    <p:sldId id="365" r:id="rId10"/>
    <p:sldId id="366" r:id="rId11"/>
    <p:sldId id="367" r:id="rId12"/>
    <p:sldId id="368" r:id="rId13"/>
    <p:sldId id="369" r:id="rId14"/>
    <p:sldId id="381" r:id="rId15"/>
    <p:sldId id="382" r:id="rId16"/>
    <p:sldId id="383" r:id="rId17"/>
    <p:sldId id="384" r:id="rId18"/>
    <p:sldId id="370" r:id="rId19"/>
    <p:sldId id="371" r:id="rId20"/>
    <p:sldId id="372" r:id="rId21"/>
    <p:sldId id="373" r:id="rId22"/>
    <p:sldId id="374" r:id="rId23"/>
    <p:sldId id="377" r:id="rId24"/>
    <p:sldId id="379" r:id="rId25"/>
    <p:sldId id="380" r:id="rId26"/>
    <p:sldId id="385" r:id="rId27"/>
    <p:sldId id="635" r:id="rId28"/>
    <p:sldId id="386" r:id="rId29"/>
    <p:sldId id="387" r:id="rId30"/>
    <p:sldId id="388" r:id="rId31"/>
    <p:sldId id="389" r:id="rId32"/>
    <p:sldId id="390" r:id="rId33"/>
    <p:sldId id="391" r:id="rId34"/>
    <p:sldId id="392" r:id="rId35"/>
    <p:sldId id="393" r:id="rId36"/>
    <p:sldId id="394" r:id="rId37"/>
    <p:sldId id="395" r:id="rId38"/>
    <p:sldId id="617" r:id="rId39"/>
    <p:sldId id="618" r:id="rId40"/>
    <p:sldId id="396" r:id="rId41"/>
    <p:sldId id="619" r:id="rId42"/>
    <p:sldId id="620" r:id="rId43"/>
    <p:sldId id="621" r:id="rId44"/>
    <p:sldId id="622" r:id="rId45"/>
    <p:sldId id="397" r:id="rId46"/>
    <p:sldId id="593" r:id="rId47"/>
    <p:sldId id="398" r:id="rId48"/>
    <p:sldId id="399" r:id="rId49"/>
    <p:sldId id="400" r:id="rId50"/>
    <p:sldId id="401" r:id="rId51"/>
    <p:sldId id="402" r:id="rId52"/>
    <p:sldId id="403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-366" y="19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032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33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4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06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586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5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52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41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49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370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22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C2EC6-F5D4-4EB2-B55F-04434BE7B208}" type="datetimeFigureOut">
              <a:rPr lang="en-US" smtClean="0"/>
              <a:t>12/2/2024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77A39-988E-47BA-AE30-E5DEF8B6BD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7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90334"/>
          </a:xfrm>
        </p:spPr>
        <p:txBody>
          <a:bodyPr/>
          <a:lstStyle/>
          <a:p>
            <a:pPr marL="571500" indent="-571500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Leading and misleading the </a:t>
            </a:r>
            <a:r>
              <a:rPr lang="en-US" b="1" dirty="0" smtClean="0">
                <a:solidFill>
                  <a:srgbClr val="FF0000"/>
                </a:solidFill>
              </a:rPr>
              <a:t>reader: </a:t>
            </a:r>
            <a:r>
              <a:rPr lang="en-US" b="1" dirty="0">
                <a:solidFill>
                  <a:srgbClr val="FF0000"/>
                </a:solidFill>
              </a:rPr>
              <a:t>ethical issues of technical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372107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/>
            </a:r>
            <a:br>
              <a:rPr lang="en-US" b="1" dirty="0" smtClean="0">
                <a:solidFill>
                  <a:srgbClr val="FF000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Ethics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11753" cy="4351338"/>
          </a:xfrm>
        </p:spPr>
        <p:txBody>
          <a:bodyPr>
            <a:normAutofit/>
          </a:bodyPr>
          <a:lstStyle/>
          <a:p>
            <a:r>
              <a:rPr lang="en-US" dirty="0"/>
              <a:t>Ethics </a:t>
            </a:r>
            <a:r>
              <a:rPr lang="en-US" dirty="0" smtClean="0"/>
              <a:t>refers </a:t>
            </a: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moral principles guiding an individual's </a:t>
            </a:r>
            <a:r>
              <a:rPr lang="en-US" dirty="0" smtClean="0">
                <a:solidFill>
                  <a:srgbClr val="FF0000"/>
                </a:solidFill>
              </a:rPr>
              <a:t>behavior </a:t>
            </a:r>
            <a:r>
              <a:rPr lang="en-US" dirty="0">
                <a:solidFill>
                  <a:srgbClr val="FF0000"/>
                </a:solidFill>
              </a:rPr>
              <a:t>in the pursuit of activities.</a:t>
            </a:r>
          </a:p>
          <a:p>
            <a:r>
              <a:rPr lang="en-US" b="1" dirty="0" smtClean="0"/>
              <a:t>It contains</a:t>
            </a:r>
            <a:r>
              <a:rPr lang="en-US" b="1" dirty="0" smtClean="0">
                <a:solidFill>
                  <a:srgbClr val="FF0000"/>
                </a:solidFill>
              </a:rPr>
              <a:t> regulating, defending, and recommending concepts of right and wrong conducts </a:t>
            </a:r>
          </a:p>
          <a:p>
            <a:r>
              <a:rPr lang="en-US" b="1" dirty="0"/>
              <a:t>E</a:t>
            </a:r>
            <a:r>
              <a:rPr lang="en-US" b="1" dirty="0" smtClean="0"/>
              <a:t>thics </a:t>
            </a:r>
            <a:r>
              <a:rPr lang="en-US" b="1" dirty="0" smtClean="0">
                <a:solidFill>
                  <a:srgbClr val="FF0000"/>
                </a:solidFill>
              </a:rPr>
              <a:t>concerns matters of value</a:t>
            </a:r>
            <a:r>
              <a:rPr lang="en-US" b="1" dirty="0"/>
              <a:t> </a:t>
            </a:r>
            <a:r>
              <a:rPr lang="en-US" b="1" dirty="0" smtClean="0"/>
              <a:t>comprising the branch of philosophy called axiology.</a:t>
            </a:r>
          </a:p>
          <a:p>
            <a:r>
              <a:rPr lang="en-US" b="1" dirty="0" smtClean="0"/>
              <a:t>Ethics seeks to resolve questions of human morality by defining </a:t>
            </a:r>
            <a:r>
              <a:rPr lang="en-US" b="1" dirty="0" smtClean="0">
                <a:solidFill>
                  <a:srgbClr val="FF0000"/>
                </a:solidFill>
              </a:rPr>
              <a:t>concepts such as good and evil, right and wrong, virtue and vice, justice and crime.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2241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4484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Ethical Principles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599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 smtClean="0"/>
              <a:t>1. Legality: </a:t>
            </a:r>
            <a:r>
              <a:rPr lang="en-US" sz="2000" dirty="0" smtClean="0"/>
              <a:t>Following </a:t>
            </a:r>
            <a:r>
              <a:rPr lang="en-US" sz="2000" dirty="0"/>
              <a:t> </a:t>
            </a:r>
            <a:r>
              <a:rPr lang="en-US" sz="2000" dirty="0" smtClean="0"/>
              <a:t>rules and regulations </a:t>
            </a:r>
            <a:r>
              <a:rPr lang="en-US" sz="2000" dirty="0"/>
              <a:t>relevant to your actions or </a:t>
            </a:r>
            <a:r>
              <a:rPr lang="en-US" sz="2000" dirty="0" smtClean="0"/>
              <a:t>industry</a:t>
            </a:r>
          </a:p>
          <a:p>
            <a:r>
              <a:rPr lang="en-US" sz="2000" dirty="0" smtClean="0"/>
              <a:t>A </a:t>
            </a:r>
            <a:r>
              <a:rPr lang="en-US" sz="2000" dirty="0"/>
              <a:t>company </a:t>
            </a:r>
            <a:r>
              <a:rPr lang="en-US" sz="2000" dirty="0" smtClean="0"/>
              <a:t>follows </a:t>
            </a:r>
            <a:r>
              <a:rPr lang="en-US" sz="2000" dirty="0"/>
              <a:t>tax laws by accurately reporting earnings and paying taxes on time.</a:t>
            </a:r>
          </a:p>
          <a:p>
            <a:pPr marL="0" indent="0">
              <a:buNone/>
            </a:pPr>
            <a:r>
              <a:rPr lang="en-US" sz="2000" b="1" dirty="0"/>
              <a:t>2. </a:t>
            </a:r>
            <a:r>
              <a:rPr lang="en-US" sz="2000" b="1" dirty="0" smtClean="0"/>
              <a:t>Honesty: </a:t>
            </a:r>
            <a:r>
              <a:rPr lang="en-US" sz="2000" dirty="0" smtClean="0"/>
              <a:t> </a:t>
            </a:r>
            <a:r>
              <a:rPr lang="en-US" sz="2000" dirty="0"/>
              <a:t>Being truthful and transparent in your actions and </a:t>
            </a:r>
            <a:r>
              <a:rPr lang="en-US" sz="2000" dirty="0" smtClean="0"/>
              <a:t>communications</a:t>
            </a:r>
          </a:p>
          <a:p>
            <a:r>
              <a:rPr lang="en-US" sz="2000" dirty="0" smtClean="0"/>
              <a:t>A </a:t>
            </a:r>
            <a:r>
              <a:rPr lang="en-US" sz="2000" dirty="0"/>
              <a:t>salesperson </a:t>
            </a:r>
            <a:r>
              <a:rPr lang="en-US" sz="2000" dirty="0" smtClean="0"/>
              <a:t>exactly </a:t>
            </a:r>
            <a:r>
              <a:rPr lang="en-US" sz="2000" dirty="0"/>
              <a:t>describing a product's features and limitations rather than </a:t>
            </a:r>
            <a:r>
              <a:rPr lang="en-US" sz="2000" dirty="0" smtClean="0"/>
              <a:t>exaggerating.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3. </a:t>
            </a:r>
            <a:r>
              <a:rPr lang="en-US" sz="2000" b="1" dirty="0" smtClean="0"/>
              <a:t>Confidentiality: </a:t>
            </a:r>
            <a:r>
              <a:rPr lang="en-US" sz="2000" dirty="0" smtClean="0"/>
              <a:t> </a:t>
            </a:r>
            <a:r>
              <a:rPr lang="en-US" sz="2000" dirty="0"/>
              <a:t>Protecting </a:t>
            </a:r>
            <a:r>
              <a:rPr lang="en-US" sz="2000" dirty="0" smtClean="0"/>
              <a:t>private or sensitive </a:t>
            </a:r>
            <a:r>
              <a:rPr lang="en-US" sz="2000" dirty="0"/>
              <a:t>information from unauthorized </a:t>
            </a:r>
            <a:r>
              <a:rPr lang="en-US" sz="2000" dirty="0" smtClean="0"/>
              <a:t>access</a:t>
            </a:r>
          </a:p>
          <a:p>
            <a:r>
              <a:rPr lang="en-US" sz="2000" dirty="0" smtClean="0"/>
              <a:t>A doctor protecting </a:t>
            </a:r>
            <a:r>
              <a:rPr lang="en-US" sz="2000" dirty="0"/>
              <a:t>a patient’s medical records and not sharing them without consent.</a:t>
            </a:r>
          </a:p>
          <a:p>
            <a:pPr marL="0" indent="0">
              <a:buNone/>
            </a:pPr>
            <a:r>
              <a:rPr lang="en-US" sz="2000" b="1" dirty="0"/>
              <a:t>4. </a:t>
            </a:r>
            <a:r>
              <a:rPr lang="en-US" sz="2000" b="1" dirty="0" smtClean="0"/>
              <a:t>Quality: </a:t>
            </a:r>
            <a:r>
              <a:rPr lang="en-US" sz="2000" dirty="0" smtClean="0"/>
              <a:t>Striving </a:t>
            </a:r>
            <a:r>
              <a:rPr lang="en-US" sz="2000" dirty="0"/>
              <a:t>to provide high standards in products, </a:t>
            </a:r>
            <a:r>
              <a:rPr lang="en-US" sz="2000" dirty="0" smtClean="0"/>
              <a:t>services, or work output.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An engineer ensuring that a bridge design meets all safety standards and specifications to guarantee durability and safety.</a:t>
            </a:r>
          </a:p>
          <a:p>
            <a:pPr marL="0" indent="0">
              <a:buNone/>
            </a:pPr>
            <a:r>
              <a:rPr lang="en-US" sz="2000" b="1" dirty="0"/>
              <a:t>5. </a:t>
            </a:r>
            <a:r>
              <a:rPr lang="en-US" sz="2000" b="1" dirty="0" smtClean="0"/>
              <a:t>Professionalism: </a:t>
            </a:r>
            <a:r>
              <a:rPr lang="en-US" sz="2000" dirty="0" smtClean="0"/>
              <a:t>Upholding </a:t>
            </a:r>
            <a:r>
              <a:rPr lang="en-US" sz="2000" dirty="0"/>
              <a:t>a high standard of behavior, respect, and expertise </a:t>
            </a:r>
            <a:r>
              <a:rPr lang="en-US" sz="2000" dirty="0" smtClean="0"/>
              <a:t>in workplace.</a:t>
            </a:r>
          </a:p>
          <a:p>
            <a:r>
              <a:rPr lang="en-US" sz="2000" dirty="0" smtClean="0"/>
              <a:t>A </a:t>
            </a:r>
            <a:r>
              <a:rPr lang="en-US" sz="2000" dirty="0"/>
              <a:t>project manager </a:t>
            </a:r>
            <a:r>
              <a:rPr lang="en-US" sz="2000" dirty="0" smtClean="0"/>
              <a:t>manages </a:t>
            </a:r>
            <a:r>
              <a:rPr lang="en-US" sz="2000" dirty="0"/>
              <a:t>deadlines and conflicts </a:t>
            </a:r>
            <a:r>
              <a:rPr lang="en-US" sz="2000" dirty="0" smtClean="0"/>
              <a:t>tactfully </a:t>
            </a:r>
            <a:r>
              <a:rPr lang="en-US" sz="2000" dirty="0"/>
              <a:t>maintaining respect and integrity toward their team members</a:t>
            </a:r>
            <a:r>
              <a:rPr lang="en-US" sz="2000" dirty="0" smtClean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85892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9770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Major Ethical Considerations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8420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1.</a:t>
            </a:r>
            <a:r>
              <a:rPr lang="en-US" sz="2400" b="1" dirty="0" smtClean="0">
                <a:latin typeface="Calibri" pitchFamily="34" charset="0"/>
              </a:rPr>
              <a:t>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Objectivity: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Making decisions and judgments based on facts and evidence without personal bias or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prejudice.</a:t>
            </a:r>
            <a:endParaRPr lang="en-US" sz="2400" dirty="0">
              <a:latin typeface="Calibri" pitchFamily="34" charset="0"/>
              <a:ea typeface="Yu Mincho Light" pitchFamily="18" charset="-128"/>
            </a:endParaRP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2.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Plagiarism: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Using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someone else’s work, ideas, or words without proper acknowledgment, presenting them as your own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.</a:t>
            </a:r>
            <a:endParaRPr lang="en-US" sz="2400" dirty="0">
              <a:latin typeface="Calibri" pitchFamily="34" charset="0"/>
              <a:ea typeface="Yu Mincho Light" pitchFamily="18" charset="-128"/>
            </a:endParaRP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3. Manipulation of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Information: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Altering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or misrepresenting information to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deceive/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mislead others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.</a:t>
            </a:r>
            <a:endParaRPr lang="en-US" sz="2400" dirty="0">
              <a:latin typeface="Calibri" pitchFamily="34" charset="0"/>
              <a:ea typeface="Yu Mincho Light" pitchFamily="18" charset="-128"/>
            </a:endParaRP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4. Conflict of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Interest: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A situation where personal interests might interfere with professional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duties.</a:t>
            </a:r>
            <a:endParaRPr lang="en-US" sz="2400" dirty="0">
              <a:latin typeface="Calibri" pitchFamily="34" charset="0"/>
              <a:ea typeface="Yu Mincho Light" pitchFamily="18" charset="-128"/>
            </a:endParaRP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5. Theft of Copyrighted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Information: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Using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copyrighted material without permission or violating intellectual property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rights.</a:t>
            </a:r>
            <a:endParaRPr lang="en-US" sz="2400" dirty="0">
              <a:latin typeface="Calibri" pitchFamily="34" charset="0"/>
              <a:ea typeface="Yu Mincho Light" pitchFamily="18" charset="-128"/>
            </a:endParaRP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6.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Privacy: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Respecting and protecting individuals' personal information and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data.</a:t>
            </a:r>
          </a:p>
          <a:p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A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company securing customer data to prevent unauthorized access or breaches.</a:t>
            </a:r>
          </a:p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Yu Mincho Light" pitchFamily="18" charset="-128"/>
              </a:rPr>
              <a:t>7. Respect to </a:t>
            </a:r>
            <a:r>
              <a:rPr lang="en-US" sz="2400" b="1" dirty="0" smtClean="0">
                <a:latin typeface="Calibri" pitchFamily="34" charset="0"/>
                <a:ea typeface="Yu Mincho Light" pitchFamily="18" charset="-128"/>
              </a:rPr>
              <a:t>Others: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Treating </a:t>
            </a:r>
            <a:r>
              <a:rPr lang="en-US" sz="2400" dirty="0">
                <a:latin typeface="Calibri" pitchFamily="34" charset="0"/>
                <a:ea typeface="Yu Mincho Light" pitchFamily="18" charset="-128"/>
              </a:rPr>
              <a:t>others with dignity, courtesy, and </a:t>
            </a:r>
            <a:r>
              <a:rPr lang="en-US" sz="2400" dirty="0" smtClean="0">
                <a:latin typeface="Calibri" pitchFamily="34" charset="0"/>
                <a:ea typeface="Yu Mincho Light" pitchFamily="18" charset="-128"/>
              </a:rPr>
              <a:t>fairness</a:t>
            </a:r>
            <a:endParaRPr lang="en-US" sz="2400" dirty="0" smtClean="0">
              <a:latin typeface="Calibri" pitchFamily="34" charset="0"/>
              <a:ea typeface="Yu Mincho Light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14276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Ethics at work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Workplace ethics are about</a:t>
            </a:r>
            <a:r>
              <a:rPr lang="en-US" b="1" dirty="0">
                <a:solidFill>
                  <a:srgbClr val="FF0000"/>
                </a:solidFill>
              </a:rPr>
              <a:t> how your company </a:t>
            </a:r>
            <a:r>
              <a:rPr lang="en-US" b="1" dirty="0" smtClean="0">
                <a:solidFill>
                  <a:srgbClr val="FF0000"/>
                </a:solidFill>
              </a:rPr>
              <a:t>expresses </a:t>
            </a:r>
            <a:r>
              <a:rPr lang="en-US" b="1" dirty="0">
                <a:solidFill>
                  <a:srgbClr val="FF0000"/>
                </a:solidFill>
              </a:rPr>
              <a:t>its </a:t>
            </a:r>
            <a:r>
              <a:rPr lang="en-US" b="1" dirty="0" smtClean="0">
                <a:solidFill>
                  <a:srgbClr val="FF0000"/>
                </a:solidFill>
              </a:rPr>
              <a:t>principles.</a:t>
            </a:r>
          </a:p>
          <a:p>
            <a:r>
              <a:rPr lang="en-US" dirty="0"/>
              <a:t>Business ethics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/>
              <a:t>involves </a:t>
            </a:r>
            <a:r>
              <a:rPr lang="en-US" dirty="0"/>
              <a:t>the</a:t>
            </a:r>
            <a:r>
              <a:rPr lang="en-US" dirty="0">
                <a:solidFill>
                  <a:srgbClr val="FF0000"/>
                </a:solidFill>
              </a:rPr>
              <a:t> moral principles guiding appropriate and inappropriate actions in the workplace.</a:t>
            </a:r>
          </a:p>
          <a:p>
            <a:r>
              <a:rPr lang="en-US" dirty="0"/>
              <a:t>Workplace ethics shape the </a:t>
            </a:r>
            <a:r>
              <a:rPr lang="en-US" dirty="0">
                <a:solidFill>
                  <a:srgbClr val="FF0000"/>
                </a:solidFill>
              </a:rPr>
              <a:t>entire business operation and guide employee behavior to maintain the company's image.</a:t>
            </a:r>
          </a:p>
          <a:p>
            <a:r>
              <a:rPr lang="en-US" dirty="0"/>
              <a:t>Adhering to workplace ethics is crucial for a </a:t>
            </a:r>
            <a:r>
              <a:rPr lang="en-US" dirty="0">
                <a:solidFill>
                  <a:srgbClr val="FF0000"/>
                </a:solidFill>
              </a:rPr>
              <a:t>company's smooth operation, ensuring employee and customer satisfaction.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Personal </a:t>
            </a:r>
            <a:r>
              <a:rPr lang="en-US" dirty="0"/>
              <a:t>alignment with these values</a:t>
            </a:r>
            <a:r>
              <a:rPr lang="en-US" dirty="0">
                <a:solidFill>
                  <a:srgbClr val="FF0000"/>
                </a:solidFill>
              </a:rPr>
              <a:t> fosters job satisfaction and a shared sense of purpose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697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Ethical dilemma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813" y="1825625"/>
            <a:ext cx="11268634" cy="4351338"/>
          </a:xfrm>
        </p:spPr>
        <p:txBody>
          <a:bodyPr>
            <a:normAutofit/>
          </a:bodyPr>
          <a:lstStyle/>
          <a:p>
            <a:r>
              <a:rPr lang="en-US" dirty="0"/>
              <a:t>An ethical dilemma is a </a:t>
            </a:r>
            <a:r>
              <a:rPr lang="en-US" dirty="0" smtClean="0">
                <a:solidFill>
                  <a:srgbClr val="FF0000"/>
                </a:solidFill>
              </a:rPr>
              <a:t>problem in decision-making process between two possible options</a:t>
            </a:r>
            <a:r>
              <a:rPr lang="en-US" dirty="0">
                <a:solidFill>
                  <a:srgbClr val="FF0000"/>
                </a:solidFill>
              </a:rPr>
              <a:t>, both ethically questionable.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Four </a:t>
            </a:r>
            <a:r>
              <a:rPr lang="en-US" b="1" dirty="0">
                <a:solidFill>
                  <a:srgbClr val="FF0000"/>
                </a:solidFill>
              </a:rPr>
              <a:t>different ethical dilemma paradigms:</a:t>
            </a:r>
            <a:r>
              <a:rPr lang="en-US" b="1" dirty="0"/>
              <a:t> </a:t>
            </a:r>
            <a:r>
              <a:rPr lang="en-US" b="1" dirty="0">
                <a:solidFill>
                  <a:srgbClr val="0070C0"/>
                </a:solidFill>
              </a:rPr>
              <a:t>truth vs loyalty, short-term vs long-term, individual vs community, and justice vs mercy</a:t>
            </a:r>
            <a:r>
              <a:rPr lang="en-US" b="1" dirty="0" smtClean="0">
                <a:solidFill>
                  <a:srgbClr val="0070C0"/>
                </a:solidFill>
              </a:rPr>
              <a:t>.</a:t>
            </a:r>
          </a:p>
          <a:p>
            <a:r>
              <a:rPr lang="en-US" dirty="0"/>
              <a:t>"Whistleblowers" are individuals who resist unethical directives and expose ethical dilemmas. </a:t>
            </a:r>
            <a:endParaRPr lang="en-US" dirty="0" smtClean="0"/>
          </a:p>
          <a:p>
            <a:r>
              <a:rPr lang="en-US" dirty="0">
                <a:solidFill>
                  <a:srgbClr val="00B0F0"/>
                </a:solidFill>
              </a:rPr>
              <a:t>A </a:t>
            </a:r>
            <a:r>
              <a:rPr lang="en-US" dirty="0" smtClean="0">
                <a:solidFill>
                  <a:srgbClr val="00B0F0"/>
                </a:solidFill>
              </a:rPr>
              <a:t>doctor </a:t>
            </a:r>
            <a:r>
              <a:rPr lang="en-US" dirty="0">
                <a:solidFill>
                  <a:srgbClr val="00B0F0"/>
                </a:solidFill>
              </a:rPr>
              <a:t>observes unsafe practices in a hospital that could harm patients and reports it to health authorities or media.</a:t>
            </a:r>
            <a:br>
              <a:rPr lang="en-US" dirty="0">
                <a:solidFill>
                  <a:srgbClr val="00B0F0"/>
                </a:solidFill>
              </a:rPr>
            </a:br>
            <a:endParaRPr lang="en-US" dirty="0" smtClean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9191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5056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Ethical behavior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0132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smtClean="0"/>
              <a:t>1. Keep </a:t>
            </a:r>
            <a:r>
              <a:rPr lang="en-US" sz="2400" b="1" dirty="0"/>
              <a:t>sensitive information </a:t>
            </a:r>
            <a:r>
              <a:rPr lang="en-US" sz="2400" b="1" dirty="0" smtClean="0"/>
              <a:t>private</a:t>
            </a:r>
            <a:r>
              <a:rPr lang="en-US" sz="2400" dirty="0" smtClean="0"/>
              <a:t>:  </a:t>
            </a:r>
            <a:r>
              <a:rPr lang="en-US" sz="2400" dirty="0"/>
              <a:t>Protect confidential information related to customers, employees, and the company. Avoid sharing such information with unauthorized individuals or external </a:t>
            </a:r>
            <a:r>
              <a:rPr lang="en-US" sz="2400" dirty="0" smtClean="0"/>
              <a:t>parties.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2</a:t>
            </a:r>
            <a:r>
              <a:rPr lang="en-US" sz="2400" b="1" dirty="0" smtClean="0"/>
              <a:t>. </a:t>
            </a:r>
            <a:r>
              <a:rPr lang="en-US" sz="2400" b="1" dirty="0" smtClean="0"/>
              <a:t>Respect </a:t>
            </a:r>
            <a:r>
              <a:rPr lang="en-US" sz="2400" b="1" dirty="0"/>
              <a:t>company </a:t>
            </a:r>
            <a:r>
              <a:rPr lang="en-US" sz="2400" b="1" dirty="0" smtClean="0"/>
              <a:t>property</a:t>
            </a:r>
            <a:r>
              <a:rPr lang="en-US" sz="2400" dirty="0" smtClean="0"/>
              <a:t>: Use </a:t>
            </a:r>
            <a:r>
              <a:rPr lang="en-US" sz="2400" dirty="0"/>
              <a:t>company equipment, resources, and </a:t>
            </a:r>
            <a:r>
              <a:rPr lang="en-US" sz="2400" dirty="0" smtClean="0"/>
              <a:t>facilities for company purposes.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3</a:t>
            </a:r>
            <a:r>
              <a:rPr lang="en-US" sz="2400" b="1" dirty="0" smtClean="0"/>
              <a:t>. </a:t>
            </a:r>
            <a:r>
              <a:rPr lang="en-US" sz="2400" b="1" dirty="0" smtClean="0"/>
              <a:t>Adhere </a:t>
            </a:r>
            <a:r>
              <a:rPr lang="en-US" sz="2400" b="1" dirty="0"/>
              <a:t>to the </a:t>
            </a:r>
            <a:r>
              <a:rPr lang="en-US" sz="2400" b="1" dirty="0" smtClean="0"/>
              <a:t>law</a:t>
            </a:r>
            <a:r>
              <a:rPr lang="en-US" sz="2400" dirty="0" smtClean="0"/>
              <a:t>: Ensure </a:t>
            </a:r>
            <a:r>
              <a:rPr lang="en-US" sz="2400" dirty="0"/>
              <a:t>all actions comply with relevant laws and regulations to maintain ethical and </a:t>
            </a:r>
            <a:r>
              <a:rPr lang="en-US" sz="2400" dirty="0" smtClean="0"/>
              <a:t>legal </a:t>
            </a:r>
            <a:r>
              <a:rPr lang="en-US" sz="2400" dirty="0"/>
              <a:t>business practices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4</a:t>
            </a:r>
            <a:r>
              <a:rPr lang="en-US" sz="2400" b="1" dirty="0" smtClean="0"/>
              <a:t>. </a:t>
            </a:r>
            <a:r>
              <a:rPr lang="en-US" sz="2400" b="1" dirty="0" smtClean="0"/>
              <a:t>Prioritize </a:t>
            </a:r>
            <a:r>
              <a:rPr lang="en-US" sz="2400" b="1" dirty="0"/>
              <a:t>customers' </a:t>
            </a:r>
            <a:r>
              <a:rPr lang="en-US" sz="2400" b="1" dirty="0" smtClean="0"/>
              <a:t>need: </a:t>
            </a:r>
            <a:r>
              <a:rPr lang="en-US" sz="2400" dirty="0" smtClean="0"/>
              <a:t>Place </a:t>
            </a:r>
            <a:r>
              <a:rPr lang="en-US" sz="2400" dirty="0"/>
              <a:t>customers at the center of your service, striving to meet their </a:t>
            </a:r>
            <a:r>
              <a:rPr lang="en-US" sz="2400" dirty="0" smtClean="0"/>
              <a:t>expectations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5</a:t>
            </a:r>
            <a:r>
              <a:rPr lang="en-US" sz="2400" b="1" dirty="0" smtClean="0"/>
              <a:t>. </a:t>
            </a:r>
            <a:r>
              <a:rPr lang="en-US" sz="2400" b="1" dirty="0" smtClean="0"/>
              <a:t>Follow </a:t>
            </a:r>
            <a:r>
              <a:rPr lang="en-US" sz="2400" b="1" dirty="0"/>
              <a:t>the dress </a:t>
            </a:r>
            <a:r>
              <a:rPr lang="en-US" sz="2400" b="1" dirty="0" smtClean="0"/>
              <a:t>code</a:t>
            </a:r>
            <a:r>
              <a:rPr lang="en-US" sz="2400" dirty="0" smtClean="0"/>
              <a:t>:  </a:t>
            </a:r>
            <a:r>
              <a:rPr lang="en-US" sz="2400" dirty="0"/>
              <a:t>Adhere to the company’s guidelines regarding professional </a:t>
            </a:r>
            <a:r>
              <a:rPr lang="en-US" sz="2400" dirty="0" smtClean="0"/>
              <a:t>appearance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6</a:t>
            </a:r>
            <a:r>
              <a:rPr lang="en-US" sz="2400" b="1" dirty="0" smtClean="0"/>
              <a:t>. </a:t>
            </a:r>
            <a:r>
              <a:rPr lang="en-US" sz="2400" b="1" dirty="0" smtClean="0"/>
              <a:t>Report </a:t>
            </a:r>
            <a:r>
              <a:rPr lang="en-US" sz="2400" b="1" dirty="0"/>
              <a:t>conflicts of </a:t>
            </a:r>
            <a:r>
              <a:rPr lang="en-US" sz="2400" b="1" dirty="0" smtClean="0"/>
              <a:t>interest</a:t>
            </a:r>
            <a:r>
              <a:rPr lang="en-US" sz="2400" dirty="0" smtClean="0"/>
              <a:t>: Disclose </a:t>
            </a:r>
            <a:r>
              <a:rPr lang="en-US" sz="2400" dirty="0"/>
              <a:t>any situation where personal interests might interfere with professional responsibilities or decision-making</a:t>
            </a:r>
            <a:r>
              <a:rPr lang="en-US" sz="2400" dirty="0" smtClean="0"/>
              <a:t>.</a:t>
            </a:r>
            <a:r>
              <a:rPr lang="en-US" sz="2400" dirty="0"/>
              <a:t/>
            </a:r>
            <a:br>
              <a:rPr lang="en-US" sz="2400" dirty="0"/>
            </a:br>
            <a:endParaRPr lang="en-US" sz="2400" dirty="0"/>
          </a:p>
          <a:p>
            <a:pPr marL="514350" indent="-514350"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6104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2127"/>
            <a:ext cx="10515600" cy="1325563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Unethical behavior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07775"/>
            <a:ext cx="10515600" cy="4351338"/>
          </a:xfrm>
        </p:spPr>
        <p:txBody>
          <a:bodyPr>
            <a:noAutofit/>
          </a:bodyPr>
          <a:lstStyle/>
          <a:p>
            <a:pPr>
              <a:tabLst>
                <a:tab pos="7142163" algn="l"/>
              </a:tabLst>
            </a:pPr>
            <a:r>
              <a:rPr lang="en-US" sz="2400" b="1" dirty="0" smtClean="0"/>
              <a:t>Lying</a:t>
            </a:r>
            <a:r>
              <a:rPr lang="en-US" sz="2400" dirty="0" smtClean="0"/>
              <a:t>: Providing </a:t>
            </a:r>
            <a:r>
              <a:rPr lang="en-US" sz="2400" dirty="0"/>
              <a:t>false or misleading information to deceive others</a:t>
            </a:r>
            <a:r>
              <a:rPr lang="en-US" sz="2400" dirty="0" smtClean="0"/>
              <a:t>.</a:t>
            </a:r>
            <a:endParaRPr lang="en-US" sz="2400" dirty="0"/>
          </a:p>
          <a:p>
            <a:pPr>
              <a:tabLst>
                <a:tab pos="7142163" algn="l"/>
              </a:tabLst>
            </a:pPr>
            <a:r>
              <a:rPr lang="en-US" sz="2400" b="1" dirty="0"/>
              <a:t>Misusing company </a:t>
            </a:r>
            <a:r>
              <a:rPr lang="en-US" sz="2400" b="1" dirty="0" smtClean="0"/>
              <a:t>time</a:t>
            </a:r>
            <a:r>
              <a:rPr lang="en-US" sz="2400" dirty="0" smtClean="0"/>
              <a:t>:  </a:t>
            </a:r>
            <a:r>
              <a:rPr lang="en-US" sz="2400" dirty="0"/>
              <a:t>Engaging in </a:t>
            </a:r>
            <a:r>
              <a:rPr lang="en-US" sz="2400" dirty="0" smtClean="0"/>
              <a:t>personal/ </a:t>
            </a:r>
            <a:r>
              <a:rPr lang="en-US" sz="2400" dirty="0"/>
              <a:t>unrelated activities during work hours, </a:t>
            </a:r>
            <a:r>
              <a:rPr lang="en-US" sz="2400" dirty="0" smtClean="0"/>
              <a:t>wasting company resources/ productivity.</a:t>
            </a:r>
            <a:endParaRPr lang="en-US" sz="2400" dirty="0"/>
          </a:p>
          <a:p>
            <a:pPr>
              <a:tabLst>
                <a:tab pos="7142163" algn="l"/>
              </a:tabLst>
            </a:pPr>
            <a:r>
              <a:rPr lang="en-US" sz="2400" b="1" dirty="0"/>
              <a:t>Contributing to a hostile </a:t>
            </a:r>
            <a:r>
              <a:rPr lang="en-US" sz="2400" b="1" dirty="0" smtClean="0"/>
              <a:t>workplace</a:t>
            </a:r>
            <a:r>
              <a:rPr lang="en-US" sz="2400" dirty="0" smtClean="0"/>
              <a:t>: Bullying</a:t>
            </a:r>
            <a:r>
              <a:rPr lang="en-US" sz="2400" dirty="0"/>
              <a:t>, spreading gossip</a:t>
            </a:r>
            <a:r>
              <a:rPr lang="en-US" sz="2400" dirty="0" smtClean="0"/>
              <a:t>, </a:t>
            </a:r>
            <a:r>
              <a:rPr lang="en-US" sz="2400" dirty="0"/>
              <a:t>derogatory comments about colleagues based on gender, race, or other personal attributes.</a:t>
            </a:r>
          </a:p>
          <a:p>
            <a:pPr>
              <a:tabLst>
                <a:tab pos="7142163" algn="l"/>
              </a:tabLst>
            </a:pPr>
            <a:r>
              <a:rPr lang="en-US" sz="2400" b="1" dirty="0"/>
              <a:t>Ignoring conflicts of </a:t>
            </a:r>
            <a:r>
              <a:rPr lang="en-US" sz="2400" b="1" dirty="0" smtClean="0"/>
              <a:t>interest</a:t>
            </a:r>
            <a:r>
              <a:rPr lang="en-US" sz="2400" dirty="0" smtClean="0"/>
              <a:t>:  </a:t>
            </a:r>
            <a:r>
              <a:rPr lang="en-US" sz="2400" dirty="0"/>
              <a:t>Failing to disclose situations where personal interests may interfere with professional </a:t>
            </a:r>
            <a:r>
              <a:rPr lang="en-US" sz="2400" dirty="0" smtClean="0"/>
              <a:t>responsibilities</a:t>
            </a:r>
            <a:endParaRPr lang="en-US" sz="2400" dirty="0"/>
          </a:p>
          <a:p>
            <a:pPr>
              <a:tabLst>
                <a:tab pos="7142163" algn="l"/>
              </a:tabLst>
            </a:pPr>
            <a:r>
              <a:rPr lang="en-US" sz="2400" b="1" dirty="0"/>
              <a:t>Taking sides in a </a:t>
            </a:r>
            <a:r>
              <a:rPr lang="en-US" sz="2400" b="1" dirty="0" smtClean="0"/>
              <a:t>disagreement</a:t>
            </a:r>
            <a:r>
              <a:rPr lang="en-US" sz="2400" dirty="0" smtClean="0"/>
              <a:t>: Showing </a:t>
            </a:r>
            <a:r>
              <a:rPr lang="en-US" sz="2400" dirty="0"/>
              <a:t>favoritism or partiality in disputes, which can </a:t>
            </a:r>
            <a:r>
              <a:rPr lang="en-US" sz="2400" dirty="0" smtClean="0"/>
              <a:t>increase </a:t>
            </a:r>
            <a:r>
              <a:rPr lang="en-US" sz="2400" dirty="0"/>
              <a:t>conflicts </a:t>
            </a:r>
          </a:p>
          <a:p>
            <a:pPr>
              <a:tabLst>
                <a:tab pos="7142163" algn="l"/>
              </a:tabLst>
            </a:pPr>
            <a:r>
              <a:rPr lang="en-US" sz="2400" b="1" dirty="0"/>
              <a:t>Stealing company </a:t>
            </a:r>
            <a:r>
              <a:rPr lang="en-US" sz="2400" b="1" dirty="0" smtClean="0"/>
              <a:t>property</a:t>
            </a:r>
            <a:r>
              <a:rPr lang="en-US" sz="2400" dirty="0" smtClean="0"/>
              <a:t>:  </a:t>
            </a:r>
            <a:r>
              <a:rPr lang="en-US" sz="2400" dirty="0"/>
              <a:t>Taking company resources or assets without permission for personal </a:t>
            </a:r>
            <a:r>
              <a:rPr lang="en-US" sz="2400" dirty="0" smtClean="0"/>
              <a:t>use</a:t>
            </a:r>
          </a:p>
        </p:txBody>
      </p:sp>
    </p:spTree>
    <p:extLst>
      <p:ext uri="{BB962C8B-B14F-4D97-AF65-F5344CB8AC3E}">
        <p14:creationId xmlns:p14="http://schemas.microsoft.com/office/powerpoint/2010/main" val="2813284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Ethical </a:t>
            </a:r>
            <a:r>
              <a:rPr lang="en-US" b="1" dirty="0">
                <a:solidFill>
                  <a:srgbClr val="FF0000"/>
                </a:solidFill>
              </a:rPr>
              <a:t>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96562"/>
            <a:ext cx="1084281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dirty="0"/>
              <a:t>To </a:t>
            </a:r>
            <a:r>
              <a:rPr lang="en-US" dirty="0" smtClean="0"/>
              <a:t>direct </a:t>
            </a:r>
            <a:r>
              <a:rPr lang="en-US" dirty="0"/>
              <a:t>ethical decisions, </a:t>
            </a:r>
            <a:r>
              <a:rPr lang="en-US" dirty="0" smtClean="0">
                <a:solidFill>
                  <a:srgbClr val="FF0000"/>
                </a:solidFill>
              </a:rPr>
              <a:t>need of "frameworks</a:t>
            </a:r>
            <a:r>
              <a:rPr lang="en-US" dirty="0">
                <a:solidFill>
                  <a:srgbClr val="FF0000"/>
                </a:solidFill>
              </a:rPr>
              <a:t>" or </a:t>
            </a:r>
            <a:r>
              <a:rPr lang="en-US" dirty="0" smtClean="0">
                <a:solidFill>
                  <a:srgbClr val="FF0000"/>
                </a:solidFill>
              </a:rPr>
              <a:t>“sets </a:t>
            </a:r>
            <a:r>
              <a:rPr lang="en-US" dirty="0">
                <a:solidFill>
                  <a:srgbClr val="FF0000"/>
                </a:solidFill>
              </a:rPr>
              <a:t>of </a:t>
            </a:r>
            <a:r>
              <a:rPr lang="en-US" dirty="0" smtClean="0">
                <a:solidFill>
                  <a:srgbClr val="FF0000"/>
                </a:solidFill>
              </a:rPr>
              <a:t>principles” </a:t>
            </a:r>
            <a:r>
              <a:rPr lang="en-US" dirty="0">
                <a:solidFill>
                  <a:srgbClr val="FF0000"/>
                </a:solidFill>
              </a:rPr>
              <a:t>that guide decision-making.</a:t>
            </a:r>
          </a:p>
          <a:p>
            <a:r>
              <a:rPr lang="en-US" b="1" dirty="0" smtClean="0"/>
              <a:t>In </a:t>
            </a:r>
            <a:r>
              <a:rPr lang="en-US" b="1" dirty="0"/>
              <a:t>the medical field</a:t>
            </a:r>
            <a:r>
              <a:rPr lang="en-US" b="1" dirty="0" smtClean="0"/>
              <a:t>, </a:t>
            </a:r>
            <a:r>
              <a:rPr lang="en-US" b="1" dirty="0"/>
              <a:t>Beauchamp and Childress (2001) identified </a:t>
            </a:r>
            <a:r>
              <a:rPr lang="en-US" b="1" dirty="0">
                <a:solidFill>
                  <a:srgbClr val="FF0000"/>
                </a:solidFill>
              </a:rPr>
              <a:t>four principles </a:t>
            </a:r>
            <a:r>
              <a:rPr lang="en-US" b="1" dirty="0"/>
              <a:t>for making biomedical </a:t>
            </a:r>
            <a:r>
              <a:rPr lang="en-US" b="1" dirty="0" smtClean="0"/>
              <a:t>decisions: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0070C0"/>
                </a:solidFill>
              </a:rPr>
              <a:t>Respect </a:t>
            </a:r>
            <a:r>
              <a:rPr lang="en-US" b="1" dirty="0">
                <a:solidFill>
                  <a:srgbClr val="0070C0"/>
                </a:solidFill>
              </a:rPr>
              <a:t>for autonomy </a:t>
            </a:r>
            <a:endParaRPr lang="en-US" b="1" dirty="0" smtClean="0">
              <a:solidFill>
                <a:srgbClr val="0070C0"/>
              </a:solidFill>
            </a:endParaRP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0070C0"/>
                </a:solidFill>
              </a:rPr>
              <a:t>Beneficence(kindness) </a:t>
            </a:r>
            <a:r>
              <a:rPr lang="en-US" b="1" dirty="0">
                <a:solidFill>
                  <a:srgbClr val="0070C0"/>
                </a:solidFill>
              </a:rPr>
              <a:t>(</a:t>
            </a:r>
            <a:r>
              <a:rPr lang="en-US" b="1" dirty="0" smtClean="0">
                <a:solidFill>
                  <a:srgbClr val="0070C0"/>
                </a:solidFill>
              </a:rPr>
              <a:t>balance; benefits </a:t>
            </a:r>
            <a:r>
              <a:rPr lang="en-US" b="1" dirty="0">
                <a:solidFill>
                  <a:srgbClr val="0070C0"/>
                </a:solidFill>
              </a:rPr>
              <a:t>and risks for the patient) </a:t>
            </a:r>
            <a:endParaRPr lang="en-US" b="1" dirty="0" smtClean="0">
              <a:solidFill>
                <a:srgbClr val="0070C0"/>
              </a:solidFill>
            </a:endParaRP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0070C0"/>
                </a:solidFill>
              </a:rPr>
              <a:t>Non malfeasance (misconduct) </a:t>
            </a:r>
            <a:r>
              <a:rPr lang="en-US" b="1" dirty="0">
                <a:solidFill>
                  <a:srgbClr val="0070C0"/>
                </a:solidFill>
              </a:rPr>
              <a:t>(avoid causing </a:t>
            </a:r>
            <a:r>
              <a:rPr lang="en-US" b="1" dirty="0" smtClean="0">
                <a:solidFill>
                  <a:srgbClr val="0070C0"/>
                </a:solidFill>
              </a:rPr>
              <a:t>harm to others) 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0070C0"/>
                </a:solidFill>
              </a:rPr>
              <a:t> </a:t>
            </a:r>
            <a:r>
              <a:rPr lang="en-US" b="1" dirty="0">
                <a:solidFill>
                  <a:srgbClr val="0070C0"/>
                </a:solidFill>
              </a:rPr>
              <a:t>Justice </a:t>
            </a:r>
            <a:r>
              <a:rPr lang="en-US" b="1" dirty="0" smtClean="0">
                <a:solidFill>
                  <a:srgbClr val="0070C0"/>
                </a:solidFill>
              </a:rPr>
              <a:t>(impartiality/treat </a:t>
            </a:r>
            <a:r>
              <a:rPr lang="en-US" b="1" dirty="0">
                <a:solidFill>
                  <a:srgbClr val="0070C0"/>
                </a:solidFill>
              </a:rPr>
              <a:t>people fairly)</a:t>
            </a:r>
          </a:p>
        </p:txBody>
      </p:sp>
    </p:spTree>
    <p:extLst>
      <p:ext uri="{BB962C8B-B14F-4D97-AF65-F5344CB8AC3E}">
        <p14:creationId xmlns:p14="http://schemas.microsoft.com/office/powerpoint/2010/main" val="1645998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67902"/>
            <a:ext cx="10515600" cy="1325563"/>
          </a:xfrm>
        </p:spPr>
        <p:txBody>
          <a:bodyPr/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08847"/>
            <a:ext cx="11111753" cy="486811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The </a:t>
            </a:r>
            <a:r>
              <a:rPr lang="en-US" b="1" dirty="0" err="1">
                <a:solidFill>
                  <a:srgbClr val="00B0F0"/>
                </a:solidFill>
              </a:rPr>
              <a:t>Markkula</a:t>
            </a:r>
            <a:r>
              <a:rPr lang="en-US" b="1" dirty="0">
                <a:solidFill>
                  <a:srgbClr val="00B0F0"/>
                </a:solidFill>
              </a:rPr>
              <a:t> Center for Applied Ethics at Santa Clara University summarizes five common ethical </a:t>
            </a:r>
            <a:r>
              <a:rPr lang="en-US" b="1" dirty="0" smtClean="0">
                <a:solidFill>
                  <a:srgbClr val="00B0F0"/>
                </a:solidFill>
              </a:rPr>
              <a:t>frameworks: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utilitarian approach: </a:t>
            </a:r>
            <a:r>
              <a:rPr lang="en-US" b="1" dirty="0"/>
              <a:t>choose the action that produces the </a:t>
            </a:r>
            <a:r>
              <a:rPr lang="en-US" b="1" dirty="0">
                <a:solidFill>
                  <a:srgbClr val="00B0F0"/>
                </a:solidFill>
              </a:rPr>
              <a:t>greatest good and the least harm </a:t>
            </a:r>
            <a:endParaRPr lang="en-US" b="1" dirty="0" smtClean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rights approach: </a:t>
            </a:r>
            <a:r>
              <a:rPr lang="en-US" b="1" dirty="0"/>
              <a:t>choose the action that </a:t>
            </a:r>
            <a:r>
              <a:rPr lang="en-US" b="1" dirty="0">
                <a:solidFill>
                  <a:srgbClr val="00B0F0"/>
                </a:solidFill>
              </a:rPr>
              <a:t>protects the moral rights</a:t>
            </a:r>
            <a:r>
              <a:rPr lang="en-US" b="1" dirty="0"/>
              <a:t> (freedom, privacy, choice, information) of those who are affected by the decision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fairness or justice approach:</a:t>
            </a:r>
            <a:r>
              <a:rPr lang="en-US" b="1" dirty="0">
                <a:solidFill>
                  <a:srgbClr val="00B0F0"/>
                </a:solidFill>
              </a:rPr>
              <a:t> treat everyone </a:t>
            </a:r>
            <a:r>
              <a:rPr lang="en-US" b="1" dirty="0" smtClean="0">
                <a:solidFill>
                  <a:srgbClr val="00B0F0"/>
                </a:solidFill>
              </a:rPr>
              <a:t>equally/</a:t>
            </a:r>
            <a:r>
              <a:rPr lang="en-US" b="1" dirty="0" smtClean="0"/>
              <a:t> </a:t>
            </a:r>
            <a:r>
              <a:rPr lang="en-US" b="1" dirty="0">
                <a:solidFill>
                  <a:srgbClr val="00B0F0"/>
                </a:solidFill>
              </a:rPr>
              <a:t>fairly </a:t>
            </a:r>
          </a:p>
          <a:p>
            <a:pPr>
              <a:buFontTx/>
              <a:buChar char="-"/>
            </a:pPr>
            <a:r>
              <a:rPr lang="en-US" b="1" dirty="0" smtClean="0">
                <a:solidFill>
                  <a:srgbClr val="FF000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common good approach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b="1" dirty="0"/>
              <a:t>choose the action that </a:t>
            </a:r>
            <a:r>
              <a:rPr lang="en-US" b="1" dirty="0" smtClean="0">
                <a:solidFill>
                  <a:srgbClr val="00B0F0"/>
                </a:solidFill>
              </a:rPr>
              <a:t>contributes greatest </a:t>
            </a:r>
            <a:r>
              <a:rPr lang="en-US" b="1" dirty="0">
                <a:solidFill>
                  <a:srgbClr val="00B0F0"/>
                </a:solidFill>
              </a:rPr>
              <a:t>to the common good </a:t>
            </a:r>
            <a:endParaRPr lang="en-US" b="1" dirty="0" smtClean="0">
              <a:solidFill>
                <a:srgbClr val="00B0F0"/>
              </a:solidFill>
            </a:endParaRPr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>
                <a:solidFill>
                  <a:srgbClr val="FF0000"/>
                </a:solidFill>
              </a:rPr>
              <a:t>The virtue approach: </a:t>
            </a:r>
            <a:r>
              <a:rPr lang="en-US" b="1" dirty="0"/>
              <a:t>choose the action that is </a:t>
            </a:r>
            <a:r>
              <a:rPr lang="en-US" b="1" dirty="0">
                <a:solidFill>
                  <a:srgbClr val="00B0F0"/>
                </a:solidFill>
              </a:rPr>
              <a:t>consistent with virtuous values such as honesty, compassion, tolerance, </a:t>
            </a:r>
            <a:r>
              <a:rPr lang="en-US" b="1" dirty="0" smtClean="0">
                <a:solidFill>
                  <a:srgbClr val="00B0F0"/>
                </a:solidFill>
              </a:rPr>
              <a:t>truth, </a:t>
            </a:r>
            <a:r>
              <a:rPr lang="en-US" b="1" dirty="0">
                <a:solidFill>
                  <a:srgbClr val="00B0F0"/>
                </a:solidFill>
              </a:rPr>
              <a:t>and </a:t>
            </a:r>
            <a:r>
              <a:rPr lang="en-US" b="1" dirty="0" smtClean="0">
                <a:solidFill>
                  <a:srgbClr val="00B0F0"/>
                </a:solidFill>
              </a:rPr>
              <a:t>farsightedness</a:t>
            </a: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2134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7706"/>
            <a:ext cx="10515600" cy="435133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McDonald, Rodney, and </a:t>
            </a:r>
            <a:r>
              <a:rPr lang="en-US" b="1" dirty="0" err="1">
                <a:solidFill>
                  <a:srgbClr val="FF0000"/>
                </a:solidFill>
              </a:rPr>
              <a:t>Starzomski</a:t>
            </a:r>
            <a:r>
              <a:rPr lang="en-US" b="1" dirty="0">
                <a:solidFill>
                  <a:srgbClr val="FF0000"/>
                </a:solidFill>
              </a:rPr>
              <a:t> (University of British </a:t>
            </a:r>
            <a:r>
              <a:rPr lang="en-US" b="1" dirty="0" smtClean="0">
                <a:solidFill>
                  <a:srgbClr val="FF0000"/>
                </a:solidFill>
              </a:rPr>
              <a:t>Columbia) describe </a:t>
            </a:r>
            <a:r>
              <a:rPr lang="en-US" b="1" dirty="0">
                <a:solidFill>
                  <a:srgbClr val="FF0000"/>
                </a:solidFill>
              </a:rPr>
              <a:t>one way to proceed with decisions ethically</a:t>
            </a:r>
            <a:r>
              <a:rPr lang="en-US" b="1" dirty="0" smtClean="0">
                <a:solidFill>
                  <a:srgbClr val="FF0000"/>
                </a:solidFill>
              </a:rPr>
              <a:t>: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1. Collect information and identify the problem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2. Specify feasible alternatives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 </a:t>
            </a:r>
            <a:r>
              <a:rPr lang="en-US" b="1" dirty="0"/>
              <a:t>3. Use your ethical resources to identify morally significant factors in each alternative. </a:t>
            </a: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4</a:t>
            </a:r>
            <a:r>
              <a:rPr lang="en-US" b="1" dirty="0"/>
              <a:t>. Propose and test possible resolutions</a:t>
            </a:r>
            <a:r>
              <a:rPr lang="en-US" b="1" dirty="0" smtClean="0"/>
              <a:t>.</a:t>
            </a:r>
          </a:p>
          <a:p>
            <a:pPr marL="0" indent="0">
              <a:buNone/>
            </a:pPr>
            <a:r>
              <a:rPr lang="en-US" b="1" dirty="0" smtClean="0"/>
              <a:t>5</a:t>
            </a:r>
            <a:r>
              <a:rPr lang="en-US" b="1" dirty="0"/>
              <a:t>. Make your choice</a:t>
            </a:r>
          </a:p>
        </p:txBody>
      </p:sp>
    </p:spTree>
    <p:extLst>
      <p:ext uri="{BB962C8B-B14F-4D97-AF65-F5344CB8AC3E}">
        <p14:creationId xmlns:p14="http://schemas.microsoft.com/office/powerpoint/2010/main" val="414222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Ethics for students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9271" y="1825625"/>
            <a:ext cx="11156576" cy="4351338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 </a:t>
            </a:r>
            <a:r>
              <a:rPr lang="en-US" b="1" dirty="0" smtClean="0"/>
              <a:t>Ethics </a:t>
            </a:r>
            <a:r>
              <a:rPr lang="en-US" b="1" dirty="0"/>
              <a:t>entails commitment to the fundamental values of </a:t>
            </a:r>
            <a:r>
              <a:rPr lang="en-US" b="1" dirty="0">
                <a:solidFill>
                  <a:srgbClr val="FF0000"/>
                </a:solidFill>
              </a:rPr>
              <a:t>honesty, trust, fairness, respect, responsibility, and </a:t>
            </a:r>
            <a:r>
              <a:rPr lang="en-US" b="1" dirty="0" smtClean="0">
                <a:solidFill>
                  <a:srgbClr val="FF0000"/>
                </a:solidFill>
              </a:rPr>
              <a:t>courage</a:t>
            </a:r>
            <a:r>
              <a:rPr lang="en-US" b="1" dirty="0" smtClean="0"/>
              <a:t> </a:t>
            </a:r>
          </a:p>
          <a:p>
            <a:r>
              <a:rPr lang="en-US" b="1" dirty="0"/>
              <a:t>U</a:t>
            </a:r>
            <a:r>
              <a:rPr lang="en-US" b="1" dirty="0" smtClean="0"/>
              <a:t>niversities </a:t>
            </a:r>
            <a:r>
              <a:rPr lang="en-US" b="1" dirty="0"/>
              <a:t>have </a:t>
            </a:r>
            <a:r>
              <a:rPr lang="en-US" b="1" dirty="0">
                <a:solidFill>
                  <a:srgbClr val="FF0000"/>
                </a:solidFill>
              </a:rPr>
              <a:t>plagiarism </a:t>
            </a:r>
            <a:r>
              <a:rPr lang="en-US" b="1" dirty="0"/>
              <a:t>policies to enforce academic honesty—ethics. </a:t>
            </a:r>
            <a:endParaRPr lang="en-US" b="1" dirty="0" smtClean="0"/>
          </a:p>
          <a:p>
            <a:r>
              <a:rPr lang="en-US" dirty="0" smtClean="0"/>
              <a:t>It </a:t>
            </a:r>
            <a:r>
              <a:rPr lang="en-US" dirty="0"/>
              <a:t>provides an environment of free and creative inquiry where</a:t>
            </a:r>
            <a:r>
              <a:rPr lang="en-US" dirty="0">
                <a:solidFill>
                  <a:srgbClr val="FF0000"/>
                </a:solidFill>
              </a:rPr>
              <a:t> critical thinking, human values, and practical skills are cultivated/ sustained. </a:t>
            </a:r>
          </a:p>
          <a:p>
            <a:r>
              <a:rPr lang="en-US" dirty="0"/>
              <a:t>It has a mission and principles for the </a:t>
            </a:r>
            <a:r>
              <a:rPr lang="en-US" dirty="0">
                <a:solidFill>
                  <a:srgbClr val="FF0000"/>
                </a:solidFill>
              </a:rPr>
              <a:t>growth of </a:t>
            </a:r>
            <a:r>
              <a:rPr lang="en-US" dirty="0" smtClean="0">
                <a:solidFill>
                  <a:srgbClr val="FF0000"/>
                </a:solidFill>
              </a:rPr>
              <a:t>its students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Students observe a standard of conduct that contributes to the </a:t>
            </a:r>
            <a:r>
              <a:rPr lang="en-US" dirty="0">
                <a:solidFill>
                  <a:srgbClr val="FF0000"/>
                </a:solidFill>
              </a:rPr>
              <a:t>University’s </a:t>
            </a:r>
            <a:r>
              <a:rPr lang="en-US" dirty="0" smtClean="0">
                <a:solidFill>
                  <a:srgbClr val="FF0000"/>
                </a:solidFill>
              </a:rPr>
              <a:t>mission, intellectual and </a:t>
            </a:r>
            <a:r>
              <a:rPr lang="en-US" dirty="0">
                <a:solidFill>
                  <a:srgbClr val="FF0000"/>
                </a:solidFill>
              </a:rPr>
              <a:t>personal growth of all .</a:t>
            </a:r>
          </a:p>
          <a:p>
            <a:r>
              <a:rPr lang="en-US" dirty="0"/>
              <a:t>This responsibility is</a:t>
            </a:r>
            <a:r>
              <a:rPr lang="en-US" dirty="0">
                <a:solidFill>
                  <a:srgbClr val="FF0000"/>
                </a:solidFill>
              </a:rPr>
              <a:t> respecting the rights, property, and well-being of others , and </a:t>
            </a:r>
            <a:r>
              <a:rPr lang="en-US" dirty="0" smtClean="0">
                <a:solidFill>
                  <a:srgbClr val="FF0000"/>
                </a:solidFill>
              </a:rPr>
              <a:t>not participating from </a:t>
            </a:r>
            <a:r>
              <a:rPr lang="en-US" dirty="0">
                <a:solidFill>
                  <a:srgbClr val="FF0000"/>
                </a:solidFill>
              </a:rPr>
              <a:t>harmful </a:t>
            </a:r>
            <a:r>
              <a:rPr lang="en-US" dirty="0" smtClean="0">
                <a:solidFill>
                  <a:srgbClr val="FF0000"/>
                </a:solidFill>
              </a:rPr>
              <a:t>actions for </a:t>
            </a:r>
            <a:r>
              <a:rPr lang="en-US" dirty="0">
                <a:solidFill>
                  <a:srgbClr val="FF0000"/>
                </a:solidFill>
              </a:rPr>
              <a:t>University’s mission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366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66269"/>
            <a:ext cx="10515600" cy="1325563"/>
          </a:xfrm>
        </p:spPr>
        <p:txBody>
          <a:bodyPr/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6058"/>
            <a:ext cx="10515600" cy="472757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Those </a:t>
            </a:r>
            <a:r>
              <a:rPr lang="en-US" dirty="0"/>
              <a:t>who study and work need to</a:t>
            </a:r>
            <a:r>
              <a:rPr lang="en-US" dirty="0">
                <a:solidFill>
                  <a:srgbClr val="FF0000"/>
                </a:solidFill>
              </a:rPr>
              <a:t> give credit other’s  ideas, research</a:t>
            </a:r>
            <a:r>
              <a:rPr lang="en-US" dirty="0"/>
              <a:t>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Referencing:</a:t>
            </a:r>
            <a:r>
              <a:rPr lang="en-US" dirty="0" smtClean="0"/>
              <a:t> </a:t>
            </a:r>
            <a:r>
              <a:rPr lang="en-US" dirty="0"/>
              <a:t>give credit to others texts and be clear  </a:t>
            </a:r>
            <a:r>
              <a:rPr lang="en-US" dirty="0" smtClean="0"/>
              <a:t>about own </a:t>
            </a:r>
            <a:r>
              <a:rPr lang="en-US" dirty="0"/>
              <a:t>contributions to the  writing.</a:t>
            </a:r>
          </a:p>
          <a:p>
            <a:r>
              <a:rPr lang="en-US" dirty="0" smtClean="0"/>
              <a:t>Citation </a:t>
            </a:r>
            <a:r>
              <a:rPr lang="en-US" dirty="0"/>
              <a:t>systems </a:t>
            </a:r>
            <a:r>
              <a:rPr lang="en-US" dirty="0">
                <a:solidFill>
                  <a:srgbClr val="FF0000"/>
                </a:solidFill>
              </a:rPr>
              <a:t>impresses readers</a:t>
            </a:r>
            <a:r>
              <a:rPr lang="en-US" dirty="0"/>
              <a:t> that you know about (and have read) the important articles or books for study. </a:t>
            </a:r>
          </a:p>
          <a:p>
            <a:r>
              <a:rPr lang="en-US" dirty="0"/>
              <a:t>R</a:t>
            </a:r>
            <a:r>
              <a:rPr lang="en-US" dirty="0" smtClean="0"/>
              <a:t>eferences </a:t>
            </a:r>
            <a:r>
              <a:rPr lang="en-US" dirty="0"/>
              <a:t>are  to be free from charges of plagiarism; also be ways to further impress professors  about depth of your research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References according to the </a:t>
            </a:r>
            <a:r>
              <a:rPr lang="en-US" dirty="0">
                <a:solidFill>
                  <a:srgbClr val="FF0000"/>
                </a:solidFill>
              </a:rPr>
              <a:t>Modern Language Association (MLA) rules, the American Psychological Association (</a:t>
            </a:r>
            <a:r>
              <a:rPr lang="en-US" dirty="0" err="1">
                <a:solidFill>
                  <a:srgbClr val="FF0000"/>
                </a:solidFill>
              </a:rPr>
              <a:t>APA</a:t>
            </a:r>
            <a:r>
              <a:rPr lang="en-US" dirty="0">
                <a:solidFill>
                  <a:srgbClr val="FF0000"/>
                </a:solidFill>
              </a:rPr>
              <a:t>) </a:t>
            </a:r>
            <a:r>
              <a:rPr lang="en-US" dirty="0" smtClean="0">
                <a:solidFill>
                  <a:srgbClr val="FF0000"/>
                </a:solidFill>
              </a:rPr>
              <a:t>rules, the </a:t>
            </a:r>
            <a:r>
              <a:rPr lang="en-US" dirty="0">
                <a:solidFill>
                  <a:srgbClr val="FF0000"/>
                </a:solidFill>
              </a:rPr>
              <a:t>Chicago Manual of Style (CMS) of the University of Chicago Press, and the Council of Science Editors (</a:t>
            </a:r>
            <a:r>
              <a:rPr lang="en-US" dirty="0" err="1">
                <a:solidFill>
                  <a:srgbClr val="FF0000"/>
                </a:solidFill>
              </a:rPr>
              <a:t>CSE</a:t>
            </a:r>
            <a:r>
              <a:rPr lang="en-US" dirty="0">
                <a:solidFill>
                  <a:srgbClr val="FF0000"/>
                </a:solidFill>
              </a:rPr>
              <a:t>) style. </a:t>
            </a:r>
          </a:p>
          <a:p>
            <a:endParaRPr lang="en-US" dirty="0"/>
          </a:p>
          <a:p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4170747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Citation: When and How?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0965" y="1622612"/>
            <a:ext cx="10596282" cy="4715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b="1" i="1" dirty="0">
                <a:solidFill>
                  <a:srgbClr val="7030A0"/>
                </a:solidFill>
              </a:rPr>
              <a:t>Whenever you borrow </a:t>
            </a:r>
            <a:r>
              <a:rPr lang="en-US" b="1" i="1" dirty="0" smtClean="0">
                <a:solidFill>
                  <a:srgbClr val="7030A0"/>
                </a:solidFill>
              </a:rPr>
              <a:t>ideas</a:t>
            </a:r>
            <a:r>
              <a:rPr lang="en-US" b="1" i="1" dirty="0">
                <a:solidFill>
                  <a:srgbClr val="7030A0"/>
                </a:solidFill>
              </a:rPr>
              <a:t>, you need citation to acknowledge their source. </a:t>
            </a:r>
            <a:r>
              <a:rPr lang="en-US" b="1" i="1" dirty="0" smtClean="0">
                <a:solidFill>
                  <a:srgbClr val="7030A0"/>
                </a:solidFill>
              </a:rPr>
              <a:t> Thus, cite:</a:t>
            </a:r>
          </a:p>
          <a:p>
            <a:r>
              <a:rPr lang="en-US" b="1" dirty="0" smtClean="0"/>
              <a:t>whenever </a:t>
            </a:r>
            <a:r>
              <a:rPr lang="en-US" b="1" dirty="0"/>
              <a:t>you use </a:t>
            </a:r>
            <a:r>
              <a:rPr lang="en-US" b="1" dirty="0" smtClean="0"/>
              <a:t>quotes. </a:t>
            </a:r>
            <a:endParaRPr lang="en-US" b="1" dirty="0"/>
          </a:p>
          <a:p>
            <a:r>
              <a:rPr lang="en-US" b="1" dirty="0" smtClean="0"/>
              <a:t>whenever </a:t>
            </a:r>
            <a:r>
              <a:rPr lang="en-US" b="1" dirty="0"/>
              <a:t>you </a:t>
            </a:r>
            <a:r>
              <a:rPr lang="en-US" b="1" dirty="0" smtClean="0"/>
              <a:t>paraphrase. </a:t>
            </a:r>
          </a:p>
          <a:p>
            <a:r>
              <a:rPr lang="en-US" b="1" dirty="0" smtClean="0"/>
              <a:t>whenever </a:t>
            </a:r>
            <a:r>
              <a:rPr lang="en-US" b="1" dirty="0"/>
              <a:t>you use an idea that someone else has </a:t>
            </a:r>
            <a:r>
              <a:rPr lang="en-US" b="1" dirty="0" smtClean="0"/>
              <a:t>already expressed. </a:t>
            </a:r>
          </a:p>
          <a:p>
            <a:r>
              <a:rPr lang="en-US" b="1" dirty="0" smtClean="0"/>
              <a:t>whenever </a:t>
            </a:r>
            <a:r>
              <a:rPr lang="en-US" b="1" dirty="0"/>
              <a:t>you make specific reference to the work of </a:t>
            </a:r>
            <a:r>
              <a:rPr lang="en-US" b="1" dirty="0" smtClean="0"/>
              <a:t>another. </a:t>
            </a:r>
          </a:p>
          <a:p>
            <a:r>
              <a:rPr lang="en-US" b="1" dirty="0" smtClean="0"/>
              <a:t>whenever </a:t>
            </a:r>
            <a:r>
              <a:rPr lang="en-US" b="1" dirty="0"/>
              <a:t>someone else’s work has been critical in developing your own </a:t>
            </a:r>
            <a:r>
              <a:rPr lang="en-US" b="1" dirty="0" smtClean="0"/>
              <a:t>ideas.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1525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scontent.fbwa1-1.fna.fbcdn.net/v/t1.15752-9/107090007_555769041761475_1027910715409362019_n.png?_nc_cat=100&amp;_nc_sid=b96e70&amp;_nc_ohc=CTzKm6AOoMgAX_faGu0&amp;_nc_ht=scontent.fbwa1-1.fna&amp;oh=66ed7221e94d0a0ccf66487c881ceee3&amp;oe=5F2B4258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9" t="32213" r="24066" b="15033"/>
          <a:stretch/>
        </p:blipFill>
        <p:spPr bwMode="auto">
          <a:xfrm>
            <a:off x="555720" y="969546"/>
            <a:ext cx="11123629" cy="47947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145895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680447"/>
            <a:ext cx="10515600" cy="349651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600" b="1" dirty="0" smtClean="0">
                <a:solidFill>
                  <a:srgbClr val="0070C0"/>
                </a:solidFill>
              </a:rPr>
              <a:t>References: Example</a:t>
            </a:r>
            <a:endParaRPr lang="en-GB" sz="6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679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053" t="20372" r="15426" b="9450"/>
          <a:stretch/>
        </p:blipFill>
        <p:spPr>
          <a:xfrm>
            <a:off x="499622" y="461913"/>
            <a:ext cx="11180188" cy="58257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5442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How is </a:t>
            </a:r>
            <a:r>
              <a:rPr lang="en-US" sz="4000" b="1" dirty="0" smtClean="0">
                <a:solidFill>
                  <a:srgbClr val="FF0000"/>
                </a:solidFill>
              </a:rPr>
              <a:t>Ethics </a:t>
            </a:r>
            <a:r>
              <a:rPr lang="en-US" sz="4000" b="1" dirty="0">
                <a:solidFill>
                  <a:srgbClr val="FF0000"/>
                </a:solidFill>
              </a:rPr>
              <a:t>R</a:t>
            </a:r>
            <a:r>
              <a:rPr lang="en-US" sz="4000" b="1" dirty="0" smtClean="0">
                <a:solidFill>
                  <a:srgbClr val="FF0000"/>
                </a:solidFill>
              </a:rPr>
              <a:t>elated </a:t>
            </a:r>
            <a:r>
              <a:rPr lang="en-US" sz="4000" b="1" dirty="0">
                <a:solidFill>
                  <a:srgbClr val="FF0000"/>
                </a:solidFill>
              </a:rPr>
              <a:t>to </a:t>
            </a:r>
            <a:r>
              <a:rPr lang="en-US" sz="4000" b="1" dirty="0" smtClean="0">
                <a:solidFill>
                  <a:srgbClr val="FF0000"/>
                </a:solidFill>
              </a:rPr>
              <a:t>Technical Communication</a:t>
            </a:r>
            <a:r>
              <a:rPr lang="en-US" sz="4000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11753" cy="4351338"/>
          </a:xfrm>
        </p:spPr>
        <p:txBody>
          <a:bodyPr/>
          <a:lstStyle/>
          <a:p>
            <a:r>
              <a:rPr lang="en-US" b="1" dirty="0"/>
              <a:t>T</a:t>
            </a:r>
            <a:r>
              <a:rPr lang="en-US" b="1" dirty="0" smtClean="0"/>
              <a:t>echnical </a:t>
            </a:r>
            <a:r>
              <a:rPr lang="en-US" b="1" dirty="0"/>
              <a:t>communication aims to educate and inform readers about </a:t>
            </a:r>
            <a:r>
              <a:rPr lang="en-US" b="1" dirty="0">
                <a:solidFill>
                  <a:srgbClr val="00B0F0"/>
                </a:solidFill>
              </a:rPr>
              <a:t>how to operate a piece of equipment or a software application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</a:p>
          <a:p>
            <a:r>
              <a:rPr lang="en-US" b="1" dirty="0" smtClean="0"/>
              <a:t> </a:t>
            </a:r>
            <a:r>
              <a:rPr lang="en-US" b="1" dirty="0"/>
              <a:t>Instead of rehearsing already known facts, technical communication shows readers </a:t>
            </a:r>
            <a:r>
              <a:rPr lang="en-US" b="1" dirty="0">
                <a:solidFill>
                  <a:srgbClr val="00B0F0"/>
                </a:solidFill>
              </a:rPr>
              <a:t>how to do </a:t>
            </a:r>
            <a:r>
              <a:rPr lang="en-US" b="1" dirty="0" smtClean="0">
                <a:solidFill>
                  <a:srgbClr val="00B0F0"/>
                </a:solidFill>
              </a:rPr>
              <a:t>or </a:t>
            </a:r>
            <a:r>
              <a:rPr lang="en-US" b="1" dirty="0">
                <a:solidFill>
                  <a:srgbClr val="00B0F0"/>
                </a:solidFill>
              </a:rPr>
              <a:t>how to understand things in a new way.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When </a:t>
            </a:r>
            <a:r>
              <a:rPr lang="en-US" b="1" dirty="0"/>
              <a:t>a technical writer produces a </a:t>
            </a:r>
            <a:r>
              <a:rPr lang="en-US" b="1" dirty="0" smtClean="0"/>
              <a:t>report/manual </a:t>
            </a:r>
            <a:r>
              <a:rPr lang="en-US" b="1" dirty="0"/>
              <a:t>for an organization, the organization owns the </a:t>
            </a:r>
            <a:r>
              <a:rPr lang="en-US" b="1" dirty="0">
                <a:solidFill>
                  <a:srgbClr val="00B0F0"/>
                </a:solidFill>
              </a:rPr>
              <a:t>copyright to what is written. </a:t>
            </a:r>
          </a:p>
        </p:txBody>
      </p:sp>
    </p:spTree>
    <p:extLst>
      <p:ext uri="{BB962C8B-B14F-4D97-AF65-F5344CB8AC3E}">
        <p14:creationId xmlns:p14="http://schemas.microsoft.com/office/powerpoint/2010/main" val="3107685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One area of ethical choice involves </a:t>
            </a:r>
            <a:r>
              <a:rPr lang="en-US" b="1" dirty="0">
                <a:solidFill>
                  <a:srgbClr val="00B0F0"/>
                </a:solidFill>
              </a:rPr>
              <a:t>how to give credit to </a:t>
            </a:r>
            <a:r>
              <a:rPr lang="en-US" b="1" dirty="0" smtClean="0">
                <a:solidFill>
                  <a:srgbClr val="00B0F0"/>
                </a:solidFill>
              </a:rPr>
              <a:t>others’ </a:t>
            </a:r>
            <a:r>
              <a:rPr lang="en-US" b="1" dirty="0" smtClean="0"/>
              <a:t>work. 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Copyright </a:t>
            </a:r>
            <a:r>
              <a:rPr lang="en-US" b="1" dirty="0">
                <a:solidFill>
                  <a:srgbClr val="FF0000"/>
                </a:solidFill>
              </a:rPr>
              <a:t>symbols, trademark symbols, and referencing systems </a:t>
            </a:r>
            <a:r>
              <a:rPr lang="en-US" b="1" dirty="0" smtClean="0">
                <a:solidFill>
                  <a:srgbClr val="FF0000"/>
                </a:solidFill>
              </a:rPr>
              <a:t>(APA, MLA) </a:t>
            </a:r>
            <a:r>
              <a:rPr lang="en-US" b="1" dirty="0">
                <a:solidFill>
                  <a:srgbClr val="FF0000"/>
                </a:solidFill>
              </a:rPr>
              <a:t>are some of the ways writers give credit to others. </a:t>
            </a:r>
            <a:endParaRPr lang="en-US" b="1" dirty="0" smtClean="0"/>
          </a:p>
          <a:p>
            <a:r>
              <a:rPr lang="en-US" b="1" dirty="0"/>
              <a:t>As a technical </a:t>
            </a:r>
            <a:r>
              <a:rPr lang="en-US" b="1" dirty="0" smtClean="0"/>
              <a:t>writer </a:t>
            </a:r>
            <a:r>
              <a:rPr lang="en-US" b="1" dirty="0"/>
              <a:t>it's crucial to understand and use symbols and</a:t>
            </a:r>
            <a:r>
              <a:rPr lang="en-US" b="1" dirty="0">
                <a:solidFill>
                  <a:srgbClr val="00B0F0"/>
                </a:solidFill>
              </a:rPr>
              <a:t> referencing systems correctly </a:t>
            </a:r>
            <a:r>
              <a:rPr lang="en-US" b="1" dirty="0" smtClean="0">
                <a:solidFill>
                  <a:srgbClr val="00B0F0"/>
                </a:solidFill>
              </a:rPr>
              <a:t>to be free  from plagiarism.</a:t>
            </a:r>
            <a:r>
              <a:rPr lang="en-US" b="1" dirty="0">
                <a:solidFill>
                  <a:srgbClr val="00B0F0"/>
                </a:solidFill>
              </a:rPr>
              <a:t/>
            </a:r>
            <a:br>
              <a:rPr lang="en-US" b="1" dirty="0">
                <a:solidFill>
                  <a:srgbClr val="00B0F0"/>
                </a:solidFill>
              </a:rPr>
            </a:br>
            <a:endParaRPr 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825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 smtClean="0">
                <a:solidFill>
                  <a:srgbClr val="FF0000"/>
                </a:solidFill>
              </a:rPr>
              <a:t>opyright</a:t>
            </a:r>
            <a:r>
              <a:rPr lang="en-US" b="1" dirty="0">
                <a:solidFill>
                  <a:srgbClr val="FF0000"/>
                </a:solidFill>
              </a:rPr>
              <a:t>, </a:t>
            </a:r>
            <a:r>
              <a:rPr lang="en-US" b="1" dirty="0" smtClean="0">
                <a:solidFill>
                  <a:srgbClr val="FF0000"/>
                </a:solidFill>
              </a:rPr>
              <a:t>Trademarks and Patents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92435" cy="4351338"/>
          </a:xfrm>
        </p:spPr>
        <p:txBody>
          <a:bodyPr/>
          <a:lstStyle/>
          <a:p>
            <a:r>
              <a:rPr lang="en-US" b="1" dirty="0"/>
              <a:t>Copyright refers to the </a:t>
            </a:r>
            <a:r>
              <a:rPr lang="en-US" b="1" dirty="0">
                <a:solidFill>
                  <a:srgbClr val="00B0F0"/>
                </a:solidFill>
              </a:rPr>
              <a:t>right to copy or </a:t>
            </a:r>
            <a:r>
              <a:rPr lang="en-US" b="1" dirty="0" smtClean="0">
                <a:solidFill>
                  <a:srgbClr val="00B0F0"/>
                </a:solidFill>
              </a:rPr>
              <a:t>reproduce </a:t>
            </a:r>
            <a:r>
              <a:rPr lang="en-US" b="1" dirty="0">
                <a:solidFill>
                  <a:srgbClr val="00B0F0"/>
                </a:solidFill>
              </a:rPr>
              <a:t>original works yourself and the right to assign permission to make copies to others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This </a:t>
            </a:r>
            <a:r>
              <a:rPr lang="en-US" b="1" dirty="0"/>
              <a:t>right applies to </a:t>
            </a:r>
            <a:r>
              <a:rPr lang="en-US" b="1" dirty="0" smtClean="0"/>
              <a:t>the original </a:t>
            </a:r>
            <a:r>
              <a:rPr lang="en-US" b="1" dirty="0"/>
              <a:t>works of</a:t>
            </a:r>
            <a:r>
              <a:rPr lang="en-US" b="1" dirty="0">
                <a:solidFill>
                  <a:srgbClr val="00B0F0"/>
                </a:solidFill>
              </a:rPr>
              <a:t> literature, film, music, </a:t>
            </a:r>
            <a:r>
              <a:rPr lang="en-US" b="1" dirty="0" smtClean="0">
                <a:solidFill>
                  <a:srgbClr val="00B0F0"/>
                </a:solidFill>
              </a:rPr>
              <a:t>photographs, art etc</a:t>
            </a:r>
            <a:r>
              <a:rPr lang="en-US" b="1" dirty="0" smtClean="0"/>
              <a:t>.</a:t>
            </a:r>
          </a:p>
          <a:p>
            <a:r>
              <a:rPr lang="en-US" b="1" dirty="0"/>
              <a:t>You </a:t>
            </a:r>
            <a:r>
              <a:rPr lang="en-US" b="1" dirty="0" smtClean="0"/>
              <a:t>should label </a:t>
            </a:r>
            <a:r>
              <a:rPr lang="en-US" b="1" dirty="0"/>
              <a:t>your own work with your (or your organization’s) name, the year in which the work was first published, and the copyright symbol: </a:t>
            </a:r>
            <a:r>
              <a:rPr lang="en-US" b="1" dirty="0" smtClean="0">
                <a:solidFill>
                  <a:srgbClr val="00B0F0"/>
                </a:solidFill>
              </a:rPr>
              <a:t>©.</a:t>
            </a:r>
          </a:p>
          <a:p>
            <a:r>
              <a:rPr lang="en-US" b="1" dirty="0">
                <a:solidFill>
                  <a:srgbClr val="00B0F0"/>
                </a:solidFill>
              </a:rPr>
              <a:t>C</a:t>
            </a:r>
            <a:r>
              <a:rPr lang="en-US" b="1" dirty="0" smtClean="0">
                <a:solidFill>
                  <a:srgbClr val="00B0F0"/>
                </a:solidFill>
              </a:rPr>
              <a:t>opyright </a:t>
            </a:r>
            <a:r>
              <a:rPr lang="en-US" b="1" dirty="0">
                <a:solidFill>
                  <a:srgbClr val="00B0F0"/>
                </a:solidFill>
              </a:rPr>
              <a:t>protected </a:t>
            </a:r>
            <a:r>
              <a:rPr lang="en-US" b="1" dirty="0" smtClean="0">
                <a:solidFill>
                  <a:srgbClr val="00B0F0"/>
                </a:solidFill>
              </a:rPr>
              <a:t>work can be </a:t>
            </a:r>
            <a:r>
              <a:rPr lang="en-US" b="1" dirty="0">
                <a:solidFill>
                  <a:srgbClr val="00B0F0"/>
                </a:solidFill>
              </a:rPr>
              <a:t>copied legally with the permission of the copyright holder. </a:t>
            </a:r>
          </a:p>
        </p:txBody>
      </p:sp>
    </p:spTree>
    <p:extLst>
      <p:ext uri="{BB962C8B-B14F-4D97-AF65-F5344CB8AC3E}">
        <p14:creationId xmlns:p14="http://schemas.microsoft.com/office/powerpoint/2010/main" val="1129671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Trademarks</a:t>
            </a:r>
            <a:r>
              <a:rPr lang="en-US" b="1" dirty="0"/>
              <a:t> refer to items that establish a brand: </a:t>
            </a:r>
            <a:r>
              <a:rPr lang="en-US" b="1" dirty="0">
                <a:solidFill>
                  <a:srgbClr val="00B0F0"/>
                </a:solidFill>
              </a:rPr>
              <a:t>slogans, product names, packaging, and symbols.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/>
              <a:t>As a technical writer, you may often refer to trademarks owned by your company or other products that interact with </a:t>
            </a:r>
            <a:r>
              <a:rPr lang="en-US" b="1" dirty="0" smtClean="0"/>
              <a:t>you.</a:t>
            </a:r>
            <a:endParaRPr lang="en-US" b="1" dirty="0"/>
          </a:p>
          <a:p>
            <a:r>
              <a:rPr lang="en-US" b="1" dirty="0" smtClean="0"/>
              <a:t>Patents </a:t>
            </a:r>
            <a:r>
              <a:rPr lang="en-US" b="1" dirty="0"/>
              <a:t>are used to protect inventions such as </a:t>
            </a:r>
            <a:r>
              <a:rPr lang="en-US" b="1" dirty="0">
                <a:solidFill>
                  <a:srgbClr val="00B0F0"/>
                </a:solidFill>
              </a:rPr>
              <a:t>new manufacturing products and processes. </a:t>
            </a:r>
          </a:p>
        </p:txBody>
      </p:sp>
    </p:spTree>
    <p:extLst>
      <p:ext uri="{BB962C8B-B14F-4D97-AF65-F5344CB8AC3E}">
        <p14:creationId xmlns:p14="http://schemas.microsoft.com/office/powerpoint/2010/main" val="191612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577"/>
            <a:ext cx="10515600" cy="62752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What </a:t>
            </a:r>
            <a:r>
              <a:rPr lang="en-US" b="1" dirty="0">
                <a:solidFill>
                  <a:srgbClr val="FF0000"/>
                </a:solidFill>
              </a:rPr>
              <a:t>is not </a:t>
            </a:r>
            <a:r>
              <a:rPr lang="en-US" b="1" dirty="0" smtClean="0">
                <a:solidFill>
                  <a:srgbClr val="FF0000"/>
                </a:solidFill>
              </a:rPr>
              <a:t>copyrightable?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668" t="35509" r="43162" b="8041"/>
          <a:stretch/>
        </p:blipFill>
        <p:spPr>
          <a:xfrm>
            <a:off x="286869" y="735106"/>
            <a:ext cx="10112189" cy="62484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79712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Writing </a:t>
            </a:r>
            <a:r>
              <a:rPr lang="en-US" b="1" dirty="0" smtClean="0">
                <a:solidFill>
                  <a:srgbClr val="FF0000"/>
                </a:solidFill>
              </a:rPr>
              <a:t>Ethically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95212" cy="4351338"/>
          </a:xfrm>
        </p:spPr>
        <p:txBody>
          <a:bodyPr>
            <a:normAutofit/>
          </a:bodyPr>
          <a:lstStyle/>
          <a:p>
            <a:r>
              <a:rPr lang="en-US" b="1" dirty="0"/>
              <a:t>W</a:t>
            </a:r>
            <a:r>
              <a:rPr lang="en-US" b="1" dirty="0" smtClean="0"/>
              <a:t>riters </a:t>
            </a:r>
            <a:r>
              <a:rPr lang="en-US" b="1" dirty="0"/>
              <a:t>should strive for</a:t>
            </a:r>
            <a:r>
              <a:rPr lang="en-US" b="1" dirty="0">
                <a:solidFill>
                  <a:srgbClr val="FF0000"/>
                </a:solidFill>
              </a:rPr>
              <a:t> clarity </a:t>
            </a:r>
            <a:r>
              <a:rPr lang="en-US" b="1" dirty="0" smtClean="0">
                <a:solidFill>
                  <a:srgbClr val="FF0000"/>
                </a:solidFill>
              </a:rPr>
              <a:t>in writing.</a:t>
            </a:r>
            <a:endParaRPr lang="en-US" b="1" dirty="0"/>
          </a:p>
          <a:p>
            <a:r>
              <a:rPr lang="en-US" b="1" dirty="0"/>
              <a:t>H</a:t>
            </a:r>
            <a:r>
              <a:rPr lang="en-US" b="1" dirty="0" smtClean="0"/>
              <a:t>owever</a:t>
            </a:r>
            <a:r>
              <a:rPr lang="en-US" b="1" dirty="0"/>
              <a:t>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FF0000"/>
                </a:solidFill>
              </a:rPr>
              <a:t>there are </a:t>
            </a:r>
            <a:r>
              <a:rPr lang="en-US" b="1" dirty="0">
                <a:solidFill>
                  <a:srgbClr val="FF0000"/>
                </a:solidFill>
              </a:rPr>
              <a:t>legitimate </a:t>
            </a:r>
            <a:r>
              <a:rPr lang="en-US" b="1" dirty="0" smtClean="0">
                <a:solidFill>
                  <a:srgbClr val="FF0000"/>
                </a:solidFill>
              </a:rPr>
              <a:t>situations  that hinders to be </a:t>
            </a:r>
            <a:r>
              <a:rPr lang="en-US" b="1" dirty="0">
                <a:solidFill>
                  <a:srgbClr val="FF0000"/>
                </a:solidFill>
              </a:rPr>
              <a:t>clear: </a:t>
            </a:r>
            <a:r>
              <a:rPr lang="en-US" b="1" dirty="0" err="1">
                <a:solidFill>
                  <a:srgbClr val="FF0000"/>
                </a:solidFill>
              </a:rPr>
              <a:t>E</a:t>
            </a:r>
            <a:r>
              <a:rPr lang="en-US" b="1" dirty="0" err="1" smtClean="0">
                <a:solidFill>
                  <a:srgbClr val="FF0000"/>
                </a:solidFill>
              </a:rPr>
              <a:t>g</a:t>
            </a:r>
            <a:r>
              <a:rPr lang="en-US" b="1" dirty="0" smtClean="0">
                <a:solidFill>
                  <a:srgbClr val="FF0000"/>
                </a:solidFill>
              </a:rPr>
              <a:t>; </a:t>
            </a:r>
            <a:r>
              <a:rPr lang="en-US" b="1" dirty="0" smtClean="0">
                <a:solidFill>
                  <a:srgbClr val="00B0F0"/>
                </a:solidFill>
              </a:rPr>
              <a:t>bad news should be </a:t>
            </a:r>
            <a:r>
              <a:rPr lang="en-US" b="1" dirty="0">
                <a:solidFill>
                  <a:srgbClr val="00B0F0"/>
                </a:solidFill>
              </a:rPr>
              <a:t>delivered </a:t>
            </a:r>
            <a:r>
              <a:rPr lang="en-US" b="1" dirty="0" smtClean="0">
                <a:solidFill>
                  <a:srgbClr val="00B0F0"/>
                </a:solidFill>
              </a:rPr>
              <a:t>with </a:t>
            </a:r>
            <a:r>
              <a:rPr lang="en-US" b="1" dirty="0">
                <a:solidFill>
                  <a:srgbClr val="00B0F0"/>
                </a:solidFill>
              </a:rPr>
              <a:t>a</a:t>
            </a:r>
            <a:r>
              <a:rPr lang="en-US" b="1" dirty="0" smtClean="0">
                <a:solidFill>
                  <a:srgbClr val="00B0F0"/>
                </a:solidFill>
              </a:rPr>
              <a:t> sort of</a:t>
            </a:r>
            <a:r>
              <a:rPr lang="en-US" b="1" dirty="0" smtClean="0">
                <a:solidFill>
                  <a:srgbClr val="C00000"/>
                </a:solidFill>
              </a:rPr>
              <a:t> buffer statement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  <a:endParaRPr lang="en-US" b="1" dirty="0">
              <a:solidFill>
                <a:srgbClr val="00B0F0"/>
              </a:solidFill>
            </a:endParaRPr>
          </a:p>
          <a:p>
            <a:r>
              <a:rPr lang="en-US" b="1" dirty="0" smtClean="0">
                <a:solidFill>
                  <a:srgbClr val="00B0F0"/>
                </a:solidFill>
              </a:rPr>
              <a:t>It </a:t>
            </a:r>
            <a:r>
              <a:rPr lang="en-US" b="1" dirty="0">
                <a:solidFill>
                  <a:srgbClr val="00B0F0"/>
                </a:solidFill>
              </a:rPr>
              <a:t>would be cruel to simply walk up to someone and announce that </a:t>
            </a:r>
            <a:r>
              <a:rPr lang="en-US" b="1" dirty="0" smtClean="0">
                <a:solidFill>
                  <a:srgbClr val="00B0F0"/>
                </a:solidFill>
              </a:rPr>
              <a:t>he/she </a:t>
            </a:r>
            <a:r>
              <a:rPr lang="en-US" b="1" dirty="0">
                <a:solidFill>
                  <a:srgbClr val="00B0F0"/>
                </a:solidFill>
              </a:rPr>
              <a:t>was fired or </a:t>
            </a:r>
            <a:r>
              <a:rPr lang="en-US" b="1" dirty="0" smtClean="0">
                <a:solidFill>
                  <a:srgbClr val="00B0F0"/>
                </a:solidFill>
              </a:rPr>
              <a:t>failed </a:t>
            </a:r>
            <a:r>
              <a:rPr lang="en-US" b="1" dirty="0">
                <a:solidFill>
                  <a:srgbClr val="00B0F0"/>
                </a:solidFill>
              </a:rPr>
              <a:t>a test or to </a:t>
            </a:r>
            <a:r>
              <a:rPr lang="en-US" b="1" dirty="0" smtClean="0">
                <a:solidFill>
                  <a:srgbClr val="00B0F0"/>
                </a:solidFill>
              </a:rPr>
              <a:t>tell </a:t>
            </a:r>
            <a:r>
              <a:rPr lang="en-US" b="1" dirty="0">
                <a:solidFill>
                  <a:srgbClr val="00B0F0"/>
                </a:solidFill>
              </a:rPr>
              <a:t>bluntly that a family member  </a:t>
            </a:r>
            <a:r>
              <a:rPr lang="en-US" b="1" dirty="0" smtClean="0">
                <a:solidFill>
                  <a:srgbClr val="00B0F0"/>
                </a:solidFill>
              </a:rPr>
              <a:t>died</a:t>
            </a:r>
            <a:r>
              <a:rPr lang="en-US" b="1" dirty="0">
                <a:solidFill>
                  <a:srgbClr val="00B0F0"/>
                </a:solidFill>
              </a:rPr>
              <a:t>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01105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941424" cy="4351338"/>
          </a:xfrm>
        </p:spPr>
        <p:txBody>
          <a:bodyPr>
            <a:normAutofit/>
          </a:bodyPr>
          <a:lstStyle/>
          <a:p>
            <a:r>
              <a:rPr lang="en-US" dirty="0"/>
              <a:t>In various scenarios, </a:t>
            </a:r>
            <a:r>
              <a:rPr lang="en-US" dirty="0" smtClean="0">
                <a:solidFill>
                  <a:srgbClr val="C00000"/>
                </a:solidFill>
              </a:rPr>
              <a:t>organizations hide </a:t>
            </a:r>
            <a:r>
              <a:rPr lang="en-US" dirty="0">
                <a:solidFill>
                  <a:srgbClr val="C00000"/>
                </a:solidFill>
              </a:rPr>
              <a:t>the </a:t>
            </a:r>
            <a:r>
              <a:rPr lang="en-US" dirty="0" smtClean="0">
                <a:solidFill>
                  <a:srgbClr val="C00000"/>
                </a:solidFill>
              </a:rPr>
              <a:t>truth by using </a:t>
            </a:r>
            <a:r>
              <a:rPr lang="en-US" dirty="0">
                <a:solidFill>
                  <a:srgbClr val="C00000"/>
                </a:solidFill>
              </a:rPr>
              <a:t>vague </a:t>
            </a:r>
            <a:r>
              <a:rPr lang="en-US" dirty="0" smtClean="0">
                <a:solidFill>
                  <a:srgbClr val="C00000"/>
                </a:solidFill>
              </a:rPr>
              <a:t>wording</a:t>
            </a:r>
            <a:r>
              <a:rPr lang="en-US" dirty="0" smtClean="0"/>
              <a:t> and understatements to hide </a:t>
            </a:r>
            <a:r>
              <a:rPr lang="en-US" dirty="0"/>
              <a:t>crucial </a:t>
            </a:r>
            <a:r>
              <a:rPr lang="en-US" dirty="0" smtClean="0"/>
              <a:t>details.</a:t>
            </a:r>
            <a:endParaRPr lang="en-US" dirty="0"/>
          </a:p>
          <a:p>
            <a:r>
              <a:rPr lang="en-US" b="1" dirty="0" smtClean="0">
                <a:solidFill>
                  <a:srgbClr val="C00000"/>
                </a:solidFill>
              </a:rPr>
              <a:t>Plain </a:t>
            </a:r>
            <a:r>
              <a:rPr lang="en-US" b="1" dirty="0">
                <a:solidFill>
                  <a:srgbClr val="C00000"/>
                </a:solidFill>
              </a:rPr>
              <a:t>language laws</a:t>
            </a:r>
            <a:r>
              <a:rPr lang="en-US" b="1" dirty="0"/>
              <a:t> </a:t>
            </a:r>
            <a:r>
              <a:rPr lang="en-US" b="1" dirty="0">
                <a:solidFill>
                  <a:srgbClr val="C00000"/>
                </a:solidFill>
              </a:rPr>
              <a:t>and </a:t>
            </a:r>
            <a:r>
              <a:rPr lang="en-US" b="1" dirty="0" smtClean="0">
                <a:solidFill>
                  <a:srgbClr val="C00000"/>
                </a:solidFill>
              </a:rPr>
              <a:t>creativities</a:t>
            </a:r>
            <a:r>
              <a:rPr lang="en-US" b="1" dirty="0" smtClean="0"/>
              <a:t> come as </a:t>
            </a:r>
            <a:r>
              <a:rPr lang="en-US" b="1" dirty="0"/>
              <a:t>a solution to this kind of strategically </a:t>
            </a:r>
            <a:r>
              <a:rPr lang="en-US" b="1" dirty="0">
                <a:solidFill>
                  <a:srgbClr val="FF0000"/>
                </a:solidFill>
              </a:rPr>
              <a:t>unclear language use.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dirty="0"/>
              <a:t>Plain </a:t>
            </a:r>
            <a:r>
              <a:rPr lang="en-US" dirty="0" smtClean="0"/>
              <a:t>language: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use concise sentences with clear and simple terms that readers can quickly grasp.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496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</a:t>
            </a:r>
            <a:r>
              <a:rPr lang="en-US" b="1" dirty="0" smtClean="0">
                <a:solidFill>
                  <a:srgbClr val="FF0000"/>
                </a:solidFill>
              </a:rPr>
              <a:t>lain </a:t>
            </a:r>
            <a:r>
              <a:rPr lang="en-US" b="1" dirty="0">
                <a:solidFill>
                  <a:srgbClr val="FF0000"/>
                </a:solidFill>
              </a:rPr>
              <a:t>language </a:t>
            </a:r>
            <a:r>
              <a:rPr lang="en-US" b="1" dirty="0" smtClean="0">
                <a:solidFill>
                  <a:srgbClr val="FF0000"/>
                </a:solidFill>
              </a:rPr>
              <a:t>Guidelines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2965"/>
            <a:ext cx="10977282" cy="5235388"/>
          </a:xfrm>
        </p:spPr>
        <p:txBody>
          <a:bodyPr>
            <a:normAutofit/>
          </a:bodyPr>
          <a:lstStyle/>
          <a:p>
            <a:r>
              <a:rPr lang="en-US" b="1" dirty="0"/>
              <a:t>P</a:t>
            </a:r>
            <a:r>
              <a:rPr lang="en-US" b="1" dirty="0" smtClean="0"/>
              <a:t>lain </a:t>
            </a:r>
            <a:r>
              <a:rPr lang="en-US" b="1" dirty="0"/>
              <a:t>language </a:t>
            </a:r>
            <a:r>
              <a:rPr lang="en-US" b="1" dirty="0" smtClean="0"/>
              <a:t>holds </a:t>
            </a:r>
            <a:r>
              <a:rPr lang="en-US" b="1" dirty="0"/>
              <a:t>an </a:t>
            </a:r>
            <a:r>
              <a:rPr lang="en-US" b="1" dirty="0">
                <a:solidFill>
                  <a:srgbClr val="00B0F0"/>
                </a:solidFill>
              </a:rPr>
              <a:t>ethical relationship between </a:t>
            </a:r>
            <a:r>
              <a:rPr lang="en-US" b="1" dirty="0" smtClean="0">
                <a:solidFill>
                  <a:srgbClr val="00B0F0"/>
                </a:solidFill>
              </a:rPr>
              <a:t>reader </a:t>
            </a:r>
            <a:r>
              <a:rPr lang="en-US" b="1" dirty="0">
                <a:solidFill>
                  <a:srgbClr val="00B0F0"/>
                </a:solidFill>
              </a:rPr>
              <a:t>and </a:t>
            </a:r>
            <a:r>
              <a:rPr lang="en-US" b="1" dirty="0" smtClean="0">
                <a:solidFill>
                  <a:srgbClr val="00B0F0"/>
                </a:solidFill>
              </a:rPr>
              <a:t>writer.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Take </a:t>
            </a:r>
            <a:r>
              <a:rPr lang="en-US" b="1" dirty="0">
                <a:solidFill>
                  <a:srgbClr val="00B0F0"/>
                </a:solidFill>
              </a:rPr>
              <a:t>up their point of view and </a:t>
            </a:r>
            <a:r>
              <a:rPr lang="en-US" b="1" dirty="0" smtClean="0">
                <a:solidFill>
                  <a:srgbClr val="00B0F0"/>
                </a:solidFill>
              </a:rPr>
              <a:t>write </a:t>
            </a:r>
            <a:r>
              <a:rPr lang="en-US" b="1" dirty="0">
                <a:solidFill>
                  <a:srgbClr val="00B0F0"/>
                </a:solidFill>
              </a:rPr>
              <a:t>“reader-based prose” or prose that is organized around what the reader needs to know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</a:p>
          <a:p>
            <a:r>
              <a:rPr lang="en-US" b="1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Consider the following questions: </a:t>
            </a:r>
          </a:p>
          <a:p>
            <a:pPr>
              <a:buFontTx/>
              <a:buChar char="-"/>
            </a:pPr>
            <a:r>
              <a:rPr lang="en-US" b="1" dirty="0" smtClean="0"/>
              <a:t>What </a:t>
            </a:r>
            <a:r>
              <a:rPr lang="en-US" b="1" dirty="0"/>
              <a:t>level of knowledge do they have? </a:t>
            </a:r>
          </a:p>
          <a:p>
            <a:pPr>
              <a:buFontTx/>
              <a:buChar char="-"/>
            </a:pPr>
            <a:r>
              <a:rPr lang="en-US" b="1" dirty="0" smtClean="0"/>
              <a:t>What </a:t>
            </a:r>
            <a:r>
              <a:rPr lang="en-US" b="1" dirty="0"/>
              <a:t>is their cultural background? </a:t>
            </a:r>
          </a:p>
          <a:p>
            <a:pPr>
              <a:buFontTx/>
              <a:buChar char="-"/>
            </a:pPr>
            <a:r>
              <a:rPr lang="en-US" b="1" dirty="0" smtClean="0"/>
              <a:t>What </a:t>
            </a:r>
            <a:r>
              <a:rPr lang="en-US" b="1" dirty="0"/>
              <a:t>is their income level?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What </a:t>
            </a:r>
            <a:r>
              <a:rPr lang="en-US" b="1" dirty="0"/>
              <a:t>do they want to know? </a:t>
            </a:r>
          </a:p>
          <a:p>
            <a:pPr>
              <a:buFontTx/>
              <a:buChar char="-"/>
            </a:pPr>
            <a:r>
              <a:rPr lang="en-US" b="1" dirty="0" smtClean="0"/>
              <a:t>What </a:t>
            </a:r>
            <a:r>
              <a:rPr lang="en-US" b="1" dirty="0"/>
              <a:t>information will they use most frequently?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What questions are they asking about the topic you are writing about? </a:t>
            </a:r>
          </a:p>
        </p:txBody>
      </p:sp>
    </p:spTree>
    <p:extLst>
      <p:ext uri="{BB962C8B-B14F-4D97-AF65-F5344CB8AC3E}">
        <p14:creationId xmlns:p14="http://schemas.microsoft.com/office/powerpoint/2010/main" val="3570696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Chapter -3 Researching Technical Subjects-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1165541" cy="4351338"/>
          </a:xfrm>
        </p:spPr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literally means to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again to find out something new and more about a phenomenon</a:t>
            </a:r>
            <a:r>
              <a:rPr lang="en-GB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endParaRPr lang="en-US" b="1" dirty="0" smtClean="0"/>
          </a:p>
          <a:p>
            <a:r>
              <a:rPr lang="en-US" b="1" dirty="0" smtClean="0"/>
              <a:t>Your </a:t>
            </a:r>
            <a:r>
              <a:rPr lang="en-US" b="1" dirty="0"/>
              <a:t>main source of information </a:t>
            </a:r>
            <a:r>
              <a:rPr lang="en-US" b="1" dirty="0" smtClean="0"/>
              <a:t>people/books</a:t>
            </a:r>
            <a:r>
              <a:rPr lang="en-US" b="1" dirty="0"/>
              <a:t>, so it </a:t>
            </a:r>
            <a:r>
              <a:rPr lang="en-US" b="1" dirty="0" smtClean="0"/>
              <a:t>is </a:t>
            </a:r>
            <a:r>
              <a:rPr lang="en-US" b="1" dirty="0">
                <a:solidFill>
                  <a:srgbClr val="FF0000"/>
                </a:solidFill>
              </a:rPr>
              <a:t>necessary to expand your range of research skills </a:t>
            </a:r>
            <a:r>
              <a:rPr lang="en-US" b="1" dirty="0" smtClean="0">
                <a:solidFill>
                  <a:srgbClr val="FF0000"/>
                </a:solidFill>
              </a:rPr>
              <a:t>using methods </a:t>
            </a:r>
            <a:r>
              <a:rPr lang="en-US" b="1" dirty="0">
                <a:solidFill>
                  <a:srgbClr val="FF0000"/>
                </a:solidFill>
              </a:rPr>
              <a:t>as</a:t>
            </a:r>
            <a:r>
              <a:rPr lang="en-US" b="1" dirty="0"/>
              <a:t> </a:t>
            </a:r>
            <a:r>
              <a:rPr lang="en-US" b="1" dirty="0">
                <a:solidFill>
                  <a:srgbClr val="00B0F0"/>
                </a:solidFill>
              </a:rPr>
              <a:t>interviewing and surveying.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There are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smtClean="0">
                <a:solidFill>
                  <a:srgbClr val="00B0F0"/>
                </a:solidFill>
              </a:rPr>
              <a:t>primary and secondary sources of collecting data</a:t>
            </a:r>
            <a:r>
              <a:rPr lang="en-US" b="1" dirty="0" smtClean="0"/>
              <a:t> for research.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58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hree </a:t>
            </a:r>
            <a:r>
              <a:rPr lang="en-US" alt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alt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steps of research</a:t>
            </a:r>
            <a: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Pose a question.</a:t>
            </a:r>
          </a:p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Collect data </a:t>
            </a:r>
          </a:p>
          <a:p>
            <a:pPr marL="788988" lvl="1" indent="-514350">
              <a:buFont typeface="Franklin Gothic Book" panose="020B0503020102020204" pitchFamily="34" charset="0"/>
              <a:buAutoNum type="arabicPeriod"/>
            </a:pPr>
            <a:r>
              <a:rPr lang="en-US" altLang="en-US" sz="3200" b="1" dirty="0">
                <a:latin typeface="Times New Roman" panose="02020603050405020304" pitchFamily="18" charset="0"/>
                <a:ea typeface="HG創英ﾌﾟﾚｾﾞﾝｽEB" charset="0"/>
                <a:cs typeface="Times New Roman" panose="02020603050405020304" pitchFamily="18" charset="0"/>
              </a:rPr>
              <a:t>Present an answer to the question.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7515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Primary </a:t>
            </a:r>
            <a:r>
              <a:rPr lang="en-US" b="1" dirty="0" smtClean="0">
                <a:solidFill>
                  <a:srgbClr val="FF0000"/>
                </a:solidFill>
              </a:rPr>
              <a:t>Research</a:t>
            </a:r>
            <a:r>
              <a:rPr lang="en-US" b="1" dirty="0">
                <a:solidFill>
                  <a:srgbClr val="FF0000"/>
                </a:solidFill>
              </a:rPr>
              <a:t>: Interviewing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6071"/>
            <a:ext cx="10515600" cy="5038164"/>
          </a:xfrm>
        </p:spPr>
        <p:txBody>
          <a:bodyPr>
            <a:normAutofit/>
          </a:bodyPr>
          <a:lstStyle/>
          <a:p>
            <a:r>
              <a:rPr lang="en-US" dirty="0"/>
              <a:t>For technical communicators </a:t>
            </a:r>
            <a:r>
              <a:rPr lang="en-US" b="1" dirty="0">
                <a:solidFill>
                  <a:srgbClr val="00B0F0"/>
                </a:solidFill>
              </a:rPr>
              <a:t>documenting a new product or system, a key information source is </a:t>
            </a:r>
            <a:r>
              <a:rPr lang="en-US" b="1" dirty="0" smtClean="0">
                <a:solidFill>
                  <a:srgbClr val="00B0F0"/>
                </a:solidFill>
              </a:rPr>
              <a:t>the </a:t>
            </a:r>
            <a:r>
              <a:rPr lang="en-US" b="1" dirty="0">
                <a:solidFill>
                  <a:srgbClr val="FF0000"/>
                </a:solidFill>
              </a:rPr>
              <a:t>developers </a:t>
            </a:r>
            <a:r>
              <a:rPr lang="en-US" b="1" dirty="0">
                <a:solidFill>
                  <a:srgbClr val="00B0F0"/>
                </a:solidFill>
              </a:rPr>
              <a:t>themselves.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Data </a:t>
            </a:r>
            <a:r>
              <a:rPr lang="en-US" b="1" dirty="0">
                <a:solidFill>
                  <a:srgbClr val="00B0F0"/>
                </a:solidFill>
              </a:rPr>
              <a:t>is gathered through interviews with individuals, who are asked specific questions about the product or system.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>
                <a:solidFill>
                  <a:srgbClr val="00B0F0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information obtained is used to create the operation or reference manual</a:t>
            </a:r>
            <a:r>
              <a:rPr lang="en-US" b="1" dirty="0" smtClean="0">
                <a:solidFill>
                  <a:srgbClr val="00B0F0"/>
                </a:solidFill>
              </a:rPr>
              <a:t>.</a:t>
            </a:r>
            <a:r>
              <a:rPr lang="en-US" b="1" dirty="0">
                <a:solidFill>
                  <a:srgbClr val="00B0F0"/>
                </a:solidFill>
              </a:rPr>
              <a:t/>
            </a:r>
            <a:br>
              <a:rPr lang="en-US" b="1" dirty="0">
                <a:solidFill>
                  <a:srgbClr val="00B0F0"/>
                </a:solidFill>
              </a:rPr>
            </a:br>
            <a:r>
              <a:rPr lang="en-US" b="1" dirty="0" smtClean="0">
                <a:solidFill>
                  <a:srgbClr val="FF0000"/>
                </a:solidFill>
              </a:rPr>
              <a:t>There </a:t>
            </a:r>
            <a:r>
              <a:rPr lang="en-US" b="1" dirty="0">
                <a:solidFill>
                  <a:srgbClr val="FF0000"/>
                </a:solidFill>
              </a:rPr>
              <a:t>are three stages to completing a successful interview: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Preparing </a:t>
            </a:r>
            <a:r>
              <a:rPr lang="en-US" b="1" dirty="0">
                <a:solidFill>
                  <a:srgbClr val="0070C0"/>
                </a:solidFill>
              </a:rPr>
              <a:t>for it 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Conducting </a:t>
            </a:r>
            <a:r>
              <a:rPr lang="en-US" b="1" dirty="0">
                <a:solidFill>
                  <a:srgbClr val="0070C0"/>
                </a:solidFill>
              </a:rPr>
              <a:t>it </a:t>
            </a:r>
            <a:endParaRPr lang="en-US" b="1" dirty="0" smtClean="0">
              <a:solidFill>
                <a:srgbClr val="0070C0"/>
              </a:solidFill>
            </a:endParaRPr>
          </a:p>
          <a:p>
            <a:r>
              <a:rPr lang="en-US" b="1" dirty="0" smtClean="0">
                <a:solidFill>
                  <a:srgbClr val="0070C0"/>
                </a:solidFill>
              </a:rPr>
              <a:t>Writing </a:t>
            </a:r>
            <a:r>
              <a:rPr lang="en-US" b="1" dirty="0">
                <a:solidFill>
                  <a:srgbClr val="0070C0"/>
                </a:solidFill>
              </a:rPr>
              <a:t>it up</a:t>
            </a:r>
          </a:p>
        </p:txBody>
      </p:sp>
    </p:spTree>
    <p:extLst>
      <p:ext uri="{BB962C8B-B14F-4D97-AF65-F5344CB8AC3E}">
        <p14:creationId xmlns:p14="http://schemas.microsoft.com/office/powerpoint/2010/main" val="265894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Preparing </a:t>
            </a:r>
            <a:r>
              <a:rPr lang="en-US" b="1" dirty="0">
                <a:solidFill>
                  <a:srgbClr val="FF0000"/>
                </a:solidFill>
              </a:rPr>
              <a:t>for the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Prepare yourself in the following areas</a:t>
            </a:r>
            <a:r>
              <a:rPr lang="en-US" dirty="0">
                <a:solidFill>
                  <a:srgbClr val="FF0000"/>
                </a:solidFill>
              </a:rPr>
              <a:t>: </a:t>
            </a:r>
          </a:p>
          <a:p>
            <a:r>
              <a:rPr lang="en-US" b="1" dirty="0" smtClean="0"/>
              <a:t>Learn </a:t>
            </a:r>
            <a:r>
              <a:rPr lang="en-US" b="1" dirty="0"/>
              <a:t>in advance </a:t>
            </a:r>
            <a:r>
              <a:rPr lang="en-US" b="1" dirty="0" smtClean="0"/>
              <a:t>about </a:t>
            </a:r>
            <a:r>
              <a:rPr lang="en-US" b="1" dirty="0"/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subject</a:t>
            </a:r>
            <a:r>
              <a:rPr lang="en-US" b="1" dirty="0" smtClean="0"/>
              <a:t> to be discussed </a:t>
            </a:r>
            <a:r>
              <a:rPr lang="en-US" b="1" dirty="0"/>
              <a:t>with the subject matter </a:t>
            </a:r>
            <a:r>
              <a:rPr lang="en-US" b="1" dirty="0" smtClean="0"/>
              <a:t>expert.</a:t>
            </a:r>
          </a:p>
          <a:p>
            <a:r>
              <a:rPr lang="en-US" b="1" dirty="0" smtClean="0"/>
              <a:t>Learn </a:t>
            </a:r>
            <a:r>
              <a:rPr lang="en-US" b="1" dirty="0"/>
              <a:t>in advance </a:t>
            </a:r>
            <a:r>
              <a:rPr lang="en-US" b="1" dirty="0" smtClean="0"/>
              <a:t>about </a:t>
            </a:r>
            <a:r>
              <a:rPr lang="en-US" b="1" dirty="0"/>
              <a:t>the </a:t>
            </a:r>
            <a:r>
              <a:rPr lang="en-US" b="1" dirty="0">
                <a:solidFill>
                  <a:srgbClr val="FF0000"/>
                </a:solidFill>
              </a:rPr>
              <a:t>subject matter </a:t>
            </a:r>
            <a:r>
              <a:rPr lang="en-US" b="1" dirty="0" smtClean="0">
                <a:solidFill>
                  <a:srgbClr val="FF0000"/>
                </a:solidFill>
              </a:rPr>
              <a:t>expert. </a:t>
            </a:r>
          </a:p>
          <a:p>
            <a:r>
              <a:rPr lang="en-US" b="1" dirty="0" smtClean="0"/>
              <a:t> </a:t>
            </a:r>
            <a:r>
              <a:rPr lang="en-US" b="1" dirty="0"/>
              <a:t>Prepare a list of </a:t>
            </a:r>
            <a:r>
              <a:rPr lang="en-US" b="1" dirty="0">
                <a:solidFill>
                  <a:srgbClr val="FF0000"/>
                </a:solidFill>
              </a:rPr>
              <a:t>well-organized </a:t>
            </a:r>
            <a:r>
              <a:rPr lang="en-US" b="1" dirty="0" smtClean="0">
                <a:solidFill>
                  <a:srgbClr val="FF0000"/>
                </a:solidFill>
              </a:rPr>
              <a:t>questions.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79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Prepare a list of organized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Organize ahead.</a:t>
            </a:r>
          </a:p>
          <a:p>
            <a:r>
              <a:rPr lang="en-US" b="1" dirty="0" smtClean="0"/>
              <a:t>Create </a:t>
            </a:r>
            <a:r>
              <a:rPr lang="en-US" b="1" dirty="0"/>
              <a:t>a </a:t>
            </a:r>
            <a:r>
              <a:rPr lang="en-US" b="1" dirty="0" smtClean="0"/>
              <a:t>legible/readable, </a:t>
            </a:r>
            <a:r>
              <a:rPr lang="en-US" b="1" dirty="0"/>
              <a:t>numbered </a:t>
            </a:r>
            <a:r>
              <a:rPr lang="en-US" b="1" dirty="0" smtClean="0"/>
              <a:t>list.</a:t>
            </a:r>
          </a:p>
          <a:p>
            <a:r>
              <a:rPr lang="en-US" b="1" dirty="0" smtClean="0"/>
              <a:t>Structure </a:t>
            </a:r>
            <a:r>
              <a:rPr lang="en-US" b="1" dirty="0"/>
              <a:t>the questions to control the </a:t>
            </a:r>
            <a:r>
              <a:rPr lang="en-US" b="1" dirty="0" smtClean="0"/>
              <a:t>interview.</a:t>
            </a:r>
          </a:p>
          <a:p>
            <a:r>
              <a:rPr lang="en-US" b="1" dirty="0" smtClean="0"/>
              <a:t>Write some extra questions.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5724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Writing good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b="1" dirty="0" smtClean="0"/>
          </a:p>
          <a:p>
            <a:r>
              <a:rPr lang="en-US" b="1" dirty="0"/>
              <a:t>Ask about </a:t>
            </a:r>
            <a:r>
              <a:rPr lang="en-US" b="1" dirty="0">
                <a:solidFill>
                  <a:srgbClr val="FF0000"/>
                </a:solidFill>
              </a:rPr>
              <a:t>topics </a:t>
            </a:r>
            <a:r>
              <a:rPr lang="en-US" b="1" dirty="0"/>
              <a:t>that you don’t understand</a:t>
            </a:r>
            <a:r>
              <a:rPr lang="en-US" b="1" dirty="0" smtClean="0"/>
              <a:t>.</a:t>
            </a:r>
          </a:p>
          <a:p>
            <a:r>
              <a:rPr lang="en-US" b="1" dirty="0"/>
              <a:t>Include detail and background to your questions to </a:t>
            </a:r>
            <a:r>
              <a:rPr lang="en-US" b="1" dirty="0" smtClean="0"/>
              <a:t>provide </a:t>
            </a:r>
            <a:r>
              <a:rPr lang="en-US" b="1" dirty="0"/>
              <a:t>context</a:t>
            </a:r>
            <a:r>
              <a:rPr lang="en-US" b="1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1280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</a:t>
            </a:r>
            <a:r>
              <a:rPr lang="en-US" b="1" dirty="0" smtClean="0">
                <a:solidFill>
                  <a:srgbClr val="FF0000"/>
                </a:solidFill>
              </a:rPr>
              <a:t>onducting </a:t>
            </a:r>
            <a:r>
              <a:rPr lang="en-US" b="1" dirty="0">
                <a:solidFill>
                  <a:srgbClr val="FF0000"/>
                </a:solidFill>
              </a:rPr>
              <a:t>the </a:t>
            </a:r>
            <a:r>
              <a:rPr lang="en-US" b="1" dirty="0" smtClean="0">
                <a:solidFill>
                  <a:srgbClr val="FF0000"/>
                </a:solidFill>
              </a:rPr>
              <a:t>Interview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Schedule an hour-long interview, if </a:t>
            </a:r>
            <a:r>
              <a:rPr lang="en-US" b="1" dirty="0" smtClean="0"/>
              <a:t>possible.</a:t>
            </a:r>
          </a:p>
          <a:p>
            <a:r>
              <a:rPr lang="en-US" b="1" dirty="0"/>
              <a:t>Introduce yourself and explain your </a:t>
            </a:r>
            <a:r>
              <a:rPr lang="en-US" b="1" dirty="0" smtClean="0"/>
              <a:t>project.</a:t>
            </a:r>
          </a:p>
          <a:p>
            <a:r>
              <a:rPr lang="en-US" b="1" dirty="0"/>
              <a:t>Decide whether to record the </a:t>
            </a:r>
            <a:r>
              <a:rPr lang="en-US" b="1" dirty="0" smtClean="0"/>
              <a:t>interview.</a:t>
            </a:r>
          </a:p>
          <a:p>
            <a:r>
              <a:rPr lang="en-US" b="1" dirty="0"/>
              <a:t>Be an active </a:t>
            </a:r>
            <a:r>
              <a:rPr lang="en-US" b="1" dirty="0" smtClean="0"/>
              <a:t>listener.</a:t>
            </a:r>
          </a:p>
          <a:p>
            <a:r>
              <a:rPr lang="en-US" b="1" dirty="0"/>
              <a:t>Control the </a:t>
            </a:r>
            <a:r>
              <a:rPr lang="en-US" b="1" dirty="0" smtClean="0"/>
              <a:t>interview.</a:t>
            </a:r>
          </a:p>
        </p:txBody>
      </p:sp>
    </p:spTree>
    <p:extLst>
      <p:ext uri="{BB962C8B-B14F-4D97-AF65-F5344CB8AC3E}">
        <p14:creationId xmlns:p14="http://schemas.microsoft.com/office/powerpoint/2010/main" val="1626099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Closing the </a:t>
            </a:r>
            <a:r>
              <a:rPr lang="en-US" b="1" dirty="0" smtClean="0">
                <a:solidFill>
                  <a:srgbClr val="FF0000"/>
                </a:solidFill>
              </a:rPr>
              <a:t>Interview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2282"/>
            <a:ext cx="11093824" cy="472468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Thank your interviewee for their time and </a:t>
            </a:r>
            <a:r>
              <a:rPr lang="en-US" dirty="0" smtClean="0">
                <a:solidFill>
                  <a:srgbClr val="00B0F0"/>
                </a:solidFill>
              </a:rPr>
              <a:t>clearly </a:t>
            </a:r>
            <a:r>
              <a:rPr lang="en-US" dirty="0">
                <a:solidFill>
                  <a:srgbClr val="00B0F0"/>
                </a:solidFill>
              </a:rPr>
              <a:t>express that their answers have supplied valuable information.</a:t>
            </a:r>
          </a:p>
          <a:p>
            <a:r>
              <a:rPr lang="en-US" dirty="0"/>
              <a:t>E</a:t>
            </a:r>
            <a:r>
              <a:rPr lang="en-US" dirty="0" smtClean="0"/>
              <a:t>nsure </a:t>
            </a:r>
            <a:r>
              <a:rPr lang="en-US" dirty="0"/>
              <a:t>your subject expert addresses any follow-up questions that may arise during your note review or </a:t>
            </a:r>
            <a:r>
              <a:rPr lang="en-US" dirty="0" smtClean="0"/>
              <a:t>converting </a:t>
            </a:r>
            <a:r>
              <a:rPr lang="en-US" dirty="0"/>
              <a:t>responses into written text.</a:t>
            </a:r>
          </a:p>
          <a:p>
            <a:r>
              <a:rPr lang="en-US" b="1" dirty="0" smtClean="0"/>
              <a:t>As soon as you can,</a:t>
            </a:r>
            <a:r>
              <a:rPr lang="en-US" b="1" dirty="0" smtClean="0">
                <a:solidFill>
                  <a:srgbClr val="C00000"/>
                </a:solidFill>
              </a:rPr>
              <a:t> review </a:t>
            </a:r>
            <a:r>
              <a:rPr lang="en-US" b="1" dirty="0">
                <a:solidFill>
                  <a:srgbClr val="C00000"/>
                </a:solidFill>
              </a:rPr>
              <a:t>your notes </a:t>
            </a:r>
            <a:r>
              <a:rPr lang="en-US" b="1" dirty="0"/>
              <a:t>and fill </a:t>
            </a:r>
            <a:r>
              <a:rPr lang="en-US" b="1" dirty="0" smtClean="0"/>
              <a:t>out </a:t>
            </a:r>
            <a:r>
              <a:rPr lang="en-US" b="1" dirty="0"/>
              <a:t>any gaps that you see with </a:t>
            </a:r>
            <a:r>
              <a:rPr lang="en-US" b="1" dirty="0" smtClean="0"/>
              <a:t>details. </a:t>
            </a:r>
          </a:p>
          <a:p>
            <a:r>
              <a:rPr lang="en-US" b="1" dirty="0" smtClean="0">
                <a:solidFill>
                  <a:srgbClr val="C00000"/>
                </a:solidFill>
              </a:rPr>
              <a:t>Assess </a:t>
            </a:r>
            <a:r>
              <a:rPr lang="en-US" b="1" dirty="0">
                <a:solidFill>
                  <a:srgbClr val="C00000"/>
                </a:solidFill>
              </a:rPr>
              <a:t>how well the </a:t>
            </a:r>
            <a:r>
              <a:rPr lang="en-US" b="1" dirty="0" smtClean="0">
                <a:solidFill>
                  <a:srgbClr val="C00000"/>
                </a:solidFill>
              </a:rPr>
              <a:t>received answers </a:t>
            </a:r>
            <a:r>
              <a:rPr lang="en-US" b="1" dirty="0">
                <a:solidFill>
                  <a:srgbClr val="C00000"/>
                </a:solidFill>
              </a:rPr>
              <a:t>will </a:t>
            </a:r>
            <a:r>
              <a:rPr lang="en-US" b="1" dirty="0" smtClean="0">
                <a:solidFill>
                  <a:srgbClr val="C00000"/>
                </a:solidFill>
              </a:rPr>
              <a:t>be sufficient </a:t>
            </a:r>
            <a:r>
              <a:rPr lang="en-US" b="1" dirty="0" smtClean="0"/>
              <a:t>for required information. </a:t>
            </a:r>
          </a:p>
        </p:txBody>
      </p:sp>
    </p:spTree>
    <p:extLst>
      <p:ext uri="{BB962C8B-B14F-4D97-AF65-F5344CB8AC3E}">
        <p14:creationId xmlns:p14="http://schemas.microsoft.com/office/powerpoint/2010/main" val="1928445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Primary research: Conducting surveys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F0"/>
                </a:solidFill>
              </a:rPr>
              <a:t>Survey research </a:t>
            </a:r>
            <a:r>
              <a:rPr lang="en-US" b="1" dirty="0"/>
              <a:t>is a method of generating information by </a:t>
            </a:r>
            <a:r>
              <a:rPr lang="en-US" b="1" dirty="0">
                <a:solidFill>
                  <a:srgbClr val="00B0F0"/>
                </a:solidFill>
              </a:rPr>
              <a:t>asking questions </a:t>
            </a:r>
            <a:r>
              <a:rPr lang="en-US" b="1" dirty="0" smtClean="0">
                <a:solidFill>
                  <a:srgbClr val="00B0F0"/>
                </a:solidFill>
              </a:rPr>
              <a:t>to </a:t>
            </a:r>
            <a:r>
              <a:rPr lang="en-US" b="1" dirty="0">
                <a:solidFill>
                  <a:srgbClr val="00B0F0"/>
                </a:solidFill>
              </a:rPr>
              <a:t>a </a:t>
            </a:r>
            <a:r>
              <a:rPr lang="en-US" b="1" dirty="0" smtClean="0">
                <a:solidFill>
                  <a:srgbClr val="00B0F0"/>
                </a:solidFill>
              </a:rPr>
              <a:t>group </a:t>
            </a:r>
            <a:r>
              <a:rPr lang="en-US" b="1" dirty="0">
                <a:solidFill>
                  <a:srgbClr val="00B0F0"/>
                </a:solidFill>
              </a:rPr>
              <a:t>of people.</a:t>
            </a:r>
          </a:p>
          <a:p>
            <a:r>
              <a:rPr lang="en-US" b="1" dirty="0" smtClean="0"/>
              <a:t>Survey </a:t>
            </a:r>
            <a:r>
              <a:rPr lang="en-US" b="1" dirty="0"/>
              <a:t>research can help you at two stages in your writing project: </a:t>
            </a:r>
            <a:r>
              <a:rPr lang="en-US" b="1" dirty="0">
                <a:solidFill>
                  <a:srgbClr val="C00000"/>
                </a:solidFill>
              </a:rPr>
              <a:t>before you begin writing and as part of usability testing (revising</a:t>
            </a:r>
            <a:r>
              <a:rPr lang="en-US" b="1" dirty="0" smtClean="0">
                <a:solidFill>
                  <a:srgbClr val="C00000"/>
                </a:solidFill>
              </a:rPr>
              <a:t>).</a:t>
            </a:r>
          </a:p>
          <a:p>
            <a:r>
              <a:rPr lang="en-US" b="1" dirty="0" smtClean="0"/>
              <a:t>In </a:t>
            </a:r>
            <a:r>
              <a:rPr lang="en-US" b="1" dirty="0"/>
              <a:t>the initial stages of </a:t>
            </a:r>
            <a:r>
              <a:rPr lang="en-US" b="1" dirty="0" smtClean="0"/>
              <a:t>writing </a:t>
            </a:r>
            <a:r>
              <a:rPr lang="en-US" b="1" dirty="0"/>
              <a:t>project, you could do </a:t>
            </a:r>
            <a:r>
              <a:rPr lang="en-US" b="1" dirty="0" smtClean="0"/>
              <a:t>surveys </a:t>
            </a:r>
            <a:r>
              <a:rPr lang="en-US" b="1" dirty="0"/>
              <a:t>to find out </a:t>
            </a:r>
            <a:r>
              <a:rPr lang="en-US" b="1" dirty="0">
                <a:solidFill>
                  <a:srgbClr val="FF0000"/>
                </a:solidFill>
              </a:rPr>
              <a:t>what users are looking for in a </a:t>
            </a:r>
            <a:r>
              <a:rPr lang="en-US" b="1" dirty="0" smtClean="0">
                <a:solidFill>
                  <a:srgbClr val="FF0000"/>
                </a:solidFill>
              </a:rPr>
              <a:t>manual.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47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Asking </a:t>
            </a:r>
            <a:r>
              <a:rPr lang="en-US" b="1" dirty="0">
                <a:solidFill>
                  <a:srgbClr val="FF0000"/>
                </a:solidFill>
              </a:rPr>
              <a:t>good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Survey research is a method of generating information by asking questions </a:t>
            </a:r>
            <a:r>
              <a:rPr lang="en-US" b="1" dirty="0" smtClean="0">
                <a:solidFill>
                  <a:srgbClr val="C00000"/>
                </a:solidFill>
              </a:rPr>
              <a:t>to </a:t>
            </a:r>
            <a:r>
              <a:rPr lang="en-US" b="1" dirty="0">
                <a:solidFill>
                  <a:srgbClr val="C00000"/>
                </a:solidFill>
              </a:rPr>
              <a:t>a </a:t>
            </a:r>
            <a:r>
              <a:rPr lang="en-US" b="1" dirty="0" smtClean="0">
                <a:solidFill>
                  <a:srgbClr val="C00000"/>
                </a:solidFill>
              </a:rPr>
              <a:t>group </a:t>
            </a:r>
            <a:r>
              <a:rPr lang="en-US" b="1" dirty="0">
                <a:solidFill>
                  <a:srgbClr val="C00000"/>
                </a:solidFill>
              </a:rPr>
              <a:t>of people</a:t>
            </a:r>
            <a:r>
              <a:rPr lang="en-US" b="1" dirty="0" smtClean="0">
                <a:solidFill>
                  <a:srgbClr val="C00000"/>
                </a:solidFill>
              </a:rPr>
              <a:t>.</a:t>
            </a:r>
          </a:p>
          <a:p>
            <a:r>
              <a:rPr lang="en-US" b="1" dirty="0" smtClean="0"/>
              <a:t>The</a:t>
            </a:r>
            <a:r>
              <a:rPr lang="en-US" b="1" dirty="0" smtClean="0">
                <a:solidFill>
                  <a:srgbClr val="00B0F0"/>
                </a:solidFill>
              </a:rPr>
              <a:t> </a:t>
            </a:r>
            <a:r>
              <a:rPr lang="en-US" b="1" dirty="0">
                <a:solidFill>
                  <a:srgbClr val="00B0F0"/>
                </a:solidFill>
              </a:rPr>
              <a:t>quality of your </a:t>
            </a:r>
            <a:r>
              <a:rPr lang="en-US" b="1" dirty="0" smtClean="0">
                <a:solidFill>
                  <a:srgbClr val="00B0F0"/>
                </a:solidFill>
              </a:rPr>
              <a:t>survey </a:t>
            </a:r>
            <a:r>
              <a:rPr lang="en-US" b="1" dirty="0" smtClean="0"/>
              <a:t>is </a:t>
            </a:r>
            <a:r>
              <a:rPr lang="en-US" b="1" dirty="0"/>
              <a:t>directly related to your </a:t>
            </a:r>
            <a:r>
              <a:rPr lang="en-US" b="1" dirty="0">
                <a:solidFill>
                  <a:srgbClr val="00B0F0"/>
                </a:solidFill>
              </a:rPr>
              <a:t>skill at asking good questions. </a:t>
            </a:r>
            <a:endParaRPr lang="en-US" b="1" dirty="0" smtClean="0">
              <a:solidFill>
                <a:srgbClr val="00B0F0"/>
              </a:solidFill>
            </a:endParaRPr>
          </a:p>
          <a:p>
            <a:r>
              <a:rPr lang="en-US" b="1" dirty="0" smtClean="0"/>
              <a:t>There </a:t>
            </a:r>
            <a:r>
              <a:rPr lang="en-US" b="1" dirty="0"/>
              <a:t>are </a:t>
            </a:r>
            <a:r>
              <a:rPr lang="en-US" b="1" dirty="0">
                <a:solidFill>
                  <a:srgbClr val="00B0F0"/>
                </a:solidFill>
              </a:rPr>
              <a:t>two </a:t>
            </a:r>
            <a:r>
              <a:rPr lang="en-US" b="1" dirty="0"/>
              <a:t>main types of questions to ask: </a:t>
            </a:r>
            <a:r>
              <a:rPr lang="en-US" b="1" dirty="0" smtClean="0">
                <a:solidFill>
                  <a:srgbClr val="FF0000"/>
                </a:solidFill>
              </a:rPr>
              <a:t>closed-ended </a:t>
            </a:r>
            <a:r>
              <a:rPr lang="en-US" b="1" dirty="0">
                <a:solidFill>
                  <a:srgbClr val="FF0000"/>
                </a:solidFill>
              </a:rPr>
              <a:t>and open-ended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b="1" dirty="0" smtClean="0">
                <a:solidFill>
                  <a:srgbClr val="00B0F0"/>
                </a:solidFill>
              </a:rPr>
              <a:t> Closed-ended </a:t>
            </a:r>
            <a:r>
              <a:rPr lang="en-US" b="1" dirty="0">
                <a:solidFill>
                  <a:srgbClr val="00B0F0"/>
                </a:solidFill>
              </a:rPr>
              <a:t>questions</a:t>
            </a:r>
            <a:r>
              <a:rPr lang="en-US" b="1" dirty="0"/>
              <a:t> have the range of possible answers printed below the question itself; these questions are said to be closed because the range of </a:t>
            </a:r>
            <a:r>
              <a:rPr lang="en-US" b="1" dirty="0" smtClean="0"/>
              <a:t>answer </a:t>
            </a:r>
            <a:r>
              <a:rPr lang="en-US" b="1" dirty="0"/>
              <a:t>is predetermined.</a:t>
            </a:r>
          </a:p>
        </p:txBody>
      </p:sp>
    </p:spTree>
    <p:extLst>
      <p:ext uri="{BB962C8B-B14F-4D97-AF65-F5344CB8AC3E}">
        <p14:creationId xmlns:p14="http://schemas.microsoft.com/office/powerpoint/2010/main" val="406609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8513" t="46634" r="37599" b="9690"/>
          <a:stretch/>
        </p:blipFill>
        <p:spPr>
          <a:xfrm>
            <a:off x="797859" y="430306"/>
            <a:ext cx="10192870" cy="61766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7948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Guidelines </a:t>
            </a:r>
            <a:r>
              <a:rPr lang="en-US" b="1" dirty="0">
                <a:solidFill>
                  <a:srgbClr val="FF0000"/>
                </a:solidFill>
              </a:rPr>
              <a:t>for asking good </a:t>
            </a:r>
            <a:r>
              <a:rPr lang="en-US" b="1" dirty="0" smtClean="0">
                <a:solidFill>
                  <a:srgbClr val="FF0000"/>
                </a:solidFill>
              </a:rPr>
              <a:t>questions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Rephrase </a:t>
            </a:r>
            <a:r>
              <a:rPr lang="en-US" b="1" dirty="0"/>
              <a:t>jargon and technical language into plain </a:t>
            </a:r>
            <a:r>
              <a:rPr lang="en-US" b="1" dirty="0" smtClean="0"/>
              <a:t>language. </a:t>
            </a:r>
          </a:p>
          <a:p>
            <a:r>
              <a:rPr lang="en-US" b="1" dirty="0" smtClean="0"/>
              <a:t>Ask </a:t>
            </a:r>
            <a:r>
              <a:rPr lang="en-US" b="1" dirty="0"/>
              <a:t>specific </a:t>
            </a:r>
            <a:r>
              <a:rPr lang="en-US" b="1" dirty="0" smtClean="0"/>
              <a:t>questions. </a:t>
            </a:r>
          </a:p>
          <a:p>
            <a:r>
              <a:rPr lang="en-US" b="1" dirty="0" smtClean="0"/>
              <a:t>Avoid </a:t>
            </a:r>
            <a:r>
              <a:rPr lang="en-US" b="1" dirty="0"/>
              <a:t>loaded </a:t>
            </a:r>
            <a:r>
              <a:rPr lang="en-US" b="1" dirty="0" smtClean="0"/>
              <a:t>questions. </a:t>
            </a:r>
            <a:endParaRPr lang="en-US" b="1" dirty="0"/>
          </a:p>
          <a:p>
            <a:r>
              <a:rPr lang="en-US" b="1" dirty="0" smtClean="0"/>
              <a:t>Break </a:t>
            </a:r>
            <a:r>
              <a:rPr lang="en-US" b="1" dirty="0"/>
              <a:t>compound </a:t>
            </a:r>
            <a:r>
              <a:rPr lang="en-US" b="1" dirty="0" smtClean="0"/>
              <a:t>questions </a:t>
            </a:r>
            <a:r>
              <a:rPr lang="en-US" b="1" dirty="0"/>
              <a:t>into individual </a:t>
            </a:r>
            <a:r>
              <a:rPr lang="en-US" b="1" dirty="0" smtClean="0"/>
              <a:t>questions.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92862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511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Examples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93" t="27216" r="31111" b="6047"/>
          <a:stretch/>
        </p:blipFill>
        <p:spPr>
          <a:xfrm>
            <a:off x="968189" y="1281954"/>
            <a:ext cx="9412940" cy="54953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18925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26" t="19851" r="31226" b="8453"/>
          <a:stretch/>
        </p:blipFill>
        <p:spPr>
          <a:xfrm>
            <a:off x="448235" y="394447"/>
            <a:ext cx="10470777" cy="603324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895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Choosing </a:t>
            </a:r>
            <a:r>
              <a:rPr lang="en-US" b="1" dirty="0">
                <a:solidFill>
                  <a:srgbClr val="FF0000"/>
                </a:solidFill>
              </a:rPr>
              <a:t>appropriate responses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Asking good questions is </a:t>
            </a:r>
            <a:r>
              <a:rPr lang="en-US" b="1" dirty="0" smtClean="0">
                <a:solidFill>
                  <a:srgbClr val="C00000"/>
                </a:solidFill>
              </a:rPr>
              <a:t>one </a:t>
            </a:r>
            <a:r>
              <a:rPr lang="en-US" b="1" dirty="0">
                <a:solidFill>
                  <a:srgbClr val="C00000"/>
                </a:solidFill>
              </a:rPr>
              <a:t>half of the challenge </a:t>
            </a:r>
            <a:r>
              <a:rPr lang="en-US" b="1" dirty="0"/>
              <a:t>when you write questions.</a:t>
            </a:r>
            <a:r>
              <a:rPr lang="en-US" b="1" dirty="0">
                <a:solidFill>
                  <a:srgbClr val="C00000"/>
                </a:solidFill>
              </a:rPr>
              <a:t> The other half is creating appropriate responses. </a:t>
            </a:r>
            <a:endParaRPr lang="en-US" b="1" dirty="0" smtClean="0">
              <a:solidFill>
                <a:srgbClr val="C00000"/>
              </a:solidFill>
            </a:endParaRPr>
          </a:p>
          <a:p>
            <a:r>
              <a:rPr lang="en-US" b="1" dirty="0" smtClean="0"/>
              <a:t>Open-ended questions </a:t>
            </a:r>
            <a:r>
              <a:rPr lang="en-US" b="1" dirty="0"/>
              <a:t>do not provide a structured response by the very nature of these questions. </a:t>
            </a:r>
            <a:endParaRPr lang="en-US" b="1" dirty="0" smtClean="0"/>
          </a:p>
          <a:p>
            <a:r>
              <a:rPr lang="en-US" b="1" dirty="0" smtClean="0"/>
              <a:t>Responses </a:t>
            </a:r>
            <a:r>
              <a:rPr lang="en-US" b="1" dirty="0"/>
              <a:t>to </a:t>
            </a:r>
            <a:r>
              <a:rPr lang="en-US" b="1" dirty="0" smtClean="0">
                <a:solidFill>
                  <a:srgbClr val="FF0000"/>
                </a:solidFill>
              </a:rPr>
              <a:t>closed ended </a:t>
            </a:r>
            <a:r>
              <a:rPr lang="en-US" b="1" dirty="0">
                <a:solidFill>
                  <a:srgbClr val="FF0000"/>
                </a:solidFill>
              </a:rPr>
              <a:t>questions can </a:t>
            </a:r>
            <a:r>
              <a:rPr lang="en-US" b="1" dirty="0" smtClean="0">
                <a:solidFill>
                  <a:srgbClr val="FF0000"/>
                </a:solidFill>
              </a:rPr>
              <a:t>take the </a:t>
            </a:r>
            <a:r>
              <a:rPr lang="en-US" b="1" dirty="0">
                <a:solidFill>
                  <a:srgbClr val="FF0000"/>
                </a:solidFill>
              </a:rPr>
              <a:t>following forms</a:t>
            </a:r>
            <a:r>
              <a:rPr lang="en-US" b="1" dirty="0"/>
              <a:t>: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Yes/no </a:t>
            </a:r>
            <a:r>
              <a:rPr lang="en-US" b="1" dirty="0"/>
              <a:t>answers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Rating </a:t>
            </a:r>
            <a:r>
              <a:rPr lang="en-US" b="1" dirty="0"/>
              <a:t>scales </a:t>
            </a:r>
          </a:p>
          <a:p>
            <a:pPr>
              <a:buFontTx/>
              <a:buChar char="-"/>
            </a:pPr>
            <a:r>
              <a:rPr lang="en-US" b="1" dirty="0" smtClean="0"/>
              <a:t>Comparative </a:t>
            </a:r>
            <a:r>
              <a:rPr lang="en-US" b="1" dirty="0"/>
              <a:t>rating scales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Category </a:t>
            </a:r>
            <a:r>
              <a:rPr lang="en-US" b="1" dirty="0"/>
              <a:t>scales</a:t>
            </a:r>
          </a:p>
        </p:txBody>
      </p:sp>
    </p:spTree>
    <p:extLst>
      <p:ext uri="{BB962C8B-B14F-4D97-AF65-F5344CB8AC3E}">
        <p14:creationId xmlns:p14="http://schemas.microsoft.com/office/powerpoint/2010/main" val="164612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Examples 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892" t="26650" r="20796" b="35821"/>
          <a:stretch/>
        </p:blipFill>
        <p:spPr>
          <a:xfrm>
            <a:off x="1573306" y="751569"/>
            <a:ext cx="9045388" cy="52443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859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7832" t="26032" r="24505" b="5981"/>
          <a:stretch/>
        </p:blipFill>
        <p:spPr>
          <a:xfrm>
            <a:off x="1775012" y="152401"/>
            <a:ext cx="8704729" cy="6705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38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045" t="29946" r="34819" b="3097"/>
          <a:stretch/>
        </p:blipFill>
        <p:spPr>
          <a:xfrm>
            <a:off x="259976" y="421341"/>
            <a:ext cx="10434918" cy="62304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740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73" t="22942" r="13495" b="4333"/>
          <a:stretch/>
        </p:blipFill>
        <p:spPr>
          <a:xfrm>
            <a:off x="502024" y="188259"/>
            <a:ext cx="11340352" cy="64008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119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Secondary </a:t>
            </a:r>
            <a:r>
              <a:rPr lang="en-US" sz="3600" b="1" dirty="0" smtClean="0">
                <a:solidFill>
                  <a:srgbClr val="FF0000"/>
                </a:solidFill>
              </a:rPr>
              <a:t>Research</a:t>
            </a:r>
            <a:r>
              <a:rPr lang="en-US" sz="3600" b="1" dirty="0">
                <a:solidFill>
                  <a:srgbClr val="FF0000"/>
                </a:solidFill>
              </a:rPr>
              <a:t>: Finding print and online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39125"/>
            <a:ext cx="11228295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Depending </a:t>
            </a:r>
            <a:r>
              <a:rPr lang="en-US" b="1" dirty="0"/>
              <a:t>upon what type of technical document you are </a:t>
            </a:r>
            <a:r>
              <a:rPr lang="en-US" b="1" dirty="0" smtClean="0"/>
              <a:t>writing, </a:t>
            </a:r>
            <a:r>
              <a:rPr lang="en-US" b="1" dirty="0"/>
              <a:t>you may need to do </a:t>
            </a:r>
            <a:r>
              <a:rPr lang="en-US" b="1" dirty="0" smtClean="0"/>
              <a:t>some</a:t>
            </a:r>
            <a:r>
              <a:rPr lang="en-US" b="1" dirty="0" smtClean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library or print research on your subject. 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/>
              <a:t>W</a:t>
            </a:r>
            <a:r>
              <a:rPr lang="en-US" b="1" dirty="0" smtClean="0"/>
              <a:t>riting </a:t>
            </a:r>
            <a:r>
              <a:rPr lang="en-US" b="1" dirty="0"/>
              <a:t>a </a:t>
            </a:r>
            <a:r>
              <a:rPr lang="en-US" b="1" dirty="0">
                <a:solidFill>
                  <a:srgbClr val="FF0000"/>
                </a:solidFill>
              </a:rPr>
              <a:t>laboratory report</a:t>
            </a:r>
            <a:r>
              <a:rPr lang="en-US" b="1" dirty="0"/>
              <a:t> based on a series of experiments</a:t>
            </a:r>
            <a:r>
              <a:rPr lang="en-US" b="1" dirty="0" smtClean="0"/>
              <a:t>, </a:t>
            </a:r>
            <a:r>
              <a:rPr lang="en-US" b="1" dirty="0"/>
              <a:t>need to investigate further research on aspects related to the topic of </a:t>
            </a:r>
            <a:r>
              <a:rPr lang="en-US" b="1" dirty="0" smtClean="0"/>
              <a:t>experiments.</a:t>
            </a:r>
          </a:p>
          <a:p>
            <a:pPr marL="0" indent="0">
              <a:buNone/>
            </a:pPr>
            <a:r>
              <a:rPr lang="en-US" b="1" dirty="0" smtClean="0"/>
              <a:t>If </a:t>
            </a:r>
            <a:r>
              <a:rPr lang="en-US" b="1" dirty="0"/>
              <a:t>you are </a:t>
            </a:r>
            <a:r>
              <a:rPr lang="en-US" b="1" dirty="0">
                <a:solidFill>
                  <a:srgbClr val="FF0000"/>
                </a:solidFill>
              </a:rPr>
              <a:t>creating a software manual</a:t>
            </a:r>
            <a:r>
              <a:rPr lang="en-US" b="1" dirty="0"/>
              <a:t> to fill a market </a:t>
            </a:r>
            <a:r>
              <a:rPr lang="en-US" b="1" dirty="0" smtClean="0"/>
              <a:t>function, </a:t>
            </a:r>
            <a:r>
              <a:rPr lang="en-US" b="1" dirty="0"/>
              <a:t>you </a:t>
            </a:r>
            <a:r>
              <a:rPr lang="en-US" b="1" dirty="0" smtClean="0"/>
              <a:t>might </a:t>
            </a:r>
            <a:r>
              <a:rPr lang="en-US" b="1" dirty="0" smtClean="0">
                <a:solidFill>
                  <a:srgbClr val="FF0000"/>
                </a:solidFill>
              </a:rPr>
              <a:t>examine recently published existing manuals to pick up some strategies </a:t>
            </a:r>
            <a:r>
              <a:rPr lang="en-US" b="1" dirty="0" smtClean="0"/>
              <a:t>or </a:t>
            </a:r>
            <a:r>
              <a:rPr lang="en-US" b="1" dirty="0"/>
              <a:t>tips about what to do or not to do. </a:t>
            </a:r>
          </a:p>
        </p:txBody>
      </p:sp>
    </p:spTree>
    <p:extLst>
      <p:ext uri="{BB962C8B-B14F-4D97-AF65-F5344CB8AC3E}">
        <p14:creationId xmlns:p14="http://schemas.microsoft.com/office/powerpoint/2010/main" val="4150024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I</a:t>
            </a:r>
            <a:r>
              <a:rPr lang="en-US" b="1" dirty="0" smtClean="0">
                <a:solidFill>
                  <a:srgbClr val="FF0000"/>
                </a:solidFill>
              </a:rPr>
              <a:t>f </a:t>
            </a:r>
            <a:r>
              <a:rPr lang="en-US" b="1" dirty="0">
                <a:solidFill>
                  <a:srgbClr val="FF0000"/>
                </a:solidFill>
              </a:rPr>
              <a:t>you are writing a white paper on a new electronic device</a:t>
            </a:r>
            <a:r>
              <a:rPr lang="en-US" b="1" dirty="0"/>
              <a:t>, you might visit the Internet to </a:t>
            </a:r>
            <a:r>
              <a:rPr lang="en-US" b="1" dirty="0">
                <a:solidFill>
                  <a:srgbClr val="00B0F0"/>
                </a:solidFill>
              </a:rPr>
              <a:t>search for competitors’ products</a:t>
            </a:r>
            <a:r>
              <a:rPr lang="en-US" b="1" dirty="0"/>
              <a:t> that you can use as a comparison with your company’s </a:t>
            </a:r>
            <a:r>
              <a:rPr lang="en-US" b="1" dirty="0" smtClean="0"/>
              <a:t>device.</a:t>
            </a:r>
          </a:p>
          <a:p>
            <a:r>
              <a:rPr lang="en-US" b="1" dirty="0" smtClean="0"/>
              <a:t>Examples </a:t>
            </a:r>
            <a:r>
              <a:rPr lang="en-US" b="1" dirty="0"/>
              <a:t>of </a:t>
            </a:r>
            <a:r>
              <a:rPr lang="en-US" b="1" dirty="0">
                <a:solidFill>
                  <a:srgbClr val="FF0000"/>
                </a:solidFill>
              </a:rPr>
              <a:t>well-written white papers</a:t>
            </a:r>
            <a:r>
              <a:rPr lang="en-US" b="1" dirty="0"/>
              <a:t> about similar devices that </a:t>
            </a:r>
            <a:r>
              <a:rPr lang="en-US" b="1" dirty="0" smtClean="0"/>
              <a:t>may </a:t>
            </a:r>
            <a:r>
              <a:rPr lang="en-US" b="1" dirty="0"/>
              <a:t>work as </a:t>
            </a:r>
            <a:r>
              <a:rPr lang="en-US" b="1" dirty="0" smtClean="0"/>
              <a:t>model, </a:t>
            </a:r>
            <a:r>
              <a:rPr lang="en-US" b="1" dirty="0"/>
              <a:t>or consumer chat sites that evaluate and comment on similar products that </a:t>
            </a:r>
            <a:r>
              <a:rPr lang="en-US" b="1" dirty="0" smtClean="0"/>
              <a:t>may give </a:t>
            </a:r>
            <a:r>
              <a:rPr lang="en-US" b="1" dirty="0"/>
              <a:t>you useful perspectives on what your readers may like or dislike about such items.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227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L</a:t>
            </a:r>
            <a:r>
              <a:rPr lang="en-US" b="1" dirty="0" smtClean="0">
                <a:solidFill>
                  <a:srgbClr val="C00000"/>
                </a:solidFill>
              </a:rPr>
              <a:t>ibraries </a:t>
            </a:r>
            <a:r>
              <a:rPr lang="en-US" b="1" dirty="0">
                <a:solidFill>
                  <a:srgbClr val="C00000"/>
                </a:solidFill>
              </a:rPr>
              <a:t>are better stocked with useful sources and </a:t>
            </a:r>
            <a:r>
              <a:rPr lang="en-US" b="1" dirty="0" smtClean="0">
                <a:solidFill>
                  <a:srgbClr val="C00000"/>
                </a:solidFill>
              </a:rPr>
              <a:t>information.</a:t>
            </a:r>
          </a:p>
          <a:p>
            <a:r>
              <a:rPr lang="en-US" b="1" dirty="0">
                <a:solidFill>
                  <a:srgbClr val="FF0000"/>
                </a:solidFill>
              </a:rPr>
              <a:t>Many of the technical communication journals </a:t>
            </a:r>
            <a:r>
              <a:rPr lang="en-US" b="1" dirty="0" smtClean="0">
                <a:solidFill>
                  <a:srgbClr val="FF0000"/>
                </a:solidFill>
              </a:rPr>
              <a:t>have their online issues , </a:t>
            </a:r>
            <a:r>
              <a:rPr lang="en-US" b="1" dirty="0">
                <a:solidFill>
                  <a:srgbClr val="FF0000"/>
                </a:solidFill>
              </a:rPr>
              <a:t>and many educational </a:t>
            </a:r>
            <a:r>
              <a:rPr lang="en-US" b="1" dirty="0" smtClean="0">
                <a:solidFill>
                  <a:srgbClr val="FF0000"/>
                </a:solidFill>
              </a:rPr>
              <a:t>collections </a:t>
            </a:r>
            <a:r>
              <a:rPr lang="en-US" b="1" dirty="0">
                <a:solidFill>
                  <a:srgbClr val="FF0000"/>
                </a:solidFill>
              </a:rPr>
              <a:t>carry these </a:t>
            </a:r>
            <a:r>
              <a:rPr lang="en-US" b="1" dirty="0" smtClean="0">
                <a:solidFill>
                  <a:srgbClr val="FF0000"/>
                </a:solidFill>
              </a:rPr>
              <a:t>contributions.</a:t>
            </a:r>
          </a:p>
          <a:p>
            <a:r>
              <a:rPr lang="en-US" b="1" dirty="0" smtClean="0"/>
              <a:t>You </a:t>
            </a:r>
            <a:r>
              <a:rPr lang="en-US" b="1" dirty="0"/>
              <a:t>can </a:t>
            </a:r>
            <a:r>
              <a:rPr lang="en-US" b="1" dirty="0" smtClean="0"/>
              <a:t>search </a:t>
            </a:r>
            <a:r>
              <a:rPr lang="en-US" b="1" dirty="0"/>
              <a:t>full-text article from your computer and download a pdf to read on screen or to print off a paper </a:t>
            </a:r>
            <a:r>
              <a:rPr lang="en-US" b="1" dirty="0" smtClean="0"/>
              <a:t>copy.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39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Conducting </a:t>
            </a:r>
            <a:r>
              <a:rPr lang="en-US" sz="3200" b="1" dirty="0">
                <a:solidFill>
                  <a:srgbClr val="FF0000"/>
                </a:solidFill>
              </a:rPr>
              <a:t>an effective search for sources: </a:t>
            </a:r>
            <a:r>
              <a:rPr lang="en-US" sz="3200" b="1" dirty="0" smtClean="0">
                <a:solidFill>
                  <a:srgbClr val="FF0000"/>
                </a:solidFill>
              </a:rPr>
              <a:t>Library </a:t>
            </a:r>
            <a:r>
              <a:rPr lang="en-US" sz="3200" b="1" dirty="0">
                <a:solidFill>
                  <a:srgbClr val="FF0000"/>
                </a:solidFill>
              </a:rPr>
              <a:t>and internet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4984"/>
            <a:ext cx="10515600" cy="4351338"/>
          </a:xfrm>
        </p:spPr>
        <p:txBody>
          <a:bodyPr>
            <a:normAutofit/>
          </a:bodyPr>
          <a:lstStyle/>
          <a:p>
            <a:r>
              <a:rPr lang="en-US" b="1" dirty="0"/>
              <a:t>Finding </a:t>
            </a:r>
            <a:r>
              <a:rPr lang="en-US" b="1" dirty="0" smtClean="0"/>
              <a:t>useful </a:t>
            </a:r>
            <a:r>
              <a:rPr lang="en-US" b="1" dirty="0"/>
              <a:t>information </a:t>
            </a:r>
            <a:r>
              <a:rPr lang="en-US" b="1" dirty="0" smtClean="0">
                <a:solidFill>
                  <a:srgbClr val="FF0000"/>
                </a:solidFill>
              </a:rPr>
              <a:t>depends </a:t>
            </a:r>
            <a:r>
              <a:rPr lang="en-US" b="1" dirty="0">
                <a:solidFill>
                  <a:srgbClr val="FF0000"/>
                </a:solidFill>
              </a:rPr>
              <a:t>on the </a:t>
            </a:r>
            <a:r>
              <a:rPr lang="en-US" b="1" dirty="0" smtClean="0">
                <a:solidFill>
                  <a:srgbClr val="FF0000"/>
                </a:solidFill>
              </a:rPr>
              <a:t>keywords </a:t>
            </a:r>
            <a:r>
              <a:rPr lang="en-US" b="1" dirty="0">
                <a:solidFill>
                  <a:srgbClr val="FF0000"/>
                </a:solidFill>
              </a:rPr>
              <a:t>that you select to use in your search.</a:t>
            </a:r>
            <a:r>
              <a:rPr lang="en-US" b="1" dirty="0"/>
              <a:t> </a:t>
            </a:r>
            <a:endParaRPr lang="en-US" b="1" dirty="0" smtClean="0"/>
          </a:p>
          <a:p>
            <a:r>
              <a:rPr lang="en-US" b="1" dirty="0" smtClean="0"/>
              <a:t>To </a:t>
            </a:r>
            <a:r>
              <a:rPr lang="en-US" b="1" dirty="0"/>
              <a:t>improve the chances </a:t>
            </a:r>
            <a:r>
              <a:rPr lang="en-US" b="1" dirty="0" smtClean="0"/>
              <a:t>to name </a:t>
            </a:r>
            <a:r>
              <a:rPr lang="en-US" b="1" dirty="0"/>
              <a:t>your subject </a:t>
            </a:r>
            <a:r>
              <a:rPr lang="en-US" b="1" dirty="0" smtClean="0"/>
              <a:t>matter </a:t>
            </a:r>
            <a:r>
              <a:rPr lang="en-US" b="1" dirty="0"/>
              <a:t>correctly in the search, </a:t>
            </a:r>
            <a:r>
              <a:rPr lang="en-US" b="1" dirty="0">
                <a:solidFill>
                  <a:srgbClr val="FF0000"/>
                </a:solidFill>
              </a:rPr>
              <a:t>generate a list of words that you </a:t>
            </a:r>
            <a:r>
              <a:rPr lang="en-US" b="1" dirty="0" smtClean="0">
                <a:solidFill>
                  <a:srgbClr val="FF0000"/>
                </a:solidFill>
              </a:rPr>
              <a:t>associate </a:t>
            </a:r>
            <a:r>
              <a:rPr lang="en-US" b="1" dirty="0">
                <a:solidFill>
                  <a:srgbClr val="FF0000"/>
                </a:solidFill>
              </a:rPr>
              <a:t>with the topic. </a:t>
            </a:r>
            <a:endParaRPr lang="en-US" b="1" dirty="0" smtClean="0">
              <a:solidFill>
                <a:srgbClr val="FF0000"/>
              </a:solidFill>
            </a:endParaRPr>
          </a:p>
          <a:p>
            <a:r>
              <a:rPr lang="en-US" b="1" dirty="0"/>
              <a:t>L</a:t>
            </a:r>
            <a:r>
              <a:rPr lang="en-US" b="1" dirty="0" smtClean="0"/>
              <a:t>ist </a:t>
            </a:r>
            <a:r>
              <a:rPr lang="en-US" b="1" dirty="0"/>
              <a:t>as many </a:t>
            </a:r>
            <a:r>
              <a:rPr lang="en-US" b="1" dirty="0">
                <a:solidFill>
                  <a:srgbClr val="FF0000"/>
                </a:solidFill>
              </a:rPr>
              <a:t>synonyms </a:t>
            </a:r>
            <a:r>
              <a:rPr lang="en-US" b="1" dirty="0"/>
              <a:t>for each word as you can think of. </a:t>
            </a:r>
            <a:endParaRPr lang="en-US" b="1" dirty="0" smtClean="0"/>
          </a:p>
          <a:p>
            <a:r>
              <a:rPr lang="en-US" b="1" dirty="0">
                <a:solidFill>
                  <a:srgbClr val="FF0000"/>
                </a:solidFill>
              </a:rPr>
              <a:t>A subject directory</a:t>
            </a:r>
            <a:r>
              <a:rPr lang="en-US" b="1" dirty="0"/>
              <a:t> can help you think of subcategories related to your broader topic. </a:t>
            </a:r>
            <a:endParaRPr lang="en-US" b="1" dirty="0" smtClean="0"/>
          </a:p>
          <a:p>
            <a:r>
              <a:rPr lang="en-US" b="1" dirty="0" smtClean="0"/>
              <a:t>You </a:t>
            </a:r>
            <a:r>
              <a:rPr lang="en-US" b="1" dirty="0"/>
              <a:t>can also </a:t>
            </a:r>
            <a:r>
              <a:rPr lang="en-US" b="1" dirty="0">
                <a:solidFill>
                  <a:srgbClr val="FF0000"/>
                </a:solidFill>
              </a:rPr>
              <a:t>browse or use keyword searches</a:t>
            </a:r>
            <a:r>
              <a:rPr lang="en-US" b="1" dirty="0"/>
              <a:t> at the </a:t>
            </a:r>
            <a:r>
              <a:rPr lang="en-US" b="1" dirty="0" smtClean="0"/>
              <a:t>library.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64586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5388"/>
            <a:ext cx="10515600" cy="475157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To </a:t>
            </a:r>
            <a:r>
              <a:rPr lang="en-US" b="1" dirty="0">
                <a:solidFill>
                  <a:srgbClr val="FF0000"/>
                </a:solidFill>
              </a:rPr>
              <a:t>narrow your search</a:t>
            </a:r>
            <a:r>
              <a:rPr lang="en-US" b="1" dirty="0" smtClean="0">
                <a:solidFill>
                  <a:srgbClr val="C00000"/>
                </a:solidFill>
              </a:rPr>
              <a:t>, </a:t>
            </a:r>
            <a:r>
              <a:rPr lang="en-US" b="1" dirty="0">
                <a:solidFill>
                  <a:srgbClr val="FF0000"/>
                </a:solidFill>
              </a:rPr>
              <a:t>combine two or three key words</a:t>
            </a:r>
            <a:r>
              <a:rPr lang="en-US" b="1" dirty="0">
                <a:solidFill>
                  <a:srgbClr val="C00000"/>
                </a:solidFill>
              </a:rPr>
              <a:t> </a:t>
            </a:r>
            <a:r>
              <a:rPr lang="en-US" b="1" dirty="0" smtClean="0"/>
              <a:t>to </a:t>
            </a:r>
            <a:r>
              <a:rPr lang="en-US" b="1" dirty="0"/>
              <a:t>focus and qualify the sources that show up on your screen. </a:t>
            </a:r>
            <a:endParaRPr lang="en-US" b="1" dirty="0" smtClean="0"/>
          </a:p>
          <a:p>
            <a:r>
              <a:rPr lang="en-US" b="1" dirty="0" smtClean="0"/>
              <a:t>You </a:t>
            </a:r>
            <a:r>
              <a:rPr lang="en-US" b="1" dirty="0"/>
              <a:t>may </a:t>
            </a:r>
            <a:r>
              <a:rPr lang="en-US" b="1" dirty="0">
                <a:solidFill>
                  <a:srgbClr val="FF0000"/>
                </a:solidFill>
              </a:rPr>
              <a:t>n</a:t>
            </a:r>
            <a:r>
              <a:rPr lang="en-US" b="1" dirty="0" smtClean="0">
                <a:solidFill>
                  <a:srgbClr val="FF0000"/>
                </a:solidFill>
              </a:rPr>
              <a:t>arrow </a:t>
            </a:r>
            <a:r>
              <a:rPr lang="en-US" b="1" dirty="0">
                <a:solidFill>
                  <a:srgbClr val="FF0000"/>
                </a:solidFill>
              </a:rPr>
              <a:t>your search by specifying what you don’t </a:t>
            </a:r>
            <a:r>
              <a:rPr lang="en-US" b="1" dirty="0" smtClean="0">
                <a:solidFill>
                  <a:srgbClr val="FF0000"/>
                </a:solidFill>
              </a:rPr>
              <a:t>want</a:t>
            </a:r>
            <a:r>
              <a:rPr lang="en-US" b="1" dirty="0"/>
              <a:t>.</a:t>
            </a:r>
            <a:endParaRPr lang="en-US" b="1" dirty="0" smtClean="0"/>
          </a:p>
          <a:p>
            <a:r>
              <a:rPr lang="en-US" b="1" dirty="0" smtClean="0">
                <a:solidFill>
                  <a:srgbClr val="00B0F0"/>
                </a:solidFill>
              </a:rPr>
              <a:t>Librarians </a:t>
            </a:r>
            <a:r>
              <a:rPr lang="en-US" b="1" dirty="0">
                <a:solidFill>
                  <a:srgbClr val="00B0F0"/>
                </a:solidFill>
              </a:rPr>
              <a:t>can shortcut your search time </a:t>
            </a:r>
            <a:r>
              <a:rPr lang="en-US" b="1" dirty="0"/>
              <a:t>by directing you to the right subject headings, and </a:t>
            </a:r>
            <a:r>
              <a:rPr lang="en-US" b="1" dirty="0" smtClean="0"/>
              <a:t>by pointing </a:t>
            </a:r>
            <a:r>
              <a:rPr lang="en-US" b="1" dirty="0"/>
              <a:t>out the location of various types of </a:t>
            </a:r>
            <a:r>
              <a:rPr lang="en-US" b="1" dirty="0" smtClean="0"/>
              <a:t>sources</a:t>
            </a:r>
            <a:r>
              <a:rPr lang="en-US" dirty="0" smtClean="0"/>
              <a:t>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515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Assessing </a:t>
            </a:r>
            <a:r>
              <a:rPr lang="en-US" b="1" dirty="0">
                <a:solidFill>
                  <a:srgbClr val="FF0000"/>
                </a:solidFill>
              </a:rPr>
              <a:t>the credibility of your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/>
              <a:t>1. P</a:t>
            </a:r>
            <a:r>
              <a:rPr lang="en-US" sz="3200" b="1" dirty="0" smtClean="0"/>
              <a:t>ublisher</a:t>
            </a:r>
          </a:p>
          <a:p>
            <a:pPr marL="0" indent="0">
              <a:buNone/>
            </a:pPr>
            <a:r>
              <a:rPr lang="en-US" sz="3200" b="1" dirty="0"/>
              <a:t>2. </a:t>
            </a:r>
            <a:r>
              <a:rPr lang="en-US" sz="3200" b="1" dirty="0" smtClean="0"/>
              <a:t>Author</a:t>
            </a:r>
          </a:p>
          <a:p>
            <a:pPr marL="0" indent="0">
              <a:buNone/>
            </a:pPr>
            <a:r>
              <a:rPr lang="en-US" sz="3200" b="1" dirty="0"/>
              <a:t>3. </a:t>
            </a:r>
            <a:r>
              <a:rPr lang="en-US" sz="3200" b="1" dirty="0" smtClean="0"/>
              <a:t>Currency</a:t>
            </a:r>
          </a:p>
          <a:p>
            <a:pPr marL="0" indent="0">
              <a:buNone/>
            </a:pPr>
            <a:r>
              <a:rPr lang="en-US" sz="3200" b="1" dirty="0"/>
              <a:t>4. </a:t>
            </a:r>
            <a:r>
              <a:rPr lang="en-US" sz="3200" b="1" dirty="0" smtClean="0"/>
              <a:t>Evidence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5. </a:t>
            </a:r>
            <a:r>
              <a:rPr lang="en-US" sz="3200" b="1" dirty="0" smtClean="0"/>
              <a:t>Slant/ viewpoint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11367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Citing and paraphrasing researched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When you encounter a phrase, sentence, or paragraph written by someone else </a:t>
            </a:r>
            <a:r>
              <a:rPr lang="en-US" b="1" dirty="0" smtClean="0"/>
              <a:t>what </a:t>
            </a:r>
            <a:r>
              <a:rPr lang="en-US" b="1" dirty="0"/>
              <a:t>you would like </a:t>
            </a:r>
            <a:r>
              <a:rPr lang="en-US" b="1" dirty="0" smtClean="0"/>
              <a:t>to repeat </a:t>
            </a:r>
            <a:r>
              <a:rPr lang="en-US" b="1" dirty="0"/>
              <a:t>it exactly,</a:t>
            </a:r>
            <a:r>
              <a:rPr lang="en-US" b="1" dirty="0">
                <a:solidFill>
                  <a:srgbClr val="C00000"/>
                </a:solidFill>
              </a:rPr>
              <a:t> you </a:t>
            </a:r>
            <a:r>
              <a:rPr lang="en-US" b="1" dirty="0">
                <a:solidFill>
                  <a:srgbClr val="FF0000"/>
                </a:solidFill>
              </a:rPr>
              <a:t>should quote it</a:t>
            </a:r>
            <a:r>
              <a:rPr lang="en-US" b="1" dirty="0" smtClean="0"/>
              <a:t>.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Quotation means </a:t>
            </a:r>
            <a:r>
              <a:rPr lang="en-US" b="1" dirty="0" smtClean="0"/>
              <a:t>copy </a:t>
            </a:r>
            <a:r>
              <a:rPr lang="en-US" b="1" dirty="0"/>
              <a:t>the passage word for word, and place it between quotation </a:t>
            </a:r>
            <a:r>
              <a:rPr lang="en-US" b="1" dirty="0" smtClean="0"/>
              <a:t>marks</a:t>
            </a:r>
            <a:r>
              <a:rPr lang="en-US" b="1" dirty="0"/>
              <a:t> </a:t>
            </a:r>
            <a:r>
              <a:rPr lang="en-US" b="1" dirty="0" smtClean="0"/>
              <a:t>or </a:t>
            </a:r>
            <a:r>
              <a:rPr lang="en-US" b="1" dirty="0"/>
              <a:t>if it is longer </a:t>
            </a:r>
            <a:r>
              <a:rPr lang="en-US" b="1" dirty="0" smtClean="0"/>
              <a:t>than </a:t>
            </a:r>
            <a:r>
              <a:rPr lang="en-US" b="1" dirty="0"/>
              <a:t>four lines, set it off in a </a:t>
            </a:r>
            <a:r>
              <a:rPr lang="en-US" b="1" dirty="0">
                <a:solidFill>
                  <a:srgbClr val="FF0000"/>
                </a:solidFill>
              </a:rPr>
              <a:t>block </a:t>
            </a:r>
            <a:r>
              <a:rPr lang="en-US" b="1" dirty="0" smtClean="0">
                <a:solidFill>
                  <a:srgbClr val="FF0000"/>
                </a:solidFill>
              </a:rPr>
              <a:t>quotation</a:t>
            </a:r>
            <a:r>
              <a:rPr lang="en-US" b="1" dirty="0" smtClean="0"/>
              <a:t>.</a:t>
            </a:r>
          </a:p>
          <a:p>
            <a:r>
              <a:rPr lang="en-US" b="1" dirty="0"/>
              <a:t>Note that the </a:t>
            </a:r>
            <a:r>
              <a:rPr lang="en-US" b="1" dirty="0">
                <a:solidFill>
                  <a:srgbClr val="C00000"/>
                </a:solidFill>
              </a:rPr>
              <a:t>long passage is indented to the right and the shorter phrases are contained in quotation marks</a:t>
            </a:r>
            <a:r>
              <a:rPr lang="en-US" b="1" dirty="0"/>
              <a:t>. </a:t>
            </a:r>
          </a:p>
          <a:p>
            <a:r>
              <a:rPr lang="en-US" b="1" dirty="0"/>
              <a:t>I</a:t>
            </a:r>
            <a:r>
              <a:rPr lang="en-US" b="1" dirty="0" smtClean="0"/>
              <a:t>t </a:t>
            </a:r>
            <a:r>
              <a:rPr lang="en-US" b="1" dirty="0"/>
              <a:t>is important to </a:t>
            </a:r>
            <a:r>
              <a:rPr lang="en-US" b="1" dirty="0" smtClean="0"/>
              <a:t>cite </a:t>
            </a:r>
            <a:r>
              <a:rPr lang="en-US" b="1" dirty="0"/>
              <a:t>sources, to tell where a quotation came from</a:t>
            </a:r>
            <a:r>
              <a:rPr lang="en-US" b="1" dirty="0" smtClean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62179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0988"/>
            <a:ext cx="10515600" cy="603324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</a:t>
            </a:r>
            <a:r>
              <a:rPr lang="en-US" b="1" dirty="0" smtClean="0">
                <a:solidFill>
                  <a:srgbClr val="FF0000"/>
                </a:solidFill>
              </a:rPr>
              <a:t>ypes </a:t>
            </a:r>
            <a:r>
              <a:rPr lang="en-US" b="1" dirty="0">
                <a:solidFill>
                  <a:srgbClr val="FF0000"/>
                </a:solidFill>
              </a:rPr>
              <a:t>of information that you should </a:t>
            </a:r>
            <a:r>
              <a:rPr lang="en-US" b="1" dirty="0" smtClean="0">
                <a:solidFill>
                  <a:srgbClr val="FF0000"/>
                </a:solidFill>
              </a:rPr>
              <a:t>document</a:t>
            </a:r>
            <a:r>
              <a:rPr lang="en-US" b="1" dirty="0">
                <a:solidFill>
                  <a:srgbClr val="FF0000"/>
                </a:solidFill>
              </a:rPr>
              <a:t>: </a:t>
            </a:r>
            <a:endParaRPr lang="en-US" b="1" dirty="0" smtClean="0">
              <a:solidFill>
                <a:srgbClr val="FF0000"/>
              </a:solidFill>
            </a:endParaRPr>
          </a:p>
          <a:p>
            <a:pPr>
              <a:buFontTx/>
              <a:buChar char="-"/>
            </a:pPr>
            <a:r>
              <a:rPr lang="en-US" b="1" dirty="0" smtClean="0"/>
              <a:t>Statements </a:t>
            </a:r>
            <a:r>
              <a:rPr lang="en-US" b="1" dirty="0"/>
              <a:t>of opinion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Claims that can be argued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Sources for statistics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Research findings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Examples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Graphs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Charts </a:t>
            </a:r>
            <a:endParaRPr lang="en-US" b="1" dirty="0" smtClean="0"/>
          </a:p>
          <a:p>
            <a:pPr>
              <a:buFontTx/>
              <a:buChar char="-"/>
            </a:pPr>
            <a:r>
              <a:rPr lang="en-US" b="1" dirty="0" smtClean="0"/>
              <a:t> </a:t>
            </a:r>
            <a:r>
              <a:rPr lang="en-US" b="1" dirty="0"/>
              <a:t>Illustrations</a:t>
            </a:r>
          </a:p>
        </p:txBody>
      </p:sp>
    </p:spTree>
    <p:extLst>
      <p:ext uri="{BB962C8B-B14F-4D97-AF65-F5344CB8AC3E}">
        <p14:creationId xmlns:p14="http://schemas.microsoft.com/office/powerpoint/2010/main" val="4156359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4303</TotalTime>
  <Words>2870</Words>
  <Application>Microsoft Office PowerPoint</Application>
  <PresentationFormat>Custom</PresentationFormat>
  <Paragraphs>236</Paragraphs>
  <Slides>52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 Leading and misleading the reader: ethical issues of technical communication</vt:lpstr>
      <vt:lpstr> Ethics</vt:lpstr>
      <vt:lpstr>Ethical Principles </vt:lpstr>
      <vt:lpstr>Major Ethical Considerations</vt:lpstr>
      <vt:lpstr>Ethics at work</vt:lpstr>
      <vt:lpstr>Ethical dilemma</vt:lpstr>
      <vt:lpstr>Ethical behavior</vt:lpstr>
      <vt:lpstr>Unethical behavior</vt:lpstr>
      <vt:lpstr>Ethical frameworks</vt:lpstr>
      <vt:lpstr>…</vt:lpstr>
      <vt:lpstr>PowerPoint Presentation</vt:lpstr>
      <vt:lpstr>Ethics for students </vt:lpstr>
      <vt:lpstr>…</vt:lpstr>
      <vt:lpstr>Citation: When and How? </vt:lpstr>
      <vt:lpstr>PowerPoint Presentation</vt:lpstr>
      <vt:lpstr>.</vt:lpstr>
      <vt:lpstr>PowerPoint Presentation</vt:lpstr>
      <vt:lpstr>How is Ethics Related to Technical Communication?</vt:lpstr>
      <vt:lpstr>…</vt:lpstr>
      <vt:lpstr>Copyright, Trademarks and Patents </vt:lpstr>
      <vt:lpstr>..</vt:lpstr>
      <vt:lpstr>What is not copyrightable? </vt:lpstr>
      <vt:lpstr>Writing Ethically </vt:lpstr>
      <vt:lpstr>..</vt:lpstr>
      <vt:lpstr>Plain language Guidelines </vt:lpstr>
      <vt:lpstr>Chapter -3 Researching Technical Subjects-</vt:lpstr>
      <vt:lpstr>Three GENERAL steps of research </vt:lpstr>
      <vt:lpstr>Primary Research: Interviewing</vt:lpstr>
      <vt:lpstr>Preparing for the interview</vt:lpstr>
      <vt:lpstr>Prepare a list of organized questions</vt:lpstr>
      <vt:lpstr>Writing good questions</vt:lpstr>
      <vt:lpstr>Conducting the Interview</vt:lpstr>
      <vt:lpstr>Closing the Interview</vt:lpstr>
      <vt:lpstr>Primary research: Conducting surveys</vt:lpstr>
      <vt:lpstr>Asking good questions</vt:lpstr>
      <vt:lpstr>PowerPoint Presentation</vt:lpstr>
      <vt:lpstr>Guidelines for asking good questions</vt:lpstr>
      <vt:lpstr>Examples </vt:lpstr>
      <vt:lpstr>PowerPoint Presentation</vt:lpstr>
      <vt:lpstr>Choosing appropriate responses</vt:lpstr>
      <vt:lpstr>Examples </vt:lpstr>
      <vt:lpstr>PowerPoint Presentation</vt:lpstr>
      <vt:lpstr>PowerPoint Presentation</vt:lpstr>
      <vt:lpstr>PowerPoint Presentation</vt:lpstr>
      <vt:lpstr>Secondary Research: Finding print and online sources</vt:lpstr>
      <vt:lpstr>..</vt:lpstr>
      <vt:lpstr>..</vt:lpstr>
      <vt:lpstr>Conducting an effective search for sources: Library and internet</vt:lpstr>
      <vt:lpstr>…</vt:lpstr>
      <vt:lpstr>Assessing the credibility of your sources</vt:lpstr>
      <vt:lpstr>Citing and paraphrasing researched sources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Techniques</dc:title>
  <dc:creator>Microsoft account</dc:creator>
  <cp:lastModifiedBy>lenovo</cp:lastModifiedBy>
  <cp:revision>483</cp:revision>
  <dcterms:created xsi:type="dcterms:W3CDTF">2023-01-05T15:29:22Z</dcterms:created>
  <dcterms:modified xsi:type="dcterms:W3CDTF">2024-12-02T10:16:43Z</dcterms:modified>
</cp:coreProperties>
</file>