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5" r:id="rId2"/>
    <p:sldId id="63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617" r:id="rId14"/>
    <p:sldId id="618" r:id="rId15"/>
    <p:sldId id="396" r:id="rId16"/>
    <p:sldId id="619" r:id="rId17"/>
    <p:sldId id="620" r:id="rId18"/>
    <p:sldId id="621" r:id="rId19"/>
    <p:sldId id="622" r:id="rId20"/>
    <p:sldId id="397" r:id="rId21"/>
    <p:sldId id="593" r:id="rId22"/>
    <p:sldId id="398" r:id="rId23"/>
    <p:sldId id="399" r:id="rId24"/>
    <p:sldId id="400" r:id="rId25"/>
    <p:sldId id="401" r:id="rId26"/>
    <p:sldId id="402" r:id="rId27"/>
    <p:sldId id="4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378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3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3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0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8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5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5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1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4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7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2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C2EC6-F5D4-4EB2-B55F-04434BE7B208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7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Chapter -3 Researching Technical Subjects-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65541" cy="4351338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literally means to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again to find out something </a:t>
            </a:r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new/different and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about a phenomenon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r>
              <a:rPr lang="en-US" b="1" dirty="0" smtClean="0"/>
              <a:t>Your </a:t>
            </a:r>
            <a:r>
              <a:rPr lang="en-US" b="1" dirty="0"/>
              <a:t>main source of information </a:t>
            </a:r>
            <a:r>
              <a:rPr lang="en-US" b="1" dirty="0" smtClean="0"/>
              <a:t>people so </a:t>
            </a:r>
            <a:r>
              <a:rPr lang="en-US" b="1" dirty="0"/>
              <a:t>it </a:t>
            </a:r>
            <a:r>
              <a:rPr lang="en-US" b="1" dirty="0" smtClean="0"/>
              <a:t>is </a:t>
            </a:r>
            <a:r>
              <a:rPr lang="en-US" b="1" dirty="0">
                <a:solidFill>
                  <a:srgbClr val="FF0000"/>
                </a:solidFill>
              </a:rPr>
              <a:t>necessary to expand your range of research skills </a:t>
            </a:r>
            <a:r>
              <a:rPr lang="en-US" b="1" dirty="0" smtClean="0">
                <a:solidFill>
                  <a:srgbClr val="FF0000"/>
                </a:solidFill>
              </a:rPr>
              <a:t>using methods </a:t>
            </a:r>
            <a:r>
              <a:rPr lang="en-US" b="1" dirty="0">
                <a:solidFill>
                  <a:srgbClr val="FF0000"/>
                </a:solidFill>
              </a:rPr>
              <a:t>as</a:t>
            </a:r>
            <a:r>
              <a:rPr lang="en-US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interviewing and surveying.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/>
              <a:t>There are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primary and secondary sources of collecting data</a:t>
            </a:r>
            <a:r>
              <a:rPr lang="en-US" b="1" dirty="0" smtClean="0"/>
              <a:t> for research.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58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 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US" alt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of research</a:t>
            </a:r>
            <a: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88988" lvl="1" indent="-514350">
              <a:buFont typeface="Franklin Gothic Book" panose="020B0503020102020204" pitchFamily="34" charset="0"/>
              <a:buAutoNum type="arabicPeriod"/>
            </a:pPr>
            <a:r>
              <a:rPr lang="en-US" altLang="en-US" sz="3200" b="1" dirty="0">
                <a:latin typeface="Times New Roman" panose="02020603050405020304" pitchFamily="18" charset="0"/>
                <a:ea typeface="HG創英ﾌﾟﾚｾﾞﾝｽEB" charset="0"/>
                <a:cs typeface="Times New Roman" panose="02020603050405020304" pitchFamily="18" charset="0"/>
              </a:rPr>
              <a:t>Pose a question.</a:t>
            </a:r>
          </a:p>
          <a:p>
            <a:pPr marL="788988" lvl="1" indent="-514350">
              <a:buFont typeface="Franklin Gothic Book" panose="020B0503020102020204" pitchFamily="34" charset="0"/>
              <a:buAutoNum type="arabicPeriod"/>
            </a:pPr>
            <a:r>
              <a:rPr lang="en-US" altLang="en-US" sz="3200" b="1" dirty="0">
                <a:latin typeface="Times New Roman" panose="02020603050405020304" pitchFamily="18" charset="0"/>
                <a:ea typeface="HG創英ﾌﾟﾚｾﾞﾝｽEB" charset="0"/>
                <a:cs typeface="Times New Roman" panose="02020603050405020304" pitchFamily="18" charset="0"/>
              </a:rPr>
              <a:t>Collect data </a:t>
            </a:r>
          </a:p>
          <a:p>
            <a:pPr marL="788988" lvl="1" indent="-514350">
              <a:buFont typeface="Franklin Gothic Book" panose="020B0503020102020204" pitchFamily="34" charset="0"/>
              <a:buAutoNum type="arabicPeriod"/>
            </a:pPr>
            <a:r>
              <a:rPr lang="en-US" altLang="en-US" sz="3200" b="1" dirty="0">
                <a:latin typeface="Times New Roman" panose="02020603050405020304" pitchFamily="18" charset="0"/>
                <a:ea typeface="HG創英ﾌﾟﾚｾﾞﾝｽEB" charset="0"/>
                <a:cs typeface="Times New Roman" panose="02020603050405020304" pitchFamily="18" charset="0"/>
              </a:rPr>
              <a:t>Present an answer to the question.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751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Primary </a:t>
            </a:r>
            <a:r>
              <a:rPr lang="en-US" b="1" dirty="0" smtClean="0">
                <a:solidFill>
                  <a:srgbClr val="FF0000"/>
                </a:solidFill>
              </a:rPr>
              <a:t>Research</a:t>
            </a:r>
            <a:r>
              <a:rPr lang="en-US" b="1" dirty="0">
                <a:solidFill>
                  <a:srgbClr val="FF0000"/>
                </a:solidFill>
              </a:rPr>
              <a:t>: Interviewing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5038164"/>
          </a:xfrm>
        </p:spPr>
        <p:txBody>
          <a:bodyPr>
            <a:normAutofit/>
          </a:bodyPr>
          <a:lstStyle/>
          <a:p>
            <a:r>
              <a:rPr lang="en-US" dirty="0"/>
              <a:t>For technical communicators </a:t>
            </a:r>
            <a:r>
              <a:rPr lang="en-US" b="1" dirty="0">
                <a:solidFill>
                  <a:srgbClr val="00B0F0"/>
                </a:solidFill>
              </a:rPr>
              <a:t>documenting a new product or system, a key information source is </a:t>
            </a:r>
            <a:r>
              <a:rPr lang="en-US" b="1" dirty="0" smtClean="0">
                <a:solidFill>
                  <a:srgbClr val="00B0F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developers </a:t>
            </a:r>
            <a:r>
              <a:rPr lang="en-US" b="1" dirty="0">
                <a:solidFill>
                  <a:srgbClr val="00B0F0"/>
                </a:solidFill>
              </a:rPr>
              <a:t>themselves.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Data </a:t>
            </a:r>
            <a:r>
              <a:rPr lang="en-US" b="1" dirty="0">
                <a:solidFill>
                  <a:srgbClr val="00B0F0"/>
                </a:solidFill>
              </a:rPr>
              <a:t>is gathered through interviews with individuals, who are asked specific questions about the product or system.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>
                <a:solidFill>
                  <a:srgbClr val="00B0F0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information obtained is used to create the </a:t>
            </a:r>
            <a:r>
              <a:rPr lang="en-US" b="1" dirty="0" smtClean="0">
                <a:solidFill>
                  <a:srgbClr val="00B0F0"/>
                </a:solidFill>
              </a:rPr>
              <a:t>process </a:t>
            </a:r>
            <a:r>
              <a:rPr lang="en-US" b="1" dirty="0">
                <a:solidFill>
                  <a:srgbClr val="00B0F0"/>
                </a:solidFill>
              </a:rPr>
              <a:t>or reference manual</a:t>
            </a:r>
            <a:r>
              <a:rPr lang="en-US" b="1" dirty="0" smtClean="0">
                <a:solidFill>
                  <a:srgbClr val="00B0F0"/>
                </a:solidFill>
              </a:rPr>
              <a:t>.</a:t>
            </a:r>
            <a:r>
              <a:rPr lang="en-US" b="1" dirty="0">
                <a:solidFill>
                  <a:srgbClr val="00B0F0"/>
                </a:solidFill>
              </a:rPr>
              <a:t/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There </a:t>
            </a:r>
            <a:r>
              <a:rPr lang="en-US" b="1" dirty="0">
                <a:solidFill>
                  <a:srgbClr val="FF0000"/>
                </a:solidFill>
              </a:rPr>
              <a:t>are three stages to completing a successful interview: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Preparing </a:t>
            </a:r>
            <a:r>
              <a:rPr lang="en-US" b="1" dirty="0">
                <a:solidFill>
                  <a:srgbClr val="0070C0"/>
                </a:solidFill>
              </a:rPr>
              <a:t>for it 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Conducting </a:t>
            </a:r>
            <a:r>
              <a:rPr lang="en-US" b="1" dirty="0">
                <a:solidFill>
                  <a:srgbClr val="0070C0"/>
                </a:solidFill>
              </a:rPr>
              <a:t>it 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Writing </a:t>
            </a:r>
            <a:r>
              <a:rPr lang="en-US" b="1" dirty="0">
                <a:solidFill>
                  <a:srgbClr val="0070C0"/>
                </a:solidFill>
              </a:rPr>
              <a:t>it up</a:t>
            </a:r>
          </a:p>
        </p:txBody>
      </p:sp>
    </p:spTree>
    <p:extLst>
      <p:ext uri="{BB962C8B-B14F-4D97-AF65-F5344CB8AC3E}">
        <p14:creationId xmlns:p14="http://schemas.microsoft.com/office/powerpoint/2010/main" val="265894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Preparing </a:t>
            </a:r>
            <a:r>
              <a:rPr lang="en-US" b="1" dirty="0">
                <a:solidFill>
                  <a:srgbClr val="FF0000"/>
                </a:solidFill>
              </a:rPr>
              <a:t>for the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370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smtClean="0"/>
              <a:t>1. </a:t>
            </a:r>
            <a:r>
              <a:rPr lang="en-US" b="1" dirty="0" smtClean="0"/>
              <a:t>Learn </a:t>
            </a:r>
            <a:r>
              <a:rPr lang="en-US" b="1" dirty="0"/>
              <a:t>in advance </a:t>
            </a:r>
            <a:r>
              <a:rPr lang="en-US" b="1" dirty="0" smtClean="0"/>
              <a:t>about </a:t>
            </a:r>
            <a:r>
              <a:rPr lang="en-US" b="1" dirty="0"/>
              <a:t>the </a:t>
            </a:r>
            <a:r>
              <a:rPr lang="en-US" b="1" dirty="0" smtClean="0">
                <a:solidFill>
                  <a:srgbClr val="00B0F0"/>
                </a:solidFill>
              </a:rPr>
              <a:t>subject/issue </a:t>
            </a:r>
            <a:r>
              <a:rPr lang="en-US" b="1" dirty="0" smtClean="0"/>
              <a:t>to be discussed </a:t>
            </a:r>
            <a:r>
              <a:rPr lang="en-US" b="1" dirty="0"/>
              <a:t>with the </a:t>
            </a:r>
            <a:r>
              <a:rPr lang="en-US" b="1" dirty="0">
                <a:solidFill>
                  <a:srgbClr val="00B0F0"/>
                </a:solidFill>
              </a:rPr>
              <a:t>subject matter </a:t>
            </a:r>
            <a:r>
              <a:rPr lang="en-US" b="1" dirty="0" smtClean="0">
                <a:solidFill>
                  <a:srgbClr val="00B0F0"/>
                </a:solidFill>
              </a:rPr>
              <a:t>expert: need of technical knowledge, purpose of the product/system, purpose of writing document </a:t>
            </a:r>
          </a:p>
          <a:p>
            <a:pPr marL="0" indent="0">
              <a:buNone/>
            </a:pPr>
            <a:r>
              <a:rPr lang="en-US" b="1" dirty="0" smtClean="0"/>
              <a:t>2. Learn </a:t>
            </a:r>
            <a:r>
              <a:rPr lang="en-US" b="1" dirty="0"/>
              <a:t>in advance </a:t>
            </a:r>
            <a:r>
              <a:rPr lang="en-US" b="1" dirty="0" smtClean="0"/>
              <a:t>about </a:t>
            </a:r>
            <a:r>
              <a:rPr lang="en-US" b="1" dirty="0"/>
              <a:t>the </a:t>
            </a:r>
            <a:r>
              <a:rPr lang="en-US" b="1" dirty="0">
                <a:solidFill>
                  <a:srgbClr val="00B0F0"/>
                </a:solidFill>
              </a:rPr>
              <a:t>subject matter </a:t>
            </a:r>
            <a:r>
              <a:rPr lang="en-US" b="1" dirty="0" smtClean="0">
                <a:solidFill>
                  <a:srgbClr val="00B0F0"/>
                </a:solidFill>
              </a:rPr>
              <a:t>expert: interest, specialties, personality, motivate to cooperate with you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79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3. Prepare </a:t>
            </a:r>
            <a:r>
              <a:rPr lang="en-US" sz="3600" b="1" dirty="0"/>
              <a:t>a list of organized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6128"/>
            <a:ext cx="10515600" cy="4351338"/>
          </a:xfrm>
        </p:spPr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Organize ahead:</a:t>
            </a:r>
            <a:r>
              <a:rPr lang="en-US" b="1" dirty="0" smtClean="0"/>
              <a:t> before interview schedule organize list of questions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Create </a:t>
            </a:r>
            <a:r>
              <a:rPr lang="en-US" b="1" dirty="0">
                <a:solidFill>
                  <a:srgbClr val="00B0F0"/>
                </a:solidFill>
              </a:rPr>
              <a:t>a </a:t>
            </a:r>
            <a:r>
              <a:rPr lang="en-US" b="1" dirty="0" smtClean="0">
                <a:solidFill>
                  <a:srgbClr val="00B0F0"/>
                </a:solidFill>
              </a:rPr>
              <a:t>legible/readable, </a:t>
            </a:r>
            <a:r>
              <a:rPr lang="en-US" b="1" dirty="0">
                <a:solidFill>
                  <a:srgbClr val="00B0F0"/>
                </a:solidFill>
              </a:rPr>
              <a:t>numbered </a:t>
            </a:r>
            <a:r>
              <a:rPr lang="en-US" b="1" dirty="0" smtClean="0">
                <a:solidFill>
                  <a:srgbClr val="00B0F0"/>
                </a:solidFill>
              </a:rPr>
              <a:t>list: </a:t>
            </a:r>
            <a:r>
              <a:rPr lang="en-US" b="1" dirty="0" smtClean="0"/>
              <a:t>jot down questions in order and cross off after being answered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Structure </a:t>
            </a:r>
            <a:r>
              <a:rPr lang="en-US" b="1" dirty="0">
                <a:solidFill>
                  <a:srgbClr val="00B0F0"/>
                </a:solidFill>
              </a:rPr>
              <a:t>the questions to control the </a:t>
            </a:r>
            <a:r>
              <a:rPr lang="en-US" b="1" dirty="0" smtClean="0">
                <a:solidFill>
                  <a:srgbClr val="00B0F0"/>
                </a:solidFill>
              </a:rPr>
              <a:t>interview:</a:t>
            </a:r>
            <a:r>
              <a:rPr lang="en-US" b="1" dirty="0" smtClean="0"/>
              <a:t> order them general to specific, logical way to cover necessary aspects of subject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Write extra questions: </a:t>
            </a:r>
            <a:r>
              <a:rPr lang="en-US" b="1" dirty="0" smtClean="0"/>
              <a:t>as per the requirement of interview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724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Writing good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84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b="1" dirty="0"/>
              <a:t>Ask about </a:t>
            </a:r>
            <a:r>
              <a:rPr lang="en-US" b="1" dirty="0">
                <a:solidFill>
                  <a:srgbClr val="FF0000"/>
                </a:solidFill>
              </a:rPr>
              <a:t>topics </a:t>
            </a:r>
            <a:r>
              <a:rPr lang="en-US" b="1" dirty="0"/>
              <a:t>that you don’t </a:t>
            </a:r>
            <a:r>
              <a:rPr lang="en-US" b="1" dirty="0" smtClean="0"/>
              <a:t>understand</a:t>
            </a:r>
            <a:endParaRPr lang="en-US" b="1" dirty="0"/>
          </a:p>
          <a:p>
            <a:r>
              <a:rPr lang="en-US" b="1" dirty="0" smtClean="0"/>
              <a:t>Good question start with:(</a:t>
            </a:r>
            <a:r>
              <a:rPr lang="en-US" b="1" dirty="0" err="1" smtClean="0"/>
              <a:t>5w</a:t>
            </a:r>
            <a:r>
              <a:rPr lang="en-US" b="1" dirty="0" smtClean="0"/>
              <a:t>+ h) who, what, where, when, why, how</a:t>
            </a:r>
          </a:p>
          <a:p>
            <a:r>
              <a:rPr lang="en-US" b="1" dirty="0"/>
              <a:t>Include </a:t>
            </a:r>
            <a:r>
              <a:rPr lang="en-US" b="1" dirty="0">
                <a:solidFill>
                  <a:srgbClr val="FF0000"/>
                </a:solidFill>
              </a:rPr>
              <a:t>detail and background</a:t>
            </a:r>
            <a:r>
              <a:rPr lang="en-US" b="1" dirty="0"/>
              <a:t> to your questions to </a:t>
            </a:r>
            <a:r>
              <a:rPr lang="en-US" b="1" dirty="0" smtClean="0"/>
              <a:t>provide context</a:t>
            </a:r>
            <a:endParaRPr lang="en-US" b="1" dirty="0"/>
          </a:p>
          <a:p>
            <a:r>
              <a:rPr lang="en-US" b="1" dirty="0" smtClean="0"/>
              <a:t>Instead of yes, no question ask questions that require explanation.</a:t>
            </a:r>
          </a:p>
        </p:txBody>
      </p:sp>
    </p:spTree>
    <p:extLst>
      <p:ext uri="{BB962C8B-B14F-4D97-AF65-F5344CB8AC3E}">
        <p14:creationId xmlns:p14="http://schemas.microsoft.com/office/powerpoint/2010/main" val="61280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 smtClean="0">
                <a:solidFill>
                  <a:srgbClr val="FF0000"/>
                </a:solidFill>
              </a:rPr>
              <a:t>onducting </a:t>
            </a:r>
            <a:r>
              <a:rPr lang="en-US" b="1" dirty="0">
                <a:solidFill>
                  <a:srgbClr val="FF0000"/>
                </a:solidFill>
              </a:rPr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Interview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55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Schedule an hour-long interview, if </a:t>
            </a:r>
            <a:r>
              <a:rPr lang="en-US" b="1" dirty="0" smtClean="0">
                <a:solidFill>
                  <a:srgbClr val="00B0F0"/>
                </a:solidFill>
              </a:rPr>
              <a:t>possible:</a:t>
            </a:r>
            <a:r>
              <a:rPr lang="en-US" b="1" dirty="0" smtClean="0"/>
              <a:t> contact subject matter expert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Introduce yourself and explain your </a:t>
            </a:r>
            <a:r>
              <a:rPr lang="en-US" b="1" dirty="0" smtClean="0">
                <a:solidFill>
                  <a:srgbClr val="00B0F0"/>
                </a:solidFill>
              </a:rPr>
              <a:t>project:</a:t>
            </a:r>
            <a:r>
              <a:rPr lang="en-US" b="1" dirty="0" smtClean="0"/>
              <a:t> </a:t>
            </a:r>
            <a:r>
              <a:rPr lang="en-US" b="1" dirty="0"/>
              <a:t>with subject matter </a:t>
            </a:r>
            <a:r>
              <a:rPr lang="en-US" b="1" dirty="0" smtClean="0"/>
              <a:t>expert, tell about your credentials and necessary information</a:t>
            </a:r>
          </a:p>
          <a:p>
            <a:r>
              <a:rPr lang="en-US" b="1" dirty="0">
                <a:solidFill>
                  <a:srgbClr val="00B0F0"/>
                </a:solidFill>
              </a:rPr>
              <a:t>Decide whether to record the </a:t>
            </a:r>
            <a:r>
              <a:rPr lang="en-US" b="1" dirty="0" smtClean="0">
                <a:solidFill>
                  <a:srgbClr val="00B0F0"/>
                </a:solidFill>
              </a:rPr>
              <a:t>interview: </a:t>
            </a:r>
            <a:r>
              <a:rPr lang="en-US" b="1" dirty="0" smtClean="0"/>
              <a:t>interviewee’s permission for recording</a:t>
            </a:r>
          </a:p>
          <a:p>
            <a:r>
              <a:rPr lang="en-US" b="1" dirty="0">
                <a:solidFill>
                  <a:srgbClr val="00B0F0"/>
                </a:solidFill>
              </a:rPr>
              <a:t>Be an active </a:t>
            </a:r>
            <a:r>
              <a:rPr lang="en-US" b="1" dirty="0" smtClean="0">
                <a:solidFill>
                  <a:srgbClr val="00B0F0"/>
                </a:solidFill>
              </a:rPr>
              <a:t>listener: </a:t>
            </a:r>
            <a:r>
              <a:rPr lang="en-US" b="1" dirty="0" smtClean="0"/>
              <a:t>to rephrase, ensure accuracy, fell interviewee that you are interested and engaged</a:t>
            </a:r>
          </a:p>
          <a:p>
            <a:r>
              <a:rPr lang="en-US" b="1" dirty="0">
                <a:solidFill>
                  <a:srgbClr val="00B0F0"/>
                </a:solidFill>
              </a:rPr>
              <a:t>Control the </a:t>
            </a:r>
            <a:r>
              <a:rPr lang="en-US" b="1" dirty="0" smtClean="0">
                <a:solidFill>
                  <a:srgbClr val="00B0F0"/>
                </a:solidFill>
              </a:rPr>
              <a:t>interview: </a:t>
            </a:r>
            <a:r>
              <a:rPr lang="en-US" b="1" dirty="0" smtClean="0"/>
              <a:t>to </a:t>
            </a:r>
            <a:r>
              <a:rPr lang="en-US" b="1" dirty="0" smtClean="0"/>
              <a:t>make clear user </a:t>
            </a:r>
            <a:r>
              <a:rPr lang="en-US" b="1" dirty="0" smtClean="0"/>
              <a:t>about how to use the </a:t>
            </a:r>
            <a:r>
              <a:rPr lang="en-US" b="1" dirty="0" smtClean="0"/>
              <a:t>device, need </a:t>
            </a:r>
            <a:r>
              <a:rPr lang="en-US" b="1" dirty="0" smtClean="0"/>
              <a:t>of  technical detail from expert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Working with those for whom English is a second language: </a:t>
            </a:r>
            <a:r>
              <a:rPr lang="en-US" b="1" dirty="0" smtClean="0"/>
              <a:t>if expert is not good in English rephrase questions to locate vocabulary </a:t>
            </a:r>
          </a:p>
        </p:txBody>
      </p:sp>
    </p:spTree>
    <p:extLst>
      <p:ext uri="{BB962C8B-B14F-4D97-AF65-F5344CB8AC3E}">
        <p14:creationId xmlns:p14="http://schemas.microsoft.com/office/powerpoint/2010/main" val="162609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Closing the </a:t>
            </a:r>
            <a:r>
              <a:rPr lang="en-US" b="1" dirty="0" smtClean="0">
                <a:solidFill>
                  <a:srgbClr val="FF0000"/>
                </a:solidFill>
              </a:rPr>
              <a:t>Interview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282"/>
            <a:ext cx="11093824" cy="47246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Thank your interviewee for their time and </a:t>
            </a:r>
            <a:r>
              <a:rPr lang="en-US" dirty="0" smtClean="0">
                <a:solidFill>
                  <a:srgbClr val="00B0F0"/>
                </a:solidFill>
              </a:rPr>
              <a:t>clearly </a:t>
            </a:r>
            <a:r>
              <a:rPr lang="en-US" dirty="0">
                <a:solidFill>
                  <a:srgbClr val="00B0F0"/>
                </a:solidFill>
              </a:rPr>
              <a:t>express that their answers have supplied valuable information.</a:t>
            </a:r>
          </a:p>
          <a:p>
            <a:r>
              <a:rPr lang="en-US" dirty="0"/>
              <a:t>E</a:t>
            </a:r>
            <a:r>
              <a:rPr lang="en-US" dirty="0" smtClean="0"/>
              <a:t>nsure </a:t>
            </a:r>
            <a:r>
              <a:rPr lang="en-US" dirty="0"/>
              <a:t>your subject expert addresses any follow-up questions that may arise during your note review or </a:t>
            </a:r>
            <a:r>
              <a:rPr lang="en-US" dirty="0" smtClean="0"/>
              <a:t>converting </a:t>
            </a:r>
            <a:r>
              <a:rPr lang="en-US" dirty="0"/>
              <a:t>responses into written text.</a:t>
            </a:r>
          </a:p>
          <a:p>
            <a:r>
              <a:rPr lang="en-US" b="1" dirty="0" smtClean="0"/>
              <a:t>As soon as you can,</a:t>
            </a:r>
            <a:r>
              <a:rPr lang="en-US" b="1" dirty="0" smtClean="0">
                <a:solidFill>
                  <a:srgbClr val="C00000"/>
                </a:solidFill>
              </a:rPr>
              <a:t> review </a:t>
            </a:r>
            <a:r>
              <a:rPr lang="en-US" b="1" dirty="0">
                <a:solidFill>
                  <a:srgbClr val="C00000"/>
                </a:solidFill>
              </a:rPr>
              <a:t>your notes </a:t>
            </a:r>
            <a:r>
              <a:rPr lang="en-US" b="1" dirty="0"/>
              <a:t>and </a:t>
            </a:r>
            <a:r>
              <a:rPr lang="en-US" b="1" dirty="0">
                <a:solidFill>
                  <a:srgbClr val="C00000"/>
                </a:solidFill>
              </a:rPr>
              <a:t>fill </a:t>
            </a:r>
            <a:r>
              <a:rPr lang="en-US" b="1" dirty="0" smtClean="0">
                <a:solidFill>
                  <a:srgbClr val="C00000"/>
                </a:solidFill>
              </a:rPr>
              <a:t>out </a:t>
            </a:r>
            <a:r>
              <a:rPr lang="en-US" b="1" dirty="0">
                <a:solidFill>
                  <a:srgbClr val="C00000"/>
                </a:solidFill>
              </a:rPr>
              <a:t>any gaps</a:t>
            </a:r>
            <a:r>
              <a:rPr lang="en-US" b="1" dirty="0"/>
              <a:t> that you see with </a:t>
            </a:r>
            <a:r>
              <a:rPr lang="en-US" b="1" dirty="0" smtClean="0"/>
              <a:t>details.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Assess </a:t>
            </a:r>
            <a:r>
              <a:rPr lang="en-US" b="1" dirty="0">
                <a:solidFill>
                  <a:srgbClr val="C00000"/>
                </a:solidFill>
              </a:rPr>
              <a:t>how well the </a:t>
            </a:r>
            <a:r>
              <a:rPr lang="en-US" b="1" dirty="0" smtClean="0">
                <a:solidFill>
                  <a:srgbClr val="C00000"/>
                </a:solidFill>
              </a:rPr>
              <a:t>received answers </a:t>
            </a:r>
            <a:r>
              <a:rPr lang="en-US" b="1" dirty="0">
                <a:solidFill>
                  <a:srgbClr val="C00000"/>
                </a:solidFill>
              </a:rPr>
              <a:t>will </a:t>
            </a:r>
            <a:r>
              <a:rPr lang="en-US" b="1" dirty="0" smtClean="0">
                <a:solidFill>
                  <a:srgbClr val="C00000"/>
                </a:solidFill>
              </a:rPr>
              <a:t>be sufficient </a:t>
            </a:r>
            <a:r>
              <a:rPr lang="en-US" b="1" dirty="0" smtClean="0"/>
              <a:t>for required information. </a:t>
            </a:r>
          </a:p>
        </p:txBody>
      </p:sp>
    </p:spTree>
    <p:extLst>
      <p:ext uri="{BB962C8B-B14F-4D97-AF65-F5344CB8AC3E}">
        <p14:creationId xmlns:p14="http://schemas.microsoft.com/office/powerpoint/2010/main" val="192844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Primary research: Conducting 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Survey research </a:t>
            </a:r>
            <a:r>
              <a:rPr lang="en-US" b="1" dirty="0"/>
              <a:t>is a method of generating information by </a:t>
            </a:r>
            <a:r>
              <a:rPr lang="en-US" b="1" dirty="0">
                <a:solidFill>
                  <a:srgbClr val="00B0F0"/>
                </a:solidFill>
              </a:rPr>
              <a:t>asking questions </a:t>
            </a:r>
            <a:r>
              <a:rPr lang="en-US" b="1" dirty="0" smtClean="0">
                <a:solidFill>
                  <a:srgbClr val="00B0F0"/>
                </a:solidFill>
              </a:rPr>
              <a:t>to </a:t>
            </a:r>
            <a:r>
              <a:rPr lang="en-US" b="1" dirty="0">
                <a:solidFill>
                  <a:srgbClr val="00B0F0"/>
                </a:solidFill>
              </a:rPr>
              <a:t>a </a:t>
            </a:r>
            <a:r>
              <a:rPr lang="en-US" b="1" dirty="0" smtClean="0">
                <a:solidFill>
                  <a:srgbClr val="00B0F0"/>
                </a:solidFill>
              </a:rPr>
              <a:t>group </a:t>
            </a:r>
            <a:r>
              <a:rPr lang="en-US" b="1" dirty="0">
                <a:solidFill>
                  <a:srgbClr val="00B0F0"/>
                </a:solidFill>
              </a:rPr>
              <a:t>of people</a:t>
            </a:r>
            <a:r>
              <a:rPr lang="en-US" b="1" dirty="0" smtClean="0">
                <a:solidFill>
                  <a:srgbClr val="00B0F0"/>
                </a:solidFill>
              </a:rPr>
              <a:t>.</a:t>
            </a:r>
          </a:p>
          <a:p>
            <a:r>
              <a:rPr lang="en-US" b="1" dirty="0"/>
              <a:t>M</a:t>
            </a:r>
            <a:r>
              <a:rPr lang="en-US" b="1" dirty="0" smtClean="0"/>
              <a:t>otivate to participate in survey/Need </a:t>
            </a:r>
            <a:r>
              <a:rPr lang="en-US" b="1" dirty="0"/>
              <a:t>of fund to give </a:t>
            </a:r>
            <a:r>
              <a:rPr lang="en-US" b="1" dirty="0" smtClean="0"/>
              <a:t>participants </a:t>
            </a:r>
            <a:endParaRPr lang="en-US" b="1" dirty="0"/>
          </a:p>
          <a:p>
            <a:r>
              <a:rPr lang="en-US" b="1" dirty="0" smtClean="0"/>
              <a:t>Survey </a:t>
            </a:r>
            <a:r>
              <a:rPr lang="en-US" b="1" dirty="0"/>
              <a:t>research can help you at two stages in your writing project: </a:t>
            </a:r>
            <a:r>
              <a:rPr lang="en-US" b="1" dirty="0">
                <a:solidFill>
                  <a:srgbClr val="C00000"/>
                </a:solidFill>
              </a:rPr>
              <a:t>before you begin writing and as part of usability testing (revising</a:t>
            </a:r>
            <a:r>
              <a:rPr lang="en-US" b="1" dirty="0" smtClean="0">
                <a:solidFill>
                  <a:srgbClr val="C00000"/>
                </a:solidFill>
              </a:rPr>
              <a:t>).</a:t>
            </a:r>
          </a:p>
          <a:p>
            <a:r>
              <a:rPr lang="en-US" b="1" dirty="0" smtClean="0"/>
              <a:t>In </a:t>
            </a:r>
            <a:r>
              <a:rPr lang="en-US" b="1" dirty="0"/>
              <a:t>the initial stages of </a:t>
            </a:r>
            <a:r>
              <a:rPr lang="en-US" b="1" dirty="0" smtClean="0"/>
              <a:t>writing </a:t>
            </a:r>
            <a:r>
              <a:rPr lang="en-US" b="1" dirty="0"/>
              <a:t>project, you could do </a:t>
            </a:r>
            <a:r>
              <a:rPr lang="en-US" b="1" dirty="0" smtClean="0"/>
              <a:t>surveys </a:t>
            </a:r>
            <a:r>
              <a:rPr lang="en-US" b="1" dirty="0"/>
              <a:t>to find out </a:t>
            </a:r>
            <a:r>
              <a:rPr lang="en-US" b="1" dirty="0">
                <a:solidFill>
                  <a:srgbClr val="FF0000"/>
                </a:solidFill>
              </a:rPr>
              <a:t>what users are looking for in a </a:t>
            </a:r>
            <a:r>
              <a:rPr lang="en-US" b="1" dirty="0" smtClean="0">
                <a:solidFill>
                  <a:srgbClr val="FF0000"/>
                </a:solidFill>
              </a:rPr>
              <a:t>manual.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7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Asking </a:t>
            </a:r>
            <a:r>
              <a:rPr lang="en-US" b="1" dirty="0">
                <a:solidFill>
                  <a:srgbClr val="FF0000"/>
                </a:solidFill>
              </a:rPr>
              <a:t>good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2489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The</a:t>
            </a:r>
            <a:r>
              <a:rPr lang="en-US" b="1" dirty="0" smtClean="0">
                <a:solidFill>
                  <a:srgbClr val="00B0F0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quality of your </a:t>
            </a:r>
            <a:r>
              <a:rPr lang="en-US" b="1" dirty="0" smtClean="0">
                <a:solidFill>
                  <a:srgbClr val="00B0F0"/>
                </a:solidFill>
              </a:rPr>
              <a:t>survey </a:t>
            </a:r>
            <a:r>
              <a:rPr lang="en-US" b="1" dirty="0" smtClean="0"/>
              <a:t>is </a:t>
            </a:r>
            <a:r>
              <a:rPr lang="en-US" b="1" dirty="0"/>
              <a:t>directly related to your </a:t>
            </a:r>
            <a:r>
              <a:rPr lang="en-US" b="1" dirty="0">
                <a:solidFill>
                  <a:srgbClr val="00B0F0"/>
                </a:solidFill>
              </a:rPr>
              <a:t>skill at asking good questions.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/>
              <a:t>There </a:t>
            </a:r>
            <a:r>
              <a:rPr lang="en-US" b="1" dirty="0"/>
              <a:t>are </a:t>
            </a:r>
            <a:r>
              <a:rPr lang="en-US" b="1" dirty="0">
                <a:solidFill>
                  <a:srgbClr val="00B0F0"/>
                </a:solidFill>
              </a:rPr>
              <a:t>two </a:t>
            </a:r>
            <a:r>
              <a:rPr lang="en-US" b="1" dirty="0"/>
              <a:t>main types of questions to ask: </a:t>
            </a:r>
            <a:r>
              <a:rPr lang="en-US" b="1" dirty="0" smtClean="0">
                <a:solidFill>
                  <a:srgbClr val="FF0000"/>
                </a:solidFill>
              </a:rPr>
              <a:t>closed-ended </a:t>
            </a:r>
            <a:r>
              <a:rPr lang="en-US" b="1" dirty="0">
                <a:solidFill>
                  <a:srgbClr val="FF0000"/>
                </a:solidFill>
              </a:rPr>
              <a:t>and open-ended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 Closed-ended </a:t>
            </a:r>
            <a:r>
              <a:rPr lang="en-US" b="1" dirty="0">
                <a:solidFill>
                  <a:srgbClr val="00B0F0"/>
                </a:solidFill>
              </a:rPr>
              <a:t>questions</a:t>
            </a:r>
            <a:r>
              <a:rPr lang="en-US" b="1" dirty="0"/>
              <a:t> have the range of possible answers printed below the question itself; these questions are said to be closed because the range of </a:t>
            </a:r>
            <a:r>
              <a:rPr lang="en-US" b="1" dirty="0" smtClean="0"/>
              <a:t>answer </a:t>
            </a:r>
            <a:r>
              <a:rPr lang="en-US" b="1" dirty="0"/>
              <a:t>is predetermined.</a:t>
            </a:r>
          </a:p>
        </p:txBody>
      </p:sp>
    </p:spTree>
    <p:extLst>
      <p:ext uri="{BB962C8B-B14F-4D97-AF65-F5344CB8AC3E}">
        <p14:creationId xmlns:p14="http://schemas.microsoft.com/office/powerpoint/2010/main" val="406609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513" t="46634" r="37599" b="9690"/>
          <a:stretch/>
        </p:blipFill>
        <p:spPr>
          <a:xfrm>
            <a:off x="797859" y="430306"/>
            <a:ext cx="10192870" cy="61766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7948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Guidelines </a:t>
            </a:r>
            <a:r>
              <a:rPr lang="en-US" b="1" dirty="0">
                <a:solidFill>
                  <a:srgbClr val="FF0000"/>
                </a:solidFill>
              </a:rPr>
              <a:t>for asking good </a:t>
            </a:r>
            <a:r>
              <a:rPr lang="en-US" b="1" dirty="0" smtClean="0">
                <a:solidFill>
                  <a:srgbClr val="FF0000"/>
                </a:solidFill>
              </a:rPr>
              <a:t>questions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Rephrase </a:t>
            </a:r>
            <a:r>
              <a:rPr lang="en-US" b="1" dirty="0"/>
              <a:t>jargon and technical language into plain </a:t>
            </a:r>
            <a:r>
              <a:rPr lang="en-US" b="1" dirty="0" smtClean="0"/>
              <a:t>language. </a:t>
            </a:r>
          </a:p>
          <a:p>
            <a:r>
              <a:rPr lang="en-US" b="1" dirty="0" smtClean="0"/>
              <a:t>Ask </a:t>
            </a:r>
            <a:r>
              <a:rPr lang="en-US" b="1" dirty="0"/>
              <a:t>specific </a:t>
            </a:r>
            <a:r>
              <a:rPr lang="en-US" b="1" dirty="0" smtClean="0"/>
              <a:t>questions. </a:t>
            </a:r>
          </a:p>
          <a:p>
            <a:r>
              <a:rPr lang="en-US" b="1" dirty="0" smtClean="0"/>
              <a:t>Avoid </a:t>
            </a:r>
            <a:r>
              <a:rPr lang="en-US" b="1" dirty="0"/>
              <a:t>loaded </a:t>
            </a:r>
            <a:r>
              <a:rPr lang="en-US" b="1" dirty="0" smtClean="0"/>
              <a:t>questions. </a:t>
            </a:r>
            <a:endParaRPr lang="en-US" b="1" dirty="0"/>
          </a:p>
          <a:p>
            <a:r>
              <a:rPr lang="en-US" b="1" dirty="0" smtClean="0"/>
              <a:t>Break </a:t>
            </a:r>
            <a:r>
              <a:rPr lang="en-US" b="1" dirty="0"/>
              <a:t>compound </a:t>
            </a:r>
            <a:r>
              <a:rPr lang="en-US" b="1" dirty="0" smtClean="0"/>
              <a:t>questions </a:t>
            </a:r>
            <a:r>
              <a:rPr lang="en-US" b="1" dirty="0"/>
              <a:t>into individual </a:t>
            </a:r>
            <a:r>
              <a:rPr lang="en-US" b="1" dirty="0" smtClean="0"/>
              <a:t>questions.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286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8627"/>
            <a:ext cx="10515600" cy="84511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Examples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93" t="27216" r="31111" b="6047"/>
          <a:stretch/>
        </p:blipFill>
        <p:spPr>
          <a:xfrm>
            <a:off x="968189" y="1034814"/>
            <a:ext cx="9412940" cy="5495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189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26" t="19851" r="31226" b="8453"/>
          <a:stretch/>
        </p:blipFill>
        <p:spPr>
          <a:xfrm>
            <a:off x="448235" y="394447"/>
            <a:ext cx="10470777" cy="6033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895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Choosing </a:t>
            </a:r>
            <a:r>
              <a:rPr lang="en-US" b="1" dirty="0">
                <a:solidFill>
                  <a:srgbClr val="FF0000"/>
                </a:solidFill>
              </a:rPr>
              <a:t>appropriate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Asking good questions is </a:t>
            </a:r>
            <a:r>
              <a:rPr lang="en-US" b="1" dirty="0" smtClean="0">
                <a:solidFill>
                  <a:srgbClr val="C00000"/>
                </a:solidFill>
              </a:rPr>
              <a:t>one </a:t>
            </a:r>
            <a:r>
              <a:rPr lang="en-US" b="1" dirty="0">
                <a:solidFill>
                  <a:srgbClr val="C00000"/>
                </a:solidFill>
              </a:rPr>
              <a:t>half of the challenge </a:t>
            </a:r>
            <a:r>
              <a:rPr lang="en-US" b="1" dirty="0"/>
              <a:t>when you write questions.</a:t>
            </a:r>
            <a:r>
              <a:rPr lang="en-US" b="1" dirty="0">
                <a:solidFill>
                  <a:srgbClr val="C00000"/>
                </a:solidFill>
              </a:rPr>
              <a:t> The other half is creating appropriate responses.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/>
              <a:t>Open-ended questions </a:t>
            </a:r>
            <a:r>
              <a:rPr lang="en-US" b="1" dirty="0"/>
              <a:t>do not provide a structured response by the very nature of these questions. </a:t>
            </a:r>
            <a:endParaRPr lang="en-US" b="1" dirty="0" smtClean="0"/>
          </a:p>
          <a:p>
            <a:r>
              <a:rPr lang="en-US" b="1" dirty="0" smtClean="0"/>
              <a:t>Responses </a:t>
            </a:r>
            <a:r>
              <a:rPr lang="en-US" b="1" dirty="0"/>
              <a:t>to </a:t>
            </a:r>
            <a:r>
              <a:rPr lang="en-US" b="1" dirty="0" smtClean="0">
                <a:solidFill>
                  <a:srgbClr val="FF0000"/>
                </a:solidFill>
              </a:rPr>
              <a:t>closed ended </a:t>
            </a:r>
            <a:r>
              <a:rPr lang="en-US" b="1" dirty="0">
                <a:solidFill>
                  <a:srgbClr val="FF0000"/>
                </a:solidFill>
              </a:rPr>
              <a:t>questions can </a:t>
            </a:r>
            <a:r>
              <a:rPr lang="en-US" b="1" dirty="0" smtClean="0">
                <a:solidFill>
                  <a:srgbClr val="FF0000"/>
                </a:solidFill>
              </a:rPr>
              <a:t>take the </a:t>
            </a:r>
            <a:r>
              <a:rPr lang="en-US" b="1" dirty="0">
                <a:solidFill>
                  <a:srgbClr val="FF0000"/>
                </a:solidFill>
              </a:rPr>
              <a:t>following forms</a:t>
            </a:r>
            <a:r>
              <a:rPr lang="en-US" b="1" dirty="0"/>
              <a:t>: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Yes/no </a:t>
            </a:r>
            <a:r>
              <a:rPr lang="en-US" b="1" dirty="0"/>
              <a:t>answers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Rating </a:t>
            </a:r>
            <a:r>
              <a:rPr lang="en-US" b="1" dirty="0"/>
              <a:t>scales </a:t>
            </a:r>
          </a:p>
          <a:p>
            <a:pPr>
              <a:buFontTx/>
              <a:buChar char="-"/>
            </a:pPr>
            <a:r>
              <a:rPr lang="en-US" b="1" dirty="0" smtClean="0"/>
              <a:t>Comparative </a:t>
            </a:r>
            <a:r>
              <a:rPr lang="en-US" b="1" dirty="0"/>
              <a:t>rating scales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Category </a:t>
            </a:r>
            <a:r>
              <a:rPr lang="en-US" b="1" dirty="0"/>
              <a:t>scales</a:t>
            </a:r>
          </a:p>
        </p:txBody>
      </p:sp>
    </p:spTree>
    <p:extLst>
      <p:ext uri="{BB962C8B-B14F-4D97-AF65-F5344CB8AC3E}">
        <p14:creationId xmlns:p14="http://schemas.microsoft.com/office/powerpoint/2010/main" val="164612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Examples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892" t="26650" r="20796" b="35821"/>
          <a:stretch/>
        </p:blipFill>
        <p:spPr>
          <a:xfrm>
            <a:off x="1573306" y="751569"/>
            <a:ext cx="9045388" cy="52443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859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7832" t="26032" r="24505" b="5981"/>
          <a:stretch/>
        </p:blipFill>
        <p:spPr>
          <a:xfrm>
            <a:off x="1775012" y="152401"/>
            <a:ext cx="8704729" cy="6705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38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045" t="29946" r="34819" b="3097"/>
          <a:stretch/>
        </p:blipFill>
        <p:spPr>
          <a:xfrm>
            <a:off x="259976" y="421341"/>
            <a:ext cx="10434918" cy="62304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740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73" t="22942" r="13495" b="4333"/>
          <a:stretch/>
        </p:blipFill>
        <p:spPr>
          <a:xfrm>
            <a:off x="502024" y="188259"/>
            <a:ext cx="11340352" cy="6400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119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Secondary </a:t>
            </a:r>
            <a:r>
              <a:rPr lang="en-US" sz="3600" b="1" dirty="0" smtClean="0">
                <a:solidFill>
                  <a:srgbClr val="FF0000"/>
                </a:solidFill>
              </a:rPr>
              <a:t>Research</a:t>
            </a:r>
            <a:r>
              <a:rPr lang="en-US" sz="3600" b="1" dirty="0">
                <a:solidFill>
                  <a:srgbClr val="FF0000"/>
                </a:solidFill>
              </a:rPr>
              <a:t>: Finding print and online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39125"/>
            <a:ext cx="11228295" cy="487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Depending </a:t>
            </a:r>
            <a:r>
              <a:rPr lang="en-US" b="1" dirty="0"/>
              <a:t>upon what type of technical document you are </a:t>
            </a:r>
            <a:r>
              <a:rPr lang="en-US" b="1" dirty="0" smtClean="0"/>
              <a:t>writing, </a:t>
            </a:r>
            <a:r>
              <a:rPr lang="en-US" b="1" dirty="0"/>
              <a:t>you may need to do </a:t>
            </a:r>
            <a:r>
              <a:rPr lang="en-US" b="1" dirty="0" smtClean="0"/>
              <a:t>some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library or print research on your subject. 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/>
              <a:t>W</a:t>
            </a:r>
            <a:r>
              <a:rPr lang="en-US" b="1" dirty="0" smtClean="0"/>
              <a:t>riting </a:t>
            </a:r>
            <a:r>
              <a:rPr lang="en-US" b="1" dirty="0"/>
              <a:t>a </a:t>
            </a:r>
            <a:r>
              <a:rPr lang="en-US" b="1" dirty="0">
                <a:solidFill>
                  <a:srgbClr val="FF0000"/>
                </a:solidFill>
              </a:rPr>
              <a:t>laboratory report</a:t>
            </a:r>
            <a:r>
              <a:rPr lang="en-US" b="1" dirty="0"/>
              <a:t> based on a series of experiments</a:t>
            </a:r>
            <a:r>
              <a:rPr lang="en-US" b="1" dirty="0" smtClean="0"/>
              <a:t>, </a:t>
            </a:r>
            <a:r>
              <a:rPr lang="en-US" b="1" dirty="0"/>
              <a:t>need to investigate further research on aspects related to the topic of </a:t>
            </a:r>
            <a:r>
              <a:rPr lang="en-US" b="1" dirty="0" smtClean="0"/>
              <a:t>experiments.</a:t>
            </a:r>
          </a:p>
          <a:p>
            <a:pPr marL="0" indent="0">
              <a:buNone/>
            </a:pPr>
            <a:r>
              <a:rPr lang="en-US" b="1" dirty="0" smtClean="0"/>
              <a:t>If </a:t>
            </a:r>
            <a:r>
              <a:rPr lang="en-US" b="1" dirty="0"/>
              <a:t>you are </a:t>
            </a:r>
            <a:r>
              <a:rPr lang="en-US" b="1" dirty="0">
                <a:solidFill>
                  <a:srgbClr val="FF0000"/>
                </a:solidFill>
              </a:rPr>
              <a:t>creating a software manual</a:t>
            </a:r>
            <a:r>
              <a:rPr lang="en-US" b="1" dirty="0"/>
              <a:t> to fill a market </a:t>
            </a:r>
            <a:r>
              <a:rPr lang="en-US" b="1" dirty="0" smtClean="0"/>
              <a:t>function, </a:t>
            </a:r>
            <a:r>
              <a:rPr lang="en-US" b="1" dirty="0"/>
              <a:t>you </a:t>
            </a:r>
            <a:r>
              <a:rPr lang="en-US" b="1" dirty="0" smtClean="0"/>
              <a:t>might </a:t>
            </a:r>
            <a:r>
              <a:rPr lang="en-US" b="1" dirty="0" smtClean="0">
                <a:solidFill>
                  <a:srgbClr val="FF0000"/>
                </a:solidFill>
              </a:rPr>
              <a:t>examine recently published existing manuals to pick up some strategies </a:t>
            </a:r>
            <a:r>
              <a:rPr lang="en-US" b="1" dirty="0" smtClean="0"/>
              <a:t>or </a:t>
            </a:r>
            <a:r>
              <a:rPr lang="en-US" b="1" dirty="0"/>
              <a:t>tips about what to do or not to do. </a:t>
            </a:r>
          </a:p>
        </p:txBody>
      </p:sp>
    </p:spTree>
    <p:extLst>
      <p:ext uri="{BB962C8B-B14F-4D97-AF65-F5344CB8AC3E}">
        <p14:creationId xmlns:p14="http://schemas.microsoft.com/office/powerpoint/2010/main" val="415002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 smtClean="0">
                <a:solidFill>
                  <a:srgbClr val="FF0000"/>
                </a:solidFill>
              </a:rPr>
              <a:t>f </a:t>
            </a:r>
            <a:r>
              <a:rPr lang="en-US" b="1" dirty="0">
                <a:solidFill>
                  <a:srgbClr val="FF0000"/>
                </a:solidFill>
              </a:rPr>
              <a:t>you are writing a white paper on a new electronic device</a:t>
            </a:r>
            <a:r>
              <a:rPr lang="en-US" b="1" dirty="0"/>
              <a:t>, you might visit the Internet to </a:t>
            </a:r>
            <a:r>
              <a:rPr lang="en-US" b="1" dirty="0">
                <a:solidFill>
                  <a:srgbClr val="00B0F0"/>
                </a:solidFill>
              </a:rPr>
              <a:t>search for competitors’ products</a:t>
            </a:r>
            <a:r>
              <a:rPr lang="en-US" b="1" dirty="0"/>
              <a:t> that you can use as a comparison with your company’s </a:t>
            </a:r>
            <a:r>
              <a:rPr lang="en-US" b="1" dirty="0" smtClean="0"/>
              <a:t>device.</a:t>
            </a:r>
          </a:p>
          <a:p>
            <a:r>
              <a:rPr lang="en-US" b="1" dirty="0" smtClean="0"/>
              <a:t>Examples </a:t>
            </a:r>
            <a:r>
              <a:rPr lang="en-US" b="1" dirty="0"/>
              <a:t>of </a:t>
            </a:r>
            <a:r>
              <a:rPr lang="en-US" b="1" dirty="0">
                <a:solidFill>
                  <a:srgbClr val="FF0000"/>
                </a:solidFill>
              </a:rPr>
              <a:t>well-written white papers</a:t>
            </a:r>
            <a:r>
              <a:rPr lang="en-US" b="1" dirty="0"/>
              <a:t> about similar devices that </a:t>
            </a:r>
            <a:r>
              <a:rPr lang="en-US" b="1" dirty="0" smtClean="0"/>
              <a:t>may </a:t>
            </a:r>
            <a:r>
              <a:rPr lang="en-US" b="1" dirty="0"/>
              <a:t>work as </a:t>
            </a:r>
            <a:r>
              <a:rPr lang="en-US" b="1" dirty="0" smtClean="0"/>
              <a:t>model, </a:t>
            </a:r>
            <a:r>
              <a:rPr lang="en-US" b="1" dirty="0"/>
              <a:t>or consumer chat sites that evaluate and comment on similar products that </a:t>
            </a:r>
            <a:r>
              <a:rPr lang="en-US" b="1" dirty="0" smtClean="0"/>
              <a:t>may give </a:t>
            </a:r>
            <a:r>
              <a:rPr lang="en-US" b="1" dirty="0"/>
              <a:t>you useful perspectives on what your readers may like or dislike about such items.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22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</a:t>
            </a:r>
            <a:r>
              <a:rPr lang="en-US" b="1" dirty="0" smtClean="0">
                <a:solidFill>
                  <a:srgbClr val="C00000"/>
                </a:solidFill>
              </a:rPr>
              <a:t>ibraries </a:t>
            </a:r>
            <a:r>
              <a:rPr lang="en-US" b="1" dirty="0">
                <a:solidFill>
                  <a:srgbClr val="C00000"/>
                </a:solidFill>
              </a:rPr>
              <a:t>are better stocked with useful sources and </a:t>
            </a:r>
            <a:r>
              <a:rPr lang="en-US" b="1" dirty="0" smtClean="0">
                <a:solidFill>
                  <a:srgbClr val="C00000"/>
                </a:solidFill>
              </a:rPr>
              <a:t>information.</a:t>
            </a:r>
          </a:p>
          <a:p>
            <a:r>
              <a:rPr lang="en-US" b="1" dirty="0">
                <a:solidFill>
                  <a:srgbClr val="FF0000"/>
                </a:solidFill>
              </a:rPr>
              <a:t>Many of the technical communication journals </a:t>
            </a:r>
            <a:r>
              <a:rPr lang="en-US" b="1" dirty="0" smtClean="0">
                <a:solidFill>
                  <a:srgbClr val="FF0000"/>
                </a:solidFill>
              </a:rPr>
              <a:t>have their online issues , </a:t>
            </a:r>
            <a:r>
              <a:rPr lang="en-US" b="1" dirty="0">
                <a:solidFill>
                  <a:srgbClr val="FF0000"/>
                </a:solidFill>
              </a:rPr>
              <a:t>and many educational </a:t>
            </a:r>
            <a:r>
              <a:rPr lang="en-US" b="1" dirty="0" smtClean="0">
                <a:solidFill>
                  <a:srgbClr val="FF0000"/>
                </a:solidFill>
              </a:rPr>
              <a:t>collections </a:t>
            </a:r>
            <a:r>
              <a:rPr lang="en-US" b="1" dirty="0">
                <a:solidFill>
                  <a:srgbClr val="FF0000"/>
                </a:solidFill>
              </a:rPr>
              <a:t>carry these </a:t>
            </a:r>
            <a:r>
              <a:rPr lang="en-US" b="1" dirty="0" smtClean="0">
                <a:solidFill>
                  <a:srgbClr val="FF0000"/>
                </a:solidFill>
              </a:rPr>
              <a:t>contributions.</a:t>
            </a:r>
          </a:p>
          <a:p>
            <a:r>
              <a:rPr lang="en-US" b="1" dirty="0" smtClean="0"/>
              <a:t>You </a:t>
            </a:r>
            <a:r>
              <a:rPr lang="en-US" b="1" dirty="0"/>
              <a:t>can </a:t>
            </a:r>
            <a:r>
              <a:rPr lang="en-US" b="1" dirty="0" smtClean="0"/>
              <a:t>search </a:t>
            </a:r>
            <a:r>
              <a:rPr lang="en-US" b="1" dirty="0"/>
              <a:t>full-text article from your computer and download a pdf to read on screen or to print off a paper </a:t>
            </a:r>
            <a:r>
              <a:rPr lang="en-US" b="1" dirty="0" smtClean="0"/>
              <a:t>copy.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39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Conducting </a:t>
            </a:r>
            <a:r>
              <a:rPr lang="en-US" sz="3200" b="1" dirty="0">
                <a:solidFill>
                  <a:srgbClr val="FF0000"/>
                </a:solidFill>
              </a:rPr>
              <a:t>an effective search for sources: </a:t>
            </a:r>
            <a:r>
              <a:rPr lang="en-US" sz="3200" b="1" dirty="0" smtClean="0">
                <a:solidFill>
                  <a:srgbClr val="FF0000"/>
                </a:solidFill>
              </a:rPr>
              <a:t>Library </a:t>
            </a:r>
            <a:r>
              <a:rPr lang="en-US" sz="3200" b="1" dirty="0">
                <a:solidFill>
                  <a:srgbClr val="FF0000"/>
                </a:solidFill>
              </a:rPr>
              <a:t>and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4984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Finding </a:t>
            </a:r>
            <a:r>
              <a:rPr lang="en-US" b="1" dirty="0" smtClean="0"/>
              <a:t>useful </a:t>
            </a:r>
            <a:r>
              <a:rPr lang="en-US" b="1" dirty="0"/>
              <a:t>information </a:t>
            </a:r>
            <a:r>
              <a:rPr lang="en-US" b="1" dirty="0" smtClean="0">
                <a:solidFill>
                  <a:srgbClr val="FF0000"/>
                </a:solidFill>
              </a:rPr>
              <a:t>depends </a:t>
            </a:r>
            <a:r>
              <a:rPr lang="en-US" b="1" dirty="0">
                <a:solidFill>
                  <a:srgbClr val="FF0000"/>
                </a:solidFill>
              </a:rPr>
              <a:t>on the </a:t>
            </a:r>
            <a:r>
              <a:rPr lang="en-US" b="1" dirty="0" smtClean="0">
                <a:solidFill>
                  <a:srgbClr val="FF0000"/>
                </a:solidFill>
              </a:rPr>
              <a:t>keywords </a:t>
            </a:r>
            <a:r>
              <a:rPr lang="en-US" b="1" dirty="0">
                <a:solidFill>
                  <a:srgbClr val="FF0000"/>
                </a:solidFill>
              </a:rPr>
              <a:t>that you select to use in your search.</a:t>
            </a:r>
            <a:r>
              <a:rPr lang="en-US" b="1" dirty="0"/>
              <a:t> </a:t>
            </a:r>
            <a:endParaRPr lang="en-US" b="1" dirty="0" smtClean="0"/>
          </a:p>
          <a:p>
            <a:r>
              <a:rPr lang="en-US" b="1" dirty="0" smtClean="0"/>
              <a:t>To </a:t>
            </a:r>
            <a:r>
              <a:rPr lang="en-US" b="1" dirty="0"/>
              <a:t>improve the chances </a:t>
            </a:r>
            <a:r>
              <a:rPr lang="en-US" b="1" dirty="0" smtClean="0"/>
              <a:t>to name </a:t>
            </a:r>
            <a:r>
              <a:rPr lang="en-US" b="1" dirty="0"/>
              <a:t>your subject </a:t>
            </a:r>
            <a:r>
              <a:rPr lang="en-US" b="1" dirty="0" smtClean="0"/>
              <a:t>matter </a:t>
            </a:r>
            <a:r>
              <a:rPr lang="en-US" b="1" dirty="0"/>
              <a:t>correctly in the search, </a:t>
            </a:r>
            <a:r>
              <a:rPr lang="en-US" b="1" dirty="0">
                <a:solidFill>
                  <a:srgbClr val="FF0000"/>
                </a:solidFill>
              </a:rPr>
              <a:t>generate a list of words that you </a:t>
            </a:r>
            <a:r>
              <a:rPr lang="en-US" b="1" dirty="0" smtClean="0">
                <a:solidFill>
                  <a:srgbClr val="FF0000"/>
                </a:solidFill>
              </a:rPr>
              <a:t>associate </a:t>
            </a:r>
            <a:r>
              <a:rPr lang="en-US" b="1" dirty="0">
                <a:solidFill>
                  <a:srgbClr val="FF0000"/>
                </a:solidFill>
              </a:rPr>
              <a:t>with the topic.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L</a:t>
            </a:r>
            <a:r>
              <a:rPr lang="en-US" b="1" dirty="0" smtClean="0"/>
              <a:t>ist </a:t>
            </a:r>
            <a:r>
              <a:rPr lang="en-US" b="1" dirty="0"/>
              <a:t>as many </a:t>
            </a:r>
            <a:r>
              <a:rPr lang="en-US" b="1" dirty="0">
                <a:solidFill>
                  <a:srgbClr val="FF0000"/>
                </a:solidFill>
              </a:rPr>
              <a:t>synonyms </a:t>
            </a:r>
            <a:r>
              <a:rPr lang="en-US" b="1" dirty="0"/>
              <a:t>for each word as you can think of. </a:t>
            </a:r>
            <a:endParaRPr lang="en-US" b="1" dirty="0" smtClean="0"/>
          </a:p>
          <a:p>
            <a:r>
              <a:rPr lang="en-US" b="1" dirty="0">
                <a:solidFill>
                  <a:srgbClr val="FF0000"/>
                </a:solidFill>
              </a:rPr>
              <a:t>A subject directory</a:t>
            </a:r>
            <a:r>
              <a:rPr lang="en-US" b="1" dirty="0"/>
              <a:t> can help you think of subcategories related to your broader topic. </a:t>
            </a:r>
            <a:endParaRPr lang="en-US" b="1" dirty="0" smtClean="0"/>
          </a:p>
          <a:p>
            <a:r>
              <a:rPr lang="en-US" b="1" dirty="0" smtClean="0"/>
              <a:t>You </a:t>
            </a:r>
            <a:r>
              <a:rPr lang="en-US" b="1" dirty="0"/>
              <a:t>can also </a:t>
            </a:r>
            <a:r>
              <a:rPr lang="en-US" b="1" dirty="0">
                <a:solidFill>
                  <a:srgbClr val="FF0000"/>
                </a:solidFill>
              </a:rPr>
              <a:t>browse or use keyword searches</a:t>
            </a:r>
            <a:r>
              <a:rPr lang="en-US" b="1" dirty="0"/>
              <a:t> at the </a:t>
            </a:r>
            <a:r>
              <a:rPr lang="en-US" b="1" dirty="0" smtClean="0"/>
              <a:t>library.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458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475157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To </a:t>
            </a:r>
            <a:r>
              <a:rPr lang="en-US" b="1" dirty="0">
                <a:solidFill>
                  <a:srgbClr val="FF0000"/>
                </a:solidFill>
              </a:rPr>
              <a:t>narrow your search</a:t>
            </a:r>
            <a:r>
              <a:rPr lang="en-US" b="1" dirty="0" smtClean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combine two or three key words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to </a:t>
            </a:r>
            <a:r>
              <a:rPr lang="en-US" b="1" dirty="0"/>
              <a:t>focus and qualify the sources that show up on your screen. </a:t>
            </a:r>
            <a:endParaRPr lang="en-US" b="1" dirty="0" smtClean="0"/>
          </a:p>
          <a:p>
            <a:r>
              <a:rPr lang="en-US" b="1" dirty="0" smtClean="0"/>
              <a:t>You </a:t>
            </a:r>
            <a:r>
              <a:rPr lang="en-US" b="1" dirty="0"/>
              <a:t>may 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dirty="0" smtClean="0">
                <a:solidFill>
                  <a:srgbClr val="FF0000"/>
                </a:solidFill>
              </a:rPr>
              <a:t>arrow </a:t>
            </a:r>
            <a:r>
              <a:rPr lang="en-US" b="1" dirty="0">
                <a:solidFill>
                  <a:srgbClr val="FF0000"/>
                </a:solidFill>
              </a:rPr>
              <a:t>your search by specifying what you don’t </a:t>
            </a:r>
            <a:r>
              <a:rPr lang="en-US" b="1" dirty="0" smtClean="0">
                <a:solidFill>
                  <a:srgbClr val="FF0000"/>
                </a:solidFill>
              </a:rPr>
              <a:t>want</a:t>
            </a:r>
            <a:r>
              <a:rPr lang="en-US" b="1" dirty="0"/>
              <a:t>.</a:t>
            </a:r>
            <a:endParaRPr lang="en-US" b="1" dirty="0" smtClean="0"/>
          </a:p>
          <a:p>
            <a:r>
              <a:rPr lang="en-US" b="1" dirty="0" smtClean="0">
                <a:solidFill>
                  <a:srgbClr val="00B0F0"/>
                </a:solidFill>
              </a:rPr>
              <a:t>Librarians </a:t>
            </a:r>
            <a:r>
              <a:rPr lang="en-US" b="1" dirty="0">
                <a:solidFill>
                  <a:srgbClr val="00B0F0"/>
                </a:solidFill>
              </a:rPr>
              <a:t>can shortcut your search time </a:t>
            </a:r>
            <a:r>
              <a:rPr lang="en-US" b="1" dirty="0"/>
              <a:t>by directing you to the right subject headings, and </a:t>
            </a:r>
            <a:r>
              <a:rPr lang="en-US" b="1" dirty="0" smtClean="0"/>
              <a:t>by pointing </a:t>
            </a:r>
            <a:r>
              <a:rPr lang="en-US" b="1" dirty="0"/>
              <a:t>out the location of various types of </a:t>
            </a:r>
            <a:r>
              <a:rPr lang="en-US" b="1" dirty="0" smtClean="0"/>
              <a:t>sources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51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Assessing </a:t>
            </a:r>
            <a:r>
              <a:rPr lang="en-US" b="1" dirty="0">
                <a:solidFill>
                  <a:srgbClr val="FF0000"/>
                </a:solidFill>
              </a:rPr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Credibility </a:t>
            </a:r>
            <a:r>
              <a:rPr lang="en-US" b="1" dirty="0">
                <a:solidFill>
                  <a:srgbClr val="FF0000"/>
                </a:solidFill>
              </a:rPr>
              <a:t>of your </a:t>
            </a:r>
            <a:r>
              <a:rPr lang="en-US" b="1" dirty="0" smtClean="0">
                <a:solidFill>
                  <a:srgbClr val="FF0000"/>
                </a:solidFill>
              </a:rPr>
              <a:t>Sources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1. P</a:t>
            </a:r>
            <a:r>
              <a:rPr lang="en-US" sz="3200" b="1" dirty="0" smtClean="0"/>
              <a:t>ublisher</a:t>
            </a:r>
          </a:p>
          <a:p>
            <a:pPr marL="0" indent="0">
              <a:buNone/>
            </a:pPr>
            <a:r>
              <a:rPr lang="en-US" sz="3200" b="1" dirty="0"/>
              <a:t>2. </a:t>
            </a:r>
            <a:r>
              <a:rPr lang="en-US" sz="3200" b="1" dirty="0" smtClean="0"/>
              <a:t>Author</a:t>
            </a:r>
          </a:p>
          <a:p>
            <a:pPr marL="0" indent="0">
              <a:buNone/>
            </a:pPr>
            <a:r>
              <a:rPr lang="en-US" sz="3200" b="1" dirty="0"/>
              <a:t>3. </a:t>
            </a:r>
            <a:r>
              <a:rPr lang="en-US" sz="3200" b="1" dirty="0" smtClean="0"/>
              <a:t>Currency</a:t>
            </a:r>
          </a:p>
          <a:p>
            <a:pPr marL="0" indent="0">
              <a:buNone/>
            </a:pPr>
            <a:r>
              <a:rPr lang="en-US" sz="3200" b="1" dirty="0"/>
              <a:t>4. </a:t>
            </a:r>
            <a:r>
              <a:rPr lang="en-US" sz="3200" b="1" dirty="0" smtClean="0"/>
              <a:t>Evidence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5. </a:t>
            </a:r>
            <a:r>
              <a:rPr lang="en-US" sz="3200" b="1" dirty="0" smtClean="0"/>
              <a:t>Slant/ viewpoint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1367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Citing and paraphrasing researched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When you encounter a phrase, sentence, </a:t>
            </a:r>
            <a:r>
              <a:rPr lang="en-US" b="1" dirty="0" smtClean="0"/>
              <a:t>paragraph </a:t>
            </a:r>
            <a:r>
              <a:rPr lang="en-US" b="1" dirty="0"/>
              <a:t>written by someone else </a:t>
            </a:r>
            <a:r>
              <a:rPr lang="en-US" b="1" dirty="0" smtClean="0"/>
              <a:t>what </a:t>
            </a:r>
            <a:r>
              <a:rPr lang="en-US" b="1" dirty="0"/>
              <a:t>you would like </a:t>
            </a:r>
            <a:r>
              <a:rPr lang="en-US" b="1" dirty="0" smtClean="0"/>
              <a:t>to repeat </a:t>
            </a:r>
            <a:r>
              <a:rPr lang="en-US" b="1" dirty="0"/>
              <a:t>it exactly,</a:t>
            </a:r>
            <a:r>
              <a:rPr lang="en-US" b="1" dirty="0">
                <a:solidFill>
                  <a:srgbClr val="C00000"/>
                </a:solidFill>
              </a:rPr>
              <a:t> you </a:t>
            </a:r>
            <a:r>
              <a:rPr lang="en-US" b="1" dirty="0">
                <a:solidFill>
                  <a:srgbClr val="FF0000"/>
                </a:solidFill>
              </a:rPr>
              <a:t>should quote it</a:t>
            </a:r>
            <a:r>
              <a:rPr lang="en-US" b="1" dirty="0" smtClean="0"/>
              <a:t>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Quotation means </a:t>
            </a:r>
            <a:r>
              <a:rPr lang="en-US" b="1" dirty="0" smtClean="0"/>
              <a:t>copy </a:t>
            </a:r>
            <a:r>
              <a:rPr lang="en-US" b="1" dirty="0"/>
              <a:t>the passage word for word, and place it between quotation </a:t>
            </a:r>
            <a:r>
              <a:rPr lang="en-US" b="1" dirty="0" smtClean="0"/>
              <a:t>marks</a:t>
            </a:r>
            <a:r>
              <a:rPr lang="en-US" b="1" dirty="0"/>
              <a:t> </a:t>
            </a:r>
            <a:r>
              <a:rPr lang="en-US" b="1" dirty="0" smtClean="0"/>
              <a:t>or </a:t>
            </a:r>
            <a:r>
              <a:rPr lang="en-US" b="1" dirty="0"/>
              <a:t>if it is longer </a:t>
            </a:r>
            <a:r>
              <a:rPr lang="en-US" b="1" dirty="0" smtClean="0"/>
              <a:t>than </a:t>
            </a:r>
            <a:r>
              <a:rPr lang="en-US" b="1" dirty="0"/>
              <a:t>four lines, set it off in a </a:t>
            </a:r>
            <a:r>
              <a:rPr lang="en-US" b="1" dirty="0">
                <a:solidFill>
                  <a:srgbClr val="FF0000"/>
                </a:solidFill>
              </a:rPr>
              <a:t>block </a:t>
            </a:r>
            <a:r>
              <a:rPr lang="en-US" b="1" dirty="0" smtClean="0">
                <a:solidFill>
                  <a:srgbClr val="FF0000"/>
                </a:solidFill>
              </a:rPr>
              <a:t>quotation</a:t>
            </a:r>
            <a:r>
              <a:rPr lang="en-US" b="1" dirty="0" smtClean="0"/>
              <a:t>.</a:t>
            </a:r>
          </a:p>
          <a:p>
            <a:r>
              <a:rPr lang="en-US" b="1" dirty="0"/>
              <a:t>Note that the </a:t>
            </a:r>
            <a:r>
              <a:rPr lang="en-US" b="1" dirty="0">
                <a:solidFill>
                  <a:srgbClr val="C00000"/>
                </a:solidFill>
              </a:rPr>
              <a:t>long passage is indented to the right and the shorter phrases are contained in quotation marks</a:t>
            </a:r>
            <a:r>
              <a:rPr lang="en-US" b="1" dirty="0"/>
              <a:t>. </a:t>
            </a:r>
          </a:p>
          <a:p>
            <a:r>
              <a:rPr lang="en-US" b="1" dirty="0"/>
              <a:t>I</a:t>
            </a:r>
            <a:r>
              <a:rPr lang="en-US" b="1" dirty="0" smtClean="0"/>
              <a:t>t </a:t>
            </a:r>
            <a:r>
              <a:rPr lang="en-US" b="1" dirty="0"/>
              <a:t>is important to </a:t>
            </a:r>
            <a:r>
              <a:rPr lang="en-US" b="1" dirty="0" smtClean="0"/>
              <a:t>cite </a:t>
            </a:r>
            <a:r>
              <a:rPr lang="en-US" b="1" dirty="0"/>
              <a:t>sources, to tell where a quotation came from</a:t>
            </a:r>
            <a:r>
              <a:rPr lang="en-US" b="1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21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0988"/>
            <a:ext cx="10515600" cy="603324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b="1" dirty="0" smtClean="0">
                <a:solidFill>
                  <a:srgbClr val="FF0000"/>
                </a:solidFill>
              </a:rPr>
              <a:t>ypes </a:t>
            </a:r>
            <a:r>
              <a:rPr lang="en-US" b="1" dirty="0">
                <a:solidFill>
                  <a:srgbClr val="FF0000"/>
                </a:solidFill>
              </a:rPr>
              <a:t>of information that you should </a:t>
            </a:r>
            <a:r>
              <a:rPr lang="en-US" b="1" dirty="0" smtClean="0">
                <a:solidFill>
                  <a:srgbClr val="FF0000"/>
                </a:solidFill>
              </a:rPr>
              <a:t>document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US" b="1" dirty="0" smtClean="0"/>
              <a:t>Statements </a:t>
            </a:r>
            <a:r>
              <a:rPr lang="en-US" b="1" dirty="0"/>
              <a:t>of opinion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Claims that can be argued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Sources for statistics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Research findings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Examples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Graphs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Charts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Illustrations</a:t>
            </a:r>
          </a:p>
        </p:txBody>
      </p:sp>
    </p:spTree>
    <p:extLst>
      <p:ext uri="{BB962C8B-B14F-4D97-AF65-F5344CB8AC3E}">
        <p14:creationId xmlns:p14="http://schemas.microsoft.com/office/powerpoint/2010/main" val="415635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4484</TotalTime>
  <Words>1267</Words>
  <Application>Microsoft Office PowerPoint</Application>
  <PresentationFormat>Custom</PresentationFormat>
  <Paragraphs>108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Chapter -3 Researching Technical Subjects-</vt:lpstr>
      <vt:lpstr>Three GENERAL steps of research </vt:lpstr>
      <vt:lpstr>Primary Research: Interviewing</vt:lpstr>
      <vt:lpstr>Preparing for the interview</vt:lpstr>
      <vt:lpstr>3. Prepare a list of organized questions</vt:lpstr>
      <vt:lpstr>Writing good questions</vt:lpstr>
      <vt:lpstr>Conducting the Interview</vt:lpstr>
      <vt:lpstr>Closing the Interview</vt:lpstr>
      <vt:lpstr>Primary research: Conducting surveys</vt:lpstr>
      <vt:lpstr>Asking good questions</vt:lpstr>
      <vt:lpstr>PowerPoint Presentation</vt:lpstr>
      <vt:lpstr>Guidelines for asking good questions</vt:lpstr>
      <vt:lpstr>Examples </vt:lpstr>
      <vt:lpstr>PowerPoint Presentation</vt:lpstr>
      <vt:lpstr>Choosing appropriate responses</vt:lpstr>
      <vt:lpstr>Examples </vt:lpstr>
      <vt:lpstr>PowerPoint Presentation</vt:lpstr>
      <vt:lpstr>PowerPoint Presentation</vt:lpstr>
      <vt:lpstr>PowerPoint Presentation</vt:lpstr>
      <vt:lpstr>Secondary Research: Finding print and online sources</vt:lpstr>
      <vt:lpstr>..</vt:lpstr>
      <vt:lpstr>..</vt:lpstr>
      <vt:lpstr>Conducting an effective search for sources: Library and internet</vt:lpstr>
      <vt:lpstr>…</vt:lpstr>
      <vt:lpstr>Assessing the Credibility of your Sources</vt:lpstr>
      <vt:lpstr>Citing and paraphrasing researched sources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Techniques</dc:title>
  <dc:creator>Microsoft account</dc:creator>
  <cp:lastModifiedBy>lenovo</cp:lastModifiedBy>
  <cp:revision>495</cp:revision>
  <dcterms:created xsi:type="dcterms:W3CDTF">2023-01-05T15:29:22Z</dcterms:created>
  <dcterms:modified xsi:type="dcterms:W3CDTF">2024-12-08T11:04:23Z</dcterms:modified>
</cp:coreProperties>
</file>