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40" r:id="rId2"/>
    <p:sldId id="754" r:id="rId3"/>
    <p:sldId id="541" r:id="rId4"/>
    <p:sldId id="542" r:id="rId5"/>
    <p:sldId id="543" r:id="rId6"/>
    <p:sldId id="544" r:id="rId7"/>
    <p:sldId id="545" r:id="rId8"/>
    <p:sldId id="850" r:id="rId9"/>
    <p:sldId id="849" r:id="rId10"/>
    <p:sldId id="546" r:id="rId11"/>
    <p:sldId id="740" r:id="rId12"/>
    <p:sldId id="548" r:id="rId13"/>
    <p:sldId id="549" r:id="rId14"/>
    <p:sldId id="550" r:id="rId15"/>
    <p:sldId id="551" r:id="rId16"/>
    <p:sldId id="552" r:id="rId17"/>
    <p:sldId id="848" r:id="rId18"/>
    <p:sldId id="851" r:id="rId19"/>
    <p:sldId id="852" r:id="rId20"/>
    <p:sldId id="853" r:id="rId21"/>
    <p:sldId id="5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66"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20103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50443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2183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2C2EC6-F5D4-4EB2-B55F-04434BE7B208}"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77960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2C2EC6-F5D4-4EB2-B55F-04434BE7B208}"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02158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2C2EC6-F5D4-4EB2-B55F-04434BE7B208}"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1100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C2EC6-F5D4-4EB2-B55F-04434BE7B208}"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1853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42341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89544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16037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73112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2C2EC6-F5D4-4EB2-B55F-04434BE7B208}" type="datetimeFigureOut">
              <a:rPr lang="en-US" smtClean="0"/>
              <a:t>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77A39-988E-47BA-AE30-E5DEF8B6BD4E}" type="slidenum">
              <a:rPr lang="en-US" smtClean="0"/>
              <a:t>‹#›</a:t>
            </a:fld>
            <a:endParaRPr lang="en-US"/>
          </a:p>
        </p:txBody>
      </p:sp>
    </p:spTree>
    <p:extLst>
      <p:ext uri="{BB962C8B-B14F-4D97-AF65-F5344CB8AC3E}">
        <p14:creationId xmlns:p14="http://schemas.microsoft.com/office/powerpoint/2010/main" val="3767375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83393"/>
          </a:xfrm>
        </p:spPr>
        <p:txBody>
          <a:bodyPr>
            <a:normAutofit/>
          </a:bodyPr>
          <a:lstStyle/>
          <a:p>
            <a:r>
              <a:rPr lang="en-US" sz="6000" b="1" dirty="0" smtClean="0">
                <a:solidFill>
                  <a:srgbClr val="FF0000"/>
                </a:solidFill>
                <a:latin typeface="Arial Rounded MT Bold" panose="020F0704030504030204" pitchFamily="34" charset="0"/>
              </a:rPr>
              <a:t>Chapter- Eleven- Testing </a:t>
            </a:r>
            <a:r>
              <a:rPr lang="en-US" sz="6000" b="1" dirty="0">
                <a:solidFill>
                  <a:srgbClr val="FF0000"/>
                </a:solidFill>
                <a:latin typeface="Arial Rounded MT Bold" panose="020F0704030504030204" pitchFamily="34" charset="0"/>
              </a:rPr>
              <a:t>and reporting document usability</a:t>
            </a:r>
          </a:p>
        </p:txBody>
      </p:sp>
    </p:spTree>
    <p:extLst>
      <p:ext uri="{BB962C8B-B14F-4D97-AF65-F5344CB8AC3E}">
        <p14:creationId xmlns:p14="http://schemas.microsoft.com/office/powerpoint/2010/main" val="20984035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What is Usability?</a:t>
            </a:r>
            <a:endParaRPr lang="en-US" b="1" dirty="0">
              <a:solidFill>
                <a:srgbClr val="FF0000"/>
              </a:solidFill>
            </a:endParaRPr>
          </a:p>
        </p:txBody>
      </p:sp>
      <p:sp>
        <p:nvSpPr>
          <p:cNvPr id="3" name="Content Placeholder 2"/>
          <p:cNvSpPr>
            <a:spLocks noGrp="1"/>
          </p:cNvSpPr>
          <p:nvPr>
            <p:ph idx="1"/>
          </p:nvPr>
        </p:nvSpPr>
        <p:spPr>
          <a:xfrm>
            <a:off x="838200" y="1566128"/>
            <a:ext cx="10515600" cy="4351338"/>
          </a:xfrm>
        </p:spPr>
        <p:txBody>
          <a:bodyPr>
            <a:normAutofit lnSpcReduction="10000"/>
          </a:bodyPr>
          <a:lstStyle/>
          <a:p>
            <a:r>
              <a:rPr lang="en-US" b="1" dirty="0"/>
              <a:t>Usability refers to the </a:t>
            </a:r>
            <a:r>
              <a:rPr lang="en-US" b="1" dirty="0">
                <a:solidFill>
                  <a:srgbClr val="0070C0"/>
                </a:solidFill>
              </a:rPr>
              <a:t>actual conditions under which a document is used by real people to accomplish a task. </a:t>
            </a:r>
          </a:p>
          <a:p>
            <a:r>
              <a:rPr lang="en-US" b="1" dirty="0">
                <a:solidFill>
                  <a:srgbClr val="FF0000"/>
                </a:solidFill>
              </a:rPr>
              <a:t>Usability tests of documents are designed to answer </a:t>
            </a:r>
            <a:r>
              <a:rPr lang="en-US" b="1" dirty="0" smtClean="0">
                <a:solidFill>
                  <a:srgbClr val="FF0000"/>
                </a:solidFill>
              </a:rPr>
              <a:t> the following questions: </a:t>
            </a:r>
            <a:endParaRPr lang="en-US" b="1" dirty="0">
              <a:solidFill>
                <a:srgbClr val="FF0000"/>
              </a:solidFill>
            </a:endParaRPr>
          </a:p>
          <a:p>
            <a:pPr>
              <a:buFontTx/>
              <a:buChar char="-"/>
            </a:pPr>
            <a:r>
              <a:rPr lang="en-US" b="1" dirty="0"/>
              <a:t>How easily could users </a:t>
            </a:r>
            <a:r>
              <a:rPr lang="en-US" b="1" dirty="0" smtClean="0"/>
              <a:t>gain </a:t>
            </a:r>
            <a:r>
              <a:rPr lang="en-US" b="1" dirty="0"/>
              <a:t>the relevant information?</a:t>
            </a:r>
          </a:p>
          <a:p>
            <a:pPr>
              <a:buFontTx/>
              <a:buChar char="-"/>
            </a:pPr>
            <a:r>
              <a:rPr lang="en-US" b="1" dirty="0" smtClean="0"/>
              <a:t>Have </a:t>
            </a:r>
            <a:r>
              <a:rPr lang="en-US" b="1" dirty="0"/>
              <a:t>all the essential steps been included?</a:t>
            </a:r>
          </a:p>
          <a:p>
            <a:pPr>
              <a:buFontTx/>
              <a:buChar char="-"/>
            </a:pPr>
            <a:r>
              <a:rPr lang="en-US" b="1" dirty="0" smtClean="0"/>
              <a:t>Does </a:t>
            </a:r>
            <a:r>
              <a:rPr lang="en-US" b="1" dirty="0"/>
              <a:t>every step that needs a visual </a:t>
            </a:r>
            <a:r>
              <a:rPr lang="en-US" b="1" dirty="0" smtClean="0"/>
              <a:t>have a </a:t>
            </a:r>
            <a:r>
              <a:rPr lang="en-US" b="1" dirty="0"/>
              <a:t>visual</a:t>
            </a:r>
            <a:r>
              <a:rPr lang="en-US" b="1" dirty="0" smtClean="0"/>
              <a:t>?</a:t>
            </a:r>
            <a:r>
              <a:rPr lang="en-US" dirty="0"/>
              <a:t> </a:t>
            </a:r>
            <a:endParaRPr lang="en-US" dirty="0" smtClean="0"/>
          </a:p>
          <a:p>
            <a:pPr>
              <a:buFontTx/>
              <a:buChar char="-"/>
            </a:pPr>
            <a:r>
              <a:rPr lang="en-US" dirty="0" smtClean="0"/>
              <a:t>So</a:t>
            </a:r>
            <a:r>
              <a:rPr lang="en-US" dirty="0"/>
              <a:t>, Usability </a:t>
            </a:r>
            <a:r>
              <a:rPr lang="en-US" dirty="0" smtClean="0"/>
              <a:t>test </a:t>
            </a:r>
            <a:r>
              <a:rPr lang="en-US" dirty="0"/>
              <a:t>is </a:t>
            </a:r>
            <a:r>
              <a:rPr lang="en-US" dirty="0" smtClean="0"/>
              <a:t>to ensure </a:t>
            </a:r>
            <a:r>
              <a:rPr lang="en-US" dirty="0"/>
              <a:t>that </a:t>
            </a:r>
            <a:r>
              <a:rPr lang="en-US" b="1" dirty="0">
                <a:solidFill>
                  <a:srgbClr val="00B0F0"/>
                </a:solidFill>
              </a:rPr>
              <a:t>documentation is clear, accurate and help users to achieve their goals.</a:t>
            </a:r>
            <a:br>
              <a:rPr lang="en-US" b="1" dirty="0">
                <a:solidFill>
                  <a:srgbClr val="00B0F0"/>
                </a:solidFill>
              </a:rPr>
            </a:br>
            <a:endParaRPr lang="en-US" b="1" dirty="0">
              <a:solidFill>
                <a:srgbClr val="00B0F0"/>
              </a:solidFill>
            </a:endParaRPr>
          </a:p>
          <a:p>
            <a:pPr>
              <a:buFontTx/>
              <a:buChar char="-"/>
            </a:pPr>
            <a:endParaRPr lang="en-US" b="1" dirty="0"/>
          </a:p>
          <a:p>
            <a:endParaRPr lang="en-US" dirty="0"/>
          </a:p>
        </p:txBody>
      </p:sp>
    </p:spTree>
    <p:extLst>
      <p:ext uri="{BB962C8B-B14F-4D97-AF65-F5344CB8AC3E}">
        <p14:creationId xmlns:p14="http://schemas.microsoft.com/office/powerpoint/2010/main" val="6910352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Why </a:t>
            </a:r>
            <a:r>
              <a:rPr lang="en-US" b="1" dirty="0">
                <a:solidFill>
                  <a:srgbClr val="FF0000"/>
                </a:solidFill>
              </a:rPr>
              <a:t>U</a:t>
            </a:r>
            <a:r>
              <a:rPr lang="en-US" b="1" dirty="0" smtClean="0">
                <a:solidFill>
                  <a:srgbClr val="FF0000"/>
                </a:solidFill>
              </a:rPr>
              <a:t>sability Test?</a:t>
            </a:r>
            <a:endParaRPr lang="en-US" b="1"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b="1" dirty="0">
                <a:solidFill>
                  <a:srgbClr val="00B0F0"/>
                </a:solidFill>
              </a:rPr>
              <a:t>If </a:t>
            </a:r>
            <a:r>
              <a:rPr lang="en-US" b="1" dirty="0" smtClean="0">
                <a:solidFill>
                  <a:srgbClr val="00B0F0"/>
                </a:solidFill>
              </a:rPr>
              <a:t>target audiences </a:t>
            </a:r>
            <a:r>
              <a:rPr lang="en-US" b="1" dirty="0">
                <a:solidFill>
                  <a:srgbClr val="00B0F0"/>
                </a:solidFill>
              </a:rPr>
              <a:t>purchase a product and </a:t>
            </a:r>
            <a:r>
              <a:rPr lang="en-US" b="1" dirty="0" smtClean="0">
                <a:solidFill>
                  <a:srgbClr val="00B0F0"/>
                </a:solidFill>
              </a:rPr>
              <a:t>able </a:t>
            </a:r>
            <a:r>
              <a:rPr lang="en-US" b="1" dirty="0">
                <a:solidFill>
                  <a:srgbClr val="00B0F0"/>
                </a:solidFill>
              </a:rPr>
              <a:t>to use the </a:t>
            </a:r>
            <a:r>
              <a:rPr lang="en-US" b="1" dirty="0" smtClean="0">
                <a:solidFill>
                  <a:srgbClr val="00B0F0"/>
                </a:solidFill>
              </a:rPr>
              <a:t>associated </a:t>
            </a:r>
            <a:r>
              <a:rPr lang="en-US" b="1" dirty="0">
                <a:solidFill>
                  <a:srgbClr val="00B0F0"/>
                </a:solidFill>
              </a:rPr>
              <a:t>instructions </a:t>
            </a:r>
            <a:r>
              <a:rPr lang="en-US" b="1" dirty="0" smtClean="0">
                <a:solidFill>
                  <a:srgbClr val="00B0F0"/>
                </a:solidFill>
              </a:rPr>
              <a:t>quickly </a:t>
            </a:r>
            <a:r>
              <a:rPr lang="en-US" b="1" dirty="0">
                <a:solidFill>
                  <a:srgbClr val="00B0F0"/>
                </a:solidFill>
              </a:rPr>
              <a:t>and </a:t>
            </a:r>
            <a:r>
              <a:rPr lang="en-US" b="1" dirty="0" smtClean="0">
                <a:solidFill>
                  <a:srgbClr val="00B0F0"/>
                </a:solidFill>
              </a:rPr>
              <a:t>easily, </a:t>
            </a:r>
            <a:r>
              <a:rPr lang="en-US" b="1" dirty="0">
                <a:solidFill>
                  <a:srgbClr val="00B0F0"/>
                </a:solidFill>
              </a:rPr>
              <a:t>they are </a:t>
            </a:r>
            <a:r>
              <a:rPr lang="en-US" b="1" dirty="0" smtClean="0">
                <a:solidFill>
                  <a:srgbClr val="00B0F0"/>
                </a:solidFill>
              </a:rPr>
              <a:t>more </a:t>
            </a:r>
            <a:r>
              <a:rPr lang="en-US" b="1" dirty="0">
                <a:solidFill>
                  <a:srgbClr val="00B0F0"/>
                </a:solidFill>
              </a:rPr>
              <a:t>likely to purchase other products from the same company. </a:t>
            </a:r>
            <a:endParaRPr lang="en-US" b="1" dirty="0" smtClean="0">
              <a:solidFill>
                <a:srgbClr val="00B0F0"/>
              </a:solidFill>
            </a:endParaRPr>
          </a:p>
          <a:p>
            <a:r>
              <a:rPr lang="en-US" b="1" dirty="0" smtClean="0"/>
              <a:t>In </a:t>
            </a:r>
            <a:r>
              <a:rPr lang="en-US" b="1" dirty="0"/>
              <a:t>contrast, if </a:t>
            </a:r>
            <a:r>
              <a:rPr lang="en-US" b="1" dirty="0" smtClean="0"/>
              <a:t>customers </a:t>
            </a:r>
            <a:r>
              <a:rPr lang="en-US" b="1" dirty="0"/>
              <a:t>unable to assemble or use the product, </a:t>
            </a:r>
            <a:r>
              <a:rPr lang="en-US" b="1" dirty="0" smtClean="0"/>
              <a:t>even after struggling </a:t>
            </a:r>
            <a:r>
              <a:rPr lang="en-US" b="1" dirty="0"/>
              <a:t>extensively with the instructions, and have to return it for a refund, how likely will they be to purchase other products from the same company? </a:t>
            </a:r>
            <a:endParaRPr lang="en-US" b="1" dirty="0" smtClean="0"/>
          </a:p>
          <a:p>
            <a:r>
              <a:rPr lang="en-US" b="1" dirty="0" smtClean="0">
                <a:solidFill>
                  <a:srgbClr val="00B0F0"/>
                </a:solidFill>
              </a:rPr>
              <a:t>They </a:t>
            </a:r>
            <a:r>
              <a:rPr lang="en-US" b="1" dirty="0">
                <a:solidFill>
                  <a:srgbClr val="00B0F0"/>
                </a:solidFill>
              </a:rPr>
              <a:t>are more likely to buy from a competitor, hoping the documentation will be better, or they may decide not to purchase the new product at all </a:t>
            </a:r>
            <a:r>
              <a:rPr lang="en-US" b="1" dirty="0" smtClean="0">
                <a:solidFill>
                  <a:srgbClr val="00B0F0"/>
                </a:solidFill>
              </a:rPr>
              <a:t>but </a:t>
            </a:r>
            <a:r>
              <a:rPr lang="en-US" b="1" dirty="0">
                <a:solidFill>
                  <a:srgbClr val="00B0F0"/>
                </a:solidFill>
              </a:rPr>
              <a:t>do with what they already have at home and know how to </a:t>
            </a:r>
            <a:r>
              <a:rPr lang="en-US" b="1" dirty="0" smtClean="0">
                <a:solidFill>
                  <a:srgbClr val="00B0F0"/>
                </a:solidFill>
              </a:rPr>
              <a:t>use.</a:t>
            </a:r>
            <a:r>
              <a:rPr lang="en-US" dirty="0">
                <a:solidFill>
                  <a:srgbClr val="00B0F0"/>
                </a:solidFill>
              </a:rPr>
              <a:t> </a:t>
            </a:r>
            <a:endParaRPr lang="en-US" dirty="0" smtClean="0">
              <a:solidFill>
                <a:srgbClr val="00B0F0"/>
              </a:solidFill>
            </a:endParaRPr>
          </a:p>
          <a:p>
            <a:r>
              <a:rPr lang="en-US" dirty="0" smtClean="0">
                <a:solidFill>
                  <a:srgbClr val="00B0F0"/>
                </a:solidFill>
              </a:rPr>
              <a:t>Usability test </a:t>
            </a:r>
            <a:r>
              <a:rPr lang="en-US" dirty="0">
                <a:solidFill>
                  <a:srgbClr val="00B0F0"/>
                </a:solidFill>
              </a:rPr>
              <a:t>can ensure that </a:t>
            </a:r>
            <a:r>
              <a:rPr lang="en-US" b="1" dirty="0">
                <a:solidFill>
                  <a:srgbClr val="00B0F0"/>
                </a:solidFill>
              </a:rPr>
              <a:t>documentation does its job, creating satisfied customers and generating further </a:t>
            </a:r>
            <a:r>
              <a:rPr lang="en-US" b="1" dirty="0" smtClean="0">
                <a:solidFill>
                  <a:srgbClr val="00B0F0"/>
                </a:solidFill>
              </a:rPr>
              <a:t>sales.</a:t>
            </a:r>
          </a:p>
          <a:p>
            <a:r>
              <a:rPr lang="en-US" dirty="0" smtClean="0"/>
              <a:t>Gathering </a:t>
            </a:r>
            <a:r>
              <a:rPr lang="en-US" dirty="0"/>
              <a:t>user  feedback can </a:t>
            </a:r>
            <a:r>
              <a:rPr lang="en-US" b="1" dirty="0"/>
              <a:t>help writers to gauge the quality of their documentation and to determine what kinds of revisions are needed.</a:t>
            </a:r>
          </a:p>
          <a:p>
            <a:endParaRPr lang="en-US" b="1" dirty="0">
              <a:solidFill>
                <a:srgbClr val="FF0000"/>
              </a:solidFill>
            </a:endParaRPr>
          </a:p>
        </p:txBody>
      </p:sp>
    </p:spTree>
    <p:extLst>
      <p:ext uri="{BB962C8B-B14F-4D97-AF65-F5344CB8AC3E}">
        <p14:creationId xmlns:p14="http://schemas.microsoft.com/office/powerpoint/2010/main" val="31593818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solidFill>
                  <a:srgbClr val="FF0000"/>
                </a:solidFill>
              </a:rPr>
              <a:t>Here are some of the ways you can make your documents more usable: </a:t>
            </a:r>
            <a:endParaRPr lang="en-US" b="1" dirty="0" smtClean="0">
              <a:solidFill>
                <a:srgbClr val="FF0000"/>
              </a:solidFill>
            </a:endParaRPr>
          </a:p>
          <a:p>
            <a:pPr>
              <a:buFontTx/>
              <a:buChar char="-"/>
            </a:pPr>
            <a:r>
              <a:rPr lang="en-US" b="1" dirty="0" smtClean="0">
                <a:solidFill>
                  <a:srgbClr val="00B0F0"/>
                </a:solidFill>
              </a:rPr>
              <a:t>Organize </a:t>
            </a:r>
            <a:r>
              <a:rPr lang="en-US" b="1" dirty="0">
                <a:solidFill>
                  <a:srgbClr val="00B0F0"/>
                </a:solidFill>
              </a:rPr>
              <a:t>information into </a:t>
            </a:r>
            <a:r>
              <a:rPr lang="en-US" b="1" dirty="0" smtClean="0">
                <a:solidFill>
                  <a:srgbClr val="00B0F0"/>
                </a:solidFill>
              </a:rPr>
              <a:t>appropriate portions. </a:t>
            </a:r>
            <a:endParaRPr lang="en-US" b="1" dirty="0">
              <a:solidFill>
                <a:srgbClr val="00B0F0"/>
              </a:solidFill>
            </a:endParaRPr>
          </a:p>
          <a:p>
            <a:pPr>
              <a:buFontTx/>
              <a:buChar char="-"/>
            </a:pPr>
            <a:r>
              <a:rPr lang="en-US" b="1" dirty="0" smtClean="0">
                <a:solidFill>
                  <a:srgbClr val="00B0F0"/>
                </a:solidFill>
              </a:rPr>
              <a:t>Position </a:t>
            </a:r>
            <a:r>
              <a:rPr lang="en-US" b="1" dirty="0">
                <a:solidFill>
                  <a:srgbClr val="00B0F0"/>
                </a:solidFill>
              </a:rPr>
              <a:t>information for emphasis. </a:t>
            </a:r>
            <a:endParaRPr lang="en-US" b="1" dirty="0" smtClean="0">
              <a:solidFill>
                <a:srgbClr val="00B0F0"/>
              </a:solidFill>
            </a:endParaRPr>
          </a:p>
          <a:p>
            <a:pPr>
              <a:buFontTx/>
              <a:buChar char="-"/>
            </a:pPr>
            <a:r>
              <a:rPr lang="en-US" b="1" dirty="0" smtClean="0">
                <a:solidFill>
                  <a:srgbClr val="00B0F0"/>
                </a:solidFill>
              </a:rPr>
              <a:t>Provide </a:t>
            </a:r>
            <a:r>
              <a:rPr lang="en-US" b="1" dirty="0">
                <a:solidFill>
                  <a:srgbClr val="00B0F0"/>
                </a:solidFill>
              </a:rPr>
              <a:t>structuring devices (such as tabs or indexes). </a:t>
            </a:r>
            <a:endParaRPr lang="en-US" b="1" dirty="0" smtClean="0">
              <a:solidFill>
                <a:srgbClr val="00B0F0"/>
              </a:solidFill>
            </a:endParaRPr>
          </a:p>
          <a:p>
            <a:pPr>
              <a:buFontTx/>
              <a:buChar char="-"/>
            </a:pPr>
            <a:r>
              <a:rPr lang="en-US" b="1" dirty="0" smtClean="0">
                <a:solidFill>
                  <a:srgbClr val="00B0F0"/>
                </a:solidFill>
              </a:rPr>
              <a:t>Identify </a:t>
            </a:r>
            <a:r>
              <a:rPr lang="en-US" b="1" dirty="0">
                <a:solidFill>
                  <a:srgbClr val="00B0F0"/>
                </a:solidFill>
              </a:rPr>
              <a:t>the background knowledge of users. </a:t>
            </a:r>
          </a:p>
          <a:p>
            <a:pPr>
              <a:buFontTx/>
              <a:buChar char="-"/>
            </a:pPr>
            <a:r>
              <a:rPr lang="en-US" b="1" dirty="0" smtClean="0">
                <a:solidFill>
                  <a:srgbClr val="00B0F0"/>
                </a:solidFill>
              </a:rPr>
              <a:t>Include </a:t>
            </a:r>
            <a:r>
              <a:rPr lang="en-US" b="1" dirty="0">
                <a:solidFill>
                  <a:srgbClr val="00B0F0"/>
                </a:solidFill>
              </a:rPr>
              <a:t>labels and headings. </a:t>
            </a:r>
            <a:endParaRPr lang="en-US" b="1" dirty="0" smtClean="0">
              <a:solidFill>
                <a:srgbClr val="00B0F0"/>
              </a:solidFill>
            </a:endParaRPr>
          </a:p>
          <a:p>
            <a:pPr>
              <a:buFontTx/>
              <a:buChar char="-"/>
            </a:pPr>
            <a:r>
              <a:rPr lang="en-US" b="1" dirty="0" smtClean="0">
                <a:solidFill>
                  <a:srgbClr val="00B0F0"/>
                </a:solidFill>
              </a:rPr>
              <a:t>Use </a:t>
            </a:r>
            <a:r>
              <a:rPr lang="en-US" b="1" dirty="0">
                <a:solidFill>
                  <a:srgbClr val="00B0F0"/>
                </a:solidFill>
              </a:rPr>
              <a:t>graphics and typefaces as locating devices</a:t>
            </a:r>
            <a:r>
              <a:rPr lang="en-US" b="1" dirty="0" smtClean="0">
                <a:solidFill>
                  <a:srgbClr val="00B0F0"/>
                </a:solidFill>
              </a:rPr>
              <a:t>.</a:t>
            </a:r>
            <a:r>
              <a:rPr lang="en-US" dirty="0">
                <a:solidFill>
                  <a:srgbClr val="00B0F0"/>
                </a:solidFill>
              </a:rPr>
              <a:t> </a:t>
            </a:r>
            <a:endParaRPr lang="en-US" dirty="0" smtClean="0">
              <a:solidFill>
                <a:srgbClr val="00B0F0"/>
              </a:solidFill>
            </a:endParaRPr>
          </a:p>
          <a:p>
            <a:pPr>
              <a:buFontTx/>
              <a:buChar char="-"/>
            </a:pPr>
            <a:r>
              <a:rPr lang="en-US" dirty="0" smtClean="0"/>
              <a:t>Usability </a:t>
            </a:r>
            <a:r>
              <a:rPr lang="en-US" dirty="0"/>
              <a:t>testing is essential for creating documentation that</a:t>
            </a:r>
            <a:r>
              <a:rPr lang="en-US" b="1" dirty="0"/>
              <a:t> meets user needs, enhances customer </a:t>
            </a:r>
            <a:r>
              <a:rPr lang="en-US" b="1" dirty="0" smtClean="0"/>
              <a:t>satisfaction and </a:t>
            </a:r>
            <a:r>
              <a:rPr lang="en-US" b="1" dirty="0"/>
              <a:t>drives sales.</a:t>
            </a:r>
            <a:br>
              <a:rPr lang="en-US" b="1" dirty="0"/>
            </a:br>
            <a:endParaRPr lang="en-US" b="1" dirty="0">
              <a:solidFill>
                <a:srgbClr val="0070C0"/>
              </a:solidFill>
            </a:endParaRPr>
          </a:p>
        </p:txBody>
      </p:sp>
    </p:spTree>
    <p:extLst>
      <p:ext uri="{BB962C8B-B14F-4D97-AF65-F5344CB8AC3E}">
        <p14:creationId xmlns:p14="http://schemas.microsoft.com/office/powerpoint/2010/main" val="12811389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5194"/>
            <a:ext cx="10515600" cy="1325563"/>
          </a:xfrm>
        </p:spPr>
        <p:txBody>
          <a:bodyPr/>
          <a:lstStyle/>
          <a:p>
            <a:r>
              <a:rPr lang="en-US" b="1" dirty="0">
                <a:solidFill>
                  <a:srgbClr val="FF0000"/>
                </a:solidFill>
              </a:rPr>
              <a:t>What is a </a:t>
            </a:r>
            <a:r>
              <a:rPr lang="en-US" b="1" dirty="0" smtClean="0">
                <a:solidFill>
                  <a:srgbClr val="FF0000"/>
                </a:solidFill>
              </a:rPr>
              <a:t>Usability </a:t>
            </a:r>
            <a:r>
              <a:rPr lang="en-US" b="1" dirty="0">
                <a:solidFill>
                  <a:srgbClr val="FF0000"/>
                </a:solidFill>
              </a:rPr>
              <a:t>test?</a:t>
            </a:r>
          </a:p>
        </p:txBody>
      </p:sp>
      <p:sp>
        <p:nvSpPr>
          <p:cNvPr id="3" name="Content Placeholder 2"/>
          <p:cNvSpPr>
            <a:spLocks noGrp="1"/>
          </p:cNvSpPr>
          <p:nvPr>
            <p:ph idx="1"/>
          </p:nvPr>
        </p:nvSpPr>
        <p:spPr>
          <a:xfrm>
            <a:off x="838199" y="1776196"/>
            <a:ext cx="11147613" cy="4727575"/>
          </a:xfrm>
        </p:spPr>
        <p:txBody>
          <a:bodyPr>
            <a:normAutofit fontScale="85000" lnSpcReduction="10000"/>
          </a:bodyPr>
          <a:lstStyle/>
          <a:p>
            <a:r>
              <a:rPr lang="en-US" b="1" dirty="0">
                <a:solidFill>
                  <a:srgbClr val="00B0F0"/>
                </a:solidFill>
              </a:rPr>
              <a:t>A </a:t>
            </a:r>
            <a:r>
              <a:rPr lang="en-US" b="1" dirty="0" smtClean="0">
                <a:solidFill>
                  <a:srgbClr val="00B0F0"/>
                </a:solidFill>
              </a:rPr>
              <a:t>test </a:t>
            </a:r>
            <a:r>
              <a:rPr lang="en-US" b="1" dirty="0">
                <a:solidFill>
                  <a:srgbClr val="00B0F0"/>
                </a:solidFill>
              </a:rPr>
              <a:t>that researchers or technical communicators run to determine how easy a document is to use</a:t>
            </a:r>
            <a:r>
              <a:rPr lang="en-US" b="1" dirty="0" smtClean="0">
                <a:solidFill>
                  <a:srgbClr val="00B0F0"/>
                </a:solidFill>
              </a:rPr>
              <a:t>.</a:t>
            </a:r>
          </a:p>
          <a:p>
            <a:r>
              <a:rPr lang="en-US" b="1" dirty="0" smtClean="0">
                <a:solidFill>
                  <a:srgbClr val="00B0F0"/>
                </a:solidFill>
              </a:rPr>
              <a:t>Involves giving </a:t>
            </a:r>
            <a:r>
              <a:rPr lang="en-US" b="1" dirty="0">
                <a:solidFill>
                  <a:srgbClr val="00B0F0"/>
                </a:solidFill>
              </a:rPr>
              <a:t>a draft of the document to potential users and asking them to perform the activities </a:t>
            </a:r>
            <a:r>
              <a:rPr lang="en-US" b="1" dirty="0" smtClean="0">
                <a:solidFill>
                  <a:srgbClr val="00B0F0"/>
                </a:solidFill>
              </a:rPr>
              <a:t>based </a:t>
            </a:r>
            <a:r>
              <a:rPr lang="en-US" b="1" dirty="0">
                <a:solidFill>
                  <a:srgbClr val="00B0F0"/>
                </a:solidFill>
              </a:rPr>
              <a:t>in it</a:t>
            </a:r>
            <a:r>
              <a:rPr lang="en-US" b="1" dirty="0" smtClean="0">
                <a:solidFill>
                  <a:srgbClr val="00B0F0"/>
                </a:solidFill>
              </a:rPr>
              <a:t>. </a:t>
            </a:r>
          </a:p>
          <a:p>
            <a:r>
              <a:rPr lang="en-US" b="1" dirty="0" smtClean="0"/>
              <a:t>The </a:t>
            </a:r>
            <a:r>
              <a:rPr lang="en-US" b="1" dirty="0"/>
              <a:t>observation can be done in </a:t>
            </a:r>
            <a:r>
              <a:rPr lang="en-US" b="1" dirty="0" smtClean="0"/>
              <a:t>person </a:t>
            </a:r>
            <a:r>
              <a:rPr lang="en-US" b="1" dirty="0"/>
              <a:t>or you can videotape their experience to view and analyze later. </a:t>
            </a:r>
            <a:endParaRPr lang="en-US" b="1" dirty="0" smtClean="0"/>
          </a:p>
          <a:p>
            <a:r>
              <a:rPr lang="en-US" dirty="0"/>
              <a:t>For computer manuals, special programs can record keystrokes, allowing you to trace the steps users take while following the manual."</a:t>
            </a:r>
          </a:p>
          <a:p>
            <a:r>
              <a:rPr lang="en-US" b="1" dirty="0" smtClean="0"/>
              <a:t>You </a:t>
            </a:r>
            <a:r>
              <a:rPr lang="en-US" b="1" dirty="0"/>
              <a:t>can analyze the keystrokes to assess where a user might </a:t>
            </a:r>
            <a:r>
              <a:rPr lang="en-US" b="1" dirty="0" smtClean="0"/>
              <a:t>have faced </a:t>
            </a:r>
            <a:r>
              <a:rPr lang="en-US" b="1" dirty="0"/>
              <a:t>difficulties</a:t>
            </a:r>
            <a:r>
              <a:rPr lang="en-US" b="1" dirty="0" smtClean="0"/>
              <a:t>.</a:t>
            </a:r>
          </a:p>
          <a:p>
            <a:r>
              <a:rPr lang="en-US" b="1" dirty="0" smtClean="0">
                <a:solidFill>
                  <a:srgbClr val="00B0F0"/>
                </a:solidFill>
              </a:rPr>
              <a:t>A </a:t>
            </a:r>
            <a:r>
              <a:rPr lang="en-US" b="1" dirty="0">
                <a:solidFill>
                  <a:srgbClr val="00B0F0"/>
                </a:solidFill>
              </a:rPr>
              <a:t>usability test can also involve interviewing test subjects after they finish the task set for </a:t>
            </a:r>
            <a:r>
              <a:rPr lang="en-US" b="1" dirty="0" smtClean="0">
                <a:solidFill>
                  <a:srgbClr val="00B0F0"/>
                </a:solidFill>
              </a:rPr>
              <a:t>them</a:t>
            </a:r>
          </a:p>
          <a:p>
            <a:r>
              <a:rPr lang="en-US" b="1" dirty="0" smtClean="0"/>
              <a:t>Based </a:t>
            </a:r>
            <a:r>
              <a:rPr lang="en-US" b="1" dirty="0"/>
              <a:t>on their responses, </a:t>
            </a:r>
            <a:r>
              <a:rPr lang="en-US" b="1" dirty="0">
                <a:solidFill>
                  <a:srgbClr val="00B0F0"/>
                </a:solidFill>
              </a:rPr>
              <a:t>you can make recommendations about the kinds of </a:t>
            </a:r>
            <a:r>
              <a:rPr lang="en-US" b="1" dirty="0" smtClean="0">
                <a:solidFill>
                  <a:srgbClr val="00B0F0"/>
                </a:solidFill>
              </a:rPr>
              <a:t>revisions </a:t>
            </a:r>
            <a:r>
              <a:rPr lang="en-US" b="1" dirty="0">
                <a:solidFill>
                  <a:srgbClr val="00B0F0"/>
                </a:solidFill>
              </a:rPr>
              <a:t>that would improve the draft.</a:t>
            </a:r>
          </a:p>
        </p:txBody>
      </p:sp>
    </p:spTree>
    <p:extLst>
      <p:ext uri="{BB962C8B-B14F-4D97-AF65-F5344CB8AC3E}">
        <p14:creationId xmlns:p14="http://schemas.microsoft.com/office/powerpoint/2010/main" val="24525255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What is the purpose of a usability test?</a:t>
            </a:r>
          </a:p>
        </p:txBody>
      </p:sp>
      <p:sp>
        <p:nvSpPr>
          <p:cNvPr id="3" name="Content Placeholder 2"/>
          <p:cNvSpPr>
            <a:spLocks noGrp="1"/>
          </p:cNvSpPr>
          <p:nvPr>
            <p:ph idx="1"/>
          </p:nvPr>
        </p:nvSpPr>
        <p:spPr/>
        <p:txBody>
          <a:bodyPr>
            <a:normAutofit/>
          </a:bodyPr>
          <a:lstStyle/>
          <a:p>
            <a:pPr marL="0" indent="0">
              <a:buNone/>
            </a:pPr>
            <a:r>
              <a:rPr lang="en-US" b="1" dirty="0">
                <a:solidFill>
                  <a:srgbClr val="C00000"/>
                </a:solidFill>
              </a:rPr>
              <a:t>The </a:t>
            </a:r>
            <a:r>
              <a:rPr lang="en-US" b="1" dirty="0" smtClean="0">
                <a:solidFill>
                  <a:srgbClr val="C00000"/>
                </a:solidFill>
              </a:rPr>
              <a:t>purpose </a:t>
            </a:r>
            <a:r>
              <a:rPr lang="en-US" b="1" dirty="0">
                <a:solidFill>
                  <a:srgbClr val="C00000"/>
                </a:solidFill>
              </a:rPr>
              <a:t>of a usability test is </a:t>
            </a:r>
            <a:r>
              <a:rPr lang="en-US" b="1" dirty="0">
                <a:solidFill>
                  <a:srgbClr val="00B0F0"/>
                </a:solidFill>
              </a:rPr>
              <a:t>To observe users to identify</a:t>
            </a:r>
            <a:endParaRPr lang="en-US" b="1" dirty="0" smtClean="0">
              <a:solidFill>
                <a:srgbClr val="C00000"/>
              </a:solidFill>
            </a:endParaRPr>
          </a:p>
          <a:p>
            <a:pPr>
              <a:buFont typeface="Wingdings" pitchFamily="2" charset="2"/>
              <a:buChar char="v"/>
            </a:pPr>
            <a:r>
              <a:rPr lang="en-US" b="1" dirty="0" smtClean="0">
                <a:solidFill>
                  <a:srgbClr val="00B0F0"/>
                </a:solidFill>
              </a:rPr>
              <a:t>omissions </a:t>
            </a:r>
            <a:r>
              <a:rPr lang="en-US" b="1" dirty="0">
                <a:solidFill>
                  <a:srgbClr val="00B0F0"/>
                </a:solidFill>
              </a:rPr>
              <a:t>or </a:t>
            </a:r>
            <a:r>
              <a:rPr lang="en-US" b="1" dirty="0" smtClean="0">
                <a:solidFill>
                  <a:srgbClr val="00B0F0"/>
                </a:solidFill>
              </a:rPr>
              <a:t>ambiguous passages </a:t>
            </a:r>
            <a:r>
              <a:rPr lang="en-US" b="1" dirty="0">
                <a:solidFill>
                  <a:srgbClr val="00B0F0"/>
                </a:solidFill>
              </a:rPr>
              <a:t>in the document </a:t>
            </a:r>
            <a:r>
              <a:rPr lang="en-US" b="1" dirty="0" smtClean="0">
                <a:solidFill>
                  <a:srgbClr val="00B0F0"/>
                </a:solidFill>
              </a:rPr>
              <a:t> </a:t>
            </a:r>
          </a:p>
          <a:p>
            <a:pPr>
              <a:buFont typeface="Wingdings" pitchFamily="2" charset="2"/>
              <a:buChar char="v"/>
            </a:pPr>
            <a:r>
              <a:rPr lang="en-US" b="1" dirty="0" smtClean="0">
                <a:solidFill>
                  <a:srgbClr val="00B0F0"/>
                </a:solidFill>
              </a:rPr>
              <a:t>better </a:t>
            </a:r>
            <a:r>
              <a:rPr lang="en-US" b="1" dirty="0">
                <a:solidFill>
                  <a:srgbClr val="00B0F0"/>
                </a:solidFill>
              </a:rPr>
              <a:t>ways to organize and present information</a:t>
            </a:r>
            <a:r>
              <a:rPr lang="en-US" b="1" dirty="0" smtClean="0">
                <a:solidFill>
                  <a:srgbClr val="00B0F0"/>
                </a:solidFill>
              </a:rPr>
              <a:t>.</a:t>
            </a:r>
            <a:r>
              <a:rPr lang="en-US" dirty="0">
                <a:solidFill>
                  <a:srgbClr val="00B0F0"/>
                </a:solidFill>
              </a:rPr>
              <a:t> </a:t>
            </a:r>
            <a:r>
              <a:rPr lang="en-US" b="1" dirty="0">
                <a:solidFill>
                  <a:srgbClr val="00B0F0"/>
                </a:solidFill>
              </a:rPr>
              <a:t/>
            </a:r>
            <a:br>
              <a:rPr lang="en-US" b="1" dirty="0">
                <a:solidFill>
                  <a:srgbClr val="00B0F0"/>
                </a:solidFill>
              </a:rPr>
            </a:br>
            <a:endParaRPr lang="en-US" b="1" dirty="0">
              <a:solidFill>
                <a:srgbClr val="00B0F0"/>
              </a:solidFill>
            </a:endParaRPr>
          </a:p>
          <a:p>
            <a:pPr>
              <a:buFontTx/>
              <a:buChar char="-"/>
            </a:pPr>
            <a:endParaRPr lang="en-US" b="1" dirty="0">
              <a:solidFill>
                <a:srgbClr val="00B0F0"/>
              </a:solidFill>
            </a:endParaRPr>
          </a:p>
        </p:txBody>
      </p:sp>
    </p:spTree>
    <p:extLst>
      <p:ext uri="{BB962C8B-B14F-4D97-AF65-F5344CB8AC3E}">
        <p14:creationId xmlns:p14="http://schemas.microsoft.com/office/powerpoint/2010/main" val="30788365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Process/ stages of usability test</a:t>
            </a:r>
            <a:endParaRPr lang="en-US" b="1" dirty="0">
              <a:solidFill>
                <a:srgbClr val="FF0000"/>
              </a:solidFill>
            </a:endParaRPr>
          </a:p>
        </p:txBody>
      </p:sp>
      <p:sp>
        <p:nvSpPr>
          <p:cNvPr id="3" name="Content Placeholder 2"/>
          <p:cNvSpPr>
            <a:spLocks noGrp="1"/>
          </p:cNvSpPr>
          <p:nvPr>
            <p:ph idx="1"/>
          </p:nvPr>
        </p:nvSpPr>
        <p:spPr>
          <a:xfrm>
            <a:off x="838200" y="1405487"/>
            <a:ext cx="10515600" cy="4351338"/>
          </a:xfrm>
        </p:spPr>
        <p:txBody>
          <a:bodyPr>
            <a:normAutofit/>
          </a:bodyPr>
          <a:lstStyle/>
          <a:p>
            <a:pPr marL="0" indent="0">
              <a:buNone/>
            </a:pPr>
            <a:r>
              <a:rPr lang="en-US" sz="4400" b="1" dirty="0" smtClean="0">
                <a:solidFill>
                  <a:srgbClr val="FF0000"/>
                </a:solidFill>
              </a:rPr>
              <a:t>1. Planning </a:t>
            </a:r>
            <a:r>
              <a:rPr lang="en-US" sz="4400" b="1" dirty="0">
                <a:solidFill>
                  <a:srgbClr val="FF0000"/>
                </a:solidFill>
              </a:rPr>
              <a:t>the </a:t>
            </a:r>
            <a:r>
              <a:rPr lang="en-US" sz="4400" b="1" dirty="0" smtClean="0">
                <a:solidFill>
                  <a:srgbClr val="FF0000"/>
                </a:solidFill>
              </a:rPr>
              <a:t>test</a:t>
            </a:r>
            <a:endParaRPr lang="en-US" sz="4400" b="1" dirty="0" smtClean="0"/>
          </a:p>
          <a:p>
            <a:pPr marL="0" indent="0">
              <a:buNone/>
            </a:pPr>
            <a:r>
              <a:rPr lang="en-US" b="1" dirty="0" smtClean="0">
                <a:solidFill>
                  <a:srgbClr val="FF0000"/>
                </a:solidFill>
                <a:latin typeface="Times New Roman" pitchFamily="18" charset="0"/>
                <a:cs typeface="Times New Roman" pitchFamily="18" charset="0"/>
              </a:rPr>
              <a:t>Selecting test subjects:</a:t>
            </a:r>
          </a:p>
          <a:p>
            <a:r>
              <a:rPr lang="en-US" b="1" dirty="0" smtClean="0">
                <a:solidFill>
                  <a:srgbClr val="FF0000"/>
                </a:solidFill>
                <a:latin typeface="Times New Roman" pitchFamily="18" charset="0"/>
                <a:cs typeface="Times New Roman" pitchFamily="18" charset="0"/>
              </a:rPr>
              <a:t>How </a:t>
            </a:r>
            <a:r>
              <a:rPr lang="en-US" b="1" dirty="0">
                <a:solidFill>
                  <a:srgbClr val="FF0000"/>
                </a:solidFill>
                <a:latin typeface="Times New Roman" pitchFamily="18" charset="0"/>
                <a:cs typeface="Times New Roman" pitchFamily="18" charset="0"/>
              </a:rPr>
              <a:t>many test subjects</a:t>
            </a:r>
            <a:r>
              <a:rPr lang="en-US" b="1" dirty="0" smtClean="0">
                <a:solidFill>
                  <a:srgbClr val="FF0000"/>
                </a:solidFill>
                <a:latin typeface="Times New Roman" pitchFamily="18" charset="0"/>
                <a:cs typeface="Times New Roman" pitchFamily="18" charset="0"/>
              </a:rPr>
              <a:t>?</a:t>
            </a:r>
          </a:p>
          <a:p>
            <a:r>
              <a:rPr lang="en-US" sz="2000" dirty="0" smtClean="0">
                <a:latin typeface="Times New Roman" pitchFamily="18" charset="0"/>
                <a:cs typeface="Times New Roman" pitchFamily="18" charset="0"/>
              </a:rPr>
              <a:t> Focus </a:t>
            </a:r>
            <a:r>
              <a:rPr lang="en-US" sz="2000" dirty="0">
                <a:latin typeface="Times New Roman" pitchFamily="18" charset="0"/>
                <a:cs typeface="Times New Roman" pitchFamily="18" charset="0"/>
              </a:rPr>
              <a:t>on the target user group and test with as many people as time and budget allow.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Testing </a:t>
            </a:r>
            <a:r>
              <a:rPr lang="en-US" sz="2000" dirty="0">
                <a:latin typeface="Times New Roman" pitchFamily="18" charset="0"/>
                <a:cs typeface="Times New Roman" pitchFamily="18" charset="0"/>
              </a:rPr>
              <a:t>even one person is better than none, but aim for 5-15 participants for small projects and 20-50 for larger ones.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Usability </a:t>
            </a:r>
            <a:r>
              <a:rPr lang="en-US" sz="2000" dirty="0">
                <a:latin typeface="Times New Roman" pitchFamily="18" charset="0"/>
                <a:cs typeface="Times New Roman" pitchFamily="18" charset="0"/>
              </a:rPr>
              <a:t>testing is iterative: fix the draft, test again, and compile findings into a report with outcomes and suggested revisions</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a:p>
            <a:endParaRPr lang="en-US" sz="2000" b="1" dirty="0" smtClean="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21402639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What Should you test for?</a:t>
            </a:r>
            <a:endParaRPr lang="en-US" b="1" dirty="0">
              <a:solidFill>
                <a:srgbClr val="FF0000"/>
              </a:solidFill>
            </a:endParaRPr>
          </a:p>
        </p:txBody>
      </p:sp>
      <p:sp>
        <p:nvSpPr>
          <p:cNvPr id="3" name="Content Placeholder 2"/>
          <p:cNvSpPr>
            <a:spLocks noGrp="1"/>
          </p:cNvSpPr>
          <p:nvPr>
            <p:ph idx="1"/>
          </p:nvPr>
        </p:nvSpPr>
        <p:spPr/>
        <p:txBody>
          <a:bodyPr/>
          <a:lstStyle/>
          <a:p>
            <a:r>
              <a:rPr lang="en-US" dirty="0"/>
              <a:t>When conducting a usability test, it's important to determine following aspects of  document to evaluate. </a:t>
            </a:r>
          </a:p>
          <a:p>
            <a:r>
              <a:rPr lang="en-US" b="1" dirty="0">
                <a:solidFill>
                  <a:srgbClr val="00B0F0"/>
                </a:solidFill>
              </a:rPr>
              <a:t>Organization of information</a:t>
            </a:r>
          </a:p>
          <a:p>
            <a:r>
              <a:rPr lang="en-US" b="1" dirty="0">
                <a:solidFill>
                  <a:srgbClr val="00B0F0"/>
                </a:solidFill>
              </a:rPr>
              <a:t>Accessibility</a:t>
            </a:r>
          </a:p>
          <a:p>
            <a:r>
              <a:rPr lang="en-US" b="1" dirty="0">
                <a:solidFill>
                  <a:srgbClr val="00B0F0"/>
                </a:solidFill>
              </a:rPr>
              <a:t>Clarity and readability of prose</a:t>
            </a:r>
          </a:p>
          <a:p>
            <a:r>
              <a:rPr lang="en-US" b="1" dirty="0">
                <a:solidFill>
                  <a:srgbClr val="00B0F0"/>
                </a:solidFill>
              </a:rPr>
              <a:t>Completeness of prose</a:t>
            </a:r>
          </a:p>
          <a:p>
            <a:r>
              <a:rPr lang="en-US" b="1" dirty="0">
                <a:solidFill>
                  <a:srgbClr val="00B0F0"/>
                </a:solidFill>
              </a:rPr>
              <a:t>Appropriateness of visual aids.</a:t>
            </a:r>
            <a:br>
              <a:rPr lang="en-US" b="1" dirty="0">
                <a:solidFill>
                  <a:srgbClr val="00B0F0"/>
                </a:solidFill>
              </a:rPr>
            </a:br>
            <a:r>
              <a:rPr lang="en-US" b="1" dirty="0">
                <a:solidFill>
                  <a:srgbClr val="00B0F0"/>
                </a:solidFill>
              </a:rPr>
              <a:t/>
            </a:r>
            <a:br>
              <a:rPr lang="en-US" b="1" dirty="0">
                <a:solidFill>
                  <a:srgbClr val="00B0F0"/>
                </a:solidFill>
              </a:rPr>
            </a:br>
            <a:endParaRPr lang="en-US" b="1" dirty="0">
              <a:solidFill>
                <a:srgbClr val="00B0F0"/>
              </a:solidFill>
            </a:endParaRPr>
          </a:p>
          <a:p>
            <a:pPr>
              <a:buFontTx/>
              <a:buChar char="-"/>
            </a:pPr>
            <a:endParaRPr lang="en-US" b="1" dirty="0">
              <a:solidFill>
                <a:srgbClr val="00B0F0"/>
              </a:solidFill>
            </a:endParaRPr>
          </a:p>
          <a:p>
            <a:endParaRPr lang="en-US" dirty="0"/>
          </a:p>
        </p:txBody>
      </p:sp>
    </p:spTree>
    <p:extLst>
      <p:ext uri="{BB962C8B-B14F-4D97-AF65-F5344CB8AC3E}">
        <p14:creationId xmlns:p14="http://schemas.microsoft.com/office/powerpoint/2010/main" val="2814567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3200" b="1" dirty="0">
                <a:solidFill>
                  <a:srgbClr val="FF0000"/>
                </a:solidFill>
              </a:rPr>
              <a:t>What should you have users do during the test?</a:t>
            </a:r>
          </a:p>
          <a:p>
            <a:r>
              <a:rPr lang="en-US" dirty="0"/>
              <a:t>During a usability test, </a:t>
            </a:r>
            <a:r>
              <a:rPr lang="en-US" dirty="0">
                <a:solidFill>
                  <a:srgbClr val="00B0F0"/>
                </a:solidFill>
              </a:rPr>
              <a:t>users should be asked to perform tasks that are relevant to the goals of the document, considering users' environment, expertise, and potential misunderstandings.</a:t>
            </a:r>
          </a:p>
          <a:p>
            <a:r>
              <a:rPr lang="en-US" dirty="0"/>
              <a:t>Additionally, interviewing current users can provide valuable feedback to improve the next version.</a:t>
            </a:r>
            <a:br>
              <a:rPr lang="en-US" dirty="0"/>
            </a:br>
            <a:endParaRPr lang="en-US" dirty="0"/>
          </a:p>
          <a:p>
            <a:endParaRPr lang="en-US" dirty="0"/>
          </a:p>
        </p:txBody>
      </p:sp>
    </p:spTree>
    <p:extLst>
      <p:ext uri="{BB962C8B-B14F-4D97-AF65-F5344CB8AC3E}">
        <p14:creationId xmlns:p14="http://schemas.microsoft.com/office/powerpoint/2010/main" val="1069436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2. Designing </a:t>
            </a:r>
            <a:r>
              <a:rPr lang="en-US" b="1" dirty="0">
                <a:solidFill>
                  <a:srgbClr val="FF0000"/>
                </a:solidFill>
              </a:rPr>
              <a:t>the test</a:t>
            </a:r>
          </a:p>
        </p:txBody>
      </p:sp>
      <p:sp>
        <p:nvSpPr>
          <p:cNvPr id="3" name="Content Placeholder 2"/>
          <p:cNvSpPr>
            <a:spLocks noGrp="1"/>
          </p:cNvSpPr>
          <p:nvPr>
            <p:ph idx="1"/>
          </p:nvPr>
        </p:nvSpPr>
        <p:spPr>
          <a:xfrm>
            <a:off x="838200" y="1825625"/>
            <a:ext cx="10851776" cy="4718610"/>
          </a:xfrm>
        </p:spPr>
        <p:txBody>
          <a:bodyPr>
            <a:normAutofit fontScale="92500" lnSpcReduction="10000"/>
          </a:bodyPr>
          <a:lstStyle/>
          <a:p>
            <a:r>
              <a:rPr lang="en-US" dirty="0"/>
              <a:t>Designing a successful usability test involves several key steps. </a:t>
            </a:r>
          </a:p>
          <a:p>
            <a:r>
              <a:rPr lang="en-US" dirty="0"/>
              <a:t>First, </a:t>
            </a:r>
            <a:r>
              <a:rPr lang="en-US" dirty="0">
                <a:solidFill>
                  <a:srgbClr val="00B0F0"/>
                </a:solidFill>
              </a:rPr>
              <a:t>develop </a:t>
            </a:r>
            <a:r>
              <a:rPr lang="en-US" dirty="0" smtClean="0">
                <a:solidFill>
                  <a:srgbClr val="00B0F0"/>
                </a:solidFill>
              </a:rPr>
              <a:t>objectives of</a:t>
            </a:r>
            <a:r>
              <a:rPr lang="en-US" dirty="0" smtClean="0"/>
              <a:t> </a:t>
            </a:r>
            <a:r>
              <a:rPr lang="en-US" dirty="0"/>
              <a:t>the test that describe how users should be able to use the </a:t>
            </a:r>
            <a:r>
              <a:rPr lang="en-US" dirty="0" smtClean="0"/>
              <a:t>document.</a:t>
            </a:r>
            <a:r>
              <a:rPr lang="en-US" b="1" dirty="0" smtClean="0"/>
              <a:t> </a:t>
            </a:r>
          </a:p>
          <a:p>
            <a:r>
              <a:rPr lang="en-US" b="1" dirty="0" smtClean="0"/>
              <a:t>Write </a:t>
            </a:r>
            <a:r>
              <a:rPr lang="en-US" b="1" dirty="0"/>
              <a:t>three or four key objectives </a:t>
            </a:r>
            <a:r>
              <a:rPr lang="en-US" b="1" dirty="0" smtClean="0"/>
              <a:t> of test . </a:t>
            </a:r>
          </a:p>
          <a:p>
            <a:r>
              <a:rPr lang="en-US" dirty="0">
                <a:solidFill>
                  <a:srgbClr val="00B0F0"/>
                </a:solidFill>
              </a:rPr>
              <a:t>I</a:t>
            </a:r>
            <a:r>
              <a:rPr lang="en-US" dirty="0" smtClean="0">
                <a:solidFill>
                  <a:srgbClr val="00B0F0"/>
                </a:solidFill>
              </a:rPr>
              <a:t>dentify </a:t>
            </a:r>
            <a:r>
              <a:rPr lang="en-US" dirty="0">
                <a:solidFill>
                  <a:srgbClr val="00B0F0"/>
                </a:solidFill>
              </a:rPr>
              <a:t>and contact participants </a:t>
            </a:r>
            <a:r>
              <a:rPr lang="en-US" dirty="0"/>
              <a:t>who are willing to participate </a:t>
            </a:r>
            <a:r>
              <a:rPr lang="en-US" dirty="0" smtClean="0"/>
              <a:t>in the test.</a:t>
            </a:r>
            <a:endParaRPr lang="en-US" dirty="0"/>
          </a:p>
          <a:p>
            <a:r>
              <a:rPr lang="en-US" dirty="0" smtClean="0">
                <a:solidFill>
                  <a:srgbClr val="00B0F0"/>
                </a:solidFill>
              </a:rPr>
              <a:t>Figure </a:t>
            </a:r>
            <a:r>
              <a:rPr lang="en-US" dirty="0">
                <a:solidFill>
                  <a:srgbClr val="00B0F0"/>
                </a:solidFill>
              </a:rPr>
              <a:t>out where you will run the test</a:t>
            </a:r>
            <a:r>
              <a:rPr lang="en-US" dirty="0"/>
              <a:t>, ideally in the actual work environment where users will make use of the finished document. </a:t>
            </a:r>
          </a:p>
          <a:p>
            <a:r>
              <a:rPr lang="en-US" dirty="0">
                <a:solidFill>
                  <a:srgbClr val="00B0F0"/>
                </a:solidFill>
              </a:rPr>
              <a:t>Finally</a:t>
            </a:r>
            <a:r>
              <a:rPr lang="en-US" dirty="0"/>
              <a:t>, </a:t>
            </a:r>
            <a:r>
              <a:rPr lang="en-US" dirty="0">
                <a:solidFill>
                  <a:srgbClr val="00B0F0"/>
                </a:solidFill>
              </a:rPr>
              <a:t>create a handout to distribute to test users</a:t>
            </a:r>
            <a:r>
              <a:rPr lang="en-US" dirty="0"/>
              <a:t>, </a:t>
            </a:r>
            <a:r>
              <a:rPr lang="en-US" dirty="0" smtClean="0"/>
              <a:t>explaining </a:t>
            </a:r>
            <a:r>
              <a:rPr lang="en-US" dirty="0"/>
              <a:t>them what the test will </a:t>
            </a:r>
            <a:r>
              <a:rPr lang="en-US" dirty="0" smtClean="0"/>
              <a:t>involve or purpose </a:t>
            </a:r>
            <a:r>
              <a:rPr lang="en-US" dirty="0"/>
              <a:t>of the test, </a:t>
            </a:r>
            <a:r>
              <a:rPr lang="en-US" dirty="0" smtClean="0"/>
              <a:t>and what  </a:t>
            </a:r>
            <a:r>
              <a:rPr lang="en-US" dirty="0"/>
              <a:t>testers </a:t>
            </a:r>
            <a:r>
              <a:rPr lang="en-US" dirty="0" smtClean="0"/>
              <a:t>should do.</a:t>
            </a:r>
          </a:p>
          <a:p>
            <a:r>
              <a:rPr lang="en-US" dirty="0">
                <a:solidFill>
                  <a:srgbClr val="00B0F0"/>
                </a:solidFill>
              </a:rPr>
              <a:t>T</a:t>
            </a:r>
            <a:r>
              <a:rPr lang="en-US" dirty="0" smtClean="0">
                <a:solidFill>
                  <a:srgbClr val="00B0F0"/>
                </a:solidFill>
              </a:rPr>
              <a:t>hanking </a:t>
            </a:r>
            <a:r>
              <a:rPr lang="en-US" dirty="0">
                <a:solidFill>
                  <a:srgbClr val="00B0F0"/>
                </a:solidFill>
              </a:rPr>
              <a:t>them for participating</a:t>
            </a:r>
            <a:r>
              <a:rPr lang="en-US" dirty="0"/>
              <a:t>, and informing them that they can quit if they become too frustrated. </a:t>
            </a:r>
            <a:endParaRPr lang="en-US" b="1" dirty="0" smtClean="0"/>
          </a:p>
        </p:txBody>
      </p:sp>
    </p:spTree>
    <p:extLst>
      <p:ext uri="{BB962C8B-B14F-4D97-AF65-F5344CB8AC3E}">
        <p14:creationId xmlns:p14="http://schemas.microsoft.com/office/powerpoint/2010/main" val="36256093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838200" y="1516700"/>
            <a:ext cx="10515600" cy="4351338"/>
          </a:xfrm>
        </p:spPr>
        <p:txBody>
          <a:bodyPr>
            <a:normAutofit fontScale="92500" lnSpcReduction="20000"/>
          </a:bodyPr>
          <a:lstStyle/>
          <a:p>
            <a:r>
              <a:rPr lang="en-US" b="1" dirty="0">
                <a:solidFill>
                  <a:srgbClr val="C00000"/>
                </a:solidFill>
              </a:rPr>
              <a:t>Address these points in the handout: </a:t>
            </a:r>
          </a:p>
          <a:p>
            <a:pPr>
              <a:buFontTx/>
              <a:buChar char="-"/>
            </a:pPr>
            <a:r>
              <a:rPr lang="en-US" b="1" dirty="0" smtClean="0">
                <a:solidFill>
                  <a:srgbClr val="00B0F0"/>
                </a:solidFill>
              </a:rPr>
              <a:t>Summarize </a:t>
            </a:r>
            <a:r>
              <a:rPr lang="en-US" b="1" dirty="0">
                <a:solidFill>
                  <a:srgbClr val="00B0F0"/>
                </a:solidFill>
              </a:rPr>
              <a:t>the purpose of the </a:t>
            </a:r>
            <a:r>
              <a:rPr lang="en-US" b="1" dirty="0" smtClean="0">
                <a:solidFill>
                  <a:srgbClr val="00B0F0"/>
                </a:solidFill>
              </a:rPr>
              <a:t>test:</a:t>
            </a:r>
            <a:r>
              <a:rPr lang="en-US" b="1" dirty="0" smtClean="0"/>
              <a:t> </a:t>
            </a:r>
            <a:r>
              <a:rPr lang="en-US" dirty="0" smtClean="0"/>
              <a:t>The </a:t>
            </a:r>
            <a:r>
              <a:rPr lang="en-US" dirty="0"/>
              <a:t>purpose of the test is to identify any unclear, ambiguous, or lacking information in the draft document, as well as </a:t>
            </a:r>
            <a:r>
              <a:rPr lang="en-US" dirty="0" smtClean="0"/>
              <a:t> </a:t>
            </a:r>
            <a:r>
              <a:rPr lang="en-US" dirty="0"/>
              <a:t>ease of finding specific information or </a:t>
            </a:r>
            <a:r>
              <a:rPr lang="en-US" dirty="0" smtClean="0"/>
              <a:t>steps.</a:t>
            </a:r>
          </a:p>
          <a:p>
            <a:pPr>
              <a:buFontTx/>
              <a:buChar char="-"/>
            </a:pPr>
            <a:r>
              <a:rPr lang="en-US" b="1" dirty="0" smtClean="0">
                <a:solidFill>
                  <a:srgbClr val="00B0F0"/>
                </a:solidFill>
              </a:rPr>
              <a:t>Outline </a:t>
            </a:r>
            <a:r>
              <a:rPr lang="en-US" b="1" dirty="0">
                <a:solidFill>
                  <a:srgbClr val="00B0F0"/>
                </a:solidFill>
              </a:rPr>
              <a:t>what you want testers to </a:t>
            </a:r>
            <a:r>
              <a:rPr lang="en-US" b="1" dirty="0" smtClean="0">
                <a:solidFill>
                  <a:srgbClr val="00B0F0"/>
                </a:solidFill>
              </a:rPr>
              <a:t>do: </a:t>
            </a:r>
            <a:r>
              <a:rPr lang="en-US" dirty="0" smtClean="0"/>
              <a:t>ask users </a:t>
            </a:r>
            <a:r>
              <a:rPr lang="en-US" dirty="0"/>
              <a:t>to perform tasks they would normally do with your document. </a:t>
            </a:r>
            <a:endParaRPr lang="en-US" b="1" dirty="0"/>
          </a:p>
          <a:p>
            <a:pPr>
              <a:buFontTx/>
              <a:buChar char="-"/>
            </a:pPr>
            <a:r>
              <a:rPr lang="en-US" b="1" dirty="0" smtClean="0">
                <a:solidFill>
                  <a:srgbClr val="00B0F0"/>
                </a:solidFill>
              </a:rPr>
              <a:t>Thank </a:t>
            </a:r>
            <a:r>
              <a:rPr lang="en-US" b="1" dirty="0">
                <a:solidFill>
                  <a:srgbClr val="00B0F0"/>
                </a:solidFill>
              </a:rPr>
              <a:t>them for </a:t>
            </a:r>
            <a:r>
              <a:rPr lang="en-US" b="1" dirty="0" smtClean="0">
                <a:solidFill>
                  <a:srgbClr val="00B0F0"/>
                </a:solidFill>
              </a:rPr>
              <a:t>participating: </a:t>
            </a:r>
            <a:r>
              <a:rPr lang="en-US" dirty="0" smtClean="0"/>
              <a:t> </a:t>
            </a:r>
            <a:r>
              <a:rPr lang="en-US" dirty="0"/>
              <a:t>Thank the participants for taking the time to test your document and emphasize that the purpose of the test is to improve the document, not to evaluate their performance. </a:t>
            </a:r>
            <a:endParaRPr lang="en-US" dirty="0" smtClean="0"/>
          </a:p>
          <a:p>
            <a:pPr>
              <a:buFontTx/>
              <a:buChar char="-"/>
            </a:pPr>
            <a:r>
              <a:rPr lang="en-US" b="1" dirty="0" smtClean="0">
                <a:solidFill>
                  <a:srgbClr val="00B0F0"/>
                </a:solidFill>
              </a:rPr>
              <a:t>Inform </a:t>
            </a:r>
            <a:r>
              <a:rPr lang="en-US" b="1" dirty="0">
                <a:solidFill>
                  <a:srgbClr val="00B0F0"/>
                </a:solidFill>
              </a:rPr>
              <a:t>them that they can quit if they become too </a:t>
            </a:r>
            <a:r>
              <a:rPr lang="en-US" b="1" dirty="0" smtClean="0">
                <a:solidFill>
                  <a:srgbClr val="00B0F0"/>
                </a:solidFill>
              </a:rPr>
              <a:t>frustrated: </a:t>
            </a:r>
            <a:r>
              <a:rPr lang="en-US" dirty="0" smtClean="0"/>
              <a:t> </a:t>
            </a:r>
            <a:r>
              <a:rPr lang="en-US" dirty="0"/>
              <a:t>let your test participants know that their participation is voluntary and that they have the option to quit if they </a:t>
            </a:r>
            <a:r>
              <a:rPr lang="en-US" dirty="0" smtClean="0"/>
              <a:t>feel </a:t>
            </a:r>
            <a:r>
              <a:rPr lang="en-US" dirty="0"/>
              <a:t>excessive </a:t>
            </a:r>
            <a:r>
              <a:rPr lang="en-US" dirty="0" smtClean="0"/>
              <a:t>frustration/ </a:t>
            </a:r>
            <a:r>
              <a:rPr lang="en-US" dirty="0"/>
              <a:t>discomfort. </a:t>
            </a:r>
          </a:p>
          <a:p>
            <a:pPr marL="0" indent="0">
              <a:buNone/>
            </a:pPr>
            <a:endParaRPr lang="en-US" b="1" dirty="0"/>
          </a:p>
          <a:p>
            <a:endParaRPr lang="en-US" dirty="0"/>
          </a:p>
        </p:txBody>
      </p:sp>
    </p:spTree>
    <p:extLst>
      <p:ext uri="{BB962C8B-B14F-4D97-AF65-F5344CB8AC3E}">
        <p14:creationId xmlns:p14="http://schemas.microsoft.com/office/powerpoint/2010/main" val="36751818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3. Conducting </a:t>
            </a:r>
            <a:r>
              <a:rPr lang="en-US" b="1" dirty="0">
                <a:solidFill>
                  <a:srgbClr val="FF0000"/>
                </a:solidFill>
              </a:rPr>
              <a:t>the test</a:t>
            </a:r>
          </a:p>
        </p:txBody>
      </p:sp>
      <p:sp>
        <p:nvSpPr>
          <p:cNvPr id="3" name="Content Placeholder 2"/>
          <p:cNvSpPr>
            <a:spLocks noGrp="1"/>
          </p:cNvSpPr>
          <p:nvPr>
            <p:ph idx="1"/>
          </p:nvPr>
        </p:nvSpPr>
        <p:spPr/>
        <p:txBody>
          <a:bodyPr>
            <a:normAutofit/>
          </a:bodyPr>
          <a:lstStyle/>
          <a:p>
            <a:r>
              <a:rPr lang="en-US" b="1" dirty="0">
                <a:solidFill>
                  <a:srgbClr val="00B0F0"/>
                </a:solidFill>
              </a:rPr>
              <a:t>Finalize Your Handout and Test Plan</a:t>
            </a:r>
            <a:r>
              <a:rPr lang="en-US" dirty="0">
                <a:solidFill>
                  <a:srgbClr val="00B0F0"/>
                </a:solidFill>
              </a:rPr>
              <a:t>:</a:t>
            </a:r>
            <a:r>
              <a:rPr lang="en-US" dirty="0"/>
              <a:t> Ensure your handout and usability test are complete and well-prepared.</a:t>
            </a:r>
          </a:p>
          <a:p>
            <a:r>
              <a:rPr lang="en-US" b="1" dirty="0">
                <a:solidFill>
                  <a:srgbClr val="00B0F0"/>
                </a:solidFill>
              </a:rPr>
              <a:t>Schedule Sessions</a:t>
            </a:r>
            <a:r>
              <a:rPr lang="en-US" dirty="0">
                <a:solidFill>
                  <a:srgbClr val="00B0F0"/>
                </a:solidFill>
              </a:rPr>
              <a:t>:</a:t>
            </a:r>
            <a:r>
              <a:rPr lang="en-US" dirty="0"/>
              <a:t> Arrange specific dates and times with each volunteer for the test.</a:t>
            </a:r>
          </a:p>
          <a:p>
            <a:r>
              <a:rPr lang="en-US" b="1" dirty="0">
                <a:solidFill>
                  <a:srgbClr val="00B0F0"/>
                </a:solidFill>
              </a:rPr>
              <a:t>Observe the Test</a:t>
            </a:r>
            <a:r>
              <a:rPr lang="en-US" dirty="0">
                <a:solidFill>
                  <a:srgbClr val="00B0F0"/>
                </a:solidFill>
              </a:rPr>
              <a:t>:</a:t>
            </a:r>
            <a:r>
              <a:rPr lang="en-US" dirty="0"/>
              <a:t> Be present during the test to observe and take notes while volunteers interact with your draft.</a:t>
            </a:r>
          </a:p>
          <a:p>
            <a:r>
              <a:rPr lang="en-US" b="1" dirty="0">
                <a:solidFill>
                  <a:srgbClr val="00B0F0"/>
                </a:solidFill>
              </a:rPr>
              <a:t>Gather Feedback</a:t>
            </a:r>
            <a:r>
              <a:rPr lang="en-US" dirty="0">
                <a:solidFill>
                  <a:srgbClr val="00B0F0"/>
                </a:solidFill>
              </a:rPr>
              <a:t>:</a:t>
            </a:r>
            <a:r>
              <a:rPr lang="en-US" dirty="0"/>
              <a:t> After the test, ask volunteers for their thoughts and comments on the experience</a:t>
            </a:r>
            <a:r>
              <a:rPr lang="en-US" dirty="0" smtClean="0"/>
              <a:t>.</a:t>
            </a:r>
            <a:endParaRPr lang="en-US" dirty="0"/>
          </a:p>
        </p:txBody>
      </p:sp>
    </p:spTree>
    <p:extLst>
      <p:ext uri="{BB962C8B-B14F-4D97-AF65-F5344CB8AC3E}">
        <p14:creationId xmlns:p14="http://schemas.microsoft.com/office/powerpoint/2010/main" val="21684423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r>
              <a:rPr lang="en-US" b="1" dirty="0">
                <a:solidFill>
                  <a:srgbClr val="C00000"/>
                </a:solidFill>
              </a:rPr>
              <a:t>Plan to be present during each test so that you can do the following: </a:t>
            </a:r>
            <a:endParaRPr lang="en-US" b="1" dirty="0" smtClean="0">
              <a:solidFill>
                <a:srgbClr val="C00000"/>
              </a:solidFill>
            </a:endParaRPr>
          </a:p>
          <a:p>
            <a:pPr>
              <a:buFontTx/>
              <a:buChar char="-"/>
            </a:pPr>
            <a:r>
              <a:rPr lang="en-US" b="1" dirty="0" smtClean="0"/>
              <a:t>Record </a:t>
            </a:r>
            <a:r>
              <a:rPr lang="en-US" b="1" dirty="0"/>
              <a:t>any comments users make during the test. </a:t>
            </a:r>
          </a:p>
          <a:p>
            <a:pPr>
              <a:buFontTx/>
              <a:buChar char="-"/>
            </a:pPr>
            <a:r>
              <a:rPr lang="en-US" b="1" dirty="0" smtClean="0"/>
              <a:t>Note </a:t>
            </a:r>
            <a:r>
              <a:rPr lang="en-US" b="1" dirty="0"/>
              <a:t>problems they have or requests for help. </a:t>
            </a:r>
            <a:endParaRPr lang="en-US" b="1" dirty="0" smtClean="0"/>
          </a:p>
          <a:p>
            <a:pPr>
              <a:buFontTx/>
              <a:buChar char="-"/>
            </a:pPr>
            <a:r>
              <a:rPr lang="en-US" b="1" dirty="0" smtClean="0"/>
              <a:t>Identify </a:t>
            </a:r>
            <a:r>
              <a:rPr lang="en-US" b="1" dirty="0"/>
              <a:t>passages in the draft that confuse them. </a:t>
            </a:r>
            <a:endParaRPr lang="en-US" b="1" dirty="0" smtClean="0"/>
          </a:p>
          <a:p>
            <a:pPr>
              <a:buFontTx/>
              <a:buChar char="-"/>
            </a:pPr>
            <a:r>
              <a:rPr lang="en-US" b="1" dirty="0" smtClean="0"/>
              <a:t>Note </a:t>
            </a:r>
            <a:r>
              <a:rPr lang="en-US" b="1" dirty="0"/>
              <a:t>problems they have finding information. </a:t>
            </a:r>
            <a:endParaRPr lang="en-US" b="1" dirty="0" smtClean="0"/>
          </a:p>
          <a:p>
            <a:pPr>
              <a:buFontTx/>
              <a:buChar char="-"/>
            </a:pPr>
            <a:r>
              <a:rPr lang="en-US" b="1" dirty="0" smtClean="0"/>
              <a:t>Note </a:t>
            </a:r>
            <a:r>
              <a:rPr lang="en-US" b="1" dirty="0"/>
              <a:t>information that is not used (skipped over). </a:t>
            </a:r>
            <a:endParaRPr lang="en-US" b="1" dirty="0" smtClean="0"/>
          </a:p>
          <a:p>
            <a:pPr>
              <a:buFontTx/>
              <a:buChar char="-"/>
            </a:pPr>
            <a:r>
              <a:rPr lang="en-US" b="1" dirty="0" smtClean="0"/>
              <a:t>Note </a:t>
            </a:r>
            <a:r>
              <a:rPr lang="en-US" b="1" dirty="0"/>
              <a:t>any strategies they use to overcome obstacles they encounter</a:t>
            </a:r>
          </a:p>
        </p:txBody>
      </p:sp>
    </p:spTree>
    <p:extLst>
      <p:ext uri="{BB962C8B-B14F-4D97-AF65-F5344CB8AC3E}">
        <p14:creationId xmlns:p14="http://schemas.microsoft.com/office/powerpoint/2010/main" val="24938804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Remember</a:t>
            </a:r>
            <a:endParaRPr lang="en-US" b="1"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r>
              <a:rPr lang="en-US" b="1" dirty="0">
                <a:solidFill>
                  <a:srgbClr val="00B0F0"/>
                </a:solidFill>
              </a:rPr>
              <a:t>D</a:t>
            </a:r>
            <a:r>
              <a:rPr lang="en-US" b="1" dirty="0" smtClean="0">
                <a:solidFill>
                  <a:srgbClr val="00B0F0"/>
                </a:solidFill>
              </a:rPr>
              <a:t>emonstrate </a:t>
            </a:r>
            <a:r>
              <a:rPr lang="en-US" b="1" dirty="0">
                <a:solidFill>
                  <a:srgbClr val="00B0F0"/>
                </a:solidFill>
              </a:rPr>
              <a:t>the </a:t>
            </a:r>
            <a:r>
              <a:rPr lang="en-US" b="1" dirty="0" smtClean="0">
                <a:solidFill>
                  <a:srgbClr val="00B0F0"/>
                </a:solidFill>
              </a:rPr>
              <a:t>equipment: </a:t>
            </a:r>
            <a:r>
              <a:rPr lang="en-US" dirty="0" smtClean="0"/>
              <a:t>Ensure </a:t>
            </a:r>
            <a:r>
              <a:rPr lang="en-US" dirty="0"/>
              <a:t>users are familiar with the equipment</a:t>
            </a:r>
          </a:p>
          <a:p>
            <a:r>
              <a:rPr lang="en-US" dirty="0"/>
              <a:t>Explain the purpose and how to use the </a:t>
            </a:r>
            <a:r>
              <a:rPr lang="en-US" dirty="0" smtClean="0"/>
              <a:t>equipment</a:t>
            </a:r>
          </a:p>
          <a:p>
            <a:r>
              <a:rPr lang="en-US" b="1" dirty="0" smtClean="0">
                <a:solidFill>
                  <a:srgbClr val="00B0F0"/>
                </a:solidFill>
              </a:rPr>
              <a:t>Explain </a:t>
            </a:r>
            <a:r>
              <a:rPr lang="en-US" b="1" dirty="0">
                <a:solidFill>
                  <a:srgbClr val="00B0F0"/>
                </a:solidFill>
              </a:rPr>
              <a:t>how to “think aloud</a:t>
            </a:r>
            <a:r>
              <a:rPr lang="en-US" b="1" dirty="0" smtClean="0">
                <a:solidFill>
                  <a:srgbClr val="00B0F0"/>
                </a:solidFill>
              </a:rPr>
              <a:t>”</a:t>
            </a:r>
            <a:r>
              <a:rPr lang="en-US" dirty="0">
                <a:solidFill>
                  <a:srgbClr val="00B0F0"/>
                </a:solidFill>
              </a:rPr>
              <a:t> </a:t>
            </a:r>
            <a:r>
              <a:rPr lang="en-US" dirty="0" smtClean="0">
                <a:solidFill>
                  <a:srgbClr val="00B0F0"/>
                </a:solidFill>
              </a:rPr>
              <a:t>:</a:t>
            </a:r>
            <a:r>
              <a:rPr lang="en-US" dirty="0" smtClean="0"/>
              <a:t> Ask </a:t>
            </a:r>
            <a:r>
              <a:rPr lang="en-US" dirty="0"/>
              <a:t>users to speak aloud what they are thinking as they perform tasks</a:t>
            </a:r>
          </a:p>
          <a:p>
            <a:r>
              <a:rPr lang="en-US" dirty="0"/>
              <a:t>Use thinking aloud to get insight into what </a:t>
            </a:r>
            <a:r>
              <a:rPr lang="en-US" dirty="0" smtClean="0"/>
              <a:t>users experience </a:t>
            </a:r>
            <a:r>
              <a:rPr lang="en-US" dirty="0"/>
              <a:t>and identify potential problems with the </a:t>
            </a:r>
            <a:r>
              <a:rPr lang="en-US" dirty="0" smtClean="0"/>
              <a:t>draft</a:t>
            </a:r>
          </a:p>
          <a:p>
            <a:r>
              <a:rPr lang="en-US" b="1" dirty="0" smtClean="0">
                <a:solidFill>
                  <a:srgbClr val="00B0F0"/>
                </a:solidFill>
              </a:rPr>
              <a:t>Describe </a:t>
            </a:r>
            <a:r>
              <a:rPr lang="en-US" b="1" dirty="0">
                <a:solidFill>
                  <a:srgbClr val="00B0F0"/>
                </a:solidFill>
              </a:rPr>
              <a:t>the </a:t>
            </a:r>
            <a:r>
              <a:rPr lang="en-US" b="1" dirty="0" smtClean="0">
                <a:solidFill>
                  <a:srgbClr val="00B0F0"/>
                </a:solidFill>
              </a:rPr>
              <a:t>tasks:</a:t>
            </a:r>
            <a:r>
              <a:rPr lang="en-US" b="1" dirty="0" smtClean="0"/>
              <a:t> </a:t>
            </a:r>
            <a:r>
              <a:rPr lang="en-US" dirty="0" smtClean="0"/>
              <a:t>Give </a:t>
            </a:r>
            <a:r>
              <a:rPr lang="en-US" dirty="0"/>
              <a:t>users the handout and time to read and ask </a:t>
            </a:r>
            <a:r>
              <a:rPr lang="en-US" dirty="0" smtClean="0"/>
              <a:t>questions</a:t>
            </a:r>
          </a:p>
          <a:p>
            <a:r>
              <a:rPr lang="en-US" b="1" dirty="0" smtClean="0">
                <a:solidFill>
                  <a:srgbClr val="00B0F0"/>
                </a:solidFill>
              </a:rPr>
              <a:t>Once </a:t>
            </a:r>
            <a:r>
              <a:rPr lang="en-US" b="1" dirty="0">
                <a:solidFill>
                  <a:srgbClr val="00B0F0"/>
                </a:solidFill>
              </a:rPr>
              <a:t>the test begins, do not talk to your </a:t>
            </a:r>
            <a:r>
              <a:rPr lang="en-US" b="1" dirty="0" smtClean="0">
                <a:solidFill>
                  <a:srgbClr val="00B0F0"/>
                </a:solidFill>
              </a:rPr>
              <a:t>tester:</a:t>
            </a:r>
            <a:r>
              <a:rPr lang="en-US" b="1" dirty="0" smtClean="0"/>
              <a:t> </a:t>
            </a:r>
            <a:r>
              <a:rPr lang="en-US" dirty="0" smtClean="0"/>
              <a:t>During </a:t>
            </a:r>
            <a:r>
              <a:rPr lang="en-US" dirty="0"/>
              <a:t>the test, </a:t>
            </a:r>
            <a:r>
              <a:rPr lang="en-US" dirty="0" smtClean="0"/>
              <a:t>do not </a:t>
            </a:r>
            <a:r>
              <a:rPr lang="en-US" dirty="0"/>
              <a:t>talk to the testers unless they reach an </a:t>
            </a:r>
            <a:r>
              <a:rPr lang="en-US" dirty="0" smtClean="0"/>
              <a:t>dead end </a:t>
            </a:r>
            <a:r>
              <a:rPr lang="en-US" dirty="0"/>
              <a:t>and are unable to proceed. </a:t>
            </a:r>
            <a:endParaRPr lang="en-US" dirty="0" smtClean="0"/>
          </a:p>
          <a:p>
            <a:r>
              <a:rPr lang="en-US" b="1" dirty="0" smtClean="0">
                <a:solidFill>
                  <a:srgbClr val="00B0F0"/>
                </a:solidFill>
              </a:rPr>
              <a:t>Concluding </a:t>
            </a:r>
            <a:r>
              <a:rPr lang="en-US" b="1" dirty="0">
                <a:solidFill>
                  <a:srgbClr val="00B0F0"/>
                </a:solidFill>
              </a:rPr>
              <a:t>the </a:t>
            </a:r>
            <a:r>
              <a:rPr lang="en-US" b="1" dirty="0" smtClean="0">
                <a:solidFill>
                  <a:srgbClr val="00B0F0"/>
                </a:solidFill>
              </a:rPr>
              <a:t>test:</a:t>
            </a:r>
            <a:r>
              <a:rPr lang="en-US" b="1" dirty="0" smtClean="0"/>
              <a:t> </a:t>
            </a:r>
            <a:r>
              <a:rPr lang="en-US" dirty="0" smtClean="0"/>
              <a:t>Observing </a:t>
            </a:r>
            <a:r>
              <a:rPr lang="en-US" dirty="0"/>
              <a:t>where the users run into difficulty can be valuable to understand their strategies in overcoming obstacles. </a:t>
            </a:r>
          </a:p>
          <a:p>
            <a:endParaRPr lang="en-US" b="1" dirty="0"/>
          </a:p>
        </p:txBody>
      </p:sp>
    </p:spTree>
    <p:extLst>
      <p:ext uri="{BB962C8B-B14F-4D97-AF65-F5344CB8AC3E}">
        <p14:creationId xmlns:p14="http://schemas.microsoft.com/office/powerpoint/2010/main" val="24232961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299"/>
            <a:ext cx="10515600" cy="1325563"/>
          </a:xfrm>
        </p:spPr>
        <p:txBody>
          <a:bodyPr/>
          <a:lstStyle/>
          <a:p>
            <a:r>
              <a:rPr lang="en-US" b="1" dirty="0" smtClean="0">
                <a:solidFill>
                  <a:srgbClr val="FF0000"/>
                </a:solidFill>
              </a:rPr>
              <a:t>4. Reporting </a:t>
            </a:r>
            <a:r>
              <a:rPr lang="en-US" b="1" dirty="0">
                <a:solidFill>
                  <a:srgbClr val="FF0000"/>
                </a:solidFill>
              </a:rPr>
              <a:t>your results</a:t>
            </a:r>
          </a:p>
        </p:txBody>
      </p:sp>
      <p:sp>
        <p:nvSpPr>
          <p:cNvPr id="3" name="Content Placeholder 2"/>
          <p:cNvSpPr>
            <a:spLocks noGrp="1"/>
          </p:cNvSpPr>
          <p:nvPr>
            <p:ph idx="1"/>
          </p:nvPr>
        </p:nvSpPr>
        <p:spPr>
          <a:xfrm>
            <a:off x="838200" y="1108919"/>
            <a:ext cx="10515600" cy="4351338"/>
          </a:xfrm>
        </p:spPr>
        <p:txBody>
          <a:bodyPr>
            <a:normAutofit fontScale="25000" lnSpcReduction="20000"/>
          </a:bodyPr>
          <a:lstStyle/>
          <a:p>
            <a:r>
              <a:rPr lang="en-US" sz="7200" b="1" dirty="0">
                <a:solidFill>
                  <a:srgbClr val="C00000"/>
                </a:solidFill>
              </a:rPr>
              <a:t>Here is a list of the information to include and discuss in the report: </a:t>
            </a:r>
            <a:endParaRPr lang="en-US" sz="7200" b="1" dirty="0" smtClean="0">
              <a:solidFill>
                <a:srgbClr val="C00000"/>
              </a:solidFill>
            </a:endParaRPr>
          </a:p>
          <a:p>
            <a:pPr>
              <a:buFontTx/>
              <a:buChar char="-"/>
            </a:pPr>
            <a:r>
              <a:rPr lang="en-US" sz="7200" b="1" dirty="0" smtClean="0">
                <a:solidFill>
                  <a:srgbClr val="00B0F0"/>
                </a:solidFill>
              </a:rPr>
              <a:t>The </a:t>
            </a:r>
            <a:r>
              <a:rPr lang="en-US" sz="7200" b="1" dirty="0">
                <a:solidFill>
                  <a:srgbClr val="00B0F0"/>
                </a:solidFill>
              </a:rPr>
              <a:t>objectives of the test </a:t>
            </a:r>
            <a:r>
              <a:rPr lang="en-US" sz="7200" b="1" dirty="0" smtClean="0">
                <a:solidFill>
                  <a:srgbClr val="00B0F0"/>
                </a:solidFill>
              </a:rPr>
              <a:t>:</a:t>
            </a:r>
            <a:r>
              <a:rPr lang="en-US" sz="7200" b="1" dirty="0" smtClean="0"/>
              <a:t> </a:t>
            </a:r>
            <a:r>
              <a:rPr lang="en-US" sz="7200" dirty="0" smtClean="0"/>
              <a:t>explain </a:t>
            </a:r>
            <a:r>
              <a:rPr lang="en-US" sz="7200" dirty="0"/>
              <a:t>the objectives you </a:t>
            </a:r>
            <a:r>
              <a:rPr lang="en-US" sz="7200" dirty="0" smtClean="0"/>
              <a:t> </a:t>
            </a:r>
            <a:r>
              <a:rPr lang="en-US" sz="7200" dirty="0"/>
              <a:t>listed in your handout to test users</a:t>
            </a:r>
            <a:endParaRPr lang="en-US" sz="7200" b="1" dirty="0"/>
          </a:p>
          <a:p>
            <a:pPr>
              <a:buFontTx/>
              <a:buChar char="-"/>
            </a:pPr>
            <a:r>
              <a:rPr lang="en-US" sz="7200" b="1" dirty="0" smtClean="0">
                <a:solidFill>
                  <a:srgbClr val="00B0F0"/>
                </a:solidFill>
              </a:rPr>
              <a:t>The </a:t>
            </a:r>
            <a:r>
              <a:rPr lang="en-US" sz="7200" b="1" dirty="0">
                <a:solidFill>
                  <a:srgbClr val="00B0F0"/>
                </a:solidFill>
              </a:rPr>
              <a:t>target users’ level of knowledge within the subject matter of the </a:t>
            </a:r>
            <a:r>
              <a:rPr lang="en-US" sz="7200" b="1" dirty="0" smtClean="0">
                <a:solidFill>
                  <a:srgbClr val="00B0F0"/>
                </a:solidFill>
              </a:rPr>
              <a:t>document: </a:t>
            </a:r>
            <a:r>
              <a:rPr lang="en-US" sz="7200" dirty="0" smtClean="0"/>
              <a:t>Focus </a:t>
            </a:r>
            <a:r>
              <a:rPr lang="en-US" sz="7200" dirty="0"/>
              <a:t>audience for your document and their level of knowledge and experience with the subject matter</a:t>
            </a:r>
            <a:r>
              <a:rPr lang="en-US" sz="7200" dirty="0" smtClean="0"/>
              <a:t>. </a:t>
            </a:r>
            <a:endParaRPr lang="en-US" sz="7200" b="1" dirty="0" smtClean="0"/>
          </a:p>
          <a:p>
            <a:pPr>
              <a:buFontTx/>
              <a:buChar char="-"/>
            </a:pPr>
            <a:r>
              <a:rPr lang="en-US" sz="7200" b="1" dirty="0" smtClean="0">
                <a:solidFill>
                  <a:srgbClr val="00B0F0"/>
                </a:solidFill>
              </a:rPr>
              <a:t>A </a:t>
            </a:r>
            <a:r>
              <a:rPr lang="en-US" sz="7200" b="1" dirty="0">
                <a:solidFill>
                  <a:srgbClr val="00B0F0"/>
                </a:solidFill>
              </a:rPr>
              <a:t>description of the test </a:t>
            </a:r>
            <a:r>
              <a:rPr lang="en-US" sz="7200" b="1" dirty="0" smtClean="0">
                <a:solidFill>
                  <a:srgbClr val="00B0F0"/>
                </a:solidFill>
              </a:rPr>
              <a:t>subjects:</a:t>
            </a:r>
            <a:r>
              <a:rPr lang="en-US" sz="7200" b="1" dirty="0" smtClean="0"/>
              <a:t> </a:t>
            </a:r>
            <a:r>
              <a:rPr lang="en-US" sz="7200" dirty="0" smtClean="0"/>
              <a:t> </a:t>
            </a:r>
            <a:r>
              <a:rPr lang="en-US" sz="7200" dirty="0"/>
              <a:t>relevant details of test user such as their demographic profiles and level of experience with the subject </a:t>
            </a:r>
            <a:r>
              <a:rPr lang="en-US" sz="7200" dirty="0" smtClean="0"/>
              <a:t>matter</a:t>
            </a:r>
            <a:endParaRPr lang="en-US" sz="7200" b="1" dirty="0" smtClean="0"/>
          </a:p>
          <a:p>
            <a:r>
              <a:rPr lang="en-US" sz="7200" b="1" dirty="0" smtClean="0"/>
              <a:t> </a:t>
            </a:r>
            <a:r>
              <a:rPr lang="en-US" sz="7200" b="1" dirty="0">
                <a:solidFill>
                  <a:srgbClr val="00B0F0"/>
                </a:solidFill>
              </a:rPr>
              <a:t>The task assigned to test </a:t>
            </a:r>
            <a:r>
              <a:rPr lang="en-US" sz="7200" b="1" dirty="0" smtClean="0">
                <a:solidFill>
                  <a:srgbClr val="00B0F0"/>
                </a:solidFill>
              </a:rPr>
              <a:t>subjects</a:t>
            </a:r>
            <a:r>
              <a:rPr lang="en-US" sz="7200" dirty="0">
                <a:solidFill>
                  <a:srgbClr val="00B0F0"/>
                </a:solidFill>
              </a:rPr>
              <a:t> </a:t>
            </a:r>
            <a:r>
              <a:rPr lang="en-US" sz="7200" dirty="0" smtClean="0">
                <a:solidFill>
                  <a:srgbClr val="00B0F0"/>
                </a:solidFill>
              </a:rPr>
              <a:t>:</a:t>
            </a:r>
            <a:r>
              <a:rPr lang="en-US" sz="7200" dirty="0" smtClean="0"/>
              <a:t> tasks </a:t>
            </a:r>
            <a:r>
              <a:rPr lang="en-US" sz="7200" dirty="0"/>
              <a:t>assigned to the users during the usability test. </a:t>
            </a:r>
          </a:p>
          <a:p>
            <a:r>
              <a:rPr lang="en-US" sz="7200" dirty="0"/>
              <a:t> context for the task as well as a list of steps or actions that the users were instructed to take.</a:t>
            </a:r>
            <a:r>
              <a:rPr lang="en-US" sz="7200" b="1" dirty="0" smtClean="0"/>
              <a:t> </a:t>
            </a:r>
          </a:p>
          <a:p>
            <a:r>
              <a:rPr lang="en-US" sz="7200" b="1" dirty="0" smtClean="0"/>
              <a:t> </a:t>
            </a:r>
            <a:r>
              <a:rPr lang="en-US" sz="7200" b="1" dirty="0">
                <a:solidFill>
                  <a:srgbClr val="00B0F0"/>
                </a:solidFill>
              </a:rPr>
              <a:t>What happened during the test </a:t>
            </a:r>
            <a:r>
              <a:rPr lang="en-US" sz="7200" b="1" dirty="0" smtClean="0">
                <a:solidFill>
                  <a:srgbClr val="00B0F0"/>
                </a:solidFill>
              </a:rPr>
              <a:t>:</a:t>
            </a:r>
            <a:r>
              <a:rPr lang="en-US" sz="7200" b="1" dirty="0" smtClean="0"/>
              <a:t> </a:t>
            </a:r>
            <a:r>
              <a:rPr lang="en-US" sz="7200" dirty="0"/>
              <a:t>provide detailed </a:t>
            </a:r>
            <a:r>
              <a:rPr lang="en-US" sz="7200" dirty="0" smtClean="0"/>
              <a:t>information  how </a:t>
            </a:r>
            <a:r>
              <a:rPr lang="en-US" sz="7200" dirty="0"/>
              <a:t>tests went, </a:t>
            </a:r>
            <a:r>
              <a:rPr lang="en-US" sz="7200" dirty="0" smtClean="0"/>
              <a:t>which helps </a:t>
            </a:r>
            <a:r>
              <a:rPr lang="en-US" sz="7200" dirty="0"/>
              <a:t>to evaluate the validity and reliability of the results. </a:t>
            </a:r>
            <a:endParaRPr lang="en-US" sz="7200" dirty="0" smtClean="0"/>
          </a:p>
          <a:p>
            <a:r>
              <a:rPr lang="en-US" sz="7200" b="1" dirty="0" smtClean="0">
                <a:solidFill>
                  <a:srgbClr val="00B0F0"/>
                </a:solidFill>
              </a:rPr>
              <a:t>Comments </a:t>
            </a:r>
            <a:r>
              <a:rPr lang="en-US" sz="7200" b="1" dirty="0">
                <a:solidFill>
                  <a:srgbClr val="00B0F0"/>
                </a:solidFill>
              </a:rPr>
              <a:t>of the users (optional) </a:t>
            </a:r>
            <a:r>
              <a:rPr lang="en-US" sz="7200" b="1" dirty="0" smtClean="0">
                <a:solidFill>
                  <a:srgbClr val="00B0F0"/>
                </a:solidFill>
              </a:rPr>
              <a:t>:</a:t>
            </a:r>
            <a:r>
              <a:rPr lang="en-US" sz="7200" b="1" dirty="0" smtClean="0"/>
              <a:t> </a:t>
            </a:r>
            <a:r>
              <a:rPr lang="en-US" sz="7200" dirty="0" smtClean="0"/>
              <a:t>comments </a:t>
            </a:r>
            <a:r>
              <a:rPr lang="en-US" sz="7200" dirty="0"/>
              <a:t>of the users </a:t>
            </a:r>
            <a:r>
              <a:rPr lang="en-US" sz="7200" dirty="0" smtClean="0"/>
              <a:t>functions as a feedback </a:t>
            </a:r>
            <a:r>
              <a:rPr lang="en-US" sz="7200" dirty="0"/>
              <a:t>that can improve the quality and clarity of the document</a:t>
            </a:r>
            <a:r>
              <a:rPr lang="en-US" sz="7200" dirty="0" smtClean="0"/>
              <a:t>.</a:t>
            </a:r>
          </a:p>
          <a:p>
            <a:r>
              <a:rPr lang="en-US" sz="7200" b="1" dirty="0" smtClean="0">
                <a:solidFill>
                  <a:srgbClr val="00B0F0"/>
                </a:solidFill>
              </a:rPr>
              <a:t>Plans </a:t>
            </a:r>
            <a:r>
              <a:rPr lang="en-US" sz="7200" b="1" dirty="0">
                <a:solidFill>
                  <a:srgbClr val="00B0F0"/>
                </a:solidFill>
              </a:rPr>
              <a:t>for revising the </a:t>
            </a:r>
            <a:r>
              <a:rPr lang="en-US" sz="7200" b="1" dirty="0" smtClean="0">
                <a:solidFill>
                  <a:srgbClr val="00B0F0"/>
                </a:solidFill>
              </a:rPr>
              <a:t>document: </a:t>
            </a:r>
            <a:r>
              <a:rPr lang="en-US" sz="7200" dirty="0"/>
              <a:t>highlight the main areas that require revision based on the results of the usability tests.</a:t>
            </a:r>
            <a:endParaRPr lang="en-US" sz="7200" b="1" dirty="0" smtClean="0"/>
          </a:p>
          <a:p>
            <a:pPr>
              <a:buFontTx/>
              <a:buChar char="-"/>
            </a:pPr>
            <a:r>
              <a:rPr lang="en-US" sz="7200" b="1" dirty="0" smtClean="0">
                <a:solidFill>
                  <a:srgbClr val="00B0F0"/>
                </a:solidFill>
              </a:rPr>
              <a:t> </a:t>
            </a:r>
            <a:r>
              <a:rPr lang="en-US" sz="7200" b="1" dirty="0">
                <a:solidFill>
                  <a:srgbClr val="00B0F0"/>
                </a:solidFill>
              </a:rPr>
              <a:t>A copy of the instructions given to the test subjects (as an appendix). </a:t>
            </a:r>
            <a:endParaRPr lang="en-US" sz="7200" b="1" dirty="0" smtClean="0">
              <a:solidFill>
                <a:srgbClr val="00B0F0"/>
              </a:solidFill>
            </a:endParaRPr>
          </a:p>
          <a:p>
            <a:pPr>
              <a:buFontTx/>
              <a:buChar char="-"/>
            </a:pPr>
            <a:r>
              <a:rPr lang="en-US" sz="7200" dirty="0" smtClean="0"/>
              <a:t>Use </a:t>
            </a:r>
            <a:r>
              <a:rPr lang="en-US" sz="7200" dirty="0"/>
              <a:t>these topics as headings for your report and discuss the details in each section. Strive for both completeness and brevity in your report.</a:t>
            </a:r>
            <a:br>
              <a:rPr lang="en-US" sz="7200" dirty="0"/>
            </a:br>
            <a:endParaRPr lang="en-US" sz="7200" dirty="0"/>
          </a:p>
          <a:p>
            <a:pPr>
              <a:buFontTx/>
              <a:buChar char="-"/>
            </a:pPr>
            <a:endParaRPr lang="en-US" b="1" dirty="0"/>
          </a:p>
        </p:txBody>
      </p:sp>
    </p:spTree>
    <p:extLst>
      <p:ext uri="{BB962C8B-B14F-4D97-AF65-F5344CB8AC3E}">
        <p14:creationId xmlns:p14="http://schemas.microsoft.com/office/powerpoint/2010/main" val="22915035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FF0000"/>
                </a:solidFill>
              </a:rPr>
              <a:t>Rhetorical challenges of writing a usability report</a:t>
            </a:r>
          </a:p>
        </p:txBody>
      </p:sp>
      <p:sp>
        <p:nvSpPr>
          <p:cNvPr id="3" name="Content Placeholder 2"/>
          <p:cNvSpPr>
            <a:spLocks noGrp="1"/>
          </p:cNvSpPr>
          <p:nvPr>
            <p:ph idx="1"/>
          </p:nvPr>
        </p:nvSpPr>
        <p:spPr>
          <a:xfrm>
            <a:off x="838200" y="1380773"/>
            <a:ext cx="10515600" cy="4351338"/>
          </a:xfrm>
        </p:spPr>
        <p:txBody>
          <a:bodyPr>
            <a:noAutofit/>
          </a:bodyPr>
          <a:lstStyle/>
          <a:p>
            <a:r>
              <a:rPr lang="en-US" sz="2400" b="1" dirty="0">
                <a:solidFill>
                  <a:srgbClr val="00B0F0"/>
                </a:solidFill>
                <a:latin typeface="Times New Roman" pitchFamily="18" charset="0"/>
                <a:cs typeface="Times New Roman" pitchFamily="18" charset="0"/>
              </a:rPr>
              <a:t>A</a:t>
            </a:r>
            <a:r>
              <a:rPr lang="en-US" sz="2400" b="1" dirty="0" smtClean="0">
                <a:solidFill>
                  <a:srgbClr val="00B0F0"/>
                </a:solidFill>
                <a:latin typeface="Times New Roman" pitchFamily="18" charset="0"/>
                <a:cs typeface="Times New Roman" pitchFamily="18" charset="0"/>
              </a:rPr>
              <a:t>nalyzing </a:t>
            </a:r>
            <a:r>
              <a:rPr lang="en-US" sz="2400" b="1" dirty="0">
                <a:solidFill>
                  <a:srgbClr val="00B0F0"/>
                </a:solidFill>
                <a:latin typeface="Times New Roman" pitchFamily="18" charset="0"/>
                <a:cs typeface="Times New Roman" pitchFamily="18" charset="0"/>
              </a:rPr>
              <a:t>your </a:t>
            </a:r>
            <a:r>
              <a:rPr lang="en-US" sz="2400" b="1" dirty="0" smtClean="0">
                <a:solidFill>
                  <a:srgbClr val="00B0F0"/>
                </a:solidFill>
                <a:latin typeface="Times New Roman" pitchFamily="18" charset="0"/>
                <a:cs typeface="Times New Roman" pitchFamily="18" charset="0"/>
              </a:rPr>
              <a:t>data:</a:t>
            </a:r>
            <a:r>
              <a:rPr lang="en-US" sz="2400" dirty="0" smtClean="0">
                <a:latin typeface="Times New Roman" pitchFamily="18" charset="0"/>
                <a:cs typeface="Times New Roman" pitchFamily="18" charset="0"/>
              </a:rPr>
              <a:t> To </a:t>
            </a:r>
            <a:r>
              <a:rPr lang="en-US" sz="2400" dirty="0">
                <a:latin typeface="Times New Roman" pitchFamily="18" charset="0"/>
                <a:cs typeface="Times New Roman" pitchFamily="18" charset="0"/>
              </a:rPr>
              <a:t>identify significant changes that can be made to improve document</a:t>
            </a:r>
            <a:r>
              <a:rPr lang="en-US" sz="2400" dirty="0" smtClean="0">
                <a:latin typeface="Times New Roman" pitchFamily="18" charset="0"/>
                <a:cs typeface="Times New Roman" pitchFamily="18" charset="0"/>
              </a:rPr>
              <a:t>.</a:t>
            </a:r>
            <a:endParaRPr lang="en-US" sz="2400" b="1" dirty="0" smtClean="0">
              <a:latin typeface="Times New Roman" pitchFamily="18" charset="0"/>
              <a:cs typeface="Times New Roman" pitchFamily="18" charset="0"/>
            </a:endParaRPr>
          </a:p>
          <a:p>
            <a:r>
              <a:rPr lang="en-US" sz="2400" b="1" dirty="0">
                <a:solidFill>
                  <a:srgbClr val="00B0F0"/>
                </a:solidFill>
                <a:latin typeface="Times New Roman" pitchFamily="18" charset="0"/>
                <a:cs typeface="Times New Roman" pitchFamily="18" charset="0"/>
              </a:rPr>
              <a:t>W</a:t>
            </a:r>
            <a:r>
              <a:rPr lang="en-US" sz="2400" b="1" dirty="0" smtClean="0">
                <a:solidFill>
                  <a:srgbClr val="00B0F0"/>
                </a:solidFill>
                <a:latin typeface="Times New Roman" pitchFamily="18" charset="0"/>
                <a:cs typeface="Times New Roman" pitchFamily="18" charset="0"/>
              </a:rPr>
              <a:t>riting </a:t>
            </a:r>
            <a:r>
              <a:rPr lang="en-US" sz="2400" b="1" dirty="0">
                <a:solidFill>
                  <a:srgbClr val="00B0F0"/>
                </a:solidFill>
                <a:latin typeface="Times New Roman" pitchFamily="18" charset="0"/>
                <a:cs typeface="Times New Roman" pitchFamily="18" charset="0"/>
              </a:rPr>
              <a:t>the </a:t>
            </a:r>
            <a:r>
              <a:rPr lang="en-US" sz="2400" b="1" dirty="0" smtClean="0">
                <a:solidFill>
                  <a:srgbClr val="00B0F0"/>
                </a:solidFill>
                <a:latin typeface="Times New Roman" pitchFamily="18" charset="0"/>
                <a:cs typeface="Times New Roman" pitchFamily="18" charset="0"/>
              </a:rPr>
              <a:t>report</a:t>
            </a:r>
            <a:r>
              <a:rPr lang="en-US" sz="2400" dirty="0">
                <a:solidFill>
                  <a:srgbClr val="00B0F0"/>
                </a:solidFill>
                <a:latin typeface="Times New Roman" pitchFamily="18" charset="0"/>
                <a:cs typeface="Times New Roman" pitchFamily="18" charset="0"/>
              </a:rPr>
              <a:t> </a:t>
            </a:r>
            <a:r>
              <a:rPr lang="en-US" sz="2400" dirty="0" smtClean="0">
                <a:solidFill>
                  <a:srgbClr val="00B0F0"/>
                </a:solidFill>
                <a:latin typeface="Times New Roman" pitchFamily="18" charset="0"/>
                <a:cs typeface="Times New Roman" pitchFamily="18" charset="0"/>
              </a:rPr>
              <a:t>:</a:t>
            </a:r>
            <a:r>
              <a:rPr lang="en-US" sz="2400" dirty="0" smtClean="0">
                <a:latin typeface="Times New Roman" pitchFamily="18" charset="0"/>
                <a:cs typeface="Times New Roman" pitchFamily="18" charset="0"/>
              </a:rPr>
              <a:t> provide </a:t>
            </a:r>
            <a:r>
              <a:rPr lang="en-US" sz="2400" dirty="0">
                <a:latin typeface="Times New Roman" pitchFamily="18" charset="0"/>
                <a:cs typeface="Times New Roman" pitchFamily="18" charset="0"/>
              </a:rPr>
              <a:t>specific details about the testing process and the experiences of the test subjects. </a:t>
            </a:r>
            <a:endParaRPr lang="en-US" sz="2400" b="1" dirty="0" smtClean="0">
              <a:latin typeface="Times New Roman" pitchFamily="18" charset="0"/>
              <a:cs typeface="Times New Roman" pitchFamily="18" charset="0"/>
            </a:endParaRPr>
          </a:p>
          <a:p>
            <a:r>
              <a:rPr lang="en-US" sz="2400" b="1" dirty="0" smtClean="0">
                <a:solidFill>
                  <a:srgbClr val="00B0F0"/>
                </a:solidFill>
                <a:latin typeface="Times New Roman" pitchFamily="18" charset="0"/>
                <a:cs typeface="Times New Roman" pitchFamily="18" charset="0"/>
              </a:rPr>
              <a:t>Evidence </a:t>
            </a:r>
            <a:r>
              <a:rPr lang="en-US" sz="2400" b="1" dirty="0">
                <a:solidFill>
                  <a:srgbClr val="00B0F0"/>
                </a:solidFill>
                <a:latin typeface="Times New Roman" pitchFamily="18" charset="0"/>
                <a:cs typeface="Times New Roman" pitchFamily="18" charset="0"/>
              </a:rPr>
              <a:t>for your revision </a:t>
            </a:r>
            <a:r>
              <a:rPr lang="en-US" sz="2400" b="1" dirty="0" smtClean="0">
                <a:solidFill>
                  <a:srgbClr val="00B0F0"/>
                </a:solidFill>
                <a:latin typeface="Times New Roman" pitchFamily="18" charset="0"/>
                <a:cs typeface="Times New Roman" pitchFamily="18" charset="0"/>
              </a:rPr>
              <a:t>plans:</a:t>
            </a:r>
            <a:r>
              <a:rPr lang="en-US" sz="2400" b="1"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plans for revision should naturally evolve from the preceding description and address each problem identified during testing</a:t>
            </a:r>
            <a:r>
              <a:rPr lang="en-US" sz="2400" dirty="0" smtClean="0">
                <a:latin typeface="Times New Roman" pitchFamily="18" charset="0"/>
                <a:cs typeface="Times New Roman" pitchFamily="18" charset="0"/>
              </a:rPr>
              <a:t>.</a:t>
            </a:r>
            <a:endParaRPr lang="en-US" sz="2400" b="1" dirty="0" smtClean="0">
              <a:latin typeface="Times New Roman" pitchFamily="18" charset="0"/>
              <a:cs typeface="Times New Roman" pitchFamily="18" charset="0"/>
            </a:endParaRPr>
          </a:p>
          <a:p>
            <a:r>
              <a:rPr lang="en-US" sz="2400" b="1" dirty="0">
                <a:solidFill>
                  <a:srgbClr val="00B0F0"/>
                </a:solidFill>
                <a:latin typeface="Times New Roman" pitchFamily="18" charset="0"/>
                <a:cs typeface="Times New Roman" pitchFamily="18" charset="0"/>
              </a:rPr>
              <a:t>Demonstrate your skill and </a:t>
            </a:r>
            <a:r>
              <a:rPr lang="en-US" sz="2400" b="1" dirty="0" smtClean="0">
                <a:solidFill>
                  <a:srgbClr val="00B0F0"/>
                </a:solidFill>
                <a:latin typeface="Times New Roman" pitchFamily="18" charset="0"/>
                <a:cs typeface="Times New Roman" pitchFamily="18" charset="0"/>
              </a:rPr>
              <a:t>competence: </a:t>
            </a:r>
            <a:r>
              <a:rPr lang="en-US" sz="2400" dirty="0">
                <a:latin typeface="Times New Roman" pitchFamily="18" charset="0"/>
                <a:cs typeface="Times New Roman" pitchFamily="18" charset="0"/>
              </a:rPr>
              <a:t>Ensure that your usability report is clear, concise, and correct by checking spelling, grammar, and proofreading carefully</a:t>
            </a:r>
            <a:r>
              <a:rPr lang="en-US" sz="2400" dirty="0" smtClean="0">
                <a:latin typeface="Times New Roman" pitchFamily="18" charset="0"/>
                <a:cs typeface="Times New Roman" pitchFamily="18" charset="0"/>
              </a:rPr>
              <a:t>.</a:t>
            </a:r>
          </a:p>
          <a:p>
            <a:r>
              <a:rPr lang="en-US" sz="2400" b="1" dirty="0" smtClean="0">
                <a:solidFill>
                  <a:srgbClr val="00B0F0"/>
                </a:solidFill>
                <a:latin typeface="Times New Roman" pitchFamily="18" charset="0"/>
                <a:cs typeface="Times New Roman" pitchFamily="18" charset="0"/>
              </a:rPr>
              <a:t>Usability </a:t>
            </a:r>
            <a:r>
              <a:rPr lang="en-US" sz="2400" b="1" dirty="0">
                <a:solidFill>
                  <a:srgbClr val="00B0F0"/>
                </a:solidFill>
                <a:latin typeface="Times New Roman" pitchFamily="18" charset="0"/>
                <a:cs typeface="Times New Roman" pitchFamily="18" charset="0"/>
              </a:rPr>
              <a:t>testing is </a:t>
            </a:r>
            <a:r>
              <a:rPr lang="en-US" sz="2400" b="1" dirty="0" smtClean="0">
                <a:solidFill>
                  <a:srgbClr val="00B0F0"/>
                </a:solidFill>
                <a:latin typeface="Times New Roman" pitchFamily="18" charset="0"/>
                <a:cs typeface="Times New Roman" pitchFamily="18" charset="0"/>
              </a:rPr>
              <a:t>valuable:</a:t>
            </a:r>
            <a:r>
              <a:rPr lang="en-US" sz="2400" b="1"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an opportunity to </a:t>
            </a:r>
            <a:r>
              <a:rPr lang="en-US" sz="2400" dirty="0" smtClean="0">
                <a:latin typeface="Times New Roman" pitchFamily="18" charset="0"/>
                <a:cs typeface="Times New Roman" pitchFamily="18" charset="0"/>
              </a:rPr>
              <a:t> identify </a:t>
            </a:r>
            <a:r>
              <a:rPr lang="en-US" sz="2400" dirty="0">
                <a:latin typeface="Times New Roman" pitchFamily="18" charset="0"/>
                <a:cs typeface="Times New Roman" pitchFamily="18" charset="0"/>
              </a:rPr>
              <a:t>potential problems </a:t>
            </a:r>
            <a:r>
              <a:rPr lang="en-US" sz="2400" dirty="0" smtClean="0">
                <a:latin typeface="Times New Roman" pitchFamily="18" charset="0"/>
                <a:cs typeface="Times New Roman" pitchFamily="18" charset="0"/>
              </a:rPr>
              <a:t>, avoiding </a:t>
            </a:r>
            <a:r>
              <a:rPr lang="en-US" sz="2400" dirty="0">
                <a:latin typeface="Times New Roman" pitchFamily="18" charset="0"/>
                <a:cs typeface="Times New Roman" pitchFamily="18" charset="0"/>
              </a:rPr>
              <a:t>frustration, alienation, and </a:t>
            </a:r>
            <a:r>
              <a:rPr lang="en-US" sz="2400" dirty="0" smtClean="0">
                <a:latin typeface="Times New Roman" pitchFamily="18" charset="0"/>
                <a:cs typeface="Times New Roman" pitchFamily="18" charset="0"/>
              </a:rPr>
              <a:t> returning products</a:t>
            </a:r>
          </a:p>
          <a:p>
            <a:r>
              <a:rPr lang="en-US" sz="2400" b="1" dirty="0" smtClean="0">
                <a:solidFill>
                  <a:srgbClr val="00B0F0"/>
                </a:solidFill>
                <a:latin typeface="Times New Roman" pitchFamily="18" charset="0"/>
                <a:cs typeface="Times New Roman" pitchFamily="18" charset="0"/>
              </a:rPr>
              <a:t>Design considerations:</a:t>
            </a:r>
            <a:r>
              <a:rPr lang="en-US" sz="2400" b="1"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Design considerations for a usability report include formatting </a:t>
            </a:r>
            <a:r>
              <a:rPr lang="en-US" sz="2400" dirty="0" smtClean="0">
                <a:latin typeface="Times New Roman" pitchFamily="18" charset="0"/>
                <a:cs typeface="Times New Roman" pitchFamily="18" charset="0"/>
              </a:rPr>
              <a:t> document using headings, Visuals etc. to </a:t>
            </a:r>
            <a:r>
              <a:rPr lang="en-US" sz="2400" dirty="0">
                <a:latin typeface="Times New Roman" pitchFamily="18" charset="0"/>
                <a:cs typeface="Times New Roman" pitchFamily="18" charset="0"/>
              </a:rPr>
              <a:t>support the argument. </a:t>
            </a:r>
          </a:p>
          <a:p>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2129248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5852"/>
            <a:ext cx="10515600" cy="4351338"/>
          </a:xfrm>
        </p:spPr>
        <p:txBody>
          <a:bodyPr>
            <a:normAutofit lnSpcReduction="10000"/>
          </a:bodyPr>
          <a:lstStyle/>
          <a:p>
            <a:pPr marL="0" indent="0">
              <a:buNone/>
            </a:pPr>
            <a:r>
              <a:rPr lang="en-US" b="1" dirty="0">
                <a:solidFill>
                  <a:srgbClr val="FF0000"/>
                </a:solidFill>
              </a:rPr>
              <a:t>Acting on your plans for revision</a:t>
            </a:r>
          </a:p>
          <a:p>
            <a:r>
              <a:rPr lang="en-US" dirty="0">
                <a:solidFill>
                  <a:srgbClr val="00B0F0"/>
                </a:solidFill>
              </a:rPr>
              <a:t>To ensure that your usability testing efforts are not wasted, it is important to make plans for revision. </a:t>
            </a:r>
          </a:p>
          <a:p>
            <a:r>
              <a:rPr lang="en-US" dirty="0"/>
              <a:t>This involves </a:t>
            </a:r>
            <a:r>
              <a:rPr lang="en-US" dirty="0" smtClean="0"/>
              <a:t>integrate </a:t>
            </a:r>
            <a:r>
              <a:rPr lang="en-US" dirty="0"/>
              <a:t>suggestions from the report into your draft and testing the revised draft with another set of test subjects. </a:t>
            </a:r>
          </a:p>
          <a:p>
            <a:r>
              <a:rPr lang="en-US" dirty="0"/>
              <a:t>This second round of testing verifies that the changes have solved the problems identified in the earlier round of tests. </a:t>
            </a:r>
          </a:p>
          <a:p>
            <a:r>
              <a:rPr lang="en-US" dirty="0">
                <a:solidFill>
                  <a:srgbClr val="00B0F0"/>
                </a:solidFill>
              </a:rPr>
              <a:t>Testing is an iterative process, so continue to test and revise until the documentation has been significantly improved.</a:t>
            </a:r>
            <a:br>
              <a:rPr lang="en-US" dirty="0">
                <a:solidFill>
                  <a:srgbClr val="00B0F0"/>
                </a:solidFill>
              </a:rPr>
            </a:br>
            <a:endParaRPr lang="en-US" dirty="0">
              <a:solidFill>
                <a:srgbClr val="00B0F0"/>
              </a:solidFill>
            </a:endParaRPr>
          </a:p>
          <a:p>
            <a:endParaRPr lang="en-US" dirty="0"/>
          </a:p>
        </p:txBody>
      </p:sp>
    </p:spTree>
    <p:extLst>
      <p:ext uri="{BB962C8B-B14F-4D97-AF65-F5344CB8AC3E}">
        <p14:creationId xmlns:p14="http://schemas.microsoft.com/office/powerpoint/2010/main" val="3562391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9925"/>
            <a:ext cx="10515600" cy="4351338"/>
          </a:xfrm>
        </p:spPr>
        <p:txBody>
          <a:bodyPr>
            <a:noAutofit/>
          </a:bodyPr>
          <a:lstStyle/>
          <a:p>
            <a:r>
              <a:rPr lang="en-US" sz="2000" b="1" dirty="0">
                <a:solidFill>
                  <a:srgbClr val="00B0F0"/>
                </a:solidFill>
              </a:rPr>
              <a:t>Major Project 11.1</a:t>
            </a:r>
          </a:p>
          <a:p>
            <a:r>
              <a:rPr lang="en-US" sz="1400" dirty="0"/>
              <a:t>evaluating the usability of your manual</a:t>
            </a:r>
          </a:p>
          <a:p>
            <a:r>
              <a:rPr lang="en-US" sz="1400" dirty="0"/>
              <a:t>Design and conduct a usability test to evaluate how easy it is to use the manual that you wrote for Major Project 10.2.</a:t>
            </a:r>
          </a:p>
          <a:p>
            <a:r>
              <a:rPr lang="en-US" sz="1400" dirty="0"/>
              <a:t>In designing the test, set several objectives identifying the kind of information you want to gain from your participants. What are you trying to determine about the manual?</a:t>
            </a:r>
          </a:p>
          <a:p>
            <a:r>
              <a:rPr lang="en-US" sz="1400" dirty="0"/>
              <a:t>Next, sketch out a brief description of the tasks that you want your participants to perform during the test. Prepare a handout (one half to one page) to give to test subjects, a handout that outlines the tasks that you’d like them to complete during the test.</a:t>
            </a:r>
          </a:p>
          <a:p>
            <a:r>
              <a:rPr lang="en-US" sz="1400" dirty="0"/>
              <a:t>Observe three or four people attempting to use the part of your manual that you have selected for this test. Make notes about any problems they have or strategies they use to complete the assignment (including when they don’t use your manual).</a:t>
            </a:r>
          </a:p>
          <a:p>
            <a:r>
              <a:rPr lang="en-US" sz="1400" dirty="0"/>
              <a:t>After at least three people use your document, write a report addressed to your instructor</a:t>
            </a:r>
          </a:p>
          <a:p>
            <a:r>
              <a:rPr lang="en-US" sz="1400" dirty="0"/>
              <a:t>describing the objectives of the test, the test itself, and the results of the test. Also include a section detailing how you expect to revise your manual based on the results.</a:t>
            </a:r>
          </a:p>
          <a:p>
            <a:r>
              <a:rPr lang="en-US" sz="1400" dirty="0"/>
              <a:t>Address each of the topics below in your report:</a:t>
            </a:r>
          </a:p>
          <a:p>
            <a:r>
              <a:rPr lang="el-GR" sz="1400" dirty="0"/>
              <a:t> </a:t>
            </a:r>
            <a:r>
              <a:rPr lang="en-US" sz="1400" dirty="0"/>
              <a:t>The test objectives</a:t>
            </a:r>
          </a:p>
          <a:p>
            <a:r>
              <a:rPr lang="en-US" sz="1400" dirty="0"/>
              <a:t>The audience for the manual</a:t>
            </a:r>
          </a:p>
          <a:p>
            <a:r>
              <a:rPr lang="en-US" sz="1400" dirty="0"/>
              <a:t>The test subjects</a:t>
            </a:r>
          </a:p>
          <a:p>
            <a:r>
              <a:rPr lang="en-US" sz="1400" dirty="0"/>
              <a:t>The tasks assigned to the subjects</a:t>
            </a:r>
          </a:p>
          <a:p>
            <a:r>
              <a:rPr lang="en-US" sz="1400" dirty="0"/>
              <a:t>What happened during the test</a:t>
            </a:r>
          </a:p>
          <a:p>
            <a:r>
              <a:rPr lang="en-US" sz="1400" dirty="0"/>
              <a:t>Comments from subjects</a:t>
            </a:r>
          </a:p>
          <a:p>
            <a:r>
              <a:rPr lang="en-US" sz="1400" dirty="0"/>
              <a:t>Plans for revision</a:t>
            </a:r>
          </a:p>
          <a:p>
            <a:endParaRPr lang="en-US" sz="1400" dirty="0"/>
          </a:p>
        </p:txBody>
      </p:sp>
    </p:spTree>
    <p:extLst>
      <p:ext uri="{BB962C8B-B14F-4D97-AF65-F5344CB8AC3E}">
        <p14:creationId xmlns:p14="http://schemas.microsoft.com/office/powerpoint/2010/main" val="3856675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2282"/>
            <a:ext cx="10515600" cy="4351338"/>
          </a:xfrm>
        </p:spPr>
        <p:txBody>
          <a:bodyPr>
            <a:noAutofit/>
          </a:bodyPr>
          <a:lstStyle/>
          <a:p>
            <a:r>
              <a:rPr lang="en-US" sz="1400" b="1" dirty="0"/>
              <a:t>in-class exercise 11.1</a:t>
            </a:r>
          </a:p>
          <a:p>
            <a:r>
              <a:rPr lang="en-US" sz="1400" dirty="0"/>
              <a:t>Modeling Usability Testing</a:t>
            </a:r>
          </a:p>
          <a:p>
            <a:r>
              <a:rPr lang="en-US" sz="1400" dirty="0"/>
              <a:t>The purpose of this exercise is to model the procedures for designing and conducting am usability test. To complete this exercise you will need a craft kit, such as beading or paper airplane instructions, and several volunteer test users.</a:t>
            </a:r>
          </a:p>
          <a:p>
            <a:r>
              <a:rPr lang="en-US" sz="1400" dirty="0"/>
              <a:t>The point of this exercise is to evaluate the usability of the documentation that accompanies the supplies provided in the craft kit. To determine the</a:t>
            </a:r>
          </a:p>
          <a:p>
            <a:r>
              <a:rPr lang="en-US" sz="1400" dirty="0"/>
              <a:t>usability of the accompanying instructions, you must have someone from the target user group try to use them.</a:t>
            </a:r>
          </a:p>
          <a:p>
            <a:r>
              <a:rPr lang="en-US" sz="1400" dirty="0"/>
              <a:t>There are four steps to this exercise:</a:t>
            </a:r>
          </a:p>
          <a:p>
            <a:r>
              <a:rPr lang="en-US" sz="1400" dirty="0"/>
              <a:t>1. Design the test.</a:t>
            </a:r>
          </a:p>
          <a:p>
            <a:r>
              <a:rPr lang="en-US" sz="1400" dirty="0"/>
              <a:t>2. Create a handout describing the tasks that you want your participants to perform during the test.</a:t>
            </a:r>
          </a:p>
          <a:p>
            <a:r>
              <a:rPr lang="en-US" sz="1400" dirty="0"/>
              <a:t>3. Observe three or four people using the instructions.</a:t>
            </a:r>
          </a:p>
          <a:p>
            <a:r>
              <a:rPr lang="en-US" sz="1400" dirty="0"/>
              <a:t>4. Write a report describing your evaluation of the instructions.</a:t>
            </a:r>
          </a:p>
          <a:p>
            <a:r>
              <a:rPr lang="en-US" sz="1400" b="1" dirty="0"/>
              <a:t>Design the Test</a:t>
            </a:r>
          </a:p>
          <a:p>
            <a:r>
              <a:rPr lang="en-US" sz="1400" dirty="0"/>
              <a:t>Set several objectives for the test that identify the kind of information that you want to</a:t>
            </a:r>
          </a:p>
          <a:p>
            <a:r>
              <a:rPr lang="en-US" sz="1400" dirty="0"/>
              <a:t>gain from your users about the instructions:</a:t>
            </a:r>
          </a:p>
          <a:p>
            <a:r>
              <a:rPr lang="en-US" sz="1400" dirty="0"/>
              <a:t>What are you trying to determine about the instructions?</a:t>
            </a:r>
          </a:p>
          <a:p>
            <a:r>
              <a:rPr lang="en-US" sz="1400" dirty="0"/>
              <a:t>Which part of the instructions do you want to test?</a:t>
            </a:r>
          </a:p>
          <a:p>
            <a:r>
              <a:rPr lang="en-US" sz="1400" i="1" dirty="0"/>
              <a:t>continued...</a:t>
            </a:r>
          </a:p>
          <a:p>
            <a:endParaRPr lang="en-US" sz="1400" dirty="0"/>
          </a:p>
        </p:txBody>
      </p:sp>
    </p:spTree>
    <p:extLst>
      <p:ext uri="{BB962C8B-B14F-4D97-AF65-F5344CB8AC3E}">
        <p14:creationId xmlns:p14="http://schemas.microsoft.com/office/powerpoint/2010/main" val="1732431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5211"/>
            <a:ext cx="10515600" cy="4351338"/>
          </a:xfrm>
        </p:spPr>
        <p:txBody>
          <a:bodyPr>
            <a:noAutofit/>
          </a:bodyPr>
          <a:lstStyle/>
          <a:p>
            <a:r>
              <a:rPr lang="en-US" sz="1400" b="1" dirty="0"/>
              <a:t>Describe the Tasks You Want Performed</a:t>
            </a:r>
          </a:p>
          <a:p>
            <a:r>
              <a:rPr lang="en-US" sz="1400" dirty="0"/>
              <a:t>Prepare a brief handout (one half to one page long) describing the tasks that you want your participants to perform during the test.</a:t>
            </a:r>
          </a:p>
          <a:p>
            <a:r>
              <a:rPr lang="en-US" sz="1400" b="1" dirty="0"/>
              <a:t>Observe Users Performing the Tasks</a:t>
            </a:r>
          </a:p>
          <a:p>
            <a:r>
              <a:rPr lang="en-US" sz="1400" dirty="0"/>
              <a:t>Make notes as you observe several people attempting to follow the instructions from the craft kit. Note any problems they have or strategies they use to complete the assignment (including when they don’t use the instructions at all).</a:t>
            </a:r>
          </a:p>
          <a:p>
            <a:r>
              <a:rPr lang="en-US" sz="1400" b="1" dirty="0"/>
              <a:t>Write a Report</a:t>
            </a:r>
          </a:p>
          <a:p>
            <a:r>
              <a:rPr lang="en-US" sz="1400" dirty="0"/>
              <a:t>In the form of a memo addressed to your instructor, write a report describing the objectives of the test, the test itself, and the results of the test.</a:t>
            </a:r>
          </a:p>
          <a:p>
            <a:r>
              <a:rPr lang="en-US" sz="1400" dirty="0"/>
              <a:t>Also include a section explaining how you would revise the instructions you decided to test, based on the experiences of your test users.</a:t>
            </a:r>
          </a:p>
          <a:p>
            <a:r>
              <a:rPr lang="en-US" sz="1400" dirty="0"/>
              <a:t>Address each of the topics below in your report:</a:t>
            </a:r>
          </a:p>
          <a:p>
            <a:r>
              <a:rPr lang="en-US" sz="1400" dirty="0"/>
              <a:t>The test objectives</a:t>
            </a:r>
          </a:p>
          <a:p>
            <a:r>
              <a:rPr lang="en-US" sz="1400" dirty="0"/>
              <a:t>The audience for the craft instructions</a:t>
            </a:r>
          </a:p>
          <a:p>
            <a:r>
              <a:rPr lang="en-US" sz="1400" dirty="0"/>
              <a:t>The test subjects</a:t>
            </a:r>
          </a:p>
          <a:p>
            <a:r>
              <a:rPr lang="en-US" sz="1400" dirty="0"/>
              <a:t> The tasks assigned to the subjects</a:t>
            </a:r>
          </a:p>
          <a:p>
            <a:r>
              <a:rPr lang="en-US" sz="1400" dirty="0"/>
              <a:t>What happened during the test</a:t>
            </a:r>
          </a:p>
          <a:p>
            <a:r>
              <a:rPr lang="en-US" sz="1400" dirty="0"/>
              <a:t>Comments from subjects</a:t>
            </a:r>
          </a:p>
          <a:p>
            <a:r>
              <a:rPr lang="en-US" sz="1400" dirty="0"/>
              <a:t>Plans for revision of craft instructions</a:t>
            </a:r>
          </a:p>
          <a:p>
            <a:endParaRPr lang="en-US" sz="1400" dirty="0"/>
          </a:p>
        </p:txBody>
      </p:sp>
    </p:spTree>
    <p:extLst>
      <p:ext uri="{BB962C8B-B14F-4D97-AF65-F5344CB8AC3E}">
        <p14:creationId xmlns:p14="http://schemas.microsoft.com/office/powerpoint/2010/main" val="913414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77671"/>
            <a:ext cx="10515600" cy="3299292"/>
          </a:xfrm>
        </p:spPr>
        <p:txBody>
          <a:bodyPr>
            <a:normAutofit/>
          </a:bodyPr>
          <a:lstStyle/>
          <a:p>
            <a:pPr marL="0" indent="0" algn="ctr">
              <a:buNone/>
            </a:pPr>
            <a:r>
              <a:rPr lang="en-US" sz="6600" b="1" dirty="0" smtClean="0">
                <a:solidFill>
                  <a:srgbClr val="FF0000"/>
                </a:solidFill>
              </a:rPr>
              <a:t>THANK YOU</a:t>
            </a:r>
            <a:endParaRPr lang="en-US" sz="6600" b="1" dirty="0">
              <a:solidFill>
                <a:srgbClr val="FF0000"/>
              </a:solidFill>
            </a:endParaRPr>
          </a:p>
        </p:txBody>
      </p:sp>
    </p:spTree>
    <p:extLst>
      <p:ext uri="{BB962C8B-B14F-4D97-AF65-F5344CB8AC3E}">
        <p14:creationId xmlns:p14="http://schemas.microsoft.com/office/powerpoint/2010/main" val="1010319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5596</TotalTime>
  <Words>2350</Words>
  <Application>Microsoft Office PowerPoint</Application>
  <PresentationFormat>Custom</PresentationFormat>
  <Paragraphs>159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Chapter- Eleven- Testing and reporting document usability</vt:lpstr>
      <vt:lpstr>What is Usability?</vt:lpstr>
      <vt:lpstr>Why Usability Test?</vt:lpstr>
      <vt:lpstr>…</vt:lpstr>
      <vt:lpstr>What is a Usability test?</vt:lpstr>
      <vt:lpstr>What is the purpose of a usability test?</vt:lpstr>
      <vt:lpstr>Process/ stages of usability test</vt:lpstr>
      <vt:lpstr>What Should you test for?</vt:lpstr>
      <vt:lpstr>PowerPoint Presentation</vt:lpstr>
      <vt:lpstr>2. Designing the test</vt:lpstr>
      <vt:lpstr>…</vt:lpstr>
      <vt:lpstr>3. Conducting the test</vt:lpstr>
      <vt:lpstr>…</vt:lpstr>
      <vt:lpstr>Remember</vt:lpstr>
      <vt:lpstr>4. Reporting your results</vt:lpstr>
      <vt:lpstr>Rhetorical challenges of writing a usability report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Techniques</dc:title>
  <dc:creator>Microsoft account</dc:creator>
  <cp:lastModifiedBy>lenovo</cp:lastModifiedBy>
  <cp:revision>565</cp:revision>
  <dcterms:created xsi:type="dcterms:W3CDTF">2023-01-05T15:29:22Z</dcterms:created>
  <dcterms:modified xsi:type="dcterms:W3CDTF">2025-01-25T11:46:31Z</dcterms:modified>
</cp:coreProperties>
</file>