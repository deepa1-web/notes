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700" r:id="rId2"/>
    <p:sldId id="730" r:id="rId3"/>
    <p:sldId id="731" r:id="rId4"/>
    <p:sldId id="732" r:id="rId5"/>
    <p:sldId id="733" r:id="rId6"/>
    <p:sldId id="728" r:id="rId7"/>
    <p:sldId id="701" r:id="rId8"/>
    <p:sldId id="702" r:id="rId9"/>
    <p:sldId id="703" r:id="rId10"/>
    <p:sldId id="704" r:id="rId11"/>
    <p:sldId id="705" r:id="rId12"/>
    <p:sldId id="706" r:id="rId13"/>
    <p:sldId id="707" r:id="rId14"/>
    <p:sldId id="708" r:id="rId15"/>
    <p:sldId id="729" r:id="rId16"/>
    <p:sldId id="737" r:id="rId17"/>
    <p:sldId id="709" r:id="rId18"/>
    <p:sldId id="710" r:id="rId19"/>
    <p:sldId id="711" r:id="rId20"/>
    <p:sldId id="712" r:id="rId21"/>
    <p:sldId id="713" r:id="rId22"/>
    <p:sldId id="714" r:id="rId23"/>
    <p:sldId id="715" r:id="rId24"/>
    <p:sldId id="716" r:id="rId25"/>
    <p:sldId id="717" r:id="rId26"/>
    <p:sldId id="718" r:id="rId27"/>
    <p:sldId id="719" r:id="rId28"/>
    <p:sldId id="720" r:id="rId29"/>
    <p:sldId id="725" r:id="rId30"/>
    <p:sldId id="726" r:id="rId31"/>
    <p:sldId id="727" r:id="rId32"/>
    <p:sldId id="735" r:id="rId33"/>
    <p:sldId id="673" r:id="rId34"/>
    <p:sldId id="674" r:id="rId35"/>
    <p:sldId id="675" r:id="rId36"/>
    <p:sldId id="676" r:id="rId37"/>
    <p:sldId id="677" r:id="rId38"/>
    <p:sldId id="678" r:id="rId39"/>
    <p:sldId id="679" r:id="rId40"/>
    <p:sldId id="680" r:id="rId41"/>
    <p:sldId id="681" r:id="rId42"/>
    <p:sldId id="682" r:id="rId43"/>
    <p:sldId id="683" r:id="rId44"/>
    <p:sldId id="684" r:id="rId45"/>
    <p:sldId id="685" r:id="rId46"/>
    <p:sldId id="686" r:id="rId47"/>
    <p:sldId id="687" r:id="rId48"/>
    <p:sldId id="688" r:id="rId49"/>
    <p:sldId id="689" r:id="rId50"/>
    <p:sldId id="690" r:id="rId51"/>
    <p:sldId id="691" r:id="rId52"/>
    <p:sldId id="692" r:id="rId53"/>
    <p:sldId id="693" r:id="rId54"/>
    <p:sldId id="694" r:id="rId55"/>
    <p:sldId id="695" r:id="rId56"/>
    <p:sldId id="696" r:id="rId57"/>
    <p:sldId id="697" r:id="rId58"/>
    <p:sldId id="698" r:id="rId59"/>
    <p:sldId id="699" r:id="rId60"/>
    <p:sldId id="736" r:id="rId61"/>
    <p:sldId id="576"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7" d="100"/>
          <a:sy n="77" d="100"/>
        </p:scale>
        <p:origin x="-366"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201032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5044333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2C2EC6-F5D4-4EB2-B55F-04434BE7B208}"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21834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22C2EC6-F5D4-4EB2-B55F-04434BE7B208}" type="datetimeFigureOut">
              <a:rPr lang="en-US" smtClean="0"/>
              <a:t>12/28/2024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779606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22C2EC6-F5D4-4EB2-B55F-04434BE7B208}" type="datetimeFigureOut">
              <a:rPr lang="en-US" smtClean="0"/>
              <a:t>12/28/2024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021586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22C2EC6-F5D4-4EB2-B55F-04434BE7B208}" type="datetimeFigureOut">
              <a:rPr lang="en-US" smtClean="0"/>
              <a:t>12/28/2024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110059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2C2EC6-F5D4-4EB2-B55F-04434BE7B208}" type="datetimeFigureOut">
              <a:rPr lang="en-US" smtClean="0"/>
              <a:t>12/28/2024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4185352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12/28/2024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423415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22C2EC6-F5D4-4EB2-B55F-04434BE7B208}" type="datetimeFigureOut">
              <a:rPr lang="en-US" smtClean="0"/>
              <a:t>12/28/2024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3895449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1160370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22C2EC6-F5D4-4EB2-B55F-04434BE7B208}" type="datetimeFigureOut">
              <a:rPr lang="en-US" smtClean="0"/>
              <a:t>12/28/2024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977A39-988E-47BA-AE30-E5DEF8B6BD4E}" type="slidenum">
              <a:rPr lang="en-US" smtClean="0"/>
              <a:t>‹#›</a:t>
            </a:fld>
            <a:endParaRPr lang="en-US"/>
          </a:p>
        </p:txBody>
      </p:sp>
    </p:spTree>
    <p:extLst>
      <p:ext uri="{BB962C8B-B14F-4D97-AF65-F5344CB8AC3E}">
        <p14:creationId xmlns:p14="http://schemas.microsoft.com/office/powerpoint/2010/main" val="731122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2C2EC6-F5D4-4EB2-B55F-04434BE7B208}" type="datetimeFigureOut">
              <a:rPr lang="en-US" smtClean="0"/>
              <a:t>12/28/2024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977A39-988E-47BA-AE30-E5DEF8B6BD4E}" type="slidenum">
              <a:rPr lang="en-US" smtClean="0"/>
              <a:t>‹#›</a:t>
            </a:fld>
            <a:endParaRPr lang="en-US"/>
          </a:p>
        </p:txBody>
      </p:sp>
    </p:spTree>
    <p:extLst>
      <p:ext uri="{BB962C8B-B14F-4D97-AF65-F5344CB8AC3E}">
        <p14:creationId xmlns:p14="http://schemas.microsoft.com/office/powerpoint/2010/main" val="37673758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mailto:ghartibimala@yahoo.co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mailto:dawadiminprasad@gmail.com"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mailto:abc@outlook.com"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mailto:raj@outlok.com"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mailto:maharjanjohn@gmail.com"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mailto:sthapitajita@gmail.com"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8351" y="726857"/>
            <a:ext cx="7239785" cy="5263484"/>
          </a:xfrm>
        </p:spPr>
        <p:txBody>
          <a:bodyPr>
            <a:normAutofit/>
          </a:bodyPr>
          <a:lstStyle/>
          <a:p>
            <a:pPr marL="0" indent="0" algn="ctr">
              <a:buNone/>
            </a:pPr>
            <a:r>
              <a:rPr lang="en-GB" sz="4800" b="1" dirty="0" smtClean="0">
                <a:solidFill>
                  <a:srgbClr val="FF0000"/>
                </a:solidFill>
              </a:rPr>
              <a:t>Writing Email and Letters for the Work Place</a:t>
            </a:r>
            <a:endParaRPr lang="en-GB" sz="4800" b="1" dirty="0">
              <a:solidFill>
                <a:srgbClr val="FF0000"/>
              </a:solidFill>
            </a:endParaRPr>
          </a:p>
        </p:txBody>
      </p:sp>
    </p:spTree>
    <p:extLst>
      <p:ext uri="{BB962C8B-B14F-4D97-AF65-F5344CB8AC3E}">
        <p14:creationId xmlns:p14="http://schemas.microsoft.com/office/powerpoint/2010/main" val="36569847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7568"/>
            <a:ext cx="10515600" cy="4351338"/>
          </a:xfrm>
        </p:spPr>
        <p:txBody>
          <a:bodyPr>
            <a:normAutofit fontScale="25000" lnSpcReduction="20000"/>
          </a:bodyPr>
          <a:lstStyle/>
          <a:p>
            <a:pPr marL="0" indent="0">
              <a:buNone/>
            </a:pPr>
            <a:r>
              <a:rPr lang="en-US" sz="12800" b="1" dirty="0" smtClean="0">
                <a:solidFill>
                  <a:srgbClr val="FF0000"/>
                </a:solidFill>
              </a:rPr>
              <a:t>                  Letter Writing</a:t>
            </a:r>
          </a:p>
          <a:p>
            <a:r>
              <a:rPr lang="en-US" sz="8000" dirty="0" smtClean="0"/>
              <a:t>A </a:t>
            </a:r>
            <a:r>
              <a:rPr lang="en-US" sz="8000" dirty="0"/>
              <a:t>letter is a means of communication used between a sender  and a receiver who are at distance. </a:t>
            </a:r>
          </a:p>
          <a:p>
            <a:r>
              <a:rPr lang="en-US" sz="8000" dirty="0"/>
              <a:t>According to oxford advanced learner’s  dictionary “a writing message addressed to a person or an organization, usually in an envelope and sent by post is a letter.”</a:t>
            </a:r>
          </a:p>
          <a:p>
            <a:pPr marL="514350" indent="-514350"/>
            <a:r>
              <a:rPr lang="en-US" sz="8000" dirty="0"/>
              <a:t>Elements of a letter: </a:t>
            </a:r>
          </a:p>
          <a:p>
            <a:pPr marL="514350" indent="-514350">
              <a:buFont typeface="+mj-lt"/>
              <a:buAutoNum type="arabicParenR"/>
            </a:pPr>
            <a:r>
              <a:rPr lang="en-US" sz="8000" dirty="0"/>
              <a:t>The letter head</a:t>
            </a:r>
          </a:p>
          <a:p>
            <a:pPr marL="514350" indent="-514350">
              <a:buFont typeface="+mj-lt"/>
              <a:buAutoNum type="arabicParenR"/>
            </a:pPr>
            <a:r>
              <a:rPr lang="en-US" sz="8000" dirty="0"/>
              <a:t>The heading : a) address of the sender  b) the date on which the letter is written</a:t>
            </a:r>
          </a:p>
          <a:p>
            <a:pPr marL="514350" indent="-514350">
              <a:buFont typeface="+mj-lt"/>
              <a:buAutoNum type="arabicParenR"/>
            </a:pPr>
            <a:r>
              <a:rPr lang="en-US" sz="8000" dirty="0"/>
              <a:t>The superscription</a:t>
            </a:r>
          </a:p>
          <a:p>
            <a:pPr marL="514350" indent="-514350">
              <a:buFont typeface="+mj-lt"/>
              <a:buAutoNum type="arabicParenR"/>
            </a:pPr>
            <a:r>
              <a:rPr lang="en-US" sz="8000" dirty="0"/>
              <a:t>Salutation or greeting</a:t>
            </a:r>
          </a:p>
          <a:p>
            <a:pPr marL="514350" indent="-514350">
              <a:buFont typeface="+mj-lt"/>
              <a:buAutoNum type="arabicParenR"/>
            </a:pPr>
            <a:r>
              <a:rPr lang="en-US" sz="8000" dirty="0"/>
              <a:t>Body or message</a:t>
            </a:r>
          </a:p>
          <a:p>
            <a:pPr marL="514350" indent="-514350">
              <a:buFont typeface="+mj-lt"/>
              <a:buAutoNum type="arabicParenR"/>
            </a:pPr>
            <a:r>
              <a:rPr lang="en-US" sz="8000" dirty="0"/>
              <a:t>Closing</a:t>
            </a:r>
          </a:p>
          <a:p>
            <a:pPr marL="514350" indent="-514350">
              <a:buFont typeface="+mj-lt"/>
              <a:buAutoNum type="arabicParenR"/>
            </a:pPr>
            <a:r>
              <a:rPr lang="en-US" sz="8000" dirty="0"/>
              <a:t>Subscription</a:t>
            </a:r>
          </a:p>
          <a:p>
            <a:pPr marL="514350" indent="-514350">
              <a:buFont typeface="+mj-lt"/>
              <a:buAutoNum type="arabicParenR"/>
            </a:pPr>
            <a:r>
              <a:rPr lang="en-US" sz="8000" dirty="0"/>
              <a:t>The signature</a:t>
            </a:r>
          </a:p>
          <a:p>
            <a:pPr marL="514350" indent="-514350">
              <a:buFont typeface="+mj-lt"/>
              <a:buAutoNum type="arabicParenR"/>
            </a:pPr>
            <a:r>
              <a:rPr lang="en-US" sz="8000" dirty="0"/>
              <a:t>Address on envelope</a:t>
            </a:r>
          </a:p>
          <a:p>
            <a:endParaRPr lang="en-US" sz="8000" dirty="0"/>
          </a:p>
        </p:txBody>
      </p:sp>
    </p:spTree>
    <p:extLst>
      <p:ext uri="{BB962C8B-B14F-4D97-AF65-F5344CB8AC3E}">
        <p14:creationId xmlns:p14="http://schemas.microsoft.com/office/powerpoint/2010/main" val="4331357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76424"/>
            <a:ext cx="10515600" cy="4351338"/>
          </a:xfrm>
        </p:spPr>
        <p:txBody>
          <a:bodyPr>
            <a:normAutofit fontScale="25000" lnSpcReduction="20000"/>
          </a:bodyPr>
          <a:lstStyle/>
          <a:p>
            <a:pPr marL="514350" indent="-514350">
              <a:buNone/>
            </a:pPr>
            <a:r>
              <a:rPr lang="en-US" sz="8000" b="1" dirty="0" smtClean="0">
                <a:solidFill>
                  <a:srgbClr val="00B0F0"/>
                </a:solidFill>
              </a:rPr>
              <a:t>1) The </a:t>
            </a:r>
            <a:r>
              <a:rPr lang="en-US" sz="8000" b="1" dirty="0">
                <a:solidFill>
                  <a:srgbClr val="00B0F0"/>
                </a:solidFill>
              </a:rPr>
              <a:t>letter head</a:t>
            </a:r>
            <a:r>
              <a:rPr lang="en-US" sz="8000" dirty="0">
                <a:solidFill>
                  <a:srgbClr val="00B0F0"/>
                </a:solidFill>
              </a:rPr>
              <a:t>:</a:t>
            </a:r>
            <a:r>
              <a:rPr lang="en-US" sz="8000" dirty="0"/>
              <a:t> it is a common part of an official letter. It is generally known as letter pad. It is written at the top in the middle of the page.</a:t>
            </a:r>
          </a:p>
          <a:p>
            <a:pPr marL="514350" indent="-514350">
              <a:buNone/>
            </a:pPr>
            <a:r>
              <a:rPr lang="en-US" sz="8000" dirty="0"/>
              <a:t> in place of the letter head the name of the office or firm along with a short address should be </a:t>
            </a:r>
            <a:r>
              <a:rPr lang="en-US" sz="8000" dirty="0" smtClean="0"/>
              <a:t>mentioned.</a:t>
            </a:r>
          </a:p>
          <a:p>
            <a:pPr marL="514350" indent="-514350">
              <a:buNone/>
            </a:pPr>
            <a:r>
              <a:rPr lang="en-US" sz="8000" dirty="0" smtClean="0"/>
              <a:t>Example</a:t>
            </a:r>
            <a:r>
              <a:rPr lang="en-US" sz="8000" dirty="0"/>
              <a:t>:        </a:t>
            </a:r>
            <a:r>
              <a:rPr lang="en-US" sz="8000" dirty="0" smtClean="0"/>
              <a:t>                    National </a:t>
            </a:r>
            <a:r>
              <a:rPr lang="en-US" sz="8000" dirty="0"/>
              <a:t>Academy of Science and </a:t>
            </a:r>
            <a:r>
              <a:rPr lang="en-US" sz="8000" dirty="0" smtClean="0"/>
              <a:t>Technology</a:t>
            </a:r>
          </a:p>
          <a:p>
            <a:pPr marL="514350" indent="-514350">
              <a:buNone/>
            </a:pPr>
            <a:r>
              <a:rPr lang="en-US" sz="8000" dirty="0"/>
              <a:t> </a:t>
            </a:r>
            <a:r>
              <a:rPr lang="en-US" sz="8000" dirty="0" smtClean="0"/>
              <a:t>                                                Affiliated </a:t>
            </a:r>
            <a:r>
              <a:rPr lang="en-US" sz="8000" dirty="0"/>
              <a:t>to </a:t>
            </a:r>
            <a:r>
              <a:rPr lang="en-US" sz="8000" dirty="0" err="1" smtClean="0"/>
              <a:t>Pokhara</a:t>
            </a:r>
            <a:r>
              <a:rPr lang="en-US" sz="8000" dirty="0" smtClean="0"/>
              <a:t> University</a:t>
            </a:r>
          </a:p>
          <a:p>
            <a:pPr marL="514350" indent="-514350">
              <a:buNone/>
            </a:pPr>
            <a:r>
              <a:rPr lang="en-US" sz="8000" dirty="0"/>
              <a:t> </a:t>
            </a:r>
            <a:r>
              <a:rPr lang="en-US" sz="8000" dirty="0" smtClean="0"/>
              <a:t>                                                           </a:t>
            </a:r>
            <a:r>
              <a:rPr lang="en-US" sz="8000" dirty="0" err="1" smtClean="0"/>
              <a:t>Dhangadhi</a:t>
            </a:r>
            <a:r>
              <a:rPr lang="en-US" sz="8000" dirty="0" smtClean="0"/>
              <a:t>, </a:t>
            </a:r>
            <a:r>
              <a:rPr lang="en-US" sz="8000" dirty="0" err="1" smtClean="0"/>
              <a:t>Kailali</a:t>
            </a:r>
            <a:endParaRPr lang="en-US" sz="8000" b="1" dirty="0" smtClean="0">
              <a:solidFill>
                <a:srgbClr val="00B0F0"/>
              </a:solidFill>
            </a:endParaRPr>
          </a:p>
          <a:p>
            <a:pPr marL="514350" indent="-514350">
              <a:buNone/>
            </a:pPr>
            <a:r>
              <a:rPr lang="en-US" sz="8000" b="1" dirty="0" smtClean="0">
                <a:solidFill>
                  <a:srgbClr val="00B0F0"/>
                </a:solidFill>
              </a:rPr>
              <a:t>2</a:t>
            </a:r>
            <a:r>
              <a:rPr lang="en-US" sz="8000" b="1" dirty="0">
                <a:solidFill>
                  <a:srgbClr val="00B0F0"/>
                </a:solidFill>
              </a:rPr>
              <a:t>) The heading</a:t>
            </a:r>
            <a:r>
              <a:rPr lang="en-US" sz="8000" dirty="0">
                <a:solidFill>
                  <a:srgbClr val="00B0F0"/>
                </a:solidFill>
              </a:rPr>
              <a:t>:</a:t>
            </a:r>
            <a:r>
              <a:rPr lang="en-US" sz="8000" dirty="0"/>
              <a:t> it combines address and date and is written at the top of the right or left corner of the page.</a:t>
            </a:r>
          </a:p>
          <a:p>
            <a:pPr marL="514350" indent="-514350">
              <a:buNone/>
            </a:pPr>
            <a:r>
              <a:rPr lang="en-US" sz="8000" dirty="0"/>
              <a:t>Example:                                               </a:t>
            </a:r>
          </a:p>
          <a:p>
            <a:pPr marL="514350" indent="-514350">
              <a:buNone/>
            </a:pPr>
            <a:r>
              <a:rPr lang="en-US" sz="8000" dirty="0" err="1"/>
              <a:t>Utterbehadi</a:t>
            </a:r>
            <a:r>
              <a:rPr lang="en-US" sz="8000" dirty="0"/>
              <a:t>, </a:t>
            </a:r>
            <a:r>
              <a:rPr lang="en-US" sz="8000" dirty="0" err="1"/>
              <a:t>Dhangadhi</a:t>
            </a:r>
            <a:r>
              <a:rPr lang="en-US" sz="8000" dirty="0"/>
              <a:t>, </a:t>
            </a:r>
            <a:r>
              <a:rPr lang="en-US" sz="8000" dirty="0" err="1"/>
              <a:t>Kailali</a:t>
            </a:r>
            <a:endParaRPr lang="en-US" sz="8000" dirty="0"/>
          </a:p>
          <a:p>
            <a:pPr marL="514350" indent="-514350">
              <a:buNone/>
            </a:pPr>
            <a:r>
              <a:rPr lang="en-US" sz="8000" dirty="0"/>
              <a:t> November 25, 2024</a:t>
            </a:r>
          </a:p>
          <a:p>
            <a:pPr marL="514350" indent="-514350">
              <a:buNone/>
            </a:pPr>
            <a:r>
              <a:rPr lang="en-US" sz="8000" b="1" dirty="0">
                <a:solidFill>
                  <a:srgbClr val="00B0F0"/>
                </a:solidFill>
              </a:rPr>
              <a:t>3) The superscription</a:t>
            </a:r>
            <a:r>
              <a:rPr lang="en-US" sz="8000" dirty="0">
                <a:solidFill>
                  <a:srgbClr val="00B0F0"/>
                </a:solidFill>
              </a:rPr>
              <a:t>: </a:t>
            </a:r>
            <a:r>
              <a:rPr lang="en-US" sz="8000" dirty="0"/>
              <a:t>this part is a full address of the receiver of the letter.</a:t>
            </a:r>
          </a:p>
          <a:p>
            <a:pPr marL="514350" indent="-514350">
              <a:buNone/>
            </a:pPr>
            <a:r>
              <a:rPr lang="en-US" sz="8000" dirty="0"/>
              <a:t> It is essential in formal letter but not written in personal or informal letter.</a:t>
            </a:r>
          </a:p>
          <a:p>
            <a:pPr marL="514350" indent="-514350">
              <a:buNone/>
            </a:pPr>
            <a:r>
              <a:rPr lang="en-US" sz="8000" dirty="0"/>
              <a:t>It is written below the heading </a:t>
            </a:r>
          </a:p>
          <a:p>
            <a:pPr marL="514350" indent="-514350">
              <a:buNone/>
            </a:pPr>
            <a:r>
              <a:rPr lang="en-US" sz="8000" dirty="0"/>
              <a:t>Example: To the Principal</a:t>
            </a:r>
          </a:p>
          <a:p>
            <a:pPr marL="514350" indent="-514350">
              <a:buNone/>
            </a:pPr>
            <a:r>
              <a:rPr lang="en-US" sz="8000" dirty="0"/>
              <a:t>                 NAST College </a:t>
            </a:r>
          </a:p>
          <a:p>
            <a:pPr marL="514350" indent="-514350">
              <a:buNone/>
            </a:pPr>
            <a:r>
              <a:rPr lang="en-US" sz="8000" dirty="0"/>
              <a:t>                   </a:t>
            </a:r>
            <a:r>
              <a:rPr lang="en-US" sz="8000" dirty="0" err="1"/>
              <a:t>Dhangadhi</a:t>
            </a:r>
            <a:r>
              <a:rPr lang="en-US" sz="8000" dirty="0"/>
              <a:t>, </a:t>
            </a:r>
            <a:r>
              <a:rPr lang="en-US" sz="8000" dirty="0" err="1"/>
              <a:t>kailali</a:t>
            </a:r>
            <a:endParaRPr lang="en-US" sz="8000" dirty="0"/>
          </a:p>
          <a:p>
            <a:endParaRPr lang="en-US" sz="8000" dirty="0"/>
          </a:p>
        </p:txBody>
      </p:sp>
    </p:spTree>
    <p:extLst>
      <p:ext uri="{BB962C8B-B14F-4D97-AF65-F5344CB8AC3E}">
        <p14:creationId xmlns:p14="http://schemas.microsoft.com/office/powerpoint/2010/main" val="637508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08919"/>
            <a:ext cx="10515600" cy="4351338"/>
          </a:xfrm>
        </p:spPr>
        <p:txBody>
          <a:bodyPr>
            <a:normAutofit fontScale="85000" lnSpcReduction="20000"/>
          </a:bodyPr>
          <a:lstStyle/>
          <a:p>
            <a:pPr>
              <a:buNone/>
            </a:pPr>
            <a:r>
              <a:rPr lang="en-US" sz="2000" b="1" dirty="0">
                <a:solidFill>
                  <a:srgbClr val="00B0F0"/>
                </a:solidFill>
              </a:rPr>
              <a:t>4) </a:t>
            </a:r>
            <a:r>
              <a:rPr lang="en-US" b="1" dirty="0">
                <a:solidFill>
                  <a:srgbClr val="00B0F0"/>
                </a:solidFill>
              </a:rPr>
              <a:t>The salutation or greeting:</a:t>
            </a:r>
            <a:r>
              <a:rPr lang="en-US" dirty="0"/>
              <a:t> it is the greeting of the sender to the receiver. It shows the relationship between the sender and the receiver.</a:t>
            </a:r>
          </a:p>
          <a:p>
            <a:pPr>
              <a:buNone/>
            </a:pPr>
            <a:r>
              <a:rPr lang="en-US" dirty="0"/>
              <a:t>In official letters: Dear sir, Dear Madam, </a:t>
            </a:r>
            <a:r>
              <a:rPr lang="en-US" dirty="0" err="1"/>
              <a:t>Dr</a:t>
            </a:r>
            <a:r>
              <a:rPr lang="en-US" dirty="0"/>
              <a:t> </a:t>
            </a:r>
            <a:r>
              <a:rPr lang="en-US" dirty="0" err="1"/>
              <a:t>Mr</a:t>
            </a:r>
            <a:r>
              <a:rPr lang="en-US" dirty="0"/>
              <a:t> David</a:t>
            </a:r>
          </a:p>
          <a:p>
            <a:pPr>
              <a:buNone/>
            </a:pPr>
            <a:r>
              <a:rPr lang="en-US" dirty="0"/>
              <a:t>In personal letter: Dear </a:t>
            </a:r>
            <a:r>
              <a:rPr lang="en-US" dirty="0" err="1"/>
              <a:t>Neetu</a:t>
            </a:r>
            <a:r>
              <a:rPr lang="en-US" dirty="0"/>
              <a:t>, My Dear father etc.</a:t>
            </a:r>
          </a:p>
          <a:p>
            <a:pPr>
              <a:buNone/>
            </a:pPr>
            <a:r>
              <a:rPr lang="en-US" b="1" dirty="0">
                <a:solidFill>
                  <a:srgbClr val="00B0F0"/>
                </a:solidFill>
              </a:rPr>
              <a:t>5) Body or message:</a:t>
            </a:r>
            <a:r>
              <a:rPr lang="en-US" dirty="0"/>
              <a:t> this is the main part of  letter. It begins just below the salutation line. This part contains the actual message to be conveyed to the receiver. </a:t>
            </a:r>
          </a:p>
          <a:p>
            <a:pPr>
              <a:buNone/>
            </a:pPr>
            <a:r>
              <a:rPr lang="en-US" dirty="0"/>
              <a:t>The language of the message must be lucid, clear, pleasant, courteous, polite and civilized</a:t>
            </a:r>
            <a:r>
              <a:rPr lang="en-US" dirty="0">
                <a:solidFill>
                  <a:srgbClr val="00B0F0"/>
                </a:solidFill>
              </a:rPr>
              <a:t>.</a:t>
            </a:r>
          </a:p>
          <a:p>
            <a:pPr>
              <a:buNone/>
            </a:pPr>
            <a:r>
              <a:rPr lang="en-US" b="1" dirty="0">
                <a:solidFill>
                  <a:srgbClr val="00B0F0"/>
                </a:solidFill>
              </a:rPr>
              <a:t>6) The ending</a:t>
            </a:r>
            <a:r>
              <a:rPr lang="en-US" dirty="0">
                <a:solidFill>
                  <a:srgbClr val="00B0F0"/>
                </a:solidFill>
              </a:rPr>
              <a:t>:</a:t>
            </a:r>
            <a:r>
              <a:rPr lang="en-US" dirty="0"/>
              <a:t> the phrase or sentence used at the last of the body of the letter is known as the ending. It is used to show the formal ending of the letter. </a:t>
            </a:r>
          </a:p>
          <a:p>
            <a:pPr>
              <a:buNone/>
            </a:pPr>
            <a:r>
              <a:rPr lang="en-US" dirty="0"/>
              <a:t>Example: hoping so, I look forward to hearing from you, waiting for a positive response etc. </a:t>
            </a:r>
          </a:p>
          <a:p>
            <a:endParaRPr lang="en-US" dirty="0"/>
          </a:p>
        </p:txBody>
      </p:sp>
    </p:spTree>
    <p:extLst>
      <p:ext uri="{BB962C8B-B14F-4D97-AF65-F5344CB8AC3E}">
        <p14:creationId xmlns:p14="http://schemas.microsoft.com/office/powerpoint/2010/main" val="3239098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9994"/>
            <a:ext cx="10515600" cy="4351338"/>
          </a:xfrm>
        </p:spPr>
        <p:txBody>
          <a:bodyPr>
            <a:normAutofit fontScale="77500" lnSpcReduction="20000"/>
          </a:bodyPr>
          <a:lstStyle/>
          <a:p>
            <a:pPr>
              <a:buNone/>
            </a:pPr>
            <a:r>
              <a:rPr lang="en-US" b="1" dirty="0">
                <a:solidFill>
                  <a:srgbClr val="00B0F0"/>
                </a:solidFill>
              </a:rPr>
              <a:t>7)The subscription:</a:t>
            </a:r>
            <a:r>
              <a:rPr lang="en-US" dirty="0">
                <a:solidFill>
                  <a:srgbClr val="00B0F0"/>
                </a:solidFill>
              </a:rPr>
              <a:t> </a:t>
            </a:r>
            <a:r>
              <a:rPr lang="en-US" dirty="0"/>
              <a:t>it is a closing part of letter. It written below the body of the letter and varies in formal and informal letters.</a:t>
            </a:r>
          </a:p>
          <a:p>
            <a:pPr>
              <a:buNone/>
            </a:pPr>
            <a:r>
              <a:rPr lang="en-US" dirty="0"/>
              <a:t>Formal: yours faithfully, yours sincerely, yours truly, yours cordially, sincerely yours</a:t>
            </a:r>
          </a:p>
          <a:p>
            <a:pPr>
              <a:buNone/>
            </a:pPr>
            <a:r>
              <a:rPr lang="en-US" dirty="0"/>
              <a:t>Informal: with love, best regards, affectionately yours.</a:t>
            </a:r>
          </a:p>
          <a:p>
            <a:pPr>
              <a:buNone/>
            </a:pPr>
            <a:r>
              <a:rPr lang="en-US" b="1" dirty="0">
                <a:solidFill>
                  <a:srgbClr val="00B0F0"/>
                </a:solidFill>
              </a:rPr>
              <a:t>8) The signature:</a:t>
            </a:r>
            <a:r>
              <a:rPr lang="en-US" b="1" dirty="0"/>
              <a:t> </a:t>
            </a:r>
            <a:r>
              <a:rPr lang="en-US" dirty="0"/>
              <a:t>it is done just below the subscription. In formal letter full name is there and in informal letter only the first name is mentioned.</a:t>
            </a:r>
          </a:p>
          <a:p>
            <a:pPr>
              <a:buNone/>
            </a:pPr>
            <a:r>
              <a:rPr lang="en-US" dirty="0"/>
              <a:t>formal:  yours faithfully  </a:t>
            </a:r>
            <a:r>
              <a:rPr lang="en-US" dirty="0" err="1"/>
              <a:t>Dipesh</a:t>
            </a:r>
            <a:r>
              <a:rPr lang="en-US" dirty="0"/>
              <a:t> Pant</a:t>
            </a:r>
          </a:p>
          <a:p>
            <a:pPr>
              <a:buNone/>
            </a:pPr>
            <a:r>
              <a:rPr lang="en-US" dirty="0"/>
              <a:t>informal: affectionately yours  D.P.</a:t>
            </a:r>
          </a:p>
          <a:p>
            <a:pPr>
              <a:buNone/>
            </a:pPr>
            <a:r>
              <a:rPr lang="en-US" dirty="0">
                <a:solidFill>
                  <a:srgbClr val="00B0F0"/>
                </a:solidFill>
              </a:rPr>
              <a:t>9) </a:t>
            </a:r>
            <a:r>
              <a:rPr lang="en-US" b="1" dirty="0">
                <a:solidFill>
                  <a:srgbClr val="00B0F0"/>
                </a:solidFill>
              </a:rPr>
              <a:t>The envelope:</a:t>
            </a:r>
            <a:r>
              <a:rPr lang="en-US" b="1" dirty="0"/>
              <a:t> </a:t>
            </a:r>
            <a:r>
              <a:rPr lang="en-US" dirty="0"/>
              <a:t>the  sender’s complete name and address is written on the left side and the receiver’s name and address is written on the right side of the envelope.</a:t>
            </a:r>
          </a:p>
          <a:p>
            <a:pPr>
              <a:buNone/>
            </a:pPr>
            <a:r>
              <a:rPr lang="en-US" dirty="0"/>
              <a:t>From                                                                                             To                                                                                                                   </a:t>
            </a:r>
          </a:p>
          <a:p>
            <a:pPr>
              <a:buNone/>
            </a:pPr>
            <a:r>
              <a:rPr lang="en-US" dirty="0"/>
              <a:t>……….                                                                                           ………….                                                                                                                 </a:t>
            </a:r>
          </a:p>
          <a:p>
            <a:pPr>
              <a:buNone/>
            </a:pPr>
            <a:endParaRPr lang="en-US" sz="900" dirty="0"/>
          </a:p>
          <a:p>
            <a:endParaRPr lang="en-US" dirty="0"/>
          </a:p>
          <a:p>
            <a:endParaRPr lang="en-US" dirty="0"/>
          </a:p>
        </p:txBody>
      </p:sp>
    </p:spTree>
    <p:extLst>
      <p:ext uri="{BB962C8B-B14F-4D97-AF65-F5344CB8AC3E}">
        <p14:creationId xmlns:p14="http://schemas.microsoft.com/office/powerpoint/2010/main" val="2377012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80773"/>
            <a:ext cx="10515600" cy="4351338"/>
          </a:xfrm>
        </p:spPr>
        <p:txBody>
          <a:bodyPr>
            <a:normAutofit lnSpcReduction="10000"/>
          </a:bodyPr>
          <a:lstStyle/>
          <a:p>
            <a:pPr marL="0" indent="0">
              <a:buNone/>
            </a:pPr>
            <a:r>
              <a:rPr lang="en-GB" sz="3600" b="1" dirty="0">
                <a:solidFill>
                  <a:srgbClr val="C00000"/>
                </a:solidFill>
              </a:rPr>
              <a:t> </a:t>
            </a:r>
            <a:r>
              <a:rPr lang="en-GB" sz="3600" b="1" dirty="0" smtClean="0">
                <a:solidFill>
                  <a:srgbClr val="C00000"/>
                </a:solidFill>
              </a:rPr>
              <a:t>                   Memo</a:t>
            </a:r>
          </a:p>
          <a:p>
            <a:r>
              <a:rPr lang="en-GB" b="1" dirty="0" smtClean="0"/>
              <a:t>The </a:t>
            </a:r>
            <a:r>
              <a:rPr lang="en-GB" b="1" dirty="0"/>
              <a:t>word ‘memo’ is an abbreviation of </a:t>
            </a:r>
          </a:p>
          <a:p>
            <a:pPr marL="0" indent="0">
              <a:buNone/>
            </a:pPr>
            <a:r>
              <a:rPr lang="en-GB" b="1" dirty="0" smtClean="0"/>
              <a:t>‘</a:t>
            </a:r>
            <a:r>
              <a:rPr lang="en-GB" b="1" dirty="0"/>
              <a:t>memorandum’ (meaning ‘reminder’)</a:t>
            </a:r>
          </a:p>
          <a:p>
            <a:r>
              <a:rPr lang="en-GB" b="1" dirty="0"/>
              <a:t>A formal, </a:t>
            </a:r>
            <a:r>
              <a:rPr lang="en-GB" b="1" dirty="0" smtClean="0"/>
              <a:t>note </a:t>
            </a:r>
            <a:r>
              <a:rPr lang="en-GB" b="1" dirty="0"/>
              <a:t>sent to a </a:t>
            </a:r>
            <a:r>
              <a:rPr lang="en-GB" b="1" dirty="0" smtClean="0"/>
              <a:t>co-worker/</a:t>
            </a:r>
          </a:p>
          <a:p>
            <a:pPr marL="0" indent="0">
              <a:buNone/>
            </a:pPr>
            <a:r>
              <a:rPr lang="en-GB" b="1" dirty="0" smtClean="0"/>
              <a:t>colleague/others </a:t>
            </a:r>
            <a:r>
              <a:rPr lang="en-GB" b="1" dirty="0"/>
              <a:t>within </a:t>
            </a:r>
            <a:r>
              <a:rPr lang="en-GB" b="1" dirty="0" smtClean="0"/>
              <a:t>the </a:t>
            </a:r>
            <a:r>
              <a:rPr lang="en-GB" b="1" dirty="0"/>
              <a:t>same organization</a:t>
            </a:r>
          </a:p>
          <a:p>
            <a:r>
              <a:rPr lang="en-GB" b="1" dirty="0" smtClean="0"/>
              <a:t>No greeting</a:t>
            </a:r>
          </a:p>
          <a:p>
            <a:r>
              <a:rPr lang="en-GB" b="1" dirty="0" smtClean="0"/>
              <a:t>Memos </a:t>
            </a:r>
            <a:r>
              <a:rPr lang="en-GB" b="1" dirty="0"/>
              <a:t>are </a:t>
            </a:r>
            <a:r>
              <a:rPr lang="en-GB" b="1" dirty="0" smtClean="0"/>
              <a:t>concise using </a:t>
            </a:r>
            <a:r>
              <a:rPr lang="en-GB" b="1" dirty="0"/>
              <a:t>brief </a:t>
            </a:r>
            <a:r>
              <a:rPr lang="en-GB" b="1" dirty="0" smtClean="0"/>
              <a:t>sentences and </a:t>
            </a:r>
            <a:r>
              <a:rPr lang="en-GB" b="1" dirty="0"/>
              <a:t>paragraphs</a:t>
            </a:r>
          </a:p>
          <a:p>
            <a:r>
              <a:rPr lang="en-GB" b="1" dirty="0"/>
              <a:t>They are direct  to the point</a:t>
            </a:r>
          </a:p>
          <a:p>
            <a:r>
              <a:rPr lang="en-GB" b="1" dirty="0"/>
              <a:t>Not suitable for sending </a:t>
            </a:r>
            <a:r>
              <a:rPr lang="en-GB" b="1" dirty="0" smtClean="0"/>
              <a:t> outside of the organization.</a:t>
            </a:r>
            <a:endParaRPr lang="en-GB" b="1" dirty="0"/>
          </a:p>
          <a:p>
            <a:endParaRPr lang="en-US" dirty="0"/>
          </a:p>
        </p:txBody>
      </p:sp>
      <p:pic>
        <p:nvPicPr>
          <p:cNvPr id="4" name="Picture 4" descr="See the source image">
            <a:extLst>
              <a:ext uri="{FF2B5EF4-FFF2-40B4-BE49-F238E27FC236}">
                <a16:creationId xmlns="" xmlns:a16="http://schemas.microsoft.com/office/drawing/2014/main" id="{63F0747C-7DC0-4A4E-900A-077D8D883A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87" t="12304" r="6083" b="5593"/>
          <a:stretch/>
        </p:blipFill>
        <p:spPr bwMode="auto">
          <a:xfrm>
            <a:off x="8020084" y="761454"/>
            <a:ext cx="3996966" cy="32711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23237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rgbClr val="FF0000"/>
                </a:solidFill>
              </a:rPr>
              <a:t>Purpose</a:t>
            </a:r>
            <a:endParaRPr lang="en-GB" b="1" dirty="0">
              <a:solidFill>
                <a:srgbClr val="FF0000"/>
              </a:solidFill>
            </a:endParaRPr>
          </a:p>
        </p:txBody>
      </p:sp>
      <p:sp>
        <p:nvSpPr>
          <p:cNvPr id="3" name="Content Placeholder 2"/>
          <p:cNvSpPr>
            <a:spLocks noGrp="1"/>
          </p:cNvSpPr>
          <p:nvPr>
            <p:ph idx="1"/>
          </p:nvPr>
        </p:nvSpPr>
        <p:spPr>
          <a:xfrm>
            <a:off x="591671" y="1690689"/>
            <a:ext cx="11191834" cy="4860940"/>
          </a:xfrm>
        </p:spPr>
        <p:txBody>
          <a:bodyPr/>
          <a:lstStyle/>
          <a:p>
            <a:pPr marL="0" indent="0">
              <a:buNone/>
            </a:pPr>
            <a:r>
              <a:rPr lang="en-GB" sz="2400" b="1" dirty="0" smtClean="0"/>
              <a:t>-   Inform </a:t>
            </a:r>
            <a:r>
              <a:rPr lang="en-GB" sz="2400" b="1" dirty="0"/>
              <a:t>others about a </a:t>
            </a:r>
            <a:r>
              <a:rPr lang="en-GB" sz="2400" b="1" dirty="0" smtClean="0"/>
              <a:t>new/ </a:t>
            </a:r>
            <a:r>
              <a:rPr lang="en-GB" sz="2400" b="1" dirty="0"/>
              <a:t>changed policy,  </a:t>
            </a:r>
            <a:r>
              <a:rPr lang="en-GB" sz="2400" b="1" dirty="0" smtClean="0"/>
              <a:t>procedures</a:t>
            </a:r>
            <a:r>
              <a:rPr lang="en-GB" sz="2400" b="1" dirty="0"/>
              <a:t>, organizational details</a:t>
            </a:r>
          </a:p>
          <a:p>
            <a:pPr>
              <a:buFontTx/>
              <a:buChar char="-"/>
            </a:pPr>
            <a:r>
              <a:rPr lang="en-GB" sz="2400" b="1" dirty="0"/>
              <a:t>Announce meetings, </a:t>
            </a:r>
            <a:r>
              <a:rPr lang="en-GB" sz="2400" b="1" dirty="0" smtClean="0"/>
              <a:t>events</a:t>
            </a:r>
          </a:p>
          <a:p>
            <a:pPr>
              <a:buFontTx/>
              <a:buChar char="-"/>
            </a:pPr>
            <a:r>
              <a:rPr lang="en-GB" sz="2400" b="1" dirty="0" smtClean="0"/>
              <a:t>Present </a:t>
            </a:r>
            <a:r>
              <a:rPr lang="en-GB" sz="2400" b="1" dirty="0"/>
              <a:t>decisions, directives, proposals, briefings</a:t>
            </a:r>
          </a:p>
          <a:p>
            <a:pPr>
              <a:buFontTx/>
              <a:buChar char="-"/>
            </a:pPr>
            <a:r>
              <a:rPr lang="en-GB" sz="2400" b="1" dirty="0"/>
              <a:t>Transmit documents (</a:t>
            </a:r>
            <a:r>
              <a:rPr lang="en-GB" sz="2400" b="1" dirty="0" smtClean="0"/>
              <a:t>internal)</a:t>
            </a:r>
          </a:p>
          <a:p>
            <a:pPr>
              <a:buFontTx/>
              <a:buChar char="-"/>
            </a:pPr>
            <a:r>
              <a:rPr lang="en-GB" sz="2400" b="1" dirty="0" smtClean="0"/>
              <a:t>Memos </a:t>
            </a:r>
            <a:r>
              <a:rPr lang="en-GB" sz="2400" b="1" dirty="0"/>
              <a:t>help to bring attention to problems and </a:t>
            </a:r>
            <a:r>
              <a:rPr lang="en-GB" sz="2400" b="1" dirty="0" smtClean="0"/>
              <a:t>their solutions.</a:t>
            </a:r>
          </a:p>
          <a:p>
            <a:endParaRPr lang="en-GB" dirty="0"/>
          </a:p>
        </p:txBody>
      </p:sp>
    </p:spTree>
    <p:extLst>
      <p:ext uri="{BB962C8B-B14F-4D97-AF65-F5344CB8AC3E}">
        <p14:creationId xmlns:p14="http://schemas.microsoft.com/office/powerpoint/2010/main" val="8143336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13538"/>
            <a:ext cx="10515600" cy="1325563"/>
          </a:xfrm>
        </p:spPr>
        <p:txBody>
          <a:bodyPr/>
          <a:lstStyle/>
          <a:p>
            <a:r>
              <a:rPr lang="en-US" b="1" dirty="0">
                <a:solidFill>
                  <a:srgbClr val="0070C0"/>
                </a:solidFill>
              </a:rPr>
              <a:t>Memo Format</a:t>
            </a:r>
          </a:p>
        </p:txBody>
      </p:sp>
      <p:sp>
        <p:nvSpPr>
          <p:cNvPr id="3" name="Content Placeholder 2"/>
          <p:cNvSpPr>
            <a:spLocks noGrp="1"/>
          </p:cNvSpPr>
          <p:nvPr>
            <p:ph idx="1"/>
          </p:nvPr>
        </p:nvSpPr>
        <p:spPr>
          <a:xfrm>
            <a:off x="838200" y="1110343"/>
            <a:ext cx="10515600" cy="5573486"/>
          </a:xfrm>
        </p:spPr>
        <p:txBody>
          <a:bodyPr>
            <a:normAutofit fontScale="77500" lnSpcReduction="20000"/>
          </a:bodyPr>
          <a:lstStyle/>
          <a:p>
            <a:pPr marL="0" indent="0">
              <a:buNone/>
            </a:pPr>
            <a:r>
              <a:rPr lang="en-GB" dirty="0"/>
              <a:t>				</a:t>
            </a:r>
            <a:r>
              <a:rPr lang="en-GB" b="1" dirty="0"/>
              <a:t>MEMO</a:t>
            </a:r>
          </a:p>
          <a:p>
            <a:pPr marL="0" indent="0">
              <a:buNone/>
            </a:pPr>
            <a:r>
              <a:rPr lang="en-GB" dirty="0"/>
              <a:t>TO:</a:t>
            </a:r>
          </a:p>
          <a:p>
            <a:pPr marL="0" indent="0">
              <a:buNone/>
            </a:pPr>
            <a:r>
              <a:rPr lang="en-GB" dirty="0"/>
              <a:t>FROM:</a:t>
            </a:r>
          </a:p>
          <a:p>
            <a:pPr marL="0" indent="0">
              <a:buNone/>
            </a:pPr>
            <a:r>
              <a:rPr lang="en-GB" dirty="0"/>
              <a:t>DATE:		</a:t>
            </a:r>
            <a:r>
              <a:rPr lang="en-GB" b="1" dirty="0">
                <a:solidFill>
                  <a:srgbClr val="C00000"/>
                </a:solidFill>
              </a:rPr>
              <a:t>Head</a:t>
            </a:r>
          </a:p>
          <a:p>
            <a:pPr marL="0" indent="0">
              <a:buNone/>
            </a:pPr>
            <a:r>
              <a:rPr lang="en-GB" dirty="0"/>
              <a:t>SUBJECT:</a:t>
            </a:r>
          </a:p>
          <a:p>
            <a:pPr marL="0" indent="0">
              <a:buNone/>
            </a:pPr>
            <a:endParaRPr lang="en-GB" dirty="0"/>
          </a:p>
          <a:p>
            <a:pPr marL="0" indent="0">
              <a:buNone/>
            </a:pPr>
            <a:r>
              <a:rPr lang="en-GB" dirty="0"/>
              <a:t>……………………………………………………………………………………….. …………………………………………………………………………………………</a:t>
            </a:r>
          </a:p>
          <a:p>
            <a:pPr marL="0" indent="0">
              <a:buNone/>
            </a:pPr>
            <a:r>
              <a:rPr lang="en-GB" dirty="0"/>
              <a:t> 									</a:t>
            </a:r>
            <a:endParaRPr lang="en-GB" b="1" dirty="0">
              <a:solidFill>
                <a:srgbClr val="C00000"/>
              </a:solidFill>
            </a:endParaRPr>
          </a:p>
          <a:p>
            <a:pPr marL="0" indent="0">
              <a:buNone/>
            </a:pPr>
            <a:r>
              <a:rPr lang="en-GB" dirty="0"/>
              <a:t>…………………………………………………………………………………………		</a:t>
            </a:r>
            <a:r>
              <a:rPr lang="en-GB" b="1" dirty="0">
                <a:solidFill>
                  <a:srgbClr val="C00000"/>
                </a:solidFill>
              </a:rPr>
              <a:t> Body</a:t>
            </a:r>
            <a:r>
              <a:rPr lang="en-GB" dirty="0"/>
              <a:t> …………………………………………………………………………………………</a:t>
            </a:r>
          </a:p>
          <a:p>
            <a:pPr marL="0" indent="0">
              <a:buNone/>
            </a:pPr>
            <a:endParaRPr lang="en-GB" dirty="0"/>
          </a:p>
          <a:p>
            <a:pPr marL="0" indent="0">
              <a:buNone/>
            </a:pPr>
            <a:r>
              <a:rPr lang="en-GB" dirty="0"/>
              <a:t>Name in short</a:t>
            </a:r>
          </a:p>
          <a:p>
            <a:pPr marL="0" indent="0">
              <a:buNone/>
            </a:pPr>
            <a:endParaRPr lang="en-GB" dirty="0"/>
          </a:p>
          <a:p>
            <a:pPr marL="0" indent="0">
              <a:buNone/>
            </a:pPr>
            <a:r>
              <a:rPr lang="en-GB" dirty="0"/>
              <a:t>CC:</a:t>
            </a:r>
          </a:p>
          <a:p>
            <a:pPr marL="0" indent="0">
              <a:buNone/>
            </a:pPr>
            <a:r>
              <a:rPr lang="en-GB" dirty="0"/>
              <a:t>Attachment:	       </a:t>
            </a:r>
            <a:r>
              <a:rPr lang="en-GB" b="1" dirty="0">
                <a:solidFill>
                  <a:srgbClr val="C00000"/>
                </a:solidFill>
              </a:rPr>
              <a:t>Tail</a:t>
            </a:r>
          </a:p>
          <a:p>
            <a:pPr marL="0" indent="0">
              <a:buNone/>
            </a:pPr>
            <a:endParaRPr lang="en-US" dirty="0"/>
          </a:p>
        </p:txBody>
      </p:sp>
      <p:sp>
        <p:nvSpPr>
          <p:cNvPr id="5" name="Right Brace 4"/>
          <p:cNvSpPr/>
          <p:nvPr/>
        </p:nvSpPr>
        <p:spPr>
          <a:xfrm>
            <a:off x="2120348" y="1444487"/>
            <a:ext cx="649357" cy="177544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ight Brace 5"/>
          <p:cNvSpPr/>
          <p:nvPr/>
        </p:nvSpPr>
        <p:spPr>
          <a:xfrm>
            <a:off x="7699513" y="3392210"/>
            <a:ext cx="1152939" cy="209418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Right Brace 6"/>
          <p:cNvSpPr/>
          <p:nvPr/>
        </p:nvSpPr>
        <p:spPr>
          <a:xfrm>
            <a:off x="2445026" y="5870713"/>
            <a:ext cx="483704" cy="75537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8483811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515600" cy="755374"/>
          </a:xfrm>
        </p:spPr>
        <p:txBody>
          <a:bodyPr/>
          <a:lstStyle/>
          <a:p>
            <a:r>
              <a:rPr lang="en-US" b="1" dirty="0">
                <a:solidFill>
                  <a:srgbClr val="0070C0"/>
                </a:solidFill>
              </a:rPr>
              <a:t>Parts of Memo</a:t>
            </a:r>
          </a:p>
        </p:txBody>
      </p:sp>
      <p:sp>
        <p:nvSpPr>
          <p:cNvPr id="3" name="Content Placeholder 2"/>
          <p:cNvSpPr>
            <a:spLocks noGrp="1"/>
          </p:cNvSpPr>
          <p:nvPr>
            <p:ph idx="1"/>
          </p:nvPr>
        </p:nvSpPr>
        <p:spPr>
          <a:xfrm>
            <a:off x="838200" y="755375"/>
            <a:ext cx="10515600" cy="5421588"/>
          </a:xfrm>
        </p:spPr>
        <p:txBody>
          <a:bodyPr>
            <a:normAutofit fontScale="92500" lnSpcReduction="20000"/>
          </a:bodyPr>
          <a:lstStyle/>
          <a:p>
            <a:r>
              <a:rPr lang="en-GB" sz="3000" b="1" dirty="0"/>
              <a:t>Head</a:t>
            </a:r>
            <a:r>
              <a:rPr lang="en-GB" dirty="0"/>
              <a:t> </a:t>
            </a:r>
          </a:p>
          <a:p>
            <a:pPr marL="0" indent="0">
              <a:buNone/>
            </a:pPr>
            <a:r>
              <a:rPr lang="en-GB" dirty="0"/>
              <a:t>	-To (Name and designation of the recipient) </a:t>
            </a:r>
          </a:p>
          <a:p>
            <a:pPr marL="0" indent="0">
              <a:buNone/>
            </a:pPr>
            <a:r>
              <a:rPr lang="en-GB" dirty="0"/>
              <a:t>	- From (Name and designation of the sender)</a:t>
            </a:r>
          </a:p>
          <a:p>
            <a:pPr marL="0" indent="0">
              <a:buNone/>
            </a:pPr>
            <a:r>
              <a:rPr lang="en-GB" dirty="0"/>
              <a:t>	- Date (Complete and Current)</a:t>
            </a:r>
          </a:p>
          <a:p>
            <a:pPr marL="0" indent="0">
              <a:buNone/>
            </a:pPr>
            <a:r>
              <a:rPr lang="en-GB" dirty="0"/>
              <a:t>	- Subject (Topic of the memo)</a:t>
            </a:r>
          </a:p>
          <a:p>
            <a:r>
              <a:rPr lang="en-GB" sz="3000" b="1" dirty="0"/>
              <a:t>Body</a:t>
            </a:r>
          </a:p>
          <a:p>
            <a:pPr marL="0" indent="0">
              <a:buNone/>
            </a:pPr>
            <a:r>
              <a:rPr lang="en-GB" dirty="0"/>
              <a:t>	- Introduction</a:t>
            </a:r>
          </a:p>
          <a:p>
            <a:pPr marL="0" indent="0">
              <a:buNone/>
            </a:pPr>
            <a:r>
              <a:rPr lang="en-GB" dirty="0"/>
              <a:t>	- Main points</a:t>
            </a:r>
          </a:p>
          <a:p>
            <a:pPr marL="0" indent="0">
              <a:buNone/>
            </a:pPr>
            <a:r>
              <a:rPr lang="en-GB" dirty="0"/>
              <a:t>	- Close</a:t>
            </a:r>
          </a:p>
          <a:p>
            <a:pPr marL="0" indent="0">
              <a:buNone/>
            </a:pPr>
            <a:r>
              <a:rPr lang="en-GB" dirty="0"/>
              <a:t>	- Signature</a:t>
            </a:r>
          </a:p>
          <a:p>
            <a:r>
              <a:rPr lang="en-GB" sz="3000" b="1" dirty="0"/>
              <a:t>Tail </a:t>
            </a:r>
          </a:p>
          <a:p>
            <a:pPr marL="0" indent="0">
              <a:buNone/>
            </a:pPr>
            <a:r>
              <a:rPr lang="en-GB" dirty="0"/>
              <a:t>	- CC (persons who might be receiving copies of memo)</a:t>
            </a:r>
          </a:p>
          <a:p>
            <a:pPr marL="0" indent="0">
              <a:buNone/>
            </a:pPr>
            <a:r>
              <a:rPr lang="en-GB" dirty="0"/>
              <a:t>	- Attachments (lists, diagrams, pictures, tables and other information)</a:t>
            </a:r>
          </a:p>
          <a:p>
            <a:endParaRPr lang="en-US" dirty="0"/>
          </a:p>
        </p:txBody>
      </p:sp>
    </p:spTree>
    <p:extLst>
      <p:ext uri="{BB962C8B-B14F-4D97-AF65-F5344CB8AC3E}">
        <p14:creationId xmlns:p14="http://schemas.microsoft.com/office/powerpoint/2010/main" val="33890420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F84ADD-A35F-499D-A49B-E058DED1B46E}"/>
              </a:ext>
            </a:extLst>
          </p:cNvPr>
          <p:cNvSpPr>
            <a:spLocks noGrp="1"/>
          </p:cNvSpPr>
          <p:nvPr>
            <p:ph type="title"/>
          </p:nvPr>
        </p:nvSpPr>
        <p:spPr>
          <a:xfrm>
            <a:off x="1981200" y="264700"/>
            <a:ext cx="8229600" cy="573501"/>
          </a:xfrm>
        </p:spPr>
        <p:txBody>
          <a:bodyPr>
            <a:normAutofit fontScale="90000"/>
          </a:bodyPr>
          <a:lstStyle/>
          <a:p>
            <a:r>
              <a:rPr lang="en-GB" b="1" dirty="0" smtClean="0">
                <a:solidFill>
                  <a:srgbClr val="FF0000"/>
                </a:solidFill>
              </a:rPr>
              <a:t>Memo Format </a:t>
            </a:r>
            <a:endParaRPr lang="en-GB" b="1" dirty="0">
              <a:solidFill>
                <a:srgbClr val="FF0000"/>
              </a:solidFill>
            </a:endParaRPr>
          </a:p>
        </p:txBody>
      </p:sp>
      <p:sp>
        <p:nvSpPr>
          <p:cNvPr id="3" name="Content Placeholder 2">
            <a:extLst>
              <a:ext uri="{FF2B5EF4-FFF2-40B4-BE49-F238E27FC236}">
                <a16:creationId xmlns="" xmlns:a16="http://schemas.microsoft.com/office/drawing/2014/main" id="{159C6A0D-5CA8-48C9-A5D0-0C9F77DC4593}"/>
              </a:ext>
            </a:extLst>
          </p:cNvPr>
          <p:cNvSpPr>
            <a:spLocks noGrp="1"/>
          </p:cNvSpPr>
          <p:nvPr>
            <p:ph idx="1"/>
          </p:nvPr>
        </p:nvSpPr>
        <p:spPr>
          <a:xfrm>
            <a:off x="708212" y="1066800"/>
            <a:ext cx="10924464" cy="5562600"/>
          </a:xfrm>
        </p:spPr>
        <p:txBody>
          <a:bodyPr>
            <a:normAutofit fontScale="92500" lnSpcReduction="10000"/>
          </a:bodyPr>
          <a:lstStyle/>
          <a:p>
            <a:pPr marL="0" indent="0">
              <a:buNone/>
            </a:pPr>
            <a:r>
              <a:rPr lang="en-GB" dirty="0" smtClean="0"/>
              <a:t>	</a:t>
            </a:r>
            <a:r>
              <a:rPr lang="en-GB" dirty="0"/>
              <a:t>		</a:t>
            </a:r>
            <a:endParaRPr lang="en-GB" b="1" dirty="0"/>
          </a:p>
          <a:p>
            <a:pPr marL="0" indent="0">
              <a:buNone/>
            </a:pPr>
            <a:r>
              <a:rPr lang="en-GB" b="1" dirty="0"/>
              <a:t>TO:</a:t>
            </a:r>
          </a:p>
          <a:p>
            <a:pPr marL="0" indent="0">
              <a:buNone/>
            </a:pPr>
            <a:r>
              <a:rPr lang="en-GB" b="1" dirty="0"/>
              <a:t>FROM:</a:t>
            </a:r>
          </a:p>
          <a:p>
            <a:pPr marL="0" indent="0">
              <a:buNone/>
            </a:pPr>
            <a:r>
              <a:rPr lang="en-GB" b="1" dirty="0"/>
              <a:t>DATE:</a:t>
            </a:r>
          </a:p>
          <a:p>
            <a:pPr marL="0" indent="0">
              <a:buNone/>
            </a:pPr>
            <a:r>
              <a:rPr lang="en-GB" b="1" dirty="0"/>
              <a:t>SUBJECT:</a:t>
            </a:r>
          </a:p>
          <a:p>
            <a:pPr marL="0" indent="0">
              <a:buNone/>
            </a:pPr>
            <a:endParaRPr lang="en-GB" b="1" dirty="0"/>
          </a:p>
          <a:p>
            <a:pPr marL="0" indent="0">
              <a:buNone/>
            </a:pPr>
            <a:r>
              <a:rPr lang="en-GB" b="1" dirty="0"/>
              <a:t>(BODY)…………………………………………………………………………………………………………………………………………………………………………………………………………………………………………………………………………………………………………………………………………………………..</a:t>
            </a:r>
          </a:p>
          <a:p>
            <a:pPr marL="0" indent="0">
              <a:buNone/>
            </a:pPr>
            <a:endParaRPr lang="en-GB" b="1" dirty="0"/>
          </a:p>
          <a:p>
            <a:pPr marL="0" indent="0">
              <a:buNone/>
            </a:pPr>
            <a:r>
              <a:rPr lang="en-GB" b="1" dirty="0"/>
              <a:t>Name in short</a:t>
            </a:r>
          </a:p>
          <a:p>
            <a:pPr marL="0" indent="0">
              <a:buNone/>
            </a:pPr>
            <a:r>
              <a:rPr lang="en-GB" b="1" dirty="0"/>
              <a:t>CC:</a:t>
            </a:r>
          </a:p>
          <a:p>
            <a:pPr marL="0" indent="0">
              <a:buNone/>
            </a:pPr>
            <a:r>
              <a:rPr lang="en-GB" b="1" dirty="0"/>
              <a:t>Attachment:</a:t>
            </a:r>
          </a:p>
        </p:txBody>
      </p:sp>
    </p:spTree>
    <p:extLst>
      <p:ext uri="{BB962C8B-B14F-4D97-AF65-F5344CB8AC3E}">
        <p14:creationId xmlns:p14="http://schemas.microsoft.com/office/powerpoint/2010/main" val="184822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EB09EC-A45D-4DCB-9E62-D37CA53D19BB}"/>
              </a:ext>
            </a:extLst>
          </p:cNvPr>
          <p:cNvSpPr>
            <a:spLocks noGrp="1"/>
          </p:cNvSpPr>
          <p:nvPr>
            <p:ph type="title"/>
          </p:nvPr>
        </p:nvSpPr>
        <p:spPr>
          <a:xfrm>
            <a:off x="4138366" y="274638"/>
            <a:ext cx="6072433" cy="792162"/>
          </a:xfrm>
        </p:spPr>
        <p:txBody>
          <a:bodyPr/>
          <a:lstStyle/>
          <a:p>
            <a:r>
              <a:rPr lang="en-GB" b="1" dirty="0">
                <a:solidFill>
                  <a:srgbClr val="FF0000"/>
                </a:solidFill>
              </a:rPr>
              <a:t>MEMO</a:t>
            </a:r>
          </a:p>
        </p:txBody>
      </p:sp>
      <p:sp>
        <p:nvSpPr>
          <p:cNvPr id="3" name="Content Placeholder 2">
            <a:extLst>
              <a:ext uri="{FF2B5EF4-FFF2-40B4-BE49-F238E27FC236}">
                <a16:creationId xmlns="" xmlns:a16="http://schemas.microsoft.com/office/drawing/2014/main" id="{A4303BC7-8644-4A97-9082-3C446F48A89A}"/>
              </a:ext>
            </a:extLst>
          </p:cNvPr>
          <p:cNvSpPr>
            <a:spLocks noGrp="1"/>
          </p:cNvSpPr>
          <p:nvPr>
            <p:ph idx="1"/>
          </p:nvPr>
        </p:nvSpPr>
        <p:spPr>
          <a:xfrm>
            <a:off x="717177" y="1225486"/>
            <a:ext cx="11245438" cy="5357876"/>
          </a:xfrm>
        </p:spPr>
        <p:txBody>
          <a:bodyPr>
            <a:normAutofit fontScale="77500" lnSpcReduction="20000"/>
          </a:bodyPr>
          <a:lstStyle/>
          <a:p>
            <a:pPr marL="0" indent="0">
              <a:buNone/>
            </a:pPr>
            <a:r>
              <a:rPr lang="en-GB" b="1" dirty="0"/>
              <a:t>TO: All </a:t>
            </a:r>
            <a:r>
              <a:rPr lang="en-GB" b="1" dirty="0" smtClean="0"/>
              <a:t> the Staff</a:t>
            </a:r>
            <a:endParaRPr lang="en-GB" b="1" dirty="0"/>
          </a:p>
          <a:p>
            <a:pPr marL="0" indent="0">
              <a:buNone/>
            </a:pPr>
            <a:r>
              <a:rPr lang="en-GB" b="1" dirty="0"/>
              <a:t>FROM: Ravi </a:t>
            </a:r>
            <a:r>
              <a:rPr lang="en-GB" b="1" dirty="0" err="1"/>
              <a:t>Chitrakar</a:t>
            </a:r>
            <a:r>
              <a:rPr lang="en-GB" b="1" dirty="0"/>
              <a:t>, General Manager</a:t>
            </a:r>
          </a:p>
          <a:p>
            <a:pPr marL="0" indent="0">
              <a:buNone/>
            </a:pPr>
            <a:r>
              <a:rPr lang="en-GB" b="1" dirty="0"/>
              <a:t>Date: May 10, 2018</a:t>
            </a:r>
          </a:p>
          <a:p>
            <a:pPr marL="0" indent="0">
              <a:buNone/>
            </a:pPr>
            <a:r>
              <a:rPr lang="en-GB" b="1" dirty="0"/>
              <a:t>Subject: Participating in upcoming book fair</a:t>
            </a:r>
          </a:p>
          <a:p>
            <a:pPr marL="0" indent="0">
              <a:buNone/>
            </a:pPr>
            <a:endParaRPr lang="en-GB" b="1" dirty="0"/>
          </a:p>
          <a:p>
            <a:pPr marL="0" indent="0">
              <a:buNone/>
            </a:pPr>
            <a:r>
              <a:rPr lang="en-GB" b="1" dirty="0"/>
              <a:t>Our company will be participating in the Nepal Education and Book Fair </a:t>
            </a:r>
            <a:r>
              <a:rPr lang="en-GB" b="1" dirty="0" smtClean="0"/>
              <a:t>2024, </a:t>
            </a:r>
            <a:r>
              <a:rPr lang="en-GB" b="1" dirty="0"/>
              <a:t>from May 15 to 22 at </a:t>
            </a:r>
            <a:r>
              <a:rPr lang="en-GB" b="1" dirty="0" err="1"/>
              <a:t>Bhrikuti</a:t>
            </a:r>
            <a:r>
              <a:rPr lang="en-GB" b="1" dirty="0"/>
              <a:t> Mandap, Exhibition Hall, Kathmandu. We will set up our stall in the early morning of May 10 and we will be involved in this big event in a big way this year.</a:t>
            </a:r>
          </a:p>
          <a:p>
            <a:pPr marL="0" indent="0">
              <a:buNone/>
            </a:pPr>
            <a:r>
              <a:rPr lang="en-GB" b="1" dirty="0"/>
              <a:t>Except for some </a:t>
            </a:r>
            <a:r>
              <a:rPr lang="en-GB" b="1" dirty="0" smtClean="0"/>
              <a:t>staffs </a:t>
            </a:r>
            <a:r>
              <a:rPr lang="en-GB" b="1" dirty="0"/>
              <a:t>in the sales department, everyone has been assigned specific tasks at the fair. They should report directly to our stall at </a:t>
            </a:r>
            <a:r>
              <a:rPr lang="en-GB" b="1" dirty="0" err="1"/>
              <a:t>Bhrikuti</a:t>
            </a:r>
            <a:r>
              <a:rPr lang="en-GB" b="1" dirty="0"/>
              <a:t> Mandap during the period of the fair.</a:t>
            </a:r>
          </a:p>
          <a:p>
            <a:pPr marL="0" indent="0">
              <a:buNone/>
            </a:pPr>
            <a:r>
              <a:rPr lang="en-GB" b="1" dirty="0"/>
              <a:t>Please review the attachment for your role in the fair.</a:t>
            </a:r>
          </a:p>
          <a:p>
            <a:pPr marL="0" indent="0">
              <a:buNone/>
            </a:pPr>
            <a:r>
              <a:rPr lang="en-GB" b="1" dirty="0" smtClean="0"/>
              <a:t>R</a:t>
            </a:r>
            <a:r>
              <a:rPr lang="en-GB" b="1" dirty="0"/>
              <a:t>C</a:t>
            </a:r>
          </a:p>
          <a:p>
            <a:pPr marL="0" indent="0">
              <a:buNone/>
            </a:pPr>
            <a:r>
              <a:rPr lang="en-GB" b="1" dirty="0"/>
              <a:t>CC: Staff members</a:t>
            </a:r>
          </a:p>
          <a:p>
            <a:pPr marL="0" indent="0">
              <a:buNone/>
            </a:pPr>
            <a:r>
              <a:rPr lang="en-GB" b="1" dirty="0"/>
              <a:t>Attachment: Book fair task for individual staff</a:t>
            </a:r>
          </a:p>
          <a:p>
            <a:pPr marL="0" indent="0">
              <a:buNone/>
            </a:pPr>
            <a:endParaRPr lang="en-GB" dirty="0"/>
          </a:p>
        </p:txBody>
      </p:sp>
    </p:spTree>
    <p:extLst>
      <p:ext uri="{BB962C8B-B14F-4D97-AF65-F5344CB8AC3E}">
        <p14:creationId xmlns:p14="http://schemas.microsoft.com/office/powerpoint/2010/main" val="30124755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5751BF7-4405-4FA5-B129-FA76FE194417}"/>
              </a:ext>
            </a:extLst>
          </p:cNvPr>
          <p:cNvSpPr>
            <a:spLocks noGrp="1"/>
          </p:cNvSpPr>
          <p:nvPr>
            <p:ph type="title"/>
          </p:nvPr>
        </p:nvSpPr>
        <p:spPr>
          <a:xfrm>
            <a:off x="1981200" y="-62753"/>
            <a:ext cx="8229600" cy="842682"/>
          </a:xfrm>
        </p:spPr>
        <p:txBody>
          <a:bodyPr>
            <a:noAutofit/>
          </a:bodyPr>
          <a:lstStyle/>
          <a:p>
            <a:pPr algn="ctr"/>
            <a:r>
              <a:rPr lang="en-US" sz="2800" b="1" dirty="0"/>
              <a:t>Memo</a:t>
            </a:r>
            <a:br>
              <a:rPr lang="en-US" sz="2800" b="1" dirty="0"/>
            </a:br>
            <a:endParaRPr lang="en-GB" sz="2800" b="1" dirty="0"/>
          </a:p>
        </p:txBody>
      </p:sp>
      <p:sp>
        <p:nvSpPr>
          <p:cNvPr id="3" name="Content Placeholder 2">
            <a:extLst>
              <a:ext uri="{FF2B5EF4-FFF2-40B4-BE49-F238E27FC236}">
                <a16:creationId xmlns="" xmlns:a16="http://schemas.microsoft.com/office/drawing/2014/main" id="{DD657699-77E6-4BAB-A845-FE1D82BA5C78}"/>
              </a:ext>
            </a:extLst>
          </p:cNvPr>
          <p:cNvSpPr>
            <a:spLocks noGrp="1"/>
          </p:cNvSpPr>
          <p:nvPr>
            <p:ph idx="1"/>
          </p:nvPr>
        </p:nvSpPr>
        <p:spPr>
          <a:xfrm>
            <a:off x="896471" y="685800"/>
            <a:ext cx="10632141" cy="5897562"/>
          </a:xfrm>
        </p:spPr>
        <p:txBody>
          <a:bodyPr>
            <a:normAutofit fontScale="62500" lnSpcReduction="20000"/>
          </a:bodyPr>
          <a:lstStyle/>
          <a:p>
            <a:pPr>
              <a:buNone/>
            </a:pPr>
            <a:r>
              <a:rPr lang="en-US" dirty="0"/>
              <a:t>	</a:t>
            </a:r>
            <a:r>
              <a:rPr lang="en-US" sz="2900" b="1" dirty="0" smtClean="0"/>
              <a:t>To</a:t>
            </a:r>
            <a:r>
              <a:rPr lang="en-US" sz="2900" b="1" dirty="0"/>
              <a:t>: all </a:t>
            </a:r>
            <a:r>
              <a:rPr lang="en-US" sz="2900" b="1" dirty="0" smtClean="0"/>
              <a:t> the staff</a:t>
            </a:r>
            <a:endParaRPr lang="en-US" sz="2900" b="1" dirty="0"/>
          </a:p>
          <a:p>
            <a:pPr>
              <a:buNone/>
            </a:pPr>
            <a:r>
              <a:rPr lang="en-US" sz="2900" b="1" dirty="0"/>
              <a:t>	From: The Manager</a:t>
            </a:r>
          </a:p>
          <a:p>
            <a:pPr>
              <a:buNone/>
            </a:pPr>
            <a:r>
              <a:rPr lang="en-US" sz="2900" b="1" dirty="0"/>
              <a:t>	Date: </a:t>
            </a:r>
            <a:r>
              <a:rPr lang="en-US" sz="2900" b="1" dirty="0" smtClean="0"/>
              <a:t>May </a:t>
            </a:r>
            <a:r>
              <a:rPr lang="en-US" sz="2900" b="1" dirty="0"/>
              <a:t>27, </a:t>
            </a:r>
            <a:r>
              <a:rPr lang="en-US" sz="2900" b="1" dirty="0" smtClean="0"/>
              <a:t>2024</a:t>
            </a:r>
            <a:endParaRPr lang="en-US" sz="2900" b="1" dirty="0"/>
          </a:p>
          <a:p>
            <a:pPr>
              <a:buNone/>
            </a:pPr>
            <a:r>
              <a:rPr lang="en-US" sz="2900" b="1" dirty="0"/>
              <a:t>	</a:t>
            </a:r>
            <a:r>
              <a:rPr lang="en-US" sz="2900" b="1" dirty="0" smtClean="0"/>
              <a:t>Subject</a:t>
            </a:r>
            <a:r>
              <a:rPr lang="en-US" sz="2900" b="1" dirty="0"/>
              <a:t>: Suggestions to Economize the Operating Cost</a:t>
            </a:r>
          </a:p>
          <a:p>
            <a:pPr>
              <a:buNone/>
            </a:pPr>
            <a:r>
              <a:rPr lang="en-US" sz="2900" b="1" dirty="0"/>
              <a:t>	</a:t>
            </a:r>
          </a:p>
          <a:p>
            <a:pPr>
              <a:buNone/>
            </a:pPr>
            <a:r>
              <a:rPr lang="en-US" sz="2900" b="1" dirty="0"/>
              <a:t>	It has come to my attention that there has been unwise use of paper, electricity and other office materials in our company resulting the high operating cost. In order to bring about a balance between market price and the operating cost of the company, We have to minimize in using paper and electricity. Unless we bring a perfect balance, we have to decrease the number of </a:t>
            </a:r>
            <a:r>
              <a:rPr lang="en-US" sz="2900" b="1" dirty="0" smtClean="0"/>
              <a:t>staffs in </a:t>
            </a:r>
            <a:r>
              <a:rPr lang="en-US" sz="2900" b="1" dirty="0"/>
              <a:t>the office.</a:t>
            </a:r>
          </a:p>
          <a:p>
            <a:pPr>
              <a:buNone/>
            </a:pPr>
            <a:r>
              <a:rPr lang="en-US" sz="2900" b="1" dirty="0"/>
              <a:t>	Saving electricity can also help us manage the office to a larger extent. Similarly, we should be more economical in using printing papers. While printing the documents we can use both side and with small fonts as well.</a:t>
            </a:r>
          </a:p>
          <a:p>
            <a:pPr>
              <a:buNone/>
            </a:pPr>
            <a:r>
              <a:rPr lang="en-US" sz="2900" b="1" dirty="0"/>
              <a:t>	By the same token, we can also be economical in using stationary items. When the office is off, it is imperative to switch off the mains. Instead of dispatching letters and memo, it is better to send messages through email and other electronic mediums. It will also help us to save paper and ink to some extent.</a:t>
            </a:r>
          </a:p>
          <a:p>
            <a:pPr>
              <a:buNone/>
            </a:pPr>
            <a:r>
              <a:rPr lang="en-US" sz="2900" b="1" dirty="0"/>
              <a:t>	My point is that we should use the materials and electricity wisely to bring about positive outputs. I thank conscious use of resource may help to minimize the operating cost.</a:t>
            </a:r>
          </a:p>
          <a:p>
            <a:pPr>
              <a:buNone/>
            </a:pPr>
            <a:r>
              <a:rPr lang="en-US" sz="2900" b="1" dirty="0"/>
              <a:t>	</a:t>
            </a:r>
          </a:p>
          <a:p>
            <a:pPr>
              <a:buNone/>
            </a:pPr>
            <a:r>
              <a:rPr lang="en-US" sz="2900" b="1" dirty="0"/>
              <a:t>	Regards,</a:t>
            </a:r>
          </a:p>
          <a:p>
            <a:pPr>
              <a:buNone/>
            </a:pPr>
            <a:r>
              <a:rPr lang="en-US" sz="2900" b="1" dirty="0"/>
              <a:t> 	</a:t>
            </a:r>
            <a:r>
              <a:rPr lang="en-US" sz="2900" b="1" dirty="0" err="1"/>
              <a:t>S.K</a:t>
            </a:r>
            <a:r>
              <a:rPr lang="en-US" sz="2900" b="1" dirty="0" smtClean="0"/>
              <a:t>. </a:t>
            </a:r>
            <a:r>
              <a:rPr lang="en-US" sz="2900" b="1" dirty="0" err="1" smtClean="0"/>
              <a:t>Adhikari</a:t>
            </a:r>
            <a:endParaRPr lang="en-US" sz="2900" b="1" dirty="0"/>
          </a:p>
          <a:p>
            <a:pPr>
              <a:buNone/>
            </a:pPr>
            <a:r>
              <a:rPr lang="en-US" dirty="0"/>
              <a:t/>
            </a:r>
            <a:br>
              <a:rPr lang="en-US" dirty="0"/>
            </a:br>
            <a:endParaRPr lang="en-US" dirty="0"/>
          </a:p>
          <a:p>
            <a:endParaRPr lang="en-GB" dirty="0"/>
          </a:p>
        </p:txBody>
      </p:sp>
    </p:spTree>
    <p:extLst>
      <p:ext uri="{BB962C8B-B14F-4D97-AF65-F5344CB8AC3E}">
        <p14:creationId xmlns:p14="http://schemas.microsoft.com/office/powerpoint/2010/main" val="20434132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3012" y="1066800"/>
            <a:ext cx="10515600" cy="5257800"/>
          </a:xfrm>
        </p:spPr>
        <p:txBody>
          <a:bodyPr>
            <a:normAutofit fontScale="62500" lnSpcReduction="20000"/>
          </a:bodyPr>
          <a:lstStyle/>
          <a:p>
            <a:pPr>
              <a:buNone/>
            </a:pPr>
            <a:r>
              <a:rPr lang="en-US" dirty="0"/>
              <a:t>	</a:t>
            </a:r>
            <a:r>
              <a:rPr lang="en-US" b="1" dirty="0"/>
              <a:t>To: All </a:t>
            </a:r>
            <a:r>
              <a:rPr lang="en-US" b="1" dirty="0" smtClean="0"/>
              <a:t> the Staff</a:t>
            </a:r>
            <a:endParaRPr lang="en-US" b="1" dirty="0"/>
          </a:p>
          <a:p>
            <a:pPr>
              <a:buNone/>
            </a:pPr>
            <a:r>
              <a:rPr lang="en-US" b="1" dirty="0"/>
              <a:t>	From: The Manager</a:t>
            </a:r>
          </a:p>
          <a:p>
            <a:pPr>
              <a:buNone/>
            </a:pPr>
            <a:r>
              <a:rPr lang="en-US" b="1" dirty="0"/>
              <a:t>	Date: September 17, </a:t>
            </a:r>
            <a:r>
              <a:rPr lang="en-US" b="1" dirty="0" smtClean="0"/>
              <a:t>2024</a:t>
            </a:r>
            <a:endParaRPr lang="en-US" b="1" dirty="0"/>
          </a:p>
          <a:p>
            <a:pPr>
              <a:buNone/>
            </a:pPr>
            <a:r>
              <a:rPr lang="en-US" b="1" dirty="0"/>
              <a:t>	</a:t>
            </a:r>
          </a:p>
          <a:p>
            <a:pPr>
              <a:buNone/>
            </a:pPr>
            <a:r>
              <a:rPr lang="en-US" b="1" dirty="0"/>
              <a:t>	Subject: Tobacco Use Policy </a:t>
            </a:r>
          </a:p>
          <a:p>
            <a:pPr>
              <a:buNone/>
            </a:pPr>
            <a:r>
              <a:rPr lang="en-US" b="1" dirty="0"/>
              <a:t>	</a:t>
            </a:r>
          </a:p>
          <a:p>
            <a:pPr>
              <a:buNone/>
            </a:pPr>
            <a:r>
              <a:rPr lang="en-US" b="1" dirty="0"/>
              <a:t>	From December 25, </a:t>
            </a:r>
            <a:r>
              <a:rPr lang="en-US" b="1" dirty="0" smtClean="0"/>
              <a:t>2024, </a:t>
            </a:r>
            <a:r>
              <a:rPr lang="en-US" b="1" dirty="0"/>
              <a:t>a company wide ban on the use of tobacco products will go into effect. The purpose of this policy is to promote a healthy workforce and work environment.</a:t>
            </a:r>
          </a:p>
          <a:p>
            <a:pPr>
              <a:buNone/>
            </a:pPr>
            <a:r>
              <a:rPr lang="en-US" b="1" dirty="0"/>
              <a:t>	Employees and visitors will not be allowed to use cigarettes, cigars, pipes, or smokeless tobacco anywhere on the company ground, including the parking lot and parking garage. In addition, tobacco use will not be allowed in company vehicles or in personal vehicles parked on the company ground.</a:t>
            </a:r>
          </a:p>
          <a:p>
            <a:pPr>
              <a:buNone/>
            </a:pPr>
            <a:r>
              <a:rPr lang="en-US" b="1" dirty="0"/>
              <a:t>	The detailed tobacco use policy can be found in the policies folder at the company website. Please contact Ms. </a:t>
            </a:r>
            <a:r>
              <a:rPr lang="en-US" b="1" dirty="0" err="1"/>
              <a:t>Bimala</a:t>
            </a:r>
            <a:r>
              <a:rPr lang="en-US" b="1" dirty="0"/>
              <a:t> in Human Resources if you have questions regarding this policy. Her telephone extension is 234. You can also contact her at </a:t>
            </a:r>
            <a:r>
              <a:rPr lang="en-US" b="1" u="sng" dirty="0">
                <a:hlinkClick r:id="rId2"/>
              </a:rPr>
              <a:t>ghartibimala@yahoo.com</a:t>
            </a:r>
            <a:endParaRPr lang="en-US" b="1" dirty="0"/>
          </a:p>
          <a:p>
            <a:pPr>
              <a:buNone/>
            </a:pPr>
            <a:endParaRPr lang="en-US" b="1" dirty="0"/>
          </a:p>
          <a:p>
            <a:pPr>
              <a:buNone/>
            </a:pPr>
            <a:r>
              <a:rPr lang="en-US" b="1" dirty="0"/>
              <a:t>	Regards</a:t>
            </a:r>
            <a:r>
              <a:rPr lang="en-US" b="1" dirty="0" smtClean="0"/>
              <a:t>,</a:t>
            </a:r>
          </a:p>
          <a:p>
            <a:pPr>
              <a:buNone/>
            </a:pPr>
            <a:r>
              <a:rPr lang="en-US" b="1" dirty="0" smtClean="0"/>
              <a:t>	………</a:t>
            </a:r>
            <a:endParaRPr lang="en-US" b="1" dirty="0"/>
          </a:p>
          <a:p>
            <a:pPr>
              <a:buNone/>
            </a:pPr>
            <a:endParaRPr lang="en-US" b="1" dirty="0"/>
          </a:p>
        </p:txBody>
      </p:sp>
    </p:spTree>
    <p:extLst>
      <p:ext uri="{BB962C8B-B14F-4D97-AF65-F5344CB8AC3E}">
        <p14:creationId xmlns:p14="http://schemas.microsoft.com/office/powerpoint/2010/main" val="14813645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8565" y="533400"/>
            <a:ext cx="10874188" cy="5791200"/>
          </a:xfrm>
        </p:spPr>
        <p:txBody>
          <a:bodyPr>
            <a:normAutofit fontScale="70000" lnSpcReduction="20000"/>
          </a:bodyPr>
          <a:lstStyle/>
          <a:p>
            <a:pPr marL="0" indent="0">
              <a:buNone/>
            </a:pPr>
            <a:r>
              <a:rPr lang="en-US" b="1" dirty="0"/>
              <a:t>From : All </a:t>
            </a:r>
            <a:r>
              <a:rPr lang="en-US" b="1" dirty="0" smtClean="0"/>
              <a:t> the Staff</a:t>
            </a:r>
            <a:endParaRPr lang="en-US" b="1" dirty="0"/>
          </a:p>
          <a:p>
            <a:pPr marL="0" indent="0">
              <a:buNone/>
            </a:pPr>
            <a:r>
              <a:rPr lang="en-US" b="1" dirty="0"/>
              <a:t>To: Supervisor</a:t>
            </a:r>
          </a:p>
          <a:p>
            <a:pPr marL="0" indent="0">
              <a:buNone/>
            </a:pPr>
            <a:r>
              <a:rPr lang="en-US" b="1" dirty="0"/>
              <a:t>Date: </a:t>
            </a:r>
            <a:r>
              <a:rPr lang="en-US" b="1" dirty="0" err="1" smtClean="0"/>
              <a:t>Sept17</a:t>
            </a:r>
            <a:r>
              <a:rPr lang="en-US" b="1" dirty="0"/>
              <a:t>, </a:t>
            </a:r>
            <a:r>
              <a:rPr lang="en-US" b="1" dirty="0" smtClean="0"/>
              <a:t>2024</a:t>
            </a:r>
            <a:endParaRPr lang="en-US" b="1" dirty="0"/>
          </a:p>
          <a:p>
            <a:pPr>
              <a:buNone/>
            </a:pPr>
            <a:r>
              <a:rPr lang="en-US" b="1" dirty="0"/>
              <a:t>	</a:t>
            </a:r>
          </a:p>
          <a:p>
            <a:pPr>
              <a:buNone/>
            </a:pPr>
            <a:r>
              <a:rPr lang="en-US" b="1" dirty="0"/>
              <a:t>	Subject : Poor Working Environment</a:t>
            </a:r>
          </a:p>
          <a:p>
            <a:pPr>
              <a:buNone/>
            </a:pPr>
            <a:r>
              <a:rPr lang="en-US" b="1" dirty="0"/>
              <a:t>	</a:t>
            </a:r>
          </a:p>
          <a:p>
            <a:pPr>
              <a:buNone/>
            </a:pPr>
            <a:r>
              <a:rPr lang="en-US" b="1" dirty="0"/>
              <a:t>	We wish to express our concern regarding the bathroom facilities in the office. There is only one rest room in our department, so we have to face problems being in queue in the rushing business hour. Similarly, due to the congested room we have found it difficult to manage things. The computer table too is short to work on it effective and comfortably.</a:t>
            </a:r>
          </a:p>
          <a:p>
            <a:pPr>
              <a:buNone/>
            </a:pPr>
            <a:r>
              <a:rPr lang="en-US" b="1" dirty="0"/>
              <a:t>	As our department is no basement, it is rather cold and gloomy in the absence of sunlight. We therefore, expect the proper management of central heating system and electricity so that we will be motivated to perform our duties and responsibilities effectively.</a:t>
            </a:r>
          </a:p>
          <a:p>
            <a:pPr>
              <a:buNone/>
            </a:pPr>
            <a:r>
              <a:rPr lang="en-US" b="1" dirty="0"/>
              <a:t>	We, the undersigned hope that you will take swift action and help us work smoothly and effectively. We will be happy to cooperate in any way we can.</a:t>
            </a:r>
          </a:p>
          <a:p>
            <a:pPr>
              <a:buNone/>
            </a:pPr>
            <a:r>
              <a:rPr lang="en-US" b="1" dirty="0"/>
              <a:t>	</a:t>
            </a:r>
          </a:p>
          <a:p>
            <a:pPr>
              <a:buNone/>
            </a:pPr>
            <a:r>
              <a:rPr lang="en-US" b="1" dirty="0"/>
              <a:t>	Best Regards,</a:t>
            </a:r>
          </a:p>
          <a:p>
            <a:pPr>
              <a:buNone/>
            </a:pPr>
            <a:r>
              <a:rPr lang="en-US" b="1" dirty="0"/>
              <a:t>	Sony </a:t>
            </a:r>
            <a:r>
              <a:rPr lang="en-US" b="1" dirty="0" err="1"/>
              <a:t>Gautam</a:t>
            </a:r>
            <a:r>
              <a:rPr lang="en-US" b="1" dirty="0"/>
              <a:t>, Employee Representative</a:t>
            </a:r>
          </a:p>
          <a:p>
            <a:pPr>
              <a:buNone/>
            </a:pPr>
            <a:r>
              <a:rPr lang="en-US" b="1" dirty="0"/>
              <a:t>	(On behalf of all staff, Goods Delivery Department</a:t>
            </a:r>
            <a:r>
              <a:rPr lang="en-US" dirty="0"/>
              <a:t>)</a:t>
            </a:r>
          </a:p>
          <a:p>
            <a:pPr>
              <a:buNone/>
            </a:pPr>
            <a:endParaRPr lang="en-US" dirty="0"/>
          </a:p>
        </p:txBody>
      </p:sp>
    </p:spTree>
    <p:extLst>
      <p:ext uri="{BB962C8B-B14F-4D97-AF65-F5344CB8AC3E}">
        <p14:creationId xmlns:p14="http://schemas.microsoft.com/office/powerpoint/2010/main" val="14400300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8781"/>
            <a:ext cx="10515600" cy="4351338"/>
          </a:xfrm>
        </p:spPr>
        <p:txBody>
          <a:bodyPr>
            <a:noAutofit/>
          </a:bodyPr>
          <a:lstStyle/>
          <a:p>
            <a:pPr marL="0" indent="0">
              <a:buNone/>
            </a:pPr>
            <a:r>
              <a:rPr lang="en-GB" sz="2000" dirty="0"/>
              <a:t>To: all </a:t>
            </a:r>
            <a:r>
              <a:rPr lang="en-GB" sz="2000" dirty="0" smtClean="0"/>
              <a:t> the staff</a:t>
            </a:r>
            <a:endParaRPr lang="en-US" sz="2000" dirty="0"/>
          </a:p>
          <a:p>
            <a:pPr marL="0" indent="0">
              <a:buNone/>
            </a:pPr>
            <a:r>
              <a:rPr lang="en-GB" sz="2000" dirty="0"/>
              <a:t>From: </a:t>
            </a:r>
            <a:r>
              <a:rPr lang="en-GB" sz="2000" dirty="0" err="1"/>
              <a:t>Kiran</a:t>
            </a:r>
            <a:r>
              <a:rPr lang="en-GB" sz="2000" dirty="0"/>
              <a:t> Joshi, branch manager</a:t>
            </a:r>
            <a:endParaRPr lang="en-US" sz="2000" dirty="0"/>
          </a:p>
          <a:p>
            <a:pPr marL="0" indent="0">
              <a:buNone/>
            </a:pPr>
            <a:r>
              <a:rPr lang="en-GB" sz="2000" dirty="0"/>
              <a:t>Date: </a:t>
            </a:r>
            <a:r>
              <a:rPr lang="en-GB" sz="2000" dirty="0" smtClean="0"/>
              <a:t>30</a:t>
            </a:r>
            <a:r>
              <a:rPr lang="en-GB" sz="2000" baseline="30000" dirty="0" smtClean="0"/>
              <a:t>th</a:t>
            </a:r>
            <a:r>
              <a:rPr lang="en-GB" sz="2000" dirty="0" smtClean="0"/>
              <a:t>  April,  2024</a:t>
            </a:r>
            <a:endParaRPr lang="en-US" sz="2000" dirty="0"/>
          </a:p>
          <a:p>
            <a:pPr marL="0" indent="0">
              <a:buNone/>
            </a:pPr>
            <a:r>
              <a:rPr lang="en-GB" sz="2000" dirty="0"/>
              <a:t>Subject: participation in upcoming </a:t>
            </a:r>
            <a:r>
              <a:rPr lang="en-GB" sz="2000" dirty="0" smtClean="0"/>
              <a:t>CSR</a:t>
            </a:r>
            <a:endParaRPr lang="en-US" sz="2000" dirty="0"/>
          </a:p>
          <a:p>
            <a:pPr marL="0" indent="0">
              <a:buNone/>
            </a:pPr>
            <a:r>
              <a:rPr lang="en-GB" sz="2000" dirty="0" smtClean="0"/>
              <a:t>Our </a:t>
            </a:r>
            <a:r>
              <a:rPr lang="en-GB" sz="2000" dirty="0"/>
              <a:t>bank will be participating in various societal development activities as a part of corporate social responsibility (CSR) from May 2 to May 8 at rural places of </a:t>
            </a:r>
            <a:r>
              <a:rPr lang="en-GB" sz="2000" dirty="0" err="1"/>
              <a:t>kanchanpur</a:t>
            </a:r>
            <a:r>
              <a:rPr lang="en-GB" sz="2000" dirty="0"/>
              <a:t>.</a:t>
            </a:r>
            <a:endParaRPr lang="en-US" sz="2000" dirty="0"/>
          </a:p>
          <a:p>
            <a:pPr marL="0" indent="0">
              <a:buNone/>
            </a:pPr>
            <a:r>
              <a:rPr lang="en-GB" sz="2000" dirty="0"/>
              <a:t>We will start the program by donating the books to poor people, followed by reconstructing the roads. We shall take the help of local level presidents to work on green management, focusing on the river side plantation and drainage cleaning programs.</a:t>
            </a:r>
            <a:endParaRPr lang="en-US" sz="2000" dirty="0"/>
          </a:p>
          <a:p>
            <a:pPr marL="0" indent="0">
              <a:buNone/>
            </a:pPr>
            <a:r>
              <a:rPr lang="en-GB" sz="2000" dirty="0"/>
              <a:t>Except for few staffs available at the branch for major banking activities others need to be involved in financial literacy program as well. If we have some additional time left, we will also involve in cloth distribution program to poor and disabled people.</a:t>
            </a:r>
            <a:endParaRPr lang="en-US" sz="2000" dirty="0"/>
          </a:p>
          <a:p>
            <a:pPr marL="0" indent="0">
              <a:buNone/>
            </a:pPr>
            <a:r>
              <a:rPr lang="en-GB" sz="2000" dirty="0"/>
              <a:t>Please everyone come up with the other ideas at the meeting tomorrow by 2 pm.</a:t>
            </a:r>
            <a:endParaRPr lang="en-US" sz="2000" dirty="0"/>
          </a:p>
          <a:p>
            <a:pPr marL="0" indent="0">
              <a:buNone/>
            </a:pPr>
            <a:r>
              <a:rPr lang="en-GB" sz="2000" u="sng" dirty="0" err="1" smtClean="0"/>
              <a:t>Kiran</a:t>
            </a:r>
            <a:r>
              <a:rPr lang="en-GB" sz="2000" u="sng" dirty="0" smtClean="0"/>
              <a:t> Joshi</a:t>
            </a:r>
            <a:endParaRPr lang="en-US" sz="2000" dirty="0"/>
          </a:p>
          <a:p>
            <a:pPr marL="0" indent="0">
              <a:buNone/>
            </a:pPr>
            <a:r>
              <a:rPr lang="en-GB" sz="2000" dirty="0"/>
              <a:t>CC: head office </a:t>
            </a:r>
            <a:endParaRPr lang="en-US" sz="2000" dirty="0"/>
          </a:p>
          <a:p>
            <a:pPr marL="0" indent="0">
              <a:buNone/>
            </a:pPr>
            <a:endParaRPr lang="en-US" sz="2000" dirty="0"/>
          </a:p>
          <a:p>
            <a:endParaRPr lang="en-US" sz="2000" dirty="0"/>
          </a:p>
        </p:txBody>
      </p:sp>
    </p:spTree>
    <p:extLst>
      <p:ext uri="{BB962C8B-B14F-4D97-AF65-F5344CB8AC3E}">
        <p14:creationId xmlns:p14="http://schemas.microsoft.com/office/powerpoint/2010/main" val="160667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a:solidFill>
                  <a:srgbClr val="FF0000"/>
                </a:solidFill>
              </a:rPr>
              <a:t>Assignment</a:t>
            </a:r>
          </a:p>
          <a:p>
            <a:r>
              <a:rPr lang="en-US" dirty="0"/>
              <a:t>As a head of an organization you are worried about the amount of time employees are spending during the ' tea break'. Prepare a memo and circulate to all employees, asking them to be at their desk during duty hours.</a:t>
            </a:r>
          </a:p>
          <a:p>
            <a:r>
              <a:rPr lang="en-US" dirty="0"/>
              <a:t> You are a senior technician of NAST college. The faculties and and students have complained about the poor internet services. So the college principal has asked you to study the problem and write about it in detail. Write a memo to the principal specifying the problems in detail.                                                                                          7                              </a:t>
            </a:r>
          </a:p>
          <a:p>
            <a:endParaRPr lang="en-US" dirty="0"/>
          </a:p>
          <a:p>
            <a:endParaRPr lang="en-US" dirty="0"/>
          </a:p>
        </p:txBody>
      </p:sp>
    </p:spTree>
    <p:extLst>
      <p:ext uri="{BB962C8B-B14F-4D97-AF65-F5344CB8AC3E}">
        <p14:creationId xmlns:p14="http://schemas.microsoft.com/office/powerpoint/2010/main" val="2370468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70C0"/>
                </a:solidFill>
                <a:latin typeface="Times New Roman" panose="02020603050405020304" pitchFamily="18" charset="0"/>
                <a:cs typeface="Times New Roman" panose="02020603050405020304" pitchFamily="18" charset="0"/>
              </a:rPr>
              <a:t>Job A</a:t>
            </a:r>
            <a:r>
              <a:rPr lang="en-GB" b="1" dirty="0" smtClean="0">
                <a:solidFill>
                  <a:srgbClr val="0070C0"/>
                </a:solidFill>
                <a:latin typeface="Times New Roman" panose="02020603050405020304" pitchFamily="18" charset="0"/>
                <a:cs typeface="Times New Roman" panose="02020603050405020304" pitchFamily="18" charset="0"/>
              </a:rPr>
              <a:t>pplication</a:t>
            </a:r>
            <a:endParaRPr lang="en-GB"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b="1" dirty="0"/>
              <a:t>Be specific</a:t>
            </a:r>
          </a:p>
          <a:p>
            <a:r>
              <a:rPr lang="en-US" b="1" dirty="0"/>
              <a:t>Follow standard format</a:t>
            </a:r>
          </a:p>
          <a:p>
            <a:r>
              <a:rPr lang="en-US" b="1" dirty="0"/>
              <a:t>Grab attention</a:t>
            </a:r>
          </a:p>
          <a:p>
            <a:r>
              <a:rPr lang="en-US" b="1" dirty="0"/>
              <a:t>Sell your </a:t>
            </a:r>
            <a:r>
              <a:rPr lang="en-US" b="1" dirty="0" smtClean="0"/>
              <a:t>skills, qualification and personality</a:t>
            </a:r>
            <a:endParaRPr lang="en-US" b="1" dirty="0"/>
          </a:p>
          <a:p>
            <a:r>
              <a:rPr lang="en-US" b="1" dirty="0"/>
              <a:t>Never volunteer salary information unless an employer asks for it.</a:t>
            </a:r>
          </a:p>
          <a:p>
            <a:r>
              <a:rPr lang="en-US" b="1" dirty="0"/>
              <a:t>Keep it </a:t>
            </a:r>
            <a:r>
              <a:rPr lang="en-US" b="1" dirty="0" smtClean="0"/>
              <a:t>short and sweet.</a:t>
            </a:r>
            <a:endParaRPr lang="en-US" dirty="0"/>
          </a:p>
          <a:p>
            <a:endParaRPr lang="en-GB" dirty="0"/>
          </a:p>
        </p:txBody>
      </p:sp>
    </p:spTree>
    <p:extLst>
      <p:ext uri="{BB962C8B-B14F-4D97-AF65-F5344CB8AC3E}">
        <p14:creationId xmlns:p14="http://schemas.microsoft.com/office/powerpoint/2010/main" val="13313906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BBFD26-C647-4FA8-A56A-AD1DE4A32298}"/>
              </a:ext>
            </a:extLst>
          </p:cNvPr>
          <p:cNvSpPr>
            <a:spLocks noGrp="1"/>
          </p:cNvSpPr>
          <p:nvPr>
            <p:ph type="title"/>
          </p:nvPr>
        </p:nvSpPr>
        <p:spPr>
          <a:xfrm>
            <a:off x="838200" y="317991"/>
            <a:ext cx="10515600" cy="1325563"/>
          </a:xfrm>
        </p:spPr>
        <p:txBody>
          <a:bodyPr/>
          <a:lstStyle/>
          <a:p>
            <a:r>
              <a:rPr lang="en-GB" b="1" dirty="0" smtClean="0">
                <a:solidFill>
                  <a:srgbClr val="0070C0"/>
                </a:solidFill>
                <a:latin typeface="Times New Roman" panose="02020603050405020304" pitchFamily="18" charset="0"/>
                <a:cs typeface="Times New Roman" panose="02020603050405020304" pitchFamily="18" charset="0"/>
              </a:rPr>
              <a:t>Job application Format</a:t>
            </a:r>
            <a:endParaRPr lang="en-GB"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E8130F33-E433-4E86-BF89-931668738D8A}"/>
              </a:ext>
            </a:extLst>
          </p:cNvPr>
          <p:cNvSpPr>
            <a:spLocks noGrp="1"/>
          </p:cNvSpPr>
          <p:nvPr>
            <p:ph idx="1"/>
          </p:nvPr>
        </p:nvSpPr>
        <p:spPr>
          <a:xfrm>
            <a:off x="358219" y="1825625"/>
            <a:ext cx="11519554" cy="4351338"/>
          </a:xfrm>
        </p:spPr>
        <p:txBody>
          <a:bodyPr>
            <a:normAutofit fontScale="85000" lnSpcReduction="20000"/>
          </a:bodyPr>
          <a:lstStyle/>
          <a:p>
            <a:pPr>
              <a:buNone/>
            </a:pPr>
            <a:r>
              <a:rPr lang="en-US" dirty="0">
                <a:latin typeface="Times New Roman" panose="02020603050405020304" pitchFamily="18" charset="0"/>
                <a:cs typeface="Times New Roman" panose="02020603050405020304" pitchFamily="18" charset="0"/>
              </a:rPr>
              <a:t>Sender’s address</a:t>
            </a:r>
          </a:p>
          <a:p>
            <a:pPr>
              <a:buNone/>
            </a:pPr>
            <a:r>
              <a:rPr lang="en-US" dirty="0">
                <a:latin typeface="Times New Roman" panose="02020603050405020304" pitchFamily="18" charset="0"/>
                <a:cs typeface="Times New Roman" panose="02020603050405020304" pitchFamily="18" charset="0"/>
              </a:rPr>
              <a:t>Date</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Receiver</a:t>
            </a:r>
          </a:p>
          <a:p>
            <a:pPr>
              <a:buNone/>
            </a:pPr>
            <a:r>
              <a:rPr lang="en-US" dirty="0">
                <a:latin typeface="Times New Roman" panose="02020603050405020304" pitchFamily="18" charset="0"/>
                <a:cs typeface="Times New Roman" panose="02020603050405020304" pitchFamily="18" charset="0"/>
              </a:rPr>
              <a:t>Organization </a:t>
            </a:r>
          </a:p>
          <a:p>
            <a:pPr>
              <a:buNone/>
            </a:pPr>
            <a:r>
              <a:rPr lang="en-US" dirty="0" smtClean="0">
                <a:latin typeface="Times New Roman" panose="02020603050405020304" pitchFamily="18" charset="0"/>
                <a:cs typeface="Times New Roman" panose="02020603050405020304" pitchFamily="18" charset="0"/>
              </a:rPr>
              <a:t>Address</a:t>
            </a: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Subject </a:t>
            </a:r>
            <a:r>
              <a:rPr lang="en-US" dirty="0" smtClean="0">
                <a:latin typeface="Times New Roman" panose="02020603050405020304" pitchFamily="18" charset="0"/>
                <a:cs typeface="Times New Roman" panose="02020603050405020304" pitchFamily="18" charset="0"/>
              </a:rPr>
              <a:t>:Application for the post of…………….</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Dear sir/ </a:t>
            </a:r>
            <a:r>
              <a:rPr lang="en-US" dirty="0" smtClean="0">
                <a:latin typeface="Times New Roman" panose="02020603050405020304" pitchFamily="18" charset="0"/>
                <a:cs typeface="Times New Roman" panose="02020603050405020304" pitchFamily="18" charset="0"/>
              </a:rPr>
              <a:t>Madam</a:t>
            </a:r>
            <a:r>
              <a:rPr lang="en-US" dirty="0">
                <a:latin typeface="Times New Roman" panose="02020603050405020304" pitchFamily="18" charset="0"/>
                <a:cs typeface="Times New Roman" panose="02020603050405020304" pitchFamily="18" charset="0"/>
              </a:rPr>
              <a:t>,</a:t>
            </a:r>
          </a:p>
          <a:p>
            <a:pPr>
              <a:buNone/>
            </a:pPr>
            <a:r>
              <a:rPr lang="en-US" dirty="0">
                <a:latin typeface="Times New Roman" panose="02020603050405020304" pitchFamily="18" charset="0"/>
                <a:cs typeface="Times New Roman" panose="02020603050405020304" pitchFamily="18" charset="0"/>
              </a:rPr>
              <a:t>							……….</a:t>
            </a:r>
          </a:p>
          <a:p>
            <a:pPr>
              <a:buNone/>
            </a:pPr>
            <a:endParaRPr lang="en-US" dirty="0"/>
          </a:p>
          <a:p>
            <a:pPr>
              <a:buNone/>
            </a:pPr>
            <a:endParaRPr lang="en-US" dirty="0"/>
          </a:p>
          <a:p>
            <a:endParaRPr lang="en-US" dirty="0"/>
          </a:p>
          <a:p>
            <a:endParaRPr lang="en-GB" dirty="0"/>
          </a:p>
        </p:txBody>
      </p:sp>
    </p:spTree>
    <p:extLst>
      <p:ext uri="{BB962C8B-B14F-4D97-AF65-F5344CB8AC3E}">
        <p14:creationId xmlns:p14="http://schemas.microsoft.com/office/powerpoint/2010/main" val="33885124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787FDE-8EA6-4D04-871E-83FF7E71B2CD}"/>
              </a:ext>
            </a:extLst>
          </p:cNvPr>
          <p:cNvSpPr>
            <a:spLocks noGrp="1"/>
          </p:cNvSpPr>
          <p:nvPr>
            <p:ph type="title"/>
          </p:nvPr>
        </p:nvSpPr>
        <p:spPr>
          <a:xfrm>
            <a:off x="838200" y="365125"/>
            <a:ext cx="10515600" cy="662397"/>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45925EA1-CF62-488B-BBDA-4B732002D0B3}"/>
              </a:ext>
            </a:extLst>
          </p:cNvPr>
          <p:cNvSpPr>
            <a:spLocks noGrp="1"/>
          </p:cNvSpPr>
          <p:nvPr>
            <p:ph idx="1"/>
          </p:nvPr>
        </p:nvSpPr>
        <p:spPr>
          <a:xfrm>
            <a:off x="443059" y="1131216"/>
            <a:ext cx="11528981" cy="5561815"/>
          </a:xfrm>
        </p:spPr>
        <p:txBody>
          <a:bodyPr>
            <a:normAutofit lnSpcReduction="10000"/>
          </a:bodyPr>
          <a:lstStyle/>
          <a:p>
            <a:pPr>
              <a:buNone/>
            </a:pPr>
            <a:r>
              <a:rPr lang="en-US" dirty="0"/>
              <a:t>	</a:t>
            </a:r>
            <a:r>
              <a:rPr lang="en-US" dirty="0">
                <a:latin typeface="Times New Roman" panose="02020603050405020304" pitchFamily="18" charset="0"/>
                <a:cs typeface="Times New Roman" panose="02020603050405020304" pitchFamily="18" charset="0"/>
              </a:rPr>
              <a:t>I am writing to express my interest in…/ With reference to/ In response to the advertisement../ I wish to apply………………. .Since I meet all required qualification and experience condition, I have </a:t>
            </a:r>
            <a:r>
              <a:rPr lang="en-US" dirty="0" smtClean="0">
                <a:latin typeface="Times New Roman" panose="02020603050405020304" pitchFamily="18" charset="0"/>
                <a:cs typeface="Times New Roman" panose="02020603050405020304" pitchFamily="18" charset="0"/>
              </a:rPr>
              <a:t>the honor to apply in </a:t>
            </a:r>
            <a:r>
              <a:rPr lang="en-US" dirty="0">
                <a:latin typeface="Times New Roman" panose="02020603050405020304" pitchFamily="18" charset="0"/>
                <a:cs typeface="Times New Roman" panose="02020603050405020304" pitchFamily="18" charset="0"/>
              </a:rPr>
              <a:t>this post. I am </a:t>
            </a:r>
            <a:r>
              <a:rPr lang="en-US" dirty="0" smtClean="0">
                <a:latin typeface="Times New Roman" panose="02020603050405020304" pitchFamily="18" charset="0"/>
                <a:cs typeface="Times New Roman" panose="02020603050405020304" pitchFamily="18" charset="0"/>
              </a:rPr>
              <a:t>an energetic</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dynamic, skilled </a:t>
            </a:r>
            <a:r>
              <a:rPr lang="en-US" dirty="0">
                <a:latin typeface="Times New Roman" panose="02020603050405020304" pitchFamily="18" charset="0"/>
                <a:cs typeface="Times New Roman" panose="02020603050405020304" pitchFamily="18" charset="0"/>
              </a:rPr>
              <a:t>and dedicated candidate having sound academic background and work experience in this field. I have passed…………………………. I have been working in ……….as ………….for…... My work experience includes…………………… I possess sound command in both spoken and written English. I have attached my resume and other testimonials along with this letter.</a:t>
            </a:r>
          </a:p>
          <a:p>
            <a:pPr>
              <a:buNone/>
            </a:pPr>
            <a:r>
              <a:rPr lang="en-US" dirty="0">
                <a:latin typeface="Times New Roman" panose="02020603050405020304" pitchFamily="18" charset="0"/>
                <a:cs typeface="Times New Roman" panose="02020603050405020304" pitchFamily="18" charset="0"/>
              </a:rPr>
              <a:t> 	If I am given an opportunity to work in your company, I will </a:t>
            </a:r>
            <a:r>
              <a:rPr lang="en-US" dirty="0" smtClean="0">
                <a:latin typeface="Times New Roman" panose="02020603050405020304" pitchFamily="18" charset="0"/>
                <a:cs typeface="Times New Roman" panose="02020603050405020304" pitchFamily="18" charset="0"/>
              </a:rPr>
              <a:t>complete </a:t>
            </a:r>
            <a:r>
              <a:rPr lang="en-US" dirty="0">
                <a:latin typeface="Times New Roman" panose="02020603050405020304" pitchFamily="18" charset="0"/>
                <a:cs typeface="Times New Roman" panose="02020603050405020304" pitchFamily="18" charset="0"/>
              </a:rPr>
              <a:t>my duties and responsibilities most sincerely.</a:t>
            </a:r>
          </a:p>
          <a:p>
            <a:pPr>
              <a:buNone/>
            </a:pPr>
            <a:r>
              <a:rPr lang="en-US" dirty="0">
                <a:latin typeface="Times New Roman" panose="02020603050405020304" pitchFamily="18" charset="0"/>
                <a:cs typeface="Times New Roman" panose="02020603050405020304" pitchFamily="18" charset="0"/>
              </a:rPr>
              <a:t>	Looking forward to hearing from you soon.</a:t>
            </a:r>
          </a:p>
          <a:p>
            <a:pPr>
              <a:buNone/>
            </a:pPr>
            <a:r>
              <a:rPr lang="en-US" dirty="0">
                <a:latin typeface="Times New Roman" panose="02020603050405020304" pitchFamily="18" charset="0"/>
                <a:cs typeface="Times New Roman" panose="02020603050405020304" pitchFamily="18" charset="0"/>
              </a:rPr>
              <a:t>	Yours sincerely</a:t>
            </a:r>
          </a:p>
          <a:p>
            <a:pPr>
              <a:buNone/>
            </a:pPr>
            <a:r>
              <a:rPr lang="en-US" dirty="0">
                <a:latin typeface="Times New Roman" panose="02020603050405020304" pitchFamily="18" charset="0"/>
                <a:cs typeface="Times New Roman" panose="02020603050405020304" pitchFamily="18" charset="0"/>
              </a:rPr>
              <a:t>	…………….</a:t>
            </a:r>
          </a:p>
          <a:p>
            <a:pPr>
              <a:buNone/>
            </a:pPr>
            <a:endParaRPr lang="en-US" dirty="0"/>
          </a:p>
          <a:p>
            <a:pPr>
              <a:buNone/>
            </a:pPr>
            <a:endParaRPr lang="en-US" dirty="0"/>
          </a:p>
          <a:p>
            <a:endParaRPr lang="en-US" dirty="0"/>
          </a:p>
          <a:p>
            <a:endParaRPr lang="en-GB" dirty="0"/>
          </a:p>
        </p:txBody>
      </p:sp>
    </p:spTree>
    <p:extLst>
      <p:ext uri="{BB962C8B-B14F-4D97-AF65-F5344CB8AC3E}">
        <p14:creationId xmlns:p14="http://schemas.microsoft.com/office/powerpoint/2010/main" val="39735089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2C54B7-7462-4159-97EC-CAB5C387B761}"/>
              </a:ext>
            </a:extLst>
          </p:cNvPr>
          <p:cNvSpPr>
            <a:spLocks noGrp="1"/>
          </p:cNvSpPr>
          <p:nvPr>
            <p:ph type="title"/>
          </p:nvPr>
        </p:nvSpPr>
        <p:spPr>
          <a:xfrm>
            <a:off x="1981200" y="274639"/>
            <a:ext cx="8229600" cy="457199"/>
          </a:xfrm>
        </p:spPr>
        <p:txBody>
          <a:bodyPr>
            <a:normAutofit fontScale="90000"/>
          </a:bodyPr>
          <a:lstStyle/>
          <a:p>
            <a:r>
              <a:rPr lang="en-GB" b="1" dirty="0">
                <a:solidFill>
                  <a:srgbClr val="002060"/>
                </a:solidFill>
              </a:rPr>
              <a:t>A sample</a:t>
            </a:r>
          </a:p>
        </p:txBody>
      </p:sp>
      <p:sp>
        <p:nvSpPr>
          <p:cNvPr id="3" name="Content Placeholder 2">
            <a:extLst>
              <a:ext uri="{FF2B5EF4-FFF2-40B4-BE49-F238E27FC236}">
                <a16:creationId xmlns:a16="http://schemas.microsoft.com/office/drawing/2014/main" xmlns="" id="{80E85407-C388-42F8-A13A-E66522D15FBA}"/>
              </a:ext>
            </a:extLst>
          </p:cNvPr>
          <p:cNvSpPr>
            <a:spLocks noGrp="1"/>
          </p:cNvSpPr>
          <p:nvPr>
            <p:ph idx="1"/>
          </p:nvPr>
        </p:nvSpPr>
        <p:spPr>
          <a:xfrm>
            <a:off x="603315" y="838200"/>
            <a:ext cx="11189617" cy="5745162"/>
          </a:xfrm>
        </p:spPr>
        <p:txBody>
          <a:bodyPr>
            <a:normAutofit fontScale="85000" lnSpcReduction="20000"/>
          </a:bodyPr>
          <a:lstStyle/>
          <a:p>
            <a:pPr>
              <a:buNone/>
            </a:pPr>
            <a:r>
              <a:rPr lang="en-US" dirty="0"/>
              <a:t>	</a:t>
            </a:r>
            <a:r>
              <a:rPr lang="en-US" dirty="0" err="1">
                <a:latin typeface="Times New Roman" panose="02020603050405020304" pitchFamily="18" charset="0"/>
                <a:cs typeface="Times New Roman" panose="02020603050405020304" pitchFamily="18" charset="0"/>
              </a:rPr>
              <a:t>Mahendranagar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Kanchanpur</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May </a:t>
            </a:r>
            <a:r>
              <a:rPr lang="en-US" dirty="0" smtClean="0">
                <a:latin typeface="Times New Roman" panose="02020603050405020304" pitchFamily="18" charset="0"/>
                <a:cs typeface="Times New Roman" panose="02020603050405020304" pitchFamily="18" charset="0"/>
              </a:rPr>
              <a:t>20, 2024</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The Human Resource Manager</a:t>
            </a:r>
          </a:p>
          <a:p>
            <a:pPr>
              <a:buNone/>
            </a:pPr>
            <a:r>
              <a:rPr lang="en-US" dirty="0">
                <a:latin typeface="Times New Roman" panose="02020603050405020304" pitchFamily="18" charset="0"/>
                <a:cs typeface="Times New Roman" panose="02020603050405020304" pitchFamily="18" charset="0"/>
              </a:rPr>
              <a:t>	 The Food and Agriculture Organization (UNO)</a:t>
            </a:r>
          </a:p>
          <a:p>
            <a:pPr>
              <a:buNone/>
            </a:pPr>
            <a:r>
              <a:rPr lang="en-US" dirty="0">
                <a:latin typeface="Times New Roman" panose="02020603050405020304" pitchFamily="18" charset="0"/>
                <a:cs typeface="Times New Roman" panose="02020603050405020304" pitchFamily="18" charset="0"/>
              </a:rPr>
              <a:t>	 Kathmandu, Nepal</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Subject : </a:t>
            </a:r>
            <a:r>
              <a:rPr lang="en-US" dirty="0" smtClean="0">
                <a:latin typeface="Times New Roman" panose="02020603050405020304" pitchFamily="18" charset="0"/>
                <a:cs typeface="Times New Roman" panose="02020603050405020304" pitchFamily="18" charset="0"/>
              </a:rPr>
              <a:t>Application for the post of…………..</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Dear Sir/ Madam,</a:t>
            </a:r>
          </a:p>
          <a:p>
            <a:pPr>
              <a:buNone/>
            </a:pP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I am writing to express my interest in acquiring a position of</a:t>
            </a:r>
            <a:r>
              <a:rPr lang="en-US" dirty="0">
                <a:latin typeface="Times New Roman" panose="02020603050405020304" pitchFamily="18" charset="0"/>
                <a:cs typeface="Times New Roman" panose="02020603050405020304" pitchFamily="18" charset="0"/>
              </a:rPr>
              <a:t> Senior National Administrative Officer in your </a:t>
            </a:r>
            <a:r>
              <a:rPr lang="en-US" dirty="0" smtClean="0">
                <a:latin typeface="Times New Roman" panose="02020603050405020304" pitchFamily="18" charset="0"/>
                <a:cs typeface="Times New Roman" panose="02020603050405020304" pitchFamily="18" charset="0"/>
              </a:rPr>
              <a:t>esteemed organization</a:t>
            </a:r>
            <a:r>
              <a:rPr lang="en-US" dirty="0">
                <a:latin typeface="Times New Roman" panose="02020603050405020304" pitchFamily="18" charset="0"/>
                <a:cs typeface="Times New Roman" panose="02020603050405020304" pitchFamily="18" charset="0"/>
              </a:rPr>
              <a:t>. I am very familiar with your organization’s excellent reputation </a:t>
            </a: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the field of agriculture and food supply in Nepal and abroad. </a:t>
            </a:r>
            <a:r>
              <a:rPr lang="en-US" dirty="0">
                <a:solidFill>
                  <a:srgbClr val="FF0000"/>
                </a:solidFill>
                <a:latin typeface="Times New Roman" panose="02020603050405020304" pitchFamily="18" charset="0"/>
                <a:cs typeface="Times New Roman" panose="02020603050405020304" pitchFamily="18" charset="0"/>
              </a:rPr>
              <a:t>Since I meet all required qualification and experience conditions, I have preferred this job.</a:t>
            </a:r>
          </a:p>
          <a:p>
            <a:endParaRPr lang="en-US" dirty="0">
              <a:solidFill>
                <a:srgbClr val="FF0000"/>
              </a:solidFill>
            </a:endParaRPr>
          </a:p>
          <a:p>
            <a:endParaRPr lang="en-US" dirty="0"/>
          </a:p>
          <a:p>
            <a:endParaRPr lang="en-GB" dirty="0"/>
          </a:p>
        </p:txBody>
      </p:sp>
    </p:spTree>
    <p:extLst>
      <p:ext uri="{BB962C8B-B14F-4D97-AF65-F5344CB8AC3E}">
        <p14:creationId xmlns:p14="http://schemas.microsoft.com/office/powerpoint/2010/main" val="12240284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9C4C4A-FBDB-4817-85F8-980D4A2C2454}"/>
              </a:ext>
            </a:extLst>
          </p:cNvPr>
          <p:cNvSpPr>
            <a:spLocks noGrp="1"/>
          </p:cNvSpPr>
          <p:nvPr>
            <p:ph type="title"/>
          </p:nvPr>
        </p:nvSpPr>
        <p:spPr>
          <a:xfrm>
            <a:off x="838200" y="365125"/>
            <a:ext cx="10515600" cy="643543"/>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CE00B867-15A8-431D-805A-5D16751434A2}"/>
              </a:ext>
            </a:extLst>
          </p:cNvPr>
          <p:cNvSpPr>
            <a:spLocks noGrp="1"/>
          </p:cNvSpPr>
          <p:nvPr>
            <p:ph idx="1"/>
          </p:nvPr>
        </p:nvSpPr>
        <p:spPr>
          <a:xfrm>
            <a:off x="622169" y="1008668"/>
            <a:ext cx="11312165" cy="5646656"/>
          </a:xfrm>
        </p:spPr>
        <p:txBody>
          <a:bodyPr>
            <a:normAutofit/>
          </a:bodyPr>
          <a:lstStyle/>
          <a:p>
            <a:pPr>
              <a:buNone/>
            </a:pPr>
            <a:r>
              <a:rPr lang="en-US" dirty="0"/>
              <a:t>	</a:t>
            </a:r>
            <a:r>
              <a:rPr lang="en-US" dirty="0">
                <a:solidFill>
                  <a:srgbClr val="FF0000"/>
                </a:solidFill>
                <a:latin typeface="Times New Roman" panose="02020603050405020304" pitchFamily="18" charset="0"/>
                <a:cs typeface="Times New Roman" panose="02020603050405020304" pitchFamily="18" charset="0"/>
              </a:rPr>
              <a:t>My experience encompasses </a:t>
            </a:r>
            <a:r>
              <a:rPr lang="en-US" dirty="0">
                <a:latin typeface="Times New Roman" panose="02020603050405020304" pitchFamily="18" charset="0"/>
                <a:cs typeface="Times New Roman" panose="02020603050405020304" pitchFamily="18" charset="0"/>
              </a:rPr>
              <a:t>5 years in the field of supply and marketing  in UNDP. I possess excellent persuasive communication skills and I am able to communicate with people </a:t>
            </a:r>
            <a:r>
              <a:rPr lang="en-US" dirty="0" smtClean="0">
                <a:latin typeface="Times New Roman" panose="02020603050405020304" pitchFamily="18" charset="0"/>
                <a:cs typeface="Times New Roman" panose="02020603050405020304" pitchFamily="18" charset="0"/>
              </a:rPr>
              <a:t>of all </a:t>
            </a:r>
            <a:r>
              <a:rPr lang="en-US" dirty="0">
                <a:latin typeface="Times New Roman" panose="02020603050405020304" pitchFamily="18" charset="0"/>
                <a:cs typeface="Times New Roman" panose="02020603050405020304" pitchFamily="18" charset="0"/>
              </a:rPr>
              <a:t>levels. </a:t>
            </a:r>
            <a:r>
              <a:rPr lang="en-US" dirty="0">
                <a:solidFill>
                  <a:srgbClr val="FF0000"/>
                </a:solidFill>
                <a:latin typeface="Times New Roman" panose="02020603050405020304" pitchFamily="18" charset="0"/>
                <a:cs typeface="Times New Roman" panose="02020603050405020304" pitchFamily="18" charset="0"/>
              </a:rPr>
              <a:t>I am experienced in </a:t>
            </a:r>
            <a:r>
              <a:rPr lang="en-US" dirty="0">
                <a:latin typeface="Times New Roman" panose="02020603050405020304" pitchFamily="18" charset="0"/>
                <a:cs typeface="Times New Roman" panose="02020603050405020304" pitchFamily="18" charset="0"/>
              </a:rPr>
              <a:t>administrative and logistic skills at both national and international level. I hold M. Phil. degree in business management from TU, Nepal. I am extremely detail oriented, highly motivated and my work ethic is </a:t>
            </a:r>
            <a:r>
              <a:rPr lang="en-US" dirty="0" smtClean="0">
                <a:latin typeface="Times New Roman" panose="02020603050405020304" pitchFamily="18" charset="0"/>
                <a:cs typeface="Times New Roman" panose="02020603050405020304" pitchFamily="18" charset="0"/>
              </a:rPr>
              <a:t>always </a:t>
            </a:r>
            <a:r>
              <a:rPr lang="en-US" dirty="0" err="1" smtClean="0">
                <a:latin typeface="Times New Roman" panose="02020603050405020304" pitchFamily="18" charset="0"/>
                <a:cs typeface="Times New Roman" panose="02020603050405020304" pitchFamily="18" charset="0"/>
              </a:rPr>
              <a:t>rigerous</a:t>
            </a:r>
            <a:r>
              <a:rPr lang="en-US" dirty="0" smtClean="0">
                <a:latin typeface="Times New Roman" panose="02020603050405020304" pitchFamily="18" charset="0"/>
                <a:cs typeface="Times New Roman" panose="02020603050405020304" pitchFamily="18" charset="0"/>
              </a:rPr>
              <a:t>. I </a:t>
            </a:r>
            <a:r>
              <a:rPr lang="en-US" dirty="0">
                <a:latin typeface="Times New Roman" panose="02020603050405020304" pitchFamily="18" charset="0"/>
                <a:cs typeface="Times New Roman" panose="02020603050405020304" pitchFamily="18" charset="0"/>
              </a:rPr>
              <a:t>possess sound command in both spoken and written English. I have attached my resume and other testimonials along with this letter.</a:t>
            </a:r>
          </a:p>
          <a:p>
            <a:pPr>
              <a:buNone/>
            </a:pP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If I am given an opportunity to work in your company, I will </a:t>
            </a:r>
            <a:r>
              <a:rPr lang="en-US" dirty="0" smtClean="0">
                <a:solidFill>
                  <a:srgbClr val="FF0000"/>
                </a:solidFill>
                <a:latin typeface="Times New Roman" panose="02020603050405020304" pitchFamily="18" charset="0"/>
                <a:cs typeface="Times New Roman" panose="02020603050405020304" pitchFamily="18" charset="0"/>
              </a:rPr>
              <a:t>fulfill my </a:t>
            </a:r>
            <a:r>
              <a:rPr lang="en-US" dirty="0">
                <a:solidFill>
                  <a:srgbClr val="FF0000"/>
                </a:solidFill>
                <a:latin typeface="Times New Roman" panose="02020603050405020304" pitchFamily="18" charset="0"/>
                <a:cs typeface="Times New Roman" panose="02020603050405020304" pitchFamily="18" charset="0"/>
              </a:rPr>
              <a:t>duties and responsibilities most sincerely.</a:t>
            </a:r>
          </a:p>
          <a:p>
            <a:pPr>
              <a:buNone/>
            </a:pPr>
            <a:r>
              <a:rPr lang="en-US" dirty="0">
                <a:solidFill>
                  <a:srgbClr val="FF0000"/>
                </a:solidFill>
                <a:latin typeface="Times New Roman" panose="02020603050405020304" pitchFamily="18" charset="0"/>
                <a:cs typeface="Times New Roman" panose="02020603050405020304" pitchFamily="18" charset="0"/>
              </a:rPr>
              <a:t>	Looking forward to hearing from you soon.</a:t>
            </a:r>
          </a:p>
          <a:p>
            <a:pPr>
              <a:buNone/>
            </a:pPr>
            <a:r>
              <a:rPr lang="en-US" dirty="0">
                <a:solidFill>
                  <a:srgbClr val="FF0000"/>
                </a:solidFill>
                <a:latin typeface="Times New Roman" panose="02020603050405020304" pitchFamily="18" charset="0"/>
                <a:cs typeface="Times New Roman" panose="02020603050405020304" pitchFamily="18" charset="0"/>
              </a:rPr>
              <a:t>	Yours sincerely</a:t>
            </a:r>
          </a:p>
          <a:p>
            <a:pPr>
              <a:buNone/>
            </a:pPr>
            <a:r>
              <a:rPr lang="en-US" dirty="0">
                <a:solidFill>
                  <a:srgbClr val="FF0000"/>
                </a:solidFill>
                <a:latin typeface="Times New Roman" panose="02020603050405020304" pitchFamily="18" charset="0"/>
                <a:cs typeface="Times New Roman" panose="02020603050405020304" pitchFamily="18" charset="0"/>
              </a:rPr>
              <a:t>	…………….</a:t>
            </a:r>
          </a:p>
          <a:p>
            <a:pPr>
              <a:buNone/>
            </a:pPr>
            <a:endParaRPr lang="en-US" dirty="0"/>
          </a:p>
          <a:p>
            <a:endParaRPr lang="en-US" dirty="0"/>
          </a:p>
          <a:p>
            <a:endParaRPr lang="en-GB" dirty="0"/>
          </a:p>
        </p:txBody>
      </p:sp>
    </p:spTree>
    <p:extLst>
      <p:ext uri="{BB962C8B-B14F-4D97-AF65-F5344CB8AC3E}">
        <p14:creationId xmlns:p14="http://schemas.microsoft.com/office/powerpoint/2010/main" val="11384915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7D4014-75FF-4068-8ED0-6DC7CF9FCFE6}"/>
              </a:ext>
            </a:extLst>
          </p:cNvPr>
          <p:cNvSpPr>
            <a:spLocks noGrp="1"/>
          </p:cNvSpPr>
          <p:nvPr>
            <p:ph type="title"/>
          </p:nvPr>
        </p:nvSpPr>
        <p:spPr>
          <a:xfrm>
            <a:off x="433633" y="274637"/>
            <a:ext cx="9777167" cy="1045115"/>
          </a:xfrm>
        </p:spPr>
        <p:txBody>
          <a:bodyPr>
            <a:normAutofit fontScale="90000"/>
          </a:bodyPr>
          <a:lstStyle/>
          <a:p>
            <a:r>
              <a:rPr lang="en-GB" dirty="0"/>
              <a:t/>
            </a:r>
            <a:br>
              <a:rPr lang="en-GB" dirty="0"/>
            </a:br>
            <a:r>
              <a:rPr lang="en-US" sz="3100" b="1" dirty="0">
                <a:solidFill>
                  <a:srgbClr val="0070C0"/>
                </a:solidFill>
              </a:rPr>
              <a:t>Sample Cover Letter - Entry Level Finance Position</a:t>
            </a:r>
            <a:r>
              <a:rPr lang="en-US" dirty="0"/>
              <a:t/>
            </a:r>
            <a:br>
              <a:rPr lang="en-US" dirty="0"/>
            </a:br>
            <a:endParaRPr lang="en-GB" dirty="0"/>
          </a:p>
        </p:txBody>
      </p:sp>
      <p:sp>
        <p:nvSpPr>
          <p:cNvPr id="3" name="Content Placeholder 2">
            <a:extLst>
              <a:ext uri="{FF2B5EF4-FFF2-40B4-BE49-F238E27FC236}">
                <a16:creationId xmlns:a16="http://schemas.microsoft.com/office/drawing/2014/main" xmlns="" id="{077D556D-9219-4E73-BF1F-9EF1BB9B56BA}"/>
              </a:ext>
            </a:extLst>
          </p:cNvPr>
          <p:cNvSpPr>
            <a:spLocks noGrp="1"/>
          </p:cNvSpPr>
          <p:nvPr>
            <p:ph idx="1"/>
          </p:nvPr>
        </p:nvSpPr>
        <p:spPr>
          <a:xfrm>
            <a:off x="575035" y="914400"/>
            <a:ext cx="11029361" cy="5715000"/>
          </a:xfrm>
        </p:spPr>
        <p:txBody>
          <a:bodyPr>
            <a:normAutofit fontScale="92500" lnSpcReduction="20000"/>
          </a:bodyPr>
          <a:lstStyle/>
          <a:p>
            <a:pPr>
              <a:buNone/>
            </a:pPr>
            <a:r>
              <a:rPr lang="en-US" dirty="0"/>
              <a:t>	</a:t>
            </a:r>
            <a:r>
              <a:rPr lang="en-US" b="1" dirty="0"/>
              <a:t>	</a:t>
            </a:r>
          </a:p>
          <a:p>
            <a:pPr>
              <a:buNone/>
            </a:pPr>
            <a:r>
              <a:rPr lang="en-US" b="1" dirty="0">
                <a:latin typeface="Times New Roman" panose="02020603050405020304" pitchFamily="18" charset="0"/>
                <a:cs typeface="Times New Roman" panose="02020603050405020304" pitchFamily="18" charset="0"/>
              </a:rPr>
              <a:t>Your Contact Information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Address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City, State, Zip Code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Phone Number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Cell Phone Number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Email</a:t>
            </a:r>
          </a:p>
          <a:p>
            <a:pPr>
              <a:buNone/>
            </a:pPr>
            <a:r>
              <a:rPr lang="en-US" b="1" dirty="0">
                <a:latin typeface="Times New Roman" panose="02020603050405020304" pitchFamily="18" charset="0"/>
                <a:cs typeface="Times New Roman" panose="02020603050405020304" pitchFamily="18" charset="0"/>
              </a:rPr>
              <a:t>	Employer Contact Information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Name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Title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Company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Address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City, State, Zip Code</a:t>
            </a:r>
          </a:p>
          <a:p>
            <a:pPr>
              <a:buNone/>
            </a:pPr>
            <a:r>
              <a:rPr lang="en-US" dirty="0">
                <a:latin typeface="Times New Roman" panose="02020603050405020304" pitchFamily="18" charset="0"/>
                <a:cs typeface="Times New Roman" panose="02020603050405020304" pitchFamily="18" charset="0"/>
              </a:rPr>
              <a:t>	Date</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Subject:</a:t>
            </a:r>
          </a:p>
          <a:p>
            <a:pPr>
              <a:buNone/>
            </a:pPr>
            <a:r>
              <a:rPr lang="en-US" dirty="0">
                <a:latin typeface="Times New Roman" panose="02020603050405020304" pitchFamily="18" charset="0"/>
                <a:cs typeface="Times New Roman" panose="02020603050405020304" pitchFamily="18" charset="0"/>
              </a:rPr>
              <a:t>	</a:t>
            </a:r>
          </a:p>
          <a:p>
            <a:pPr>
              <a:buNone/>
            </a:pPr>
            <a:endParaRPr lang="en-US" dirty="0"/>
          </a:p>
          <a:p>
            <a:endParaRPr lang="en-GB" dirty="0"/>
          </a:p>
        </p:txBody>
      </p:sp>
    </p:spTree>
    <p:extLst>
      <p:ext uri="{BB962C8B-B14F-4D97-AF65-F5344CB8AC3E}">
        <p14:creationId xmlns:p14="http://schemas.microsoft.com/office/powerpoint/2010/main" val="14108701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B659F1-8E8B-456F-B4C6-F687B24ACEC4}"/>
              </a:ext>
            </a:extLst>
          </p:cNvPr>
          <p:cNvSpPr>
            <a:spLocks noGrp="1"/>
          </p:cNvSpPr>
          <p:nvPr>
            <p:ph type="title"/>
          </p:nvPr>
        </p:nvSpPr>
        <p:spPr>
          <a:xfrm>
            <a:off x="1981200" y="274638"/>
            <a:ext cx="8229600" cy="182562"/>
          </a:xfrm>
        </p:spPr>
        <p:txBody>
          <a:bodyPr>
            <a:normAutofit fontScale="90000"/>
          </a:bodyPr>
          <a:lstStyle/>
          <a:p>
            <a:r>
              <a:rPr lang="en-GB" dirty="0"/>
              <a:t>Contd..</a:t>
            </a:r>
          </a:p>
        </p:txBody>
      </p:sp>
      <p:sp>
        <p:nvSpPr>
          <p:cNvPr id="3" name="Content Placeholder 2">
            <a:extLst>
              <a:ext uri="{FF2B5EF4-FFF2-40B4-BE49-F238E27FC236}">
                <a16:creationId xmlns:a16="http://schemas.microsoft.com/office/drawing/2014/main" xmlns="" id="{18E943A6-78E4-4168-86C6-9040E1706CB2}"/>
              </a:ext>
            </a:extLst>
          </p:cNvPr>
          <p:cNvSpPr>
            <a:spLocks noGrp="1"/>
          </p:cNvSpPr>
          <p:nvPr>
            <p:ph idx="1"/>
          </p:nvPr>
        </p:nvSpPr>
        <p:spPr>
          <a:xfrm>
            <a:off x="612742" y="838199"/>
            <a:ext cx="10991654" cy="5949099"/>
          </a:xfrm>
        </p:spPr>
        <p:txBody>
          <a:bodyPr>
            <a:normAutofit fontScale="77500" lnSpcReduction="20000"/>
          </a:bodyPr>
          <a:lstStyle/>
          <a:p>
            <a:pPr>
              <a:buNone/>
            </a:pPr>
            <a:r>
              <a:rPr lang="en-US" dirty="0">
                <a:latin typeface="Times New Roman" panose="02020603050405020304" pitchFamily="18" charset="0"/>
                <a:cs typeface="Times New Roman" panose="02020603050405020304" pitchFamily="18" charset="0"/>
              </a:rPr>
              <a:t>Dear Mr./Ms. </a:t>
            </a:r>
            <a:r>
              <a:rPr lang="en-US" dirty="0" smtClean="0">
                <a:latin typeface="Times New Roman" panose="02020603050405020304" pitchFamily="18" charset="0"/>
                <a:cs typeface="Times New Roman" panose="02020603050405020304" pitchFamily="18" charset="0"/>
              </a:rPr>
              <a:t>Last Name</a:t>
            </a:r>
            <a:r>
              <a:rPr lang="en-US" dirty="0">
                <a:latin typeface="Times New Roman" panose="02020603050405020304" pitchFamily="18" charset="0"/>
                <a:cs typeface="Times New Roman" panose="02020603050405020304" pitchFamily="18" charset="0"/>
              </a:rPr>
              <a:t>,</a:t>
            </a:r>
          </a:p>
          <a:p>
            <a:pPr>
              <a:buNone/>
            </a:pPr>
            <a:r>
              <a:rPr lang="en-US" dirty="0">
                <a:latin typeface="Times New Roman" panose="02020603050405020304" pitchFamily="18" charset="0"/>
                <a:cs typeface="Times New Roman" panose="02020603050405020304" pitchFamily="18" charset="0"/>
              </a:rPr>
              <a:t>	I am very interested in the entry-level position that is available at ABC Investment Partners. I recently graduated from XYZ University College and am actively seeking employment with firms in the San Francisco area.</a:t>
            </a:r>
          </a:p>
          <a:p>
            <a:pPr>
              <a:buNone/>
            </a:pPr>
            <a:r>
              <a:rPr lang="en-US" dirty="0">
                <a:latin typeface="Times New Roman" panose="02020603050405020304" pitchFamily="18" charset="0"/>
                <a:cs typeface="Times New Roman" panose="02020603050405020304" pitchFamily="18" charset="0"/>
              </a:rPr>
              <a:t>	My courses in investments, finance, and business have given me a solid base upon which I plan to build my career.</a:t>
            </a:r>
          </a:p>
          <a:p>
            <a:pPr>
              <a:buNone/>
            </a:pPr>
            <a:r>
              <a:rPr lang="en-US" dirty="0">
                <a:latin typeface="Times New Roman" panose="02020603050405020304" pitchFamily="18" charset="0"/>
                <a:cs typeface="Times New Roman" panose="02020603050405020304" pitchFamily="18" charset="0"/>
              </a:rPr>
              <a:t>	During my college internships, I dealt with a variety of budgets and conducted market research while handling numerous administrative duties. The experience allowed me to learn important skills and to develop the confidence needed to succeed in a competitive environment.</a:t>
            </a:r>
          </a:p>
          <a:p>
            <a:pPr>
              <a:buNone/>
            </a:pPr>
            <a:r>
              <a:rPr lang="en-US" dirty="0">
                <a:latin typeface="Times New Roman" panose="02020603050405020304" pitchFamily="18" charset="0"/>
                <a:cs typeface="Times New Roman" panose="02020603050405020304" pitchFamily="18" charset="0"/>
              </a:rPr>
              <a:t>	I have enclosed my resume for your review. Thank you for your time and consideration.</a:t>
            </a:r>
          </a:p>
          <a:p>
            <a:pPr>
              <a:buNone/>
            </a:pPr>
            <a:r>
              <a:rPr lang="en-US" dirty="0">
                <a:latin typeface="Times New Roman" panose="02020603050405020304" pitchFamily="18" charset="0"/>
                <a:cs typeface="Times New Roman" panose="02020603050405020304" pitchFamily="18" charset="0"/>
              </a:rPr>
              <a:t>	It would be a pleasure to interview with you and I look forward to hearing from you soon.</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Sincerely,</a:t>
            </a:r>
          </a:p>
          <a:p>
            <a:pPr>
              <a:buNone/>
            </a:pPr>
            <a:r>
              <a:rPr lang="en-US" i="1" dirty="0">
                <a:latin typeface="Times New Roman" panose="02020603050405020304" pitchFamily="18" charset="0"/>
                <a:cs typeface="Times New Roman" panose="02020603050405020304" pitchFamily="18" charset="0"/>
              </a:rPr>
              <a:t>	Your Signature </a:t>
            </a:r>
            <a:r>
              <a:rPr lang="en-US" dirty="0">
                <a:latin typeface="Times New Roman" panose="02020603050405020304" pitchFamily="18" charset="0"/>
                <a:cs typeface="Times New Roman" panose="02020603050405020304" pitchFamily="18" charset="0"/>
              </a:rPr>
              <a:t>(hard copy letter)</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Your Typed Name</a:t>
            </a:r>
          </a:p>
          <a:p>
            <a:endParaRPr lang="en-GB" dirty="0"/>
          </a:p>
        </p:txBody>
      </p:sp>
    </p:spTree>
    <p:extLst>
      <p:ext uri="{BB962C8B-B14F-4D97-AF65-F5344CB8AC3E}">
        <p14:creationId xmlns:p14="http://schemas.microsoft.com/office/powerpoint/2010/main" val="22654716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54241E-78B6-4C02-8867-C086BBC5B6E4}"/>
              </a:ext>
            </a:extLst>
          </p:cNvPr>
          <p:cNvSpPr>
            <a:spLocks noGrp="1"/>
          </p:cNvSpPr>
          <p:nvPr>
            <p:ph type="title"/>
          </p:nvPr>
        </p:nvSpPr>
        <p:spPr/>
        <p:txBody>
          <a:bodyPr/>
          <a:lstStyle/>
          <a:p>
            <a:r>
              <a:rPr lang="en-GB" b="1" dirty="0">
                <a:solidFill>
                  <a:srgbClr val="002060"/>
                </a:solidFill>
                <a:latin typeface="Times New Roman" panose="02020603050405020304" pitchFamily="18" charset="0"/>
                <a:cs typeface="Times New Roman" panose="02020603050405020304" pitchFamily="18" charset="0"/>
              </a:rPr>
              <a:t>Resume/CV</a:t>
            </a:r>
          </a:p>
        </p:txBody>
      </p:sp>
      <p:sp>
        <p:nvSpPr>
          <p:cNvPr id="3" name="Content Placeholder 2">
            <a:extLst>
              <a:ext uri="{FF2B5EF4-FFF2-40B4-BE49-F238E27FC236}">
                <a16:creationId xmlns:a16="http://schemas.microsoft.com/office/drawing/2014/main" xmlns="" id="{A12802F4-AB56-4278-97A9-1CEB084B69B1}"/>
              </a:ext>
            </a:extLst>
          </p:cNvPr>
          <p:cNvSpPr>
            <a:spLocks noGrp="1"/>
          </p:cNvSpPr>
          <p:nvPr>
            <p:ph idx="1"/>
          </p:nvPr>
        </p:nvSpPr>
        <p:spPr>
          <a:xfrm>
            <a:off x="292231" y="1405487"/>
            <a:ext cx="11632676" cy="4820272"/>
          </a:xfrm>
        </p:spPr>
        <p:txBody>
          <a:bodyPr>
            <a:normAutofit lnSpcReduction="10000"/>
          </a:bodyPr>
          <a:lstStyle/>
          <a:p>
            <a:pPr marL="0" indent="0">
              <a:buNone/>
            </a:pPr>
            <a:r>
              <a:rPr lang="en-GB" dirty="0"/>
              <a:t>			</a:t>
            </a:r>
            <a:endParaRPr lang="en-GB" b="1" dirty="0"/>
          </a:p>
          <a:p>
            <a:r>
              <a:rPr lang="en-GB" b="1" dirty="0"/>
              <a:t>Heading</a:t>
            </a:r>
          </a:p>
          <a:p>
            <a:r>
              <a:rPr lang="en-GB" b="1" dirty="0"/>
              <a:t>Career objective</a:t>
            </a:r>
          </a:p>
          <a:p>
            <a:r>
              <a:rPr lang="en-GB" b="1" dirty="0"/>
              <a:t>Summary of </a:t>
            </a:r>
            <a:r>
              <a:rPr lang="en-GB" b="1" dirty="0" smtClean="0"/>
              <a:t>qualification/Education </a:t>
            </a:r>
            <a:endParaRPr lang="en-GB" b="1" dirty="0"/>
          </a:p>
          <a:p>
            <a:r>
              <a:rPr lang="en-GB" b="1" dirty="0"/>
              <a:t>Work experience</a:t>
            </a:r>
          </a:p>
          <a:p>
            <a:r>
              <a:rPr lang="en-GB" b="1" dirty="0" smtClean="0"/>
              <a:t>Trainings</a:t>
            </a:r>
          </a:p>
          <a:p>
            <a:r>
              <a:rPr lang="en-GB" b="1" dirty="0" smtClean="0"/>
              <a:t>Awards</a:t>
            </a:r>
            <a:r>
              <a:rPr lang="en-GB" b="1" dirty="0"/>
              <a:t>, honours and </a:t>
            </a:r>
            <a:r>
              <a:rPr lang="en-GB" b="1" dirty="0" smtClean="0"/>
              <a:t>activities</a:t>
            </a:r>
          </a:p>
          <a:p>
            <a:r>
              <a:rPr lang="en-GB" b="1" dirty="0" smtClean="0"/>
              <a:t>Capabilities </a:t>
            </a:r>
            <a:r>
              <a:rPr lang="en-GB" b="1" dirty="0"/>
              <a:t>and </a:t>
            </a:r>
            <a:r>
              <a:rPr lang="en-GB" b="1" dirty="0" smtClean="0"/>
              <a:t>skills</a:t>
            </a:r>
            <a:endParaRPr lang="en-GB" b="1" dirty="0"/>
          </a:p>
          <a:p>
            <a:r>
              <a:rPr lang="en-GB" b="1" dirty="0"/>
              <a:t>Hobbies and interests</a:t>
            </a:r>
          </a:p>
          <a:p>
            <a:r>
              <a:rPr lang="en-GB" b="1" dirty="0"/>
              <a:t>References</a:t>
            </a:r>
          </a:p>
          <a:p>
            <a:pPr marL="0" indent="0">
              <a:buNone/>
            </a:pPr>
            <a:endParaRPr lang="en-GB" dirty="0"/>
          </a:p>
        </p:txBody>
      </p:sp>
    </p:spTree>
    <p:extLst>
      <p:ext uri="{BB962C8B-B14F-4D97-AF65-F5344CB8AC3E}">
        <p14:creationId xmlns:p14="http://schemas.microsoft.com/office/powerpoint/2010/main" val="157500628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417F8C-1D21-4827-9009-E712EE51D9C9}"/>
              </a:ext>
            </a:extLst>
          </p:cNvPr>
          <p:cNvSpPr>
            <a:spLocks noGrp="1"/>
          </p:cNvSpPr>
          <p:nvPr>
            <p:ph type="title"/>
          </p:nvPr>
        </p:nvSpPr>
        <p:spPr>
          <a:xfrm>
            <a:off x="1981200" y="1"/>
            <a:ext cx="8229600" cy="152400"/>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84A2EC0C-CBA3-4409-B7A8-F3F025DC48E6}"/>
              </a:ext>
            </a:extLst>
          </p:cNvPr>
          <p:cNvSpPr>
            <a:spLocks noGrp="1"/>
          </p:cNvSpPr>
          <p:nvPr>
            <p:ph idx="1"/>
          </p:nvPr>
        </p:nvSpPr>
        <p:spPr>
          <a:xfrm>
            <a:off x="367645" y="424206"/>
            <a:ext cx="11528982" cy="6281394"/>
          </a:xfrm>
        </p:spPr>
        <p:txBody>
          <a:bodyPr>
            <a:normAutofit fontScale="62500" lnSpcReduction="20000"/>
          </a:bodyPr>
          <a:lstStyle/>
          <a:p>
            <a:pPr>
              <a:buNone/>
            </a:pPr>
            <a:r>
              <a:rPr lang="en-US" dirty="0"/>
              <a:t>				</a:t>
            </a:r>
            <a:r>
              <a:rPr lang="en-US" b="1" dirty="0">
                <a:latin typeface="Times New Roman" panose="02020603050405020304" pitchFamily="18" charset="0"/>
                <a:cs typeface="Times New Roman" panose="02020603050405020304" pitchFamily="18" charset="0"/>
              </a:rPr>
              <a:t>Min Prasad Dawadi</a:t>
            </a:r>
          </a:p>
          <a:p>
            <a:pPr>
              <a:buNone/>
            </a:pPr>
            <a:r>
              <a:rPr lang="en-US" b="1"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Dudhpokhari</a:t>
            </a:r>
            <a:r>
              <a:rPr lang="en-US" dirty="0">
                <a:latin typeface="Times New Roman" panose="02020603050405020304" pitchFamily="18" charset="0"/>
                <a:cs typeface="Times New Roman" panose="02020603050405020304" pitchFamily="18" charset="0"/>
              </a:rPr>
              <a:t> 2, </a:t>
            </a:r>
            <a:r>
              <a:rPr lang="en-US" dirty="0" err="1">
                <a:latin typeface="Times New Roman" panose="02020603050405020304" pitchFamily="18" charset="0"/>
                <a:cs typeface="Times New Roman" panose="02020603050405020304" pitchFamily="18" charset="0"/>
              </a:rPr>
              <a:t>Lamjung</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Phone- 9848727039, office- 099418131</a:t>
            </a:r>
          </a:p>
          <a:p>
            <a:pPr>
              <a:buNone/>
            </a:pPr>
            <a:r>
              <a:rPr lang="en-US" dirty="0">
                <a:latin typeface="Times New Roman" panose="02020603050405020304" pitchFamily="18" charset="0"/>
                <a:cs typeface="Times New Roman" panose="02020603050405020304" pitchFamily="18" charset="0"/>
              </a:rPr>
              <a:t>			         Email- </a:t>
            </a:r>
            <a:r>
              <a:rPr lang="en-US" dirty="0">
                <a:latin typeface="Times New Roman" panose="02020603050405020304" pitchFamily="18" charset="0"/>
                <a:cs typeface="Times New Roman" panose="02020603050405020304" pitchFamily="18" charset="0"/>
                <a:hlinkClick r:id="rId2"/>
              </a:rPr>
              <a:t>dawadiminprasad@gmail.com</a:t>
            </a: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Objective:</a:t>
            </a:r>
            <a:r>
              <a:rPr lang="en-US" dirty="0">
                <a:latin typeface="Times New Roman" panose="02020603050405020304" pitchFamily="18" charset="0"/>
                <a:cs typeface="Times New Roman" panose="02020603050405020304" pitchFamily="18" charset="0"/>
              </a:rPr>
              <a:t> To gain excellence in the field of teaching language and literature</a:t>
            </a: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Academic Qualification:</a:t>
            </a:r>
          </a:p>
          <a:p>
            <a:r>
              <a:rPr lang="en-US" dirty="0">
                <a:latin typeface="Times New Roman" panose="02020603050405020304" pitchFamily="18" charset="0"/>
                <a:cs typeface="Times New Roman" panose="02020603050405020304" pitchFamily="18" charset="0"/>
              </a:rPr>
              <a:t>M.Phil.in English ( Running)</a:t>
            </a:r>
          </a:p>
          <a:p>
            <a:r>
              <a:rPr lang="en-US" dirty="0">
                <a:latin typeface="Times New Roman" panose="02020603050405020304" pitchFamily="18" charset="0"/>
                <a:cs typeface="Times New Roman" panose="02020603050405020304" pitchFamily="18" charset="0"/>
              </a:rPr>
              <a:t>M. Ed., in English from TU, 2011</a:t>
            </a:r>
          </a:p>
          <a:p>
            <a:r>
              <a:rPr lang="en-US" dirty="0">
                <a:latin typeface="Times New Roman" panose="02020603050405020304" pitchFamily="18" charset="0"/>
                <a:cs typeface="Times New Roman" panose="02020603050405020304" pitchFamily="18" charset="0"/>
              </a:rPr>
              <a:t>M. A.,  in English from TU, 2003</a:t>
            </a:r>
          </a:p>
          <a:p>
            <a:r>
              <a:rPr lang="en-US" dirty="0">
                <a:latin typeface="Times New Roman" panose="02020603050405020304" pitchFamily="18" charset="0"/>
                <a:cs typeface="Times New Roman" panose="02020603050405020304" pitchFamily="18" charset="0"/>
              </a:rPr>
              <a:t>B. Ed. in English, from TU, 2003</a:t>
            </a:r>
          </a:p>
          <a:p>
            <a:r>
              <a:rPr lang="en-US" dirty="0">
                <a:latin typeface="Times New Roman" panose="02020603050405020304" pitchFamily="18" charset="0"/>
                <a:cs typeface="Times New Roman" panose="02020603050405020304" pitchFamily="18" charset="0"/>
              </a:rPr>
              <a:t>B.A. in English from TU, 2001</a:t>
            </a:r>
          </a:p>
          <a:p>
            <a:r>
              <a:rPr lang="en-US" dirty="0">
                <a:latin typeface="Times New Roman" panose="02020603050405020304" pitchFamily="18" charset="0"/>
                <a:cs typeface="Times New Roman" panose="02020603050405020304" pitchFamily="18" charset="0"/>
              </a:rPr>
              <a:t>Intermediate  in Mgmt. from TU, 1998</a:t>
            </a:r>
          </a:p>
          <a:p>
            <a:r>
              <a:rPr lang="en-US" dirty="0">
                <a:latin typeface="Times New Roman" panose="02020603050405020304" pitchFamily="18" charset="0"/>
                <a:cs typeface="Times New Roman" panose="02020603050405020304" pitchFamily="18" charset="0"/>
              </a:rPr>
              <a:t>SLC, from HMG Board Nepal, 1996</a:t>
            </a:r>
          </a:p>
          <a:p>
            <a:pPr>
              <a:buNone/>
            </a:pPr>
            <a:endParaRPr lang="en-US" dirty="0">
              <a:latin typeface="Times New Roman" panose="02020603050405020304" pitchFamily="18" charset="0"/>
              <a:cs typeface="Times New Roman" panose="02020603050405020304" pitchFamily="18" charset="0"/>
            </a:endParaRPr>
          </a:p>
          <a:p>
            <a:pPr>
              <a:buNone/>
            </a:pPr>
            <a:endParaRPr lang="en-US" sz="1800" dirty="0"/>
          </a:p>
          <a:p>
            <a:pPr>
              <a:buNone/>
            </a:pPr>
            <a:endParaRPr lang="en-US" b="1" dirty="0"/>
          </a:p>
          <a:p>
            <a:pPr>
              <a:buNone/>
            </a:pPr>
            <a:r>
              <a:rPr lang="en-US" b="1" dirty="0"/>
              <a:t>				</a:t>
            </a:r>
          </a:p>
          <a:p>
            <a:pPr>
              <a:buNone/>
            </a:pPr>
            <a:endParaRPr lang="en-US" b="1" dirty="0"/>
          </a:p>
          <a:p>
            <a:endParaRPr lang="en-GB" dirty="0"/>
          </a:p>
        </p:txBody>
      </p:sp>
      <p:pic>
        <p:nvPicPr>
          <p:cNvPr id="4" name="Picture 3" descr="12733496_771688722966112_1576296613909418012_n.jpg">
            <a:extLst>
              <a:ext uri="{FF2B5EF4-FFF2-40B4-BE49-F238E27FC236}">
                <a16:creationId xmlns:a16="http://schemas.microsoft.com/office/drawing/2014/main" xmlns="" id="{F6906073-9E34-4B96-9E53-66117F1F669C}"/>
              </a:ext>
            </a:extLst>
          </p:cNvPr>
          <p:cNvPicPr>
            <a:picLocks noChangeAspect="1"/>
          </p:cNvPicPr>
          <p:nvPr/>
        </p:nvPicPr>
        <p:blipFill>
          <a:blip r:embed="rId3" cstate="print"/>
          <a:srcRect l="20316" t="12000" r="14379" b="35999"/>
          <a:stretch>
            <a:fillRect/>
          </a:stretch>
        </p:blipFill>
        <p:spPr>
          <a:xfrm>
            <a:off x="8958606" y="586017"/>
            <a:ext cx="1524000" cy="1676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5348828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464396-7B7C-47DE-A1A4-965612567018}"/>
              </a:ext>
            </a:extLst>
          </p:cNvPr>
          <p:cNvSpPr>
            <a:spLocks noGrp="1"/>
          </p:cNvSpPr>
          <p:nvPr>
            <p:ph type="title"/>
          </p:nvPr>
        </p:nvSpPr>
        <p:spPr/>
        <p:txBody>
          <a:bodyPr/>
          <a:lstStyle/>
          <a:p>
            <a:r>
              <a:rPr lang="en-GB" dirty="0" err="1"/>
              <a:t>Contd</a:t>
            </a:r>
            <a:r>
              <a:rPr lang="en-GB" dirty="0"/>
              <a:t>…</a:t>
            </a:r>
          </a:p>
        </p:txBody>
      </p:sp>
      <p:sp>
        <p:nvSpPr>
          <p:cNvPr id="3" name="Content Placeholder 2">
            <a:extLst>
              <a:ext uri="{FF2B5EF4-FFF2-40B4-BE49-F238E27FC236}">
                <a16:creationId xmlns:a16="http://schemas.microsoft.com/office/drawing/2014/main" xmlns="" id="{C93ACDBF-F12A-4C1D-9CCA-1D21B3FE151C}"/>
              </a:ext>
            </a:extLst>
          </p:cNvPr>
          <p:cNvSpPr>
            <a:spLocks noGrp="1"/>
          </p:cNvSpPr>
          <p:nvPr>
            <p:ph idx="1"/>
          </p:nvPr>
        </p:nvSpPr>
        <p:spPr>
          <a:xfrm>
            <a:off x="838199" y="1825625"/>
            <a:ext cx="10992439" cy="4351338"/>
          </a:xfrm>
        </p:spPr>
        <p:txBody>
          <a:bodyPr>
            <a:normAutofit fontScale="77500" lnSpcReduction="20000"/>
          </a:bodyPr>
          <a:lstStyle/>
          <a:p>
            <a:pPr>
              <a:buNone/>
            </a:pPr>
            <a:r>
              <a:rPr lang="en-US" b="1" dirty="0">
                <a:latin typeface="Times New Roman" panose="02020603050405020304" pitchFamily="18" charset="0"/>
                <a:cs typeface="Times New Roman" panose="02020603050405020304" pitchFamily="18" charset="0"/>
              </a:rPr>
              <a:t>Work Experience:</a:t>
            </a:r>
          </a:p>
          <a:p>
            <a:r>
              <a:rPr lang="en-US" dirty="0">
                <a:latin typeface="Times New Roman" panose="02020603050405020304" pitchFamily="18" charset="0"/>
                <a:cs typeface="Times New Roman" panose="02020603050405020304" pitchFamily="18" charset="0"/>
              </a:rPr>
              <a:t>Working as PGT English at SAMV </a:t>
            </a:r>
            <a:r>
              <a:rPr lang="en-US" dirty="0" err="1">
                <a:latin typeface="Times New Roman" panose="02020603050405020304" pitchFamily="18" charset="0"/>
                <a:cs typeface="Times New Roman" panose="02020603050405020304" pitchFamily="18" charset="0"/>
              </a:rPr>
              <a:t>Chitwan</a:t>
            </a:r>
            <a:r>
              <a:rPr lang="en-US" dirty="0">
                <a:latin typeface="Times New Roman" panose="02020603050405020304" pitchFamily="18" charset="0"/>
                <a:cs typeface="Times New Roman" panose="02020603050405020304" pitchFamily="18" charset="0"/>
              </a:rPr>
              <a:t> since 2076, </a:t>
            </a:r>
            <a:r>
              <a:rPr lang="en-US" dirty="0" err="1">
                <a:latin typeface="Times New Roman" panose="02020603050405020304" pitchFamily="18" charset="0"/>
                <a:cs typeface="Times New Roman" panose="02020603050405020304" pitchFamily="18" charset="0"/>
              </a:rPr>
              <a:t>Bhadra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Working as a lecturer at </a:t>
            </a:r>
            <a:r>
              <a:rPr lang="en-US" dirty="0" err="1">
                <a:latin typeface="Times New Roman" panose="02020603050405020304" pitchFamily="18" charset="0"/>
                <a:cs typeface="Times New Roman" panose="02020603050405020304" pitchFamily="18" charset="0"/>
              </a:rPr>
              <a:t>Bhuwanishankar</a:t>
            </a:r>
            <a:r>
              <a:rPr lang="en-US" dirty="0">
                <a:latin typeface="Times New Roman" panose="02020603050405020304" pitchFamily="18" charset="0"/>
                <a:cs typeface="Times New Roman" panose="02020603050405020304" pitchFamily="18" charset="0"/>
              </a:rPr>
              <a:t> Multiple college, </a:t>
            </a:r>
            <a:r>
              <a:rPr lang="en-US" dirty="0" err="1">
                <a:latin typeface="Times New Roman" panose="02020603050405020304" pitchFamily="18" charset="0"/>
                <a:cs typeface="Times New Roman" panose="02020603050405020304" pitchFamily="18" charset="0"/>
              </a:rPr>
              <a:t>Chitwan</a:t>
            </a:r>
            <a:r>
              <a:rPr lang="en-US" dirty="0">
                <a:latin typeface="Times New Roman" panose="02020603050405020304" pitchFamily="18" charset="0"/>
                <a:cs typeface="Times New Roman" panose="02020603050405020304" pitchFamily="18" charset="0"/>
              </a:rPr>
              <a:t> since 2076 </a:t>
            </a:r>
            <a:r>
              <a:rPr lang="en-US" dirty="0" err="1">
                <a:latin typeface="Times New Roman" panose="02020603050405020304" pitchFamily="18" charset="0"/>
                <a:cs typeface="Times New Roman" panose="02020603050405020304" pitchFamily="18" charset="0"/>
              </a:rPr>
              <a:t>Mansir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Worked as an Assistant Professor at </a:t>
            </a:r>
            <a:r>
              <a:rPr lang="en-US" dirty="0" err="1">
                <a:latin typeface="Times New Roman" panose="02020603050405020304" pitchFamily="18" charset="0"/>
                <a:cs typeface="Times New Roman" panose="02020603050405020304" pitchFamily="18" charset="0"/>
              </a:rPr>
              <a:t>Janajyoti</a:t>
            </a:r>
            <a:r>
              <a:rPr lang="en-US" dirty="0">
                <a:latin typeface="Times New Roman" panose="02020603050405020304" pitchFamily="18" charset="0"/>
                <a:cs typeface="Times New Roman" panose="02020603050405020304" pitchFamily="18" charset="0"/>
              </a:rPr>
              <a:t> Multiple Campus, </a:t>
            </a:r>
            <a:r>
              <a:rPr lang="en-US" dirty="0" err="1">
                <a:latin typeface="Times New Roman" panose="02020603050405020304" pitchFamily="18" charset="0"/>
                <a:cs typeface="Times New Roman" panose="02020603050405020304" pitchFamily="18" charset="0"/>
              </a:rPr>
              <a:t>Kanchanpur</a:t>
            </a:r>
            <a:r>
              <a:rPr lang="en-US" dirty="0">
                <a:latin typeface="Times New Roman" panose="02020603050405020304" pitchFamily="18" charset="0"/>
                <a:cs typeface="Times New Roman" panose="02020603050405020304" pitchFamily="18" charset="0"/>
              </a:rPr>
              <a:t> since 2063 B.S.</a:t>
            </a:r>
          </a:p>
          <a:p>
            <a:r>
              <a:rPr lang="en-US" dirty="0">
                <a:latin typeface="Times New Roman" panose="02020603050405020304" pitchFamily="18" charset="0"/>
                <a:cs typeface="Times New Roman" panose="02020603050405020304" pitchFamily="18" charset="0"/>
              </a:rPr>
              <a:t>Worked as an Assistant Professor at Amity College, </a:t>
            </a:r>
            <a:r>
              <a:rPr lang="en-US" dirty="0" err="1">
                <a:latin typeface="Times New Roman" panose="02020603050405020304" pitchFamily="18" charset="0"/>
                <a:cs typeface="Times New Roman" panose="02020603050405020304" pitchFamily="18" charset="0"/>
              </a:rPr>
              <a:t>Kanchanpur</a:t>
            </a:r>
            <a:r>
              <a:rPr lang="en-US" dirty="0">
                <a:latin typeface="Times New Roman" panose="02020603050405020304" pitchFamily="18" charset="0"/>
                <a:cs typeface="Times New Roman" panose="02020603050405020304" pitchFamily="18" charset="0"/>
              </a:rPr>
              <a:t> since 2066 B. S.</a:t>
            </a:r>
          </a:p>
          <a:p>
            <a:r>
              <a:rPr lang="en-US" dirty="0">
                <a:latin typeface="Times New Roman" panose="02020603050405020304" pitchFamily="18" charset="0"/>
                <a:cs typeface="Times New Roman" panose="02020603050405020304" pitchFamily="18" charset="0"/>
              </a:rPr>
              <a:t>Worked as an English language instructor of Hospitality English at Far-western Educational Foundation, </a:t>
            </a:r>
            <a:r>
              <a:rPr lang="en-US" dirty="0" err="1">
                <a:latin typeface="Times New Roman" panose="02020603050405020304" pitchFamily="18" charset="0"/>
                <a:cs typeface="Times New Roman" panose="02020603050405020304" pitchFamily="18" charset="0"/>
              </a:rPr>
              <a:t>Kanchanpur</a:t>
            </a:r>
            <a:r>
              <a:rPr lang="en-US" dirty="0">
                <a:latin typeface="Times New Roman" panose="02020603050405020304" pitchFamily="18" charset="0"/>
                <a:cs typeface="Times New Roman" panose="02020603050405020304" pitchFamily="18" charset="0"/>
              </a:rPr>
              <a:t> since 2072 B.S.</a:t>
            </a:r>
          </a:p>
          <a:p>
            <a:r>
              <a:rPr lang="en-US" dirty="0">
                <a:latin typeface="Times New Roman" panose="02020603050405020304" pitchFamily="18" charset="0"/>
                <a:cs typeface="Times New Roman" panose="02020603050405020304" pitchFamily="18" charset="0"/>
              </a:rPr>
              <a:t>Worked as the campus Chief of </a:t>
            </a:r>
            <a:r>
              <a:rPr lang="en-US" dirty="0" err="1">
                <a:latin typeface="Times New Roman" panose="02020603050405020304" pitchFamily="18" charset="0"/>
                <a:cs typeface="Times New Roman" panose="02020603050405020304" pitchFamily="18" charset="0"/>
              </a:rPr>
              <a:t>Janajyoti</a:t>
            </a:r>
            <a:r>
              <a:rPr lang="en-US" dirty="0">
                <a:latin typeface="Times New Roman" panose="02020603050405020304" pitchFamily="18" charset="0"/>
                <a:cs typeface="Times New Roman" panose="02020603050405020304" pitchFamily="18" charset="0"/>
              </a:rPr>
              <a:t> Multiple Campus from 2071 to 2073 B.S.</a:t>
            </a:r>
          </a:p>
          <a:p>
            <a:r>
              <a:rPr lang="en-US" dirty="0">
                <a:latin typeface="Times New Roman" panose="02020603050405020304" pitchFamily="18" charset="0"/>
                <a:cs typeface="Times New Roman" panose="02020603050405020304" pitchFamily="18" charset="0"/>
              </a:rPr>
              <a:t>Worked  as Higher Secondary English Teacher at Jaycees Higher Secondary School, </a:t>
            </a:r>
            <a:r>
              <a:rPr lang="en-US" dirty="0" err="1">
                <a:latin typeface="Times New Roman" panose="02020603050405020304" pitchFamily="18" charset="0"/>
                <a:cs typeface="Times New Roman" panose="02020603050405020304" pitchFamily="18" charset="0"/>
              </a:rPr>
              <a:t>Kanchanpur</a:t>
            </a:r>
            <a:r>
              <a:rPr lang="en-US" dirty="0">
                <a:latin typeface="Times New Roman" panose="02020603050405020304" pitchFamily="18" charset="0"/>
                <a:cs typeface="Times New Roman" panose="02020603050405020304" pitchFamily="18" charset="0"/>
              </a:rPr>
              <a:t> from 2068 to 2070 B.S.</a:t>
            </a:r>
          </a:p>
          <a:p>
            <a:r>
              <a:rPr lang="en-US" dirty="0">
                <a:latin typeface="Times New Roman" panose="02020603050405020304" pitchFamily="18" charset="0"/>
                <a:cs typeface="Times New Roman" panose="02020603050405020304" pitchFamily="18" charset="0"/>
              </a:rPr>
              <a:t>Worked as secondary level English Instructor at Newton High School Kathmandu from 2060 to 2063 B.S.</a:t>
            </a:r>
          </a:p>
          <a:p>
            <a:endParaRPr lang="en-US" sz="2400" dirty="0"/>
          </a:p>
          <a:p>
            <a:endParaRPr lang="en-GB" dirty="0"/>
          </a:p>
        </p:txBody>
      </p:sp>
    </p:spTree>
    <p:extLst>
      <p:ext uri="{BB962C8B-B14F-4D97-AF65-F5344CB8AC3E}">
        <p14:creationId xmlns:p14="http://schemas.microsoft.com/office/powerpoint/2010/main" val="6423701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CA43F41-1901-48BC-A498-058F58056DBA}"/>
              </a:ext>
            </a:extLst>
          </p:cNvPr>
          <p:cNvSpPr>
            <a:spLocks noGrp="1"/>
          </p:cNvSpPr>
          <p:nvPr>
            <p:ph type="title"/>
          </p:nvPr>
        </p:nvSpPr>
        <p:spPr>
          <a:xfrm flipV="1">
            <a:off x="1981200" y="228600"/>
            <a:ext cx="8229600" cy="46038"/>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61F47C0B-2F71-4B40-BD10-C5129B6C4D5B}"/>
              </a:ext>
            </a:extLst>
          </p:cNvPr>
          <p:cNvSpPr>
            <a:spLocks noGrp="1"/>
          </p:cNvSpPr>
          <p:nvPr>
            <p:ph idx="1"/>
          </p:nvPr>
        </p:nvSpPr>
        <p:spPr>
          <a:xfrm>
            <a:off x="358219" y="412752"/>
            <a:ext cx="11736371" cy="6094410"/>
          </a:xfrm>
        </p:spPr>
        <p:txBody>
          <a:bodyPr>
            <a:normAutofit fontScale="85000" lnSpcReduction="20000"/>
          </a:bodyPr>
          <a:lstStyle/>
          <a:p>
            <a:pPr>
              <a:buNone/>
            </a:pPr>
            <a:r>
              <a:rPr lang="en-US" b="1" dirty="0">
                <a:latin typeface="Times New Roman" panose="02020603050405020304" pitchFamily="18" charset="0"/>
                <a:cs typeface="Times New Roman" panose="02020603050405020304" pitchFamily="18" charset="0"/>
              </a:rPr>
              <a:t>TRAINING AND PARTICIPATION</a:t>
            </a:r>
          </a:p>
          <a:p>
            <a:r>
              <a:rPr lang="en-US" dirty="0">
                <a:latin typeface="Times New Roman" panose="02020603050405020304" pitchFamily="18" charset="0"/>
                <a:cs typeface="Times New Roman" panose="02020603050405020304" pitchFamily="18" charset="0"/>
              </a:rPr>
              <a:t>Advanced English language course from Instituto d’ Alberta, Kathmandu</a:t>
            </a:r>
          </a:p>
          <a:p>
            <a:r>
              <a:rPr lang="en-US" dirty="0">
                <a:latin typeface="Times New Roman" panose="02020603050405020304" pitchFamily="18" charset="0"/>
                <a:cs typeface="Times New Roman" panose="02020603050405020304" pitchFamily="18" charset="0"/>
              </a:rPr>
              <a:t>English Conversation and Proficiency Course from American Language Centre , Kathmandu</a:t>
            </a:r>
          </a:p>
          <a:p>
            <a:r>
              <a:rPr lang="en-US" dirty="0">
                <a:latin typeface="Times New Roman" panose="02020603050405020304" pitchFamily="18" charset="0"/>
                <a:cs typeface="Times New Roman" panose="02020603050405020304" pitchFamily="18" charset="0"/>
              </a:rPr>
              <a:t>Paper presentation on 4</a:t>
            </a:r>
            <a:r>
              <a:rPr lang="en-US" baseline="30000" dirty="0">
                <a:latin typeface="Times New Roman" panose="02020603050405020304" pitchFamily="18" charset="0"/>
                <a:cs typeface="Times New Roman" panose="02020603050405020304" pitchFamily="18" charset="0"/>
              </a:rPr>
              <a:t>th</a:t>
            </a:r>
            <a:r>
              <a:rPr lang="en-US" dirty="0">
                <a:latin typeface="Times New Roman" panose="02020603050405020304" pitchFamily="18" charset="0"/>
                <a:cs typeface="Times New Roman" panose="02020603050405020304" pitchFamily="18" charset="0"/>
              </a:rPr>
              <a:t> NELTA </a:t>
            </a:r>
            <a:r>
              <a:rPr lang="en-US" dirty="0" err="1">
                <a:latin typeface="Times New Roman" panose="02020603050405020304" pitchFamily="18" charset="0"/>
                <a:cs typeface="Times New Roman" panose="02020603050405020304" pitchFamily="18" charset="0"/>
              </a:rPr>
              <a:t>Coference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Kanchanpur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Participation in two day training on Research and Report Writing conducted by </a:t>
            </a:r>
            <a:r>
              <a:rPr lang="en-US" dirty="0" err="1">
                <a:latin typeface="Times New Roman" panose="02020603050405020304" pitchFamily="18" charset="0"/>
                <a:cs typeface="Times New Roman" panose="02020603050405020304" pitchFamily="18" charset="0"/>
              </a:rPr>
              <a:t>FoM</a:t>
            </a:r>
            <a:r>
              <a:rPr lang="en-US" dirty="0">
                <a:latin typeface="Times New Roman" panose="02020603050405020304" pitchFamily="18" charset="0"/>
                <a:cs typeface="Times New Roman" panose="02020603050405020304" pitchFamily="18" charset="0"/>
              </a:rPr>
              <a:t>, TU</a:t>
            </a:r>
          </a:p>
          <a:p>
            <a:r>
              <a:rPr lang="en-US" dirty="0">
                <a:latin typeface="Times New Roman" panose="02020603050405020304" pitchFamily="18" charset="0"/>
                <a:cs typeface="Times New Roman" panose="02020603050405020304" pitchFamily="18" charset="0"/>
              </a:rPr>
              <a:t>Participation in dissemination program on semester system of MBS and M.Ed. Conducted by TU</a:t>
            </a:r>
          </a:p>
          <a:p>
            <a:r>
              <a:rPr lang="en-US" dirty="0">
                <a:latin typeface="Times New Roman" panose="02020603050405020304" pitchFamily="18" charset="0"/>
                <a:cs typeface="Times New Roman" panose="02020603050405020304" pitchFamily="18" charset="0"/>
              </a:rPr>
              <a:t>Participation in an orientation program on Evaluation system conducted by PU</a:t>
            </a: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HONOR:</a:t>
            </a:r>
          </a:p>
          <a:p>
            <a:pPr>
              <a:buNone/>
            </a:pPr>
            <a:r>
              <a:rPr lang="en-US" dirty="0">
                <a:latin typeface="Times New Roman" panose="02020603050405020304" pitchFamily="18" charset="0"/>
                <a:cs typeface="Times New Roman" panose="02020603050405020304" pitchFamily="18" charset="0"/>
              </a:rPr>
              <a:t>	Received letters of appreciation for 100% result in 2067 B.S., 2070 B.S., 2071 B.S. and 2073 B.S. from </a:t>
            </a:r>
            <a:r>
              <a:rPr lang="en-US" dirty="0" err="1">
                <a:latin typeface="Times New Roman" panose="02020603050405020304" pitchFamily="18" charset="0"/>
                <a:cs typeface="Times New Roman" panose="02020603050405020304" pitchFamily="18" charset="0"/>
              </a:rPr>
              <a:t>Janajyoti</a:t>
            </a:r>
            <a:r>
              <a:rPr lang="en-US" dirty="0">
                <a:latin typeface="Times New Roman" panose="02020603050405020304" pitchFamily="18" charset="0"/>
                <a:cs typeface="Times New Roman" panose="02020603050405020304" pitchFamily="18" charset="0"/>
              </a:rPr>
              <a:t> Multiple College, </a:t>
            </a:r>
            <a:r>
              <a:rPr lang="en-US" dirty="0" err="1">
                <a:latin typeface="Times New Roman" panose="02020603050405020304" pitchFamily="18" charset="0"/>
                <a:cs typeface="Times New Roman" panose="02020603050405020304" pitchFamily="18" charset="0"/>
              </a:rPr>
              <a:t>Kanchanpur</a:t>
            </a:r>
            <a:endParaRPr lang="en-US" dirty="0">
              <a:latin typeface="Times New Roman" panose="02020603050405020304" pitchFamily="18" charset="0"/>
              <a:cs typeface="Times New Roman" panose="02020603050405020304" pitchFamily="18" charset="0"/>
            </a:endParaRPr>
          </a:p>
          <a:p>
            <a:pPr>
              <a:buNone/>
            </a:pPr>
            <a:endParaRPr lang="en-US" b="1"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Affiliation:</a:t>
            </a:r>
          </a:p>
          <a:p>
            <a:pPr>
              <a:buNone/>
            </a:pPr>
            <a:r>
              <a:rPr lang="en-US" dirty="0">
                <a:latin typeface="Times New Roman" panose="02020603050405020304" pitchFamily="18" charset="0"/>
                <a:cs typeface="Times New Roman" panose="02020603050405020304" pitchFamily="18" charset="0"/>
              </a:rPr>
              <a:t>	Life member of NELTA</a:t>
            </a:r>
          </a:p>
          <a:p>
            <a:pPr>
              <a:buNone/>
            </a:pPr>
            <a:r>
              <a:rPr lang="en-US" dirty="0">
                <a:latin typeface="Times New Roman" panose="02020603050405020304" pitchFamily="18" charset="0"/>
                <a:cs typeface="Times New Roman" panose="02020603050405020304" pitchFamily="18" charset="0"/>
              </a:rPr>
              <a:t>	Life member of Scholars’ Association of Nepal</a:t>
            </a:r>
          </a:p>
          <a:p>
            <a:pPr>
              <a:buNone/>
            </a:pPr>
            <a:endParaRPr lang="en-US" b="1" dirty="0"/>
          </a:p>
          <a:p>
            <a:pPr>
              <a:buNone/>
            </a:pPr>
            <a:endParaRPr lang="en-US" b="1" dirty="0"/>
          </a:p>
          <a:p>
            <a:pPr marL="0" indent="0">
              <a:buNone/>
            </a:pPr>
            <a:endParaRPr lang="en-GB" dirty="0"/>
          </a:p>
        </p:txBody>
      </p:sp>
    </p:spTree>
    <p:extLst>
      <p:ext uri="{BB962C8B-B14F-4D97-AF65-F5344CB8AC3E}">
        <p14:creationId xmlns:p14="http://schemas.microsoft.com/office/powerpoint/2010/main" val="28052978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AAB838-4F43-4830-9D23-07D65C5CCC96}"/>
              </a:ext>
            </a:extLst>
          </p:cNvPr>
          <p:cNvSpPr>
            <a:spLocks noGrp="1"/>
          </p:cNvSpPr>
          <p:nvPr>
            <p:ph type="title"/>
          </p:nvPr>
        </p:nvSpPr>
        <p:spPr>
          <a:xfrm>
            <a:off x="838200" y="117985"/>
            <a:ext cx="10515600" cy="1325563"/>
          </a:xfrm>
        </p:spPr>
        <p:txBody>
          <a:bodyPr/>
          <a:lstStyle/>
          <a:p>
            <a:r>
              <a:rPr lang="en-GB" dirty="0" err="1"/>
              <a:t>Contd</a:t>
            </a:r>
            <a:r>
              <a:rPr lang="en-GB" dirty="0"/>
              <a:t>…</a:t>
            </a:r>
          </a:p>
        </p:txBody>
      </p:sp>
      <p:sp>
        <p:nvSpPr>
          <p:cNvPr id="3" name="Content Placeholder 2">
            <a:extLst>
              <a:ext uri="{FF2B5EF4-FFF2-40B4-BE49-F238E27FC236}">
                <a16:creationId xmlns:a16="http://schemas.microsoft.com/office/drawing/2014/main" xmlns="" id="{3D3DBDBB-35D1-46E3-9010-B4356A4A6579}"/>
              </a:ext>
            </a:extLst>
          </p:cNvPr>
          <p:cNvSpPr>
            <a:spLocks noGrp="1"/>
          </p:cNvSpPr>
          <p:nvPr>
            <p:ph idx="1"/>
          </p:nvPr>
        </p:nvSpPr>
        <p:spPr>
          <a:xfrm>
            <a:off x="395927" y="1318988"/>
            <a:ext cx="11387578" cy="4351338"/>
          </a:xfrm>
        </p:spPr>
        <p:txBody>
          <a:bodyPr>
            <a:normAutofit fontScale="25000" lnSpcReduction="20000"/>
          </a:bodyPr>
          <a:lstStyle/>
          <a:p>
            <a:pPr>
              <a:buNone/>
            </a:pPr>
            <a:r>
              <a:rPr lang="en-US" sz="7200" b="1" dirty="0">
                <a:latin typeface="Times New Roman" panose="02020603050405020304" pitchFamily="18" charset="0"/>
                <a:cs typeface="Times New Roman" panose="02020603050405020304" pitchFamily="18" charset="0"/>
              </a:rPr>
              <a:t>TEACHING SPECIALIZATIONS:</a:t>
            </a:r>
          </a:p>
          <a:p>
            <a:r>
              <a:rPr lang="en-US" sz="7200" dirty="0">
                <a:latin typeface="Times New Roman" panose="02020603050405020304" pitchFamily="18" charset="0"/>
                <a:cs typeface="Times New Roman" panose="02020603050405020304" pitchFamily="18" charset="0"/>
              </a:rPr>
              <a:t>General English</a:t>
            </a:r>
          </a:p>
          <a:p>
            <a:r>
              <a:rPr lang="en-US" sz="7200" dirty="0">
                <a:latin typeface="Times New Roman" panose="02020603050405020304" pitchFamily="18" charset="0"/>
                <a:cs typeface="Times New Roman" panose="02020603050405020304" pitchFamily="18" charset="0"/>
              </a:rPr>
              <a:t>ELT and Linguistics</a:t>
            </a:r>
          </a:p>
          <a:p>
            <a:r>
              <a:rPr lang="en-US" sz="7200" dirty="0">
                <a:latin typeface="Times New Roman" panose="02020603050405020304" pitchFamily="18" charset="0"/>
                <a:cs typeface="Times New Roman" panose="02020603050405020304" pitchFamily="18" charset="0"/>
              </a:rPr>
              <a:t>Sociolinguistics, SLA and Applied Linguistics</a:t>
            </a:r>
          </a:p>
          <a:p>
            <a:r>
              <a:rPr lang="en-US" sz="7200" dirty="0">
                <a:latin typeface="Times New Roman" panose="02020603050405020304" pitchFamily="18" charset="0"/>
                <a:cs typeface="Times New Roman" panose="02020603050405020304" pitchFamily="18" charset="0"/>
              </a:rPr>
              <a:t>Literature and Critical Thinking</a:t>
            </a:r>
          </a:p>
          <a:p>
            <a:r>
              <a:rPr lang="en-US" sz="7200" dirty="0">
                <a:latin typeface="Times New Roman" panose="02020603050405020304" pitchFamily="18" charset="0"/>
                <a:cs typeface="Times New Roman" panose="02020603050405020304" pitchFamily="18" charset="0"/>
              </a:rPr>
              <a:t>Business and Managerial Communication</a:t>
            </a:r>
          </a:p>
          <a:p>
            <a:r>
              <a:rPr lang="en-US" sz="7200" dirty="0">
                <a:latin typeface="Times New Roman" panose="02020603050405020304" pitchFamily="18" charset="0"/>
                <a:cs typeface="Times New Roman" panose="02020603050405020304" pitchFamily="18" charset="0"/>
              </a:rPr>
              <a:t>Hospitality English</a:t>
            </a:r>
          </a:p>
          <a:p>
            <a:pPr>
              <a:buNone/>
            </a:pPr>
            <a:endParaRPr lang="en-US" sz="7200" dirty="0">
              <a:latin typeface="Times New Roman" panose="02020603050405020304" pitchFamily="18" charset="0"/>
              <a:cs typeface="Times New Roman" panose="02020603050405020304" pitchFamily="18" charset="0"/>
            </a:endParaRPr>
          </a:p>
          <a:p>
            <a:pPr>
              <a:buNone/>
            </a:pPr>
            <a:r>
              <a:rPr lang="en-US" sz="7200" dirty="0">
                <a:latin typeface="Times New Roman" panose="02020603050405020304" pitchFamily="18" charset="0"/>
                <a:cs typeface="Times New Roman" panose="02020603050405020304" pitchFamily="18" charset="0"/>
              </a:rPr>
              <a:t>RERERENCES:</a:t>
            </a:r>
          </a:p>
          <a:p>
            <a:pPr>
              <a:buNone/>
            </a:pPr>
            <a:r>
              <a:rPr lang="en-US" sz="7200" dirty="0">
                <a:latin typeface="Times New Roman" panose="02020603050405020304" pitchFamily="18" charset="0"/>
                <a:cs typeface="Times New Roman" panose="02020603050405020304" pitchFamily="18" charset="0"/>
              </a:rPr>
              <a:t>Mr. </a:t>
            </a:r>
            <a:r>
              <a:rPr lang="en-US" sz="7200" dirty="0" err="1">
                <a:latin typeface="Times New Roman" panose="02020603050405020304" pitchFamily="18" charset="0"/>
                <a:cs typeface="Times New Roman" panose="02020603050405020304" pitchFamily="18" charset="0"/>
              </a:rPr>
              <a:t>Bholanath</a:t>
            </a:r>
            <a:r>
              <a:rPr lang="en-US" sz="7200" dirty="0">
                <a:latin typeface="Times New Roman" panose="02020603050405020304" pitchFamily="18" charset="0"/>
                <a:cs typeface="Times New Roman" panose="02020603050405020304" pitchFamily="18" charset="0"/>
              </a:rPr>
              <a:t> Sharma, Campus Chief, </a:t>
            </a:r>
            <a:r>
              <a:rPr lang="en-US" sz="7200" dirty="0" err="1">
                <a:latin typeface="Times New Roman" panose="02020603050405020304" pitchFamily="18" charset="0"/>
                <a:cs typeface="Times New Roman" panose="02020603050405020304" pitchFamily="18" charset="0"/>
              </a:rPr>
              <a:t>Janajyoti</a:t>
            </a:r>
            <a:r>
              <a:rPr lang="en-US" sz="7200" dirty="0">
                <a:latin typeface="Times New Roman" panose="02020603050405020304" pitchFamily="18" charset="0"/>
                <a:cs typeface="Times New Roman" panose="02020603050405020304" pitchFamily="18" charset="0"/>
              </a:rPr>
              <a:t> Multiple Campus, </a:t>
            </a:r>
            <a:r>
              <a:rPr lang="en-US" sz="7200" dirty="0" err="1" smtClean="0">
                <a:latin typeface="Times New Roman" panose="02020603050405020304" pitchFamily="18" charset="0"/>
                <a:cs typeface="Times New Roman" panose="02020603050405020304" pitchFamily="18" charset="0"/>
              </a:rPr>
              <a:t>Kanchanpur</a:t>
            </a:r>
            <a:endParaRPr lang="en-US" sz="7200" dirty="0" smtClean="0">
              <a:latin typeface="Times New Roman" panose="02020603050405020304" pitchFamily="18" charset="0"/>
              <a:cs typeface="Times New Roman" panose="02020603050405020304" pitchFamily="18" charset="0"/>
            </a:endParaRPr>
          </a:p>
          <a:p>
            <a:pPr>
              <a:buNone/>
            </a:pPr>
            <a:r>
              <a:rPr lang="en-US" sz="7200" dirty="0" smtClean="0">
                <a:latin typeface="Times New Roman" panose="02020603050405020304" pitchFamily="18" charset="0"/>
                <a:cs typeface="Times New Roman" panose="02020603050405020304" pitchFamily="18" charset="0"/>
              </a:rPr>
              <a:t>Contact </a:t>
            </a:r>
            <a:r>
              <a:rPr lang="en-US" sz="7200" dirty="0" err="1" smtClean="0">
                <a:latin typeface="Times New Roman" panose="02020603050405020304" pitchFamily="18" charset="0"/>
                <a:cs typeface="Times New Roman" panose="02020603050405020304" pitchFamily="18" charset="0"/>
              </a:rPr>
              <a:t>no.9865</a:t>
            </a:r>
            <a:r>
              <a:rPr lang="en-US" sz="7200" dirty="0" smtClean="0">
                <a:latin typeface="Times New Roman" panose="02020603050405020304" pitchFamily="18" charset="0"/>
                <a:cs typeface="Times New Roman" panose="02020603050405020304" pitchFamily="18" charset="0"/>
              </a:rPr>
              <a:t>…………………</a:t>
            </a:r>
          </a:p>
          <a:p>
            <a:pPr>
              <a:buNone/>
            </a:pPr>
            <a:r>
              <a:rPr lang="en-US" sz="7200" dirty="0" smtClean="0">
                <a:latin typeface="Times New Roman" panose="02020603050405020304" pitchFamily="18" charset="0"/>
                <a:cs typeface="Times New Roman" panose="02020603050405020304" pitchFamily="18" charset="0"/>
              </a:rPr>
              <a:t>Email Address……………..</a:t>
            </a:r>
            <a:endParaRPr lang="en-US" sz="7200" dirty="0">
              <a:latin typeface="Times New Roman" panose="02020603050405020304" pitchFamily="18" charset="0"/>
              <a:cs typeface="Times New Roman" panose="02020603050405020304" pitchFamily="18" charset="0"/>
            </a:endParaRPr>
          </a:p>
          <a:p>
            <a:pPr>
              <a:buNone/>
            </a:pPr>
            <a:r>
              <a:rPr lang="en-US" sz="7200" dirty="0" err="1">
                <a:latin typeface="Times New Roman" panose="02020603050405020304" pitchFamily="18" charset="0"/>
                <a:cs typeface="Times New Roman" panose="02020603050405020304" pitchFamily="18" charset="0"/>
              </a:rPr>
              <a:t>Mr.Rabindra</a:t>
            </a:r>
            <a:r>
              <a:rPr lang="en-US" sz="7200" dirty="0">
                <a:latin typeface="Times New Roman" panose="02020603050405020304" pitchFamily="18" charset="0"/>
                <a:cs typeface="Times New Roman" panose="02020603050405020304" pitchFamily="18" charset="0"/>
              </a:rPr>
              <a:t> </a:t>
            </a:r>
            <a:r>
              <a:rPr lang="en-US" sz="7200" dirty="0" err="1">
                <a:latin typeface="Times New Roman" panose="02020603050405020304" pitchFamily="18" charset="0"/>
                <a:cs typeface="Times New Roman" panose="02020603050405020304" pitchFamily="18" charset="0"/>
              </a:rPr>
              <a:t>Awasti</a:t>
            </a:r>
            <a:r>
              <a:rPr lang="en-US" sz="7200" dirty="0">
                <a:latin typeface="Times New Roman" panose="02020603050405020304" pitchFamily="18" charset="0"/>
                <a:cs typeface="Times New Roman" panose="02020603050405020304" pitchFamily="18" charset="0"/>
              </a:rPr>
              <a:t>, Principal, Amity College, </a:t>
            </a:r>
            <a:r>
              <a:rPr lang="en-US" sz="7200" dirty="0" err="1" smtClean="0">
                <a:latin typeface="Times New Roman" panose="02020603050405020304" pitchFamily="18" charset="0"/>
                <a:cs typeface="Times New Roman" panose="02020603050405020304" pitchFamily="18" charset="0"/>
              </a:rPr>
              <a:t>Kanchanpur</a:t>
            </a:r>
            <a:endParaRPr lang="en-US" sz="7200" dirty="0" smtClean="0">
              <a:latin typeface="Times New Roman" panose="02020603050405020304" pitchFamily="18" charset="0"/>
              <a:cs typeface="Times New Roman" panose="02020603050405020304" pitchFamily="18" charset="0"/>
            </a:endParaRPr>
          </a:p>
          <a:p>
            <a:pPr>
              <a:buNone/>
            </a:pPr>
            <a:r>
              <a:rPr lang="en-US" sz="7200" dirty="0">
                <a:latin typeface="Times New Roman" panose="02020603050405020304" pitchFamily="18" charset="0"/>
                <a:cs typeface="Times New Roman" panose="02020603050405020304" pitchFamily="18" charset="0"/>
              </a:rPr>
              <a:t>Contact </a:t>
            </a:r>
            <a:r>
              <a:rPr lang="en-US" sz="7200" dirty="0" err="1">
                <a:latin typeface="Times New Roman" panose="02020603050405020304" pitchFamily="18" charset="0"/>
                <a:cs typeface="Times New Roman" panose="02020603050405020304" pitchFamily="18" charset="0"/>
              </a:rPr>
              <a:t>no.9865</a:t>
            </a:r>
            <a:r>
              <a:rPr lang="en-US" sz="7200" dirty="0">
                <a:latin typeface="Times New Roman" panose="02020603050405020304" pitchFamily="18" charset="0"/>
                <a:cs typeface="Times New Roman" panose="02020603050405020304" pitchFamily="18" charset="0"/>
              </a:rPr>
              <a:t>…………………</a:t>
            </a:r>
          </a:p>
          <a:p>
            <a:pPr>
              <a:buNone/>
            </a:pPr>
            <a:r>
              <a:rPr lang="en-US" sz="7200" dirty="0">
                <a:latin typeface="Times New Roman" panose="02020603050405020304" pitchFamily="18" charset="0"/>
                <a:cs typeface="Times New Roman" panose="02020603050405020304" pitchFamily="18" charset="0"/>
              </a:rPr>
              <a:t>Email Address……………..</a:t>
            </a:r>
          </a:p>
          <a:p>
            <a:pPr>
              <a:buNone/>
            </a:pPr>
            <a:endParaRPr lang="en-US" sz="7200" dirty="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18185856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A46A9A-0840-4C49-87B2-58E81AB46EC8}"/>
              </a:ext>
            </a:extLst>
          </p:cNvPr>
          <p:cNvSpPr>
            <a:spLocks noGrp="1"/>
          </p:cNvSpPr>
          <p:nvPr>
            <p:ph type="title"/>
          </p:nvPr>
        </p:nvSpPr>
        <p:spPr>
          <a:xfrm>
            <a:off x="1981200" y="2"/>
            <a:ext cx="8229600" cy="76199"/>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D1FDE5D9-8687-4F14-A513-54520A18D55B}"/>
              </a:ext>
            </a:extLst>
          </p:cNvPr>
          <p:cNvSpPr>
            <a:spLocks noGrp="1"/>
          </p:cNvSpPr>
          <p:nvPr>
            <p:ph idx="1"/>
          </p:nvPr>
        </p:nvSpPr>
        <p:spPr>
          <a:xfrm>
            <a:off x="405353" y="152400"/>
            <a:ext cx="11453567" cy="7049678"/>
          </a:xfrm>
        </p:spPr>
        <p:txBody>
          <a:bodyPr>
            <a:noAutofit/>
          </a:bodyPr>
          <a:lstStyle/>
          <a:p>
            <a:pPr>
              <a:buNone/>
            </a:pPr>
            <a:r>
              <a:rPr lang="en-US" sz="1800" dirty="0"/>
              <a:t>				</a:t>
            </a:r>
            <a:r>
              <a:rPr lang="en-US" sz="1800" dirty="0" err="1">
                <a:latin typeface="Times New Roman" panose="02020603050405020304" pitchFamily="18" charset="0"/>
                <a:cs typeface="Times New Roman" panose="02020603050405020304" pitchFamily="18" charset="0"/>
              </a:rPr>
              <a:t>Bimala</a:t>
            </a:r>
            <a:r>
              <a:rPr lang="en-US" sz="1800" dirty="0">
                <a:latin typeface="Times New Roman" panose="02020603050405020304" pitchFamily="18" charset="0"/>
                <a:cs typeface="Times New Roman" panose="02020603050405020304" pitchFamily="18" charset="0"/>
              </a:rPr>
              <a:t> Thapa Magar</a:t>
            </a:r>
          </a:p>
          <a:p>
            <a:pPr>
              <a:buNone/>
            </a:pP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Rukum</a:t>
            </a:r>
            <a:r>
              <a:rPr lang="en-US" sz="1800" dirty="0">
                <a:latin typeface="Times New Roman" panose="02020603050405020304" pitchFamily="18" charset="0"/>
                <a:cs typeface="Times New Roman" panose="02020603050405020304" pitchFamily="18" charset="0"/>
              </a:rPr>
              <a:t> Municipality-10</a:t>
            </a:r>
          </a:p>
          <a:p>
            <a:pPr>
              <a:buNone/>
            </a:pPr>
            <a:r>
              <a:rPr lang="en-US" sz="1800" dirty="0">
                <a:latin typeface="Times New Roman" panose="02020603050405020304" pitchFamily="18" charset="0"/>
                <a:cs typeface="Times New Roman" panose="02020603050405020304" pitchFamily="18" charset="0"/>
              </a:rPr>
              <a:t>				Province No-6, Nepal</a:t>
            </a:r>
          </a:p>
          <a:p>
            <a:pPr>
              <a:buNone/>
            </a:pPr>
            <a:r>
              <a:rPr lang="en-US" sz="1800" dirty="0">
                <a:latin typeface="Times New Roman" panose="02020603050405020304" pitchFamily="18" charset="0"/>
                <a:cs typeface="Times New Roman" panose="02020603050405020304" pitchFamily="18" charset="0"/>
              </a:rPr>
              <a:t>				Telephone: (077-44425260), 9833000000</a:t>
            </a:r>
          </a:p>
          <a:p>
            <a:pPr>
              <a:buNone/>
            </a:pPr>
            <a:r>
              <a:rPr lang="en-US" sz="1800" dirty="0">
                <a:latin typeface="Times New Roman" panose="02020603050405020304" pitchFamily="18" charset="0"/>
                <a:cs typeface="Times New Roman" panose="02020603050405020304" pitchFamily="18" charset="0"/>
              </a:rPr>
              <a:t>				Email: </a:t>
            </a:r>
            <a:r>
              <a:rPr lang="en-US" sz="1800" u="sng" dirty="0">
                <a:latin typeface="Times New Roman" panose="02020603050405020304" pitchFamily="18" charset="0"/>
                <a:cs typeface="Times New Roman" panose="02020603050405020304" pitchFamily="18" charset="0"/>
                <a:hlinkClick r:id="rId2"/>
              </a:rPr>
              <a:t>abc@outlook.com</a:t>
            </a:r>
            <a:endParaRPr lang="en-US" sz="1800" dirty="0">
              <a:latin typeface="Times New Roman" panose="02020603050405020304" pitchFamily="18" charset="0"/>
              <a:cs typeface="Times New Roman" panose="02020603050405020304" pitchFamily="18" charset="0"/>
            </a:endParaRPr>
          </a:p>
          <a:p>
            <a:pPr>
              <a:buNone/>
            </a:pPr>
            <a:r>
              <a:rPr lang="en-US" sz="1800" b="1" dirty="0">
                <a:latin typeface="Times New Roman" panose="02020603050405020304" pitchFamily="18" charset="0"/>
                <a:cs typeface="Times New Roman" panose="02020603050405020304" pitchFamily="18" charset="0"/>
              </a:rPr>
              <a:t>	Career Objective</a:t>
            </a:r>
            <a:endParaRPr lang="en-US" sz="1800" dirty="0">
              <a:latin typeface="Times New Roman" panose="02020603050405020304" pitchFamily="18" charset="0"/>
              <a:cs typeface="Times New Roman" panose="02020603050405020304" pitchFamily="18" charset="0"/>
            </a:endParaRPr>
          </a:p>
          <a:p>
            <a:pPr>
              <a:buNone/>
            </a:pPr>
            <a:r>
              <a:rPr lang="en-US" sz="1800" dirty="0">
                <a:latin typeface="Times New Roman" panose="02020603050405020304" pitchFamily="18" charset="0"/>
                <a:cs typeface="Times New Roman" panose="02020603050405020304" pitchFamily="18" charset="0"/>
              </a:rPr>
              <a:t>	To obtain a management position, in which I am given the opportunity to play a direct role in the unlimited growth and success of solid organization.</a:t>
            </a:r>
          </a:p>
          <a:p>
            <a:pPr>
              <a:buNone/>
            </a:pPr>
            <a:r>
              <a:rPr lang="en-US" sz="1800" b="1" dirty="0">
                <a:latin typeface="Times New Roman" panose="02020603050405020304" pitchFamily="18" charset="0"/>
                <a:cs typeface="Times New Roman" panose="02020603050405020304" pitchFamily="18" charset="0"/>
              </a:rPr>
              <a:t>	Education</a:t>
            </a:r>
            <a:endParaRPr lang="en-US" sz="1800" dirty="0">
              <a:latin typeface="Times New Roman" panose="02020603050405020304" pitchFamily="18" charset="0"/>
              <a:cs typeface="Times New Roman" panose="02020603050405020304" pitchFamily="18" charset="0"/>
            </a:endParaRPr>
          </a:p>
          <a:p>
            <a:pPr>
              <a:buNone/>
            </a:pPr>
            <a:r>
              <a:rPr lang="en-US" sz="1800" dirty="0">
                <a:latin typeface="Times New Roman" panose="02020603050405020304" pitchFamily="18" charset="0"/>
                <a:cs typeface="Times New Roman" panose="02020603050405020304" pitchFamily="18" charset="0"/>
              </a:rPr>
              <a:t>	2012 MBS, Central Department of Management, TU</a:t>
            </a:r>
          </a:p>
          <a:p>
            <a:pPr>
              <a:buNone/>
            </a:pPr>
            <a:r>
              <a:rPr lang="en-US" sz="1800" dirty="0">
                <a:latin typeface="Times New Roman" panose="02020603050405020304" pitchFamily="18" charset="0"/>
                <a:cs typeface="Times New Roman" panose="02020603050405020304" pitchFamily="18" charset="0"/>
              </a:rPr>
              <a:t>	2009 BBS, TU, Nepal Commerce campus, Kathmandu</a:t>
            </a:r>
          </a:p>
          <a:p>
            <a:pPr>
              <a:buNone/>
            </a:pPr>
            <a:r>
              <a:rPr lang="en-US" sz="1800" dirty="0">
                <a:latin typeface="Times New Roman" panose="02020603050405020304" pitchFamily="18" charset="0"/>
                <a:cs typeface="Times New Roman" panose="02020603050405020304" pitchFamily="18" charset="0"/>
              </a:rPr>
              <a:t>	2006 +2, HSEB, Darwin International Collage, </a:t>
            </a:r>
            <a:r>
              <a:rPr lang="en-US" sz="1800" dirty="0" err="1">
                <a:latin typeface="Times New Roman" panose="02020603050405020304" pitchFamily="18" charset="0"/>
                <a:cs typeface="Times New Roman" panose="02020603050405020304" pitchFamily="18" charset="0"/>
              </a:rPr>
              <a:t>Darchula</a:t>
            </a:r>
            <a:endParaRPr lang="en-US" sz="1800" dirty="0">
              <a:latin typeface="Times New Roman" panose="02020603050405020304" pitchFamily="18" charset="0"/>
              <a:cs typeface="Times New Roman" panose="02020603050405020304" pitchFamily="18" charset="0"/>
            </a:endParaRPr>
          </a:p>
          <a:p>
            <a:pPr>
              <a:buNone/>
            </a:pPr>
            <a:r>
              <a:rPr lang="en-US" sz="1800" dirty="0">
                <a:latin typeface="Times New Roman" panose="02020603050405020304" pitchFamily="18" charset="0"/>
                <a:cs typeface="Times New Roman" panose="02020603050405020304" pitchFamily="18" charset="0"/>
              </a:rPr>
              <a:t>	2004 SLC, ABC High School, Nepal Board, Dang</a:t>
            </a:r>
          </a:p>
          <a:p>
            <a:pPr>
              <a:buNone/>
            </a:pPr>
            <a:r>
              <a:rPr lang="en-US" sz="1800" b="1" dirty="0">
                <a:latin typeface="Times New Roman" panose="02020603050405020304" pitchFamily="18" charset="0"/>
                <a:cs typeface="Times New Roman" panose="02020603050405020304" pitchFamily="18" charset="0"/>
              </a:rPr>
              <a:t>	Relevant Work Experience</a:t>
            </a:r>
            <a:endParaRPr lang="en-US" sz="1800" dirty="0">
              <a:latin typeface="Times New Roman" panose="02020603050405020304" pitchFamily="18" charset="0"/>
              <a:cs typeface="Times New Roman" panose="02020603050405020304" pitchFamily="18" charset="0"/>
            </a:endParaRPr>
          </a:p>
          <a:p>
            <a:pPr lvl="0">
              <a:buNone/>
            </a:pPr>
            <a:r>
              <a:rPr lang="en-US" sz="1800" dirty="0">
                <a:latin typeface="Times New Roman" panose="02020603050405020304" pitchFamily="18" charset="0"/>
                <a:cs typeface="Times New Roman" panose="02020603050405020304" pitchFamily="18" charset="0"/>
              </a:rPr>
              <a:t>	Worked as Assistant Manager in Sun Rise, 2007-2009</a:t>
            </a:r>
          </a:p>
          <a:p>
            <a:pPr lvl="0">
              <a:buNone/>
            </a:pPr>
            <a:r>
              <a:rPr lang="en-US" sz="1800" dirty="0">
                <a:latin typeface="Times New Roman" panose="02020603050405020304" pitchFamily="18" charset="0"/>
                <a:cs typeface="Times New Roman" panose="02020603050405020304" pitchFamily="18" charset="0"/>
              </a:rPr>
              <a:t>	Worked as a Office Assistant in ABC Finance Company, 2009-2010</a:t>
            </a:r>
          </a:p>
          <a:p>
            <a:pPr lvl="0">
              <a:buNone/>
            </a:pPr>
            <a:r>
              <a:rPr lang="en-US" sz="1800" dirty="0">
                <a:latin typeface="Times New Roman" panose="02020603050405020304" pitchFamily="18" charset="0"/>
                <a:cs typeface="Times New Roman" panose="02020603050405020304" pitchFamily="18" charset="0"/>
              </a:rPr>
              <a:t>	Working as marketing Assistant in ABC Television Network, Kathmandu 2010-present</a:t>
            </a:r>
          </a:p>
          <a:p>
            <a:pPr>
              <a:buNone/>
            </a:pPr>
            <a:r>
              <a:rPr lang="en-US" sz="1800" b="1" dirty="0">
                <a:latin typeface="Times New Roman" panose="02020603050405020304" pitchFamily="18" charset="0"/>
                <a:cs typeface="Times New Roman" panose="02020603050405020304" pitchFamily="18" charset="0"/>
              </a:rPr>
              <a:t>	</a:t>
            </a:r>
          </a:p>
          <a:p>
            <a:pPr>
              <a:buNone/>
            </a:pPr>
            <a:r>
              <a:rPr lang="en-US" sz="1800" b="1" dirty="0"/>
              <a:t>	</a:t>
            </a:r>
            <a:r>
              <a:rPr lang="en-US" sz="1800" dirty="0"/>
              <a:t/>
            </a:r>
            <a:br>
              <a:rPr lang="en-US" sz="1800" dirty="0"/>
            </a:br>
            <a:r>
              <a:rPr lang="en-US" sz="1800" dirty="0"/>
              <a:t> </a:t>
            </a:r>
          </a:p>
          <a:p>
            <a:endParaRPr lang="en-US" sz="1800" dirty="0"/>
          </a:p>
          <a:p>
            <a:endParaRPr lang="en-GB" sz="1800" dirty="0"/>
          </a:p>
        </p:txBody>
      </p:sp>
    </p:spTree>
    <p:extLst>
      <p:ext uri="{BB962C8B-B14F-4D97-AF65-F5344CB8AC3E}">
        <p14:creationId xmlns:p14="http://schemas.microsoft.com/office/powerpoint/2010/main" val="8163246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B8BC975-9FBF-415C-9BF6-8430AA39111A}"/>
              </a:ext>
            </a:extLst>
          </p:cNvPr>
          <p:cNvSpPr>
            <a:spLocks noGrp="1"/>
          </p:cNvSpPr>
          <p:nvPr>
            <p:ph type="title"/>
          </p:nvPr>
        </p:nvSpPr>
        <p:spPr/>
        <p:txBody>
          <a:bodyPr/>
          <a:lstStyle/>
          <a:p>
            <a:r>
              <a:rPr lang="en-GB" dirty="0" err="1"/>
              <a:t>Contd</a:t>
            </a:r>
            <a:r>
              <a:rPr lang="en-GB" dirty="0"/>
              <a:t>…</a:t>
            </a:r>
          </a:p>
        </p:txBody>
      </p:sp>
      <p:sp>
        <p:nvSpPr>
          <p:cNvPr id="3" name="Content Placeholder 2">
            <a:extLst>
              <a:ext uri="{FF2B5EF4-FFF2-40B4-BE49-F238E27FC236}">
                <a16:creationId xmlns:a16="http://schemas.microsoft.com/office/drawing/2014/main" xmlns="" id="{B9CB8259-E55C-4165-9896-D7148DA2CB60}"/>
              </a:ext>
            </a:extLst>
          </p:cNvPr>
          <p:cNvSpPr>
            <a:spLocks noGrp="1"/>
          </p:cNvSpPr>
          <p:nvPr>
            <p:ph idx="1"/>
          </p:nvPr>
        </p:nvSpPr>
        <p:spPr>
          <a:xfrm>
            <a:off x="348791" y="1825625"/>
            <a:ext cx="11547835" cy="4351338"/>
          </a:xfrm>
        </p:spPr>
        <p:txBody>
          <a:bodyPr>
            <a:normAutofit fontScale="77500" lnSpcReduction="20000"/>
          </a:bodyPr>
          <a:lstStyle/>
          <a:p>
            <a:pPr>
              <a:buNone/>
            </a:pPr>
            <a:r>
              <a:rPr lang="en-US" b="1" dirty="0">
                <a:latin typeface="Times New Roman" panose="02020603050405020304" pitchFamily="18" charset="0"/>
                <a:cs typeface="Times New Roman" panose="02020603050405020304" pitchFamily="18" charset="0"/>
              </a:rPr>
              <a:t>Selected Skills</a:t>
            </a:r>
            <a:endParaRPr lang="en-US" dirty="0">
              <a:latin typeface="Times New Roman" panose="02020603050405020304" pitchFamily="18" charset="0"/>
              <a:cs typeface="Times New Roman" panose="02020603050405020304" pitchFamily="18" charset="0"/>
            </a:endParaRPr>
          </a:p>
          <a:p>
            <a:pPr>
              <a:buNone/>
            </a:pPr>
            <a:r>
              <a:rPr lang="en-US" b="1" dirty="0">
                <a:latin typeface="Times New Roman" panose="02020603050405020304" pitchFamily="18" charset="0"/>
                <a:cs typeface="Times New Roman" panose="02020603050405020304" pitchFamily="18" charset="0"/>
              </a:rPr>
              <a:t>	General Office</a:t>
            </a:r>
            <a:endParaRPr lang="en-US" dirty="0">
              <a:latin typeface="Times New Roman" panose="02020603050405020304" pitchFamily="18" charset="0"/>
              <a:cs typeface="Times New Roman" panose="02020603050405020304" pitchFamily="18" charset="0"/>
            </a:endParaRPr>
          </a:p>
          <a:p>
            <a:pPr lvl="0">
              <a:buNone/>
            </a:pPr>
            <a:r>
              <a:rPr lang="en-US" dirty="0">
                <a:latin typeface="Times New Roman" panose="02020603050405020304" pitchFamily="18" charset="0"/>
                <a:cs typeface="Times New Roman" panose="02020603050405020304" pitchFamily="18" charset="0"/>
              </a:rPr>
              <a:t>	Organized and implemented group activities in an efficient manner.</a:t>
            </a:r>
          </a:p>
          <a:p>
            <a:pPr lvl="0">
              <a:buNone/>
            </a:pPr>
            <a:r>
              <a:rPr lang="en-US" dirty="0">
                <a:latin typeface="Times New Roman" panose="02020603050405020304" pitchFamily="18" charset="0"/>
                <a:cs typeface="Times New Roman" panose="02020603050405020304" pitchFamily="18" charset="0"/>
              </a:rPr>
              <a:t>	Scheduled appointments and assured timely arrival.</a:t>
            </a:r>
          </a:p>
          <a:p>
            <a:pPr lvl="0">
              <a:buNone/>
            </a:pPr>
            <a:r>
              <a:rPr lang="en-US" dirty="0">
                <a:latin typeface="Times New Roman" panose="02020603050405020304" pitchFamily="18" charset="0"/>
                <a:cs typeface="Times New Roman" panose="02020603050405020304" pitchFamily="18" charset="0"/>
              </a:rPr>
              <a:t>	Maintained accurate financial records, and paid all invoices on time.</a:t>
            </a:r>
          </a:p>
          <a:p>
            <a:pPr lvl="0">
              <a:buNone/>
            </a:pPr>
            <a:r>
              <a:rPr lang="en-US" dirty="0">
                <a:latin typeface="Times New Roman" panose="02020603050405020304" pitchFamily="18" charset="0"/>
                <a:cs typeface="Times New Roman" panose="02020603050405020304" pitchFamily="18" charset="0"/>
              </a:rPr>
              <a:t>	Answered phones and took accurate messages.</a:t>
            </a:r>
          </a:p>
          <a:p>
            <a:pPr lvl="0">
              <a:buNone/>
            </a:pPr>
            <a:r>
              <a:rPr lang="en-US" dirty="0">
                <a:latin typeface="Times New Roman" panose="02020603050405020304" pitchFamily="18" charset="0"/>
                <a:cs typeface="Times New Roman" panose="02020603050405020304" pitchFamily="18" charset="0"/>
              </a:rPr>
              <a:t>	Prepared reports and created documents using MS Word and Power-points.</a:t>
            </a:r>
          </a:p>
          <a:p>
            <a:pPr>
              <a:buNone/>
            </a:pPr>
            <a:r>
              <a:rPr lang="en-US" b="1" dirty="0">
                <a:latin typeface="Times New Roman" panose="02020603050405020304" pitchFamily="18" charset="0"/>
                <a:cs typeface="Times New Roman" panose="02020603050405020304" pitchFamily="18" charset="0"/>
              </a:rPr>
              <a:t>Customer Service</a:t>
            </a:r>
            <a:endParaRPr lang="en-US" dirty="0">
              <a:latin typeface="Times New Roman" panose="02020603050405020304" pitchFamily="18" charset="0"/>
              <a:cs typeface="Times New Roman" panose="02020603050405020304" pitchFamily="18" charset="0"/>
            </a:endParaRPr>
          </a:p>
          <a:p>
            <a:pPr lvl="0">
              <a:buNone/>
            </a:pPr>
            <a:r>
              <a:rPr lang="en-US" dirty="0">
                <a:latin typeface="Times New Roman" panose="02020603050405020304" pitchFamily="18" charset="0"/>
                <a:cs typeface="Times New Roman" panose="02020603050405020304" pitchFamily="18" charset="0"/>
              </a:rPr>
              <a:t>	Welcomed customers and visitors in a friendly and courteous manner.</a:t>
            </a:r>
          </a:p>
          <a:p>
            <a:pPr lvl="0">
              <a:buNone/>
            </a:pPr>
            <a:r>
              <a:rPr lang="en-US" dirty="0">
                <a:latin typeface="Times New Roman" panose="02020603050405020304" pitchFamily="18" charset="0"/>
                <a:cs typeface="Times New Roman" panose="02020603050405020304" pitchFamily="18" charset="0"/>
              </a:rPr>
              <a:t>	Provided customers/clients with desired information in a timely manner.</a:t>
            </a:r>
          </a:p>
          <a:p>
            <a:pPr lvl="0">
              <a:buNone/>
            </a:pPr>
            <a:r>
              <a:rPr lang="en-US" dirty="0">
                <a:latin typeface="Times New Roman" panose="02020603050405020304" pitchFamily="18" charset="0"/>
                <a:cs typeface="Times New Roman" panose="02020603050405020304" pitchFamily="18" charset="0"/>
              </a:rPr>
              <a:t>	Listened, calmed, and assisted customers with concerns.</a:t>
            </a:r>
          </a:p>
          <a:p>
            <a:pPr lvl="0">
              <a:buNone/>
            </a:pPr>
            <a:r>
              <a:rPr lang="en-US" dirty="0">
                <a:latin typeface="Times New Roman" panose="02020603050405020304" pitchFamily="18" charset="0"/>
                <a:cs typeface="Times New Roman" panose="02020603050405020304" pitchFamily="18" charset="0"/>
              </a:rPr>
              <a:t>	Established friendly and lasting relationships</a:t>
            </a:r>
          </a:p>
          <a:p>
            <a:endParaRPr lang="en-GB" dirty="0"/>
          </a:p>
        </p:txBody>
      </p:sp>
    </p:spTree>
    <p:extLst>
      <p:ext uri="{BB962C8B-B14F-4D97-AF65-F5344CB8AC3E}">
        <p14:creationId xmlns:p14="http://schemas.microsoft.com/office/powerpoint/2010/main" val="27637724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E620E9-6CB3-44F2-A336-1F0576D6B664}"/>
              </a:ext>
            </a:extLst>
          </p:cNvPr>
          <p:cNvSpPr>
            <a:spLocks noGrp="1"/>
          </p:cNvSpPr>
          <p:nvPr>
            <p:ph type="title"/>
          </p:nvPr>
        </p:nvSpPr>
        <p:spPr>
          <a:xfrm>
            <a:off x="1981200" y="1"/>
            <a:ext cx="8229600" cy="533400"/>
          </a:xfrm>
        </p:spPr>
        <p:txBody>
          <a:bodyPr>
            <a:normAutofit fontScale="90000"/>
          </a:bodyPr>
          <a:lstStyle/>
          <a:p>
            <a:r>
              <a:rPr lang="en-GB" dirty="0"/>
              <a:t>Contd.</a:t>
            </a:r>
          </a:p>
        </p:txBody>
      </p:sp>
      <p:sp>
        <p:nvSpPr>
          <p:cNvPr id="3" name="Content Placeholder 2">
            <a:extLst>
              <a:ext uri="{FF2B5EF4-FFF2-40B4-BE49-F238E27FC236}">
                <a16:creationId xmlns:a16="http://schemas.microsoft.com/office/drawing/2014/main" xmlns="" id="{6DBBD16F-5F79-4E15-BC32-C7C6C04504EE}"/>
              </a:ext>
            </a:extLst>
          </p:cNvPr>
          <p:cNvSpPr>
            <a:spLocks noGrp="1"/>
          </p:cNvSpPr>
          <p:nvPr>
            <p:ph idx="1"/>
          </p:nvPr>
        </p:nvSpPr>
        <p:spPr>
          <a:xfrm>
            <a:off x="207390" y="273378"/>
            <a:ext cx="11984610" cy="6432224"/>
          </a:xfrm>
        </p:spPr>
        <p:txBody>
          <a:bodyPr>
            <a:normAutofit fontScale="62500" lnSpcReduction="20000"/>
          </a:bodyPr>
          <a:lstStyle/>
          <a:p>
            <a:pPr>
              <a:buNone/>
            </a:pPr>
            <a:r>
              <a:rPr lang="en-US" b="1" dirty="0"/>
              <a:t>	</a:t>
            </a:r>
            <a:endParaRPr lang="en-US" dirty="0"/>
          </a:p>
          <a:p>
            <a:pPr>
              <a:buNone/>
            </a:pPr>
            <a:r>
              <a:rPr lang="en-US" b="1" dirty="0"/>
              <a:t>	</a:t>
            </a:r>
          </a:p>
          <a:p>
            <a:pPr>
              <a:buNone/>
            </a:pPr>
            <a:r>
              <a:rPr lang="en-US" b="1" dirty="0"/>
              <a:t>	</a:t>
            </a:r>
            <a:r>
              <a:rPr lang="en-US" b="1" dirty="0">
                <a:latin typeface="Times New Roman" panose="02020603050405020304" pitchFamily="18" charset="0"/>
                <a:cs typeface="Times New Roman" panose="02020603050405020304" pitchFamily="18" charset="0"/>
              </a:rPr>
              <a:t>Communication</a:t>
            </a:r>
            <a:endParaRPr lang="en-US" dirty="0">
              <a:latin typeface="Times New Roman" panose="02020603050405020304" pitchFamily="18" charset="0"/>
              <a:cs typeface="Times New Roman" panose="02020603050405020304" pitchFamily="18" charset="0"/>
            </a:endParaRPr>
          </a:p>
          <a:p>
            <a:pPr lvl="0">
              <a:buNone/>
            </a:pPr>
            <a:r>
              <a:rPr lang="en-US" dirty="0">
                <a:latin typeface="Times New Roman" panose="02020603050405020304" pitchFamily="18" charset="0"/>
                <a:cs typeface="Times New Roman" panose="02020603050405020304" pitchFamily="18" charset="0"/>
              </a:rPr>
              <a:t>	Utilized Internet email as an effective communication tool</a:t>
            </a:r>
          </a:p>
          <a:p>
            <a:pPr lvl="0">
              <a:buNone/>
            </a:pPr>
            <a:r>
              <a:rPr lang="en-US" dirty="0">
                <a:latin typeface="Times New Roman" panose="02020603050405020304" pitchFamily="18" charset="0"/>
                <a:cs typeface="Times New Roman" panose="02020603050405020304" pitchFamily="18" charset="0"/>
              </a:rPr>
              <a:t>	Answered phones in a courteous and professional manner</a:t>
            </a:r>
          </a:p>
          <a:p>
            <a:pPr lvl="0">
              <a:buNone/>
            </a:pPr>
            <a:r>
              <a:rPr lang="en-US" dirty="0">
                <a:latin typeface="Times New Roman" panose="02020603050405020304" pitchFamily="18" charset="0"/>
                <a:cs typeface="Times New Roman" panose="02020603050405020304" pitchFamily="18" charset="0"/>
              </a:rPr>
              <a:t>	Established rapport with diverse individuals and groups</a:t>
            </a:r>
          </a:p>
          <a:p>
            <a:pPr lvl="0">
              <a:buNone/>
            </a:pPr>
            <a:r>
              <a:rPr lang="en-US" dirty="0">
                <a:latin typeface="Times New Roman" panose="02020603050405020304" pitchFamily="18" charset="0"/>
                <a:cs typeface="Times New Roman" panose="02020603050405020304" pitchFamily="18" charset="0"/>
              </a:rPr>
              <a:t>	Demonstrated ability to express ideas in a team environment and influence action</a:t>
            </a:r>
          </a:p>
          <a:p>
            <a:pPr>
              <a:buNone/>
            </a:pPr>
            <a:r>
              <a:rPr lang="en-US" b="1" dirty="0">
                <a:latin typeface="Times New Roman" panose="02020603050405020304" pitchFamily="18" charset="0"/>
                <a:cs typeface="Times New Roman" panose="02020603050405020304" pitchFamily="18" charset="0"/>
              </a:rPr>
              <a:t>	Training Received</a:t>
            </a:r>
            <a:endParaRPr lang="en-US" dirty="0">
              <a:latin typeface="Times New Roman" panose="02020603050405020304" pitchFamily="18" charset="0"/>
              <a:cs typeface="Times New Roman" panose="02020603050405020304" pitchFamily="18" charset="0"/>
            </a:endParaRPr>
          </a:p>
          <a:p>
            <a:pPr lvl="0">
              <a:buNone/>
            </a:pPr>
            <a:r>
              <a:rPr lang="en-US" dirty="0">
                <a:latin typeface="Times New Roman" panose="02020603050405020304" pitchFamily="18" charset="0"/>
                <a:cs typeface="Times New Roman" panose="02020603050405020304" pitchFamily="18" charset="0"/>
              </a:rPr>
              <a:t>	Received 6-month Computer Networking Training.</a:t>
            </a:r>
          </a:p>
          <a:p>
            <a:pPr lvl="0">
              <a:buNone/>
            </a:pPr>
            <a:r>
              <a:rPr lang="en-US" dirty="0">
                <a:latin typeface="Times New Roman" panose="02020603050405020304" pitchFamily="18" charset="0"/>
                <a:cs typeface="Times New Roman" panose="02020603050405020304" pitchFamily="18" charset="0"/>
              </a:rPr>
              <a:t>	Received 3-month Banking Training.</a:t>
            </a:r>
          </a:p>
          <a:p>
            <a:pPr lvl="0">
              <a:buNone/>
            </a:pPr>
            <a:r>
              <a:rPr lang="en-US" dirty="0">
                <a:latin typeface="Times New Roman" panose="02020603050405020304" pitchFamily="18" charset="0"/>
                <a:cs typeface="Times New Roman" panose="02020603050405020304" pitchFamily="18" charset="0"/>
              </a:rPr>
              <a:t>	Received 15-days Presentation skill training.</a:t>
            </a:r>
          </a:p>
          <a:p>
            <a:pPr>
              <a:buNone/>
            </a:pPr>
            <a:r>
              <a:rPr lang="en-US" b="1" dirty="0">
                <a:latin typeface="Times New Roman" panose="02020603050405020304" pitchFamily="18" charset="0"/>
                <a:cs typeface="Times New Roman" panose="02020603050405020304" pitchFamily="18" charset="0"/>
              </a:rPr>
              <a:t>	Interpersonal Skills</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Competent networker, able to talk to people on different levels and establish rapport, developed as a skill through involvement with extra-curricular activities.</a:t>
            </a:r>
          </a:p>
          <a:p>
            <a:pPr>
              <a:buNone/>
            </a:pPr>
            <a:r>
              <a:rPr lang="en-US" b="1" dirty="0">
                <a:latin typeface="Times New Roman" panose="02020603050405020304" pitchFamily="18" charset="0"/>
                <a:cs typeface="Times New Roman" panose="02020603050405020304" pitchFamily="18" charset="0"/>
              </a:rPr>
              <a:t>	IT</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Computer literate and proficient in using main Microsoft Office applications as well as more specialized software including Adobe Photoshop</a:t>
            </a:r>
          </a:p>
          <a:p>
            <a:pPr>
              <a:buNone/>
            </a:pPr>
            <a:r>
              <a:rPr lang="en-US" b="1" dirty="0">
                <a:latin typeface="Times New Roman" panose="02020603050405020304" pitchFamily="18" charset="0"/>
                <a:cs typeface="Times New Roman" panose="02020603050405020304" pitchFamily="18" charset="0"/>
              </a:rPr>
              <a:t>	Personal Interests and hobbies</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Outdoor activities such as horseback riding, skiing, cycling, camping &amp; swimming.</a:t>
            </a:r>
          </a:p>
          <a:p>
            <a:pPr>
              <a:buNone/>
            </a:pPr>
            <a:r>
              <a:rPr lang="en-US" b="1" dirty="0">
                <a:latin typeface="Times New Roman" panose="02020603050405020304" pitchFamily="18" charset="0"/>
                <a:cs typeface="Times New Roman" panose="02020603050405020304" pitchFamily="18" charset="0"/>
              </a:rPr>
              <a:t>	Referees</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Available upon request</a:t>
            </a:r>
          </a:p>
          <a:p>
            <a:endParaRPr lang="en-US" dirty="0"/>
          </a:p>
          <a:p>
            <a:endParaRPr lang="en-GB" dirty="0"/>
          </a:p>
        </p:txBody>
      </p:sp>
    </p:spTree>
    <p:extLst>
      <p:ext uri="{BB962C8B-B14F-4D97-AF65-F5344CB8AC3E}">
        <p14:creationId xmlns:p14="http://schemas.microsoft.com/office/powerpoint/2010/main" val="34921938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dirty="0" smtClean="0"/>
              <a:t>                                                                                        </a:t>
            </a:r>
            <a:endParaRPr lang="en-US" dirty="0"/>
          </a:p>
          <a:p>
            <a:pPr marL="0" indent="0">
              <a:buNone/>
            </a:pPr>
            <a:r>
              <a:rPr lang="en-US" dirty="0" smtClean="0"/>
              <a:t>b</a:t>
            </a:r>
            <a:r>
              <a:rPr lang="en-US" dirty="0"/>
              <a:t>) Write a job application along with an effective resume for the post of computer </a:t>
            </a:r>
            <a:r>
              <a:rPr lang="en-US" dirty="0" smtClean="0"/>
              <a:t>engineering/Civil Engineer </a:t>
            </a:r>
            <a:r>
              <a:rPr lang="en-US" dirty="0"/>
              <a:t>at rural municipality office of your district advertised in the local newspaper of 20</a:t>
            </a:r>
            <a:r>
              <a:rPr lang="en-US" baseline="30000" dirty="0"/>
              <a:t>th </a:t>
            </a:r>
            <a:r>
              <a:rPr lang="en-US" dirty="0"/>
              <a:t>December </a:t>
            </a:r>
            <a:r>
              <a:rPr lang="en-US" dirty="0" smtClean="0"/>
              <a:t>2024. </a:t>
            </a:r>
            <a:endParaRPr lang="en-US" dirty="0"/>
          </a:p>
        </p:txBody>
      </p:sp>
    </p:spTree>
    <p:extLst>
      <p:ext uri="{BB962C8B-B14F-4D97-AF65-F5344CB8AC3E}">
        <p14:creationId xmlns:p14="http://schemas.microsoft.com/office/powerpoint/2010/main" val="4344490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331" y="153092"/>
            <a:ext cx="10515600" cy="178214"/>
          </a:xfrm>
        </p:spPr>
        <p:txBody>
          <a:bodyPr>
            <a:normAutofit fontScale="90000"/>
          </a:bodyPr>
          <a:lstStyle/>
          <a:p>
            <a:r>
              <a:rPr lang="en-US" b="1" dirty="0" smtClean="0">
                <a:solidFill>
                  <a:srgbClr val="0070C0"/>
                </a:solidFill>
              </a:rPr>
              <a:t> </a:t>
            </a:r>
            <a:r>
              <a:rPr lang="en-US" b="1" dirty="0">
                <a:solidFill>
                  <a:srgbClr val="0070C0"/>
                </a:solidFill>
              </a:rPr>
              <a:t>Business Letter Format</a:t>
            </a:r>
          </a:p>
        </p:txBody>
      </p:sp>
      <p:sp>
        <p:nvSpPr>
          <p:cNvPr id="3" name="Content Placeholder 2"/>
          <p:cNvSpPr>
            <a:spLocks noGrp="1"/>
          </p:cNvSpPr>
          <p:nvPr>
            <p:ph idx="1"/>
          </p:nvPr>
        </p:nvSpPr>
        <p:spPr>
          <a:xfrm>
            <a:off x="838200" y="530088"/>
            <a:ext cx="10515600" cy="6327912"/>
          </a:xfrm>
        </p:spPr>
        <p:txBody>
          <a:bodyPr>
            <a:normAutofit fontScale="62500" lnSpcReduction="20000"/>
          </a:bodyPr>
          <a:lstStyle/>
          <a:p>
            <a:r>
              <a:rPr lang="en-US" sz="3200" b="1" dirty="0"/>
              <a:t>Head</a:t>
            </a:r>
          </a:p>
          <a:p>
            <a:pPr marL="0" indent="0">
              <a:buNone/>
            </a:pPr>
            <a:r>
              <a:rPr lang="en-US" dirty="0"/>
              <a:t>	- Logo/Contact</a:t>
            </a:r>
          </a:p>
          <a:p>
            <a:pPr marL="0" indent="0">
              <a:buNone/>
            </a:pPr>
            <a:r>
              <a:rPr lang="en-US" dirty="0"/>
              <a:t>	- Your address</a:t>
            </a:r>
          </a:p>
          <a:p>
            <a:pPr marL="0" indent="0">
              <a:buNone/>
            </a:pPr>
            <a:r>
              <a:rPr lang="en-US" dirty="0"/>
              <a:t>	- Ref (Reference)</a:t>
            </a:r>
          </a:p>
          <a:p>
            <a:pPr marL="0" indent="0">
              <a:buNone/>
            </a:pPr>
            <a:r>
              <a:rPr lang="en-US" dirty="0"/>
              <a:t>	- Date</a:t>
            </a:r>
          </a:p>
          <a:p>
            <a:pPr marL="0" indent="0">
              <a:buNone/>
            </a:pPr>
            <a:r>
              <a:rPr lang="en-US" dirty="0"/>
              <a:t>	- “Confidential” heading (if applicable)</a:t>
            </a:r>
          </a:p>
          <a:p>
            <a:pPr marL="0" indent="0">
              <a:buNone/>
            </a:pPr>
            <a:r>
              <a:rPr lang="en-US" dirty="0"/>
              <a:t>	- Receiver’s name and address</a:t>
            </a:r>
          </a:p>
          <a:p>
            <a:pPr marL="0" indent="0">
              <a:buNone/>
            </a:pPr>
            <a:r>
              <a:rPr lang="en-US" dirty="0"/>
              <a:t>	- Subject Line (optional)</a:t>
            </a:r>
          </a:p>
          <a:p>
            <a:pPr marL="0" indent="0">
              <a:buNone/>
            </a:pPr>
            <a:r>
              <a:rPr lang="en-US" dirty="0"/>
              <a:t>	- Salutation</a:t>
            </a:r>
          </a:p>
          <a:p>
            <a:r>
              <a:rPr lang="en-US" sz="3200" b="1" dirty="0"/>
              <a:t>Body</a:t>
            </a:r>
          </a:p>
          <a:p>
            <a:pPr marL="0" indent="0">
              <a:buNone/>
            </a:pPr>
            <a:r>
              <a:rPr lang="en-US" dirty="0"/>
              <a:t>	- Opening paragraph</a:t>
            </a:r>
          </a:p>
          <a:p>
            <a:pPr marL="0" indent="0">
              <a:buNone/>
            </a:pPr>
            <a:r>
              <a:rPr lang="en-US" dirty="0"/>
              <a:t>	- Main body of the letter</a:t>
            </a:r>
          </a:p>
          <a:p>
            <a:pPr marL="0" indent="0">
              <a:buNone/>
            </a:pPr>
            <a:r>
              <a:rPr lang="en-US" dirty="0"/>
              <a:t>	- Closing paragraph</a:t>
            </a:r>
          </a:p>
          <a:p>
            <a:r>
              <a:rPr lang="en-US" sz="3200" b="1" dirty="0"/>
              <a:t>Tail</a:t>
            </a:r>
          </a:p>
          <a:p>
            <a:pPr marL="0" indent="0">
              <a:buNone/>
            </a:pPr>
            <a:r>
              <a:rPr lang="en-US" dirty="0"/>
              <a:t>	- Complimentary close (valediction)</a:t>
            </a:r>
          </a:p>
          <a:p>
            <a:pPr marL="0" indent="0">
              <a:buNone/>
            </a:pPr>
            <a:r>
              <a:rPr lang="en-US" dirty="0"/>
              <a:t>	- Signature</a:t>
            </a:r>
          </a:p>
          <a:p>
            <a:pPr marL="0" indent="0">
              <a:buNone/>
            </a:pPr>
            <a:r>
              <a:rPr lang="en-US" dirty="0"/>
              <a:t>	- Printed name</a:t>
            </a:r>
          </a:p>
          <a:p>
            <a:pPr marL="0" indent="0">
              <a:buNone/>
            </a:pPr>
            <a:r>
              <a:rPr lang="en-US" dirty="0"/>
              <a:t>	-Enclosures/attachments</a:t>
            </a:r>
          </a:p>
          <a:p>
            <a:pPr marL="0" indent="0">
              <a:buNone/>
            </a:pPr>
            <a:r>
              <a:rPr lang="en-US" dirty="0"/>
              <a:t>	- Copies</a:t>
            </a:r>
          </a:p>
        </p:txBody>
      </p:sp>
    </p:spTree>
    <p:extLst>
      <p:ext uri="{BB962C8B-B14F-4D97-AF65-F5344CB8AC3E}">
        <p14:creationId xmlns:p14="http://schemas.microsoft.com/office/powerpoint/2010/main" val="109012048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58887" y="74637"/>
            <a:ext cx="9223513" cy="6857999"/>
          </a:xfrm>
        </p:spPr>
        <p:txBody>
          <a:bodyPr>
            <a:normAutofit fontScale="40000" lnSpcReduction="20000"/>
          </a:bodyPr>
          <a:lstStyle/>
          <a:p>
            <a:pPr marL="0" indent="0">
              <a:buNone/>
            </a:pPr>
            <a:r>
              <a:rPr lang="en-US" dirty="0"/>
              <a:t>[Organization logo]</a:t>
            </a:r>
          </a:p>
          <a:p>
            <a:pPr marL="0" indent="0">
              <a:buNone/>
            </a:pPr>
            <a:endParaRPr lang="en-US" dirty="0"/>
          </a:p>
          <a:p>
            <a:pPr marL="0" indent="0">
              <a:buNone/>
            </a:pPr>
            <a:r>
              <a:rPr lang="en-US" dirty="0"/>
              <a:t>[Your name]</a:t>
            </a:r>
          </a:p>
          <a:p>
            <a:pPr marL="0" indent="0">
              <a:buNone/>
            </a:pPr>
            <a:r>
              <a:rPr lang="en-US" dirty="0"/>
              <a:t>[Address]</a:t>
            </a:r>
          </a:p>
          <a:p>
            <a:pPr marL="0" indent="0">
              <a:buNone/>
            </a:pPr>
            <a:r>
              <a:rPr lang="en-US" dirty="0"/>
              <a:t>[City, </a:t>
            </a:r>
            <a:r>
              <a:rPr lang="en-US" dirty="0" err="1"/>
              <a:t>POBox</a:t>
            </a:r>
            <a:r>
              <a:rPr lang="en-US" dirty="0"/>
              <a:t>]</a:t>
            </a:r>
          </a:p>
          <a:p>
            <a:pPr marL="0" indent="0">
              <a:buNone/>
            </a:pPr>
            <a:endParaRPr lang="en-US" dirty="0"/>
          </a:p>
          <a:p>
            <a:pPr marL="0" indent="0">
              <a:buNone/>
            </a:pPr>
            <a:r>
              <a:rPr lang="en-US" dirty="0"/>
              <a:t>[Today’s date]</a:t>
            </a:r>
          </a:p>
          <a:p>
            <a:pPr marL="0" indent="0">
              <a:buNone/>
            </a:pPr>
            <a:endParaRPr lang="en-US" dirty="0"/>
          </a:p>
          <a:p>
            <a:pPr marL="0" indent="0">
              <a:buNone/>
            </a:pPr>
            <a:r>
              <a:rPr lang="en-US" dirty="0"/>
              <a:t>[Name of recipient]</a:t>
            </a:r>
          </a:p>
          <a:p>
            <a:pPr marL="0" indent="0">
              <a:buNone/>
            </a:pPr>
            <a:r>
              <a:rPr lang="en-US" dirty="0"/>
              <a:t>[Title]</a:t>
            </a:r>
          </a:p>
          <a:p>
            <a:pPr marL="0" indent="0">
              <a:buNone/>
            </a:pPr>
            <a:r>
              <a:rPr lang="en-US" dirty="0"/>
              <a:t>[Company]									</a:t>
            </a:r>
          </a:p>
          <a:p>
            <a:pPr marL="0" indent="0">
              <a:buNone/>
            </a:pPr>
            <a:r>
              <a:rPr lang="en-US" dirty="0"/>
              <a:t>[Address]</a:t>
            </a:r>
          </a:p>
          <a:p>
            <a:pPr marL="0" indent="0">
              <a:buNone/>
            </a:pPr>
            <a:r>
              <a:rPr lang="en-US" dirty="0"/>
              <a:t>[City, </a:t>
            </a:r>
            <a:r>
              <a:rPr lang="en-US" dirty="0" err="1"/>
              <a:t>POBox</a:t>
            </a:r>
            <a:r>
              <a:rPr lang="en-US" dirty="0"/>
              <a:t>]</a:t>
            </a:r>
          </a:p>
          <a:p>
            <a:pPr marL="0" indent="0">
              <a:buNone/>
            </a:pPr>
            <a:endParaRPr lang="en-US" dirty="0"/>
          </a:p>
          <a:p>
            <a:pPr marL="0" indent="0">
              <a:buNone/>
            </a:pPr>
            <a:r>
              <a:rPr lang="en-US" dirty="0"/>
              <a:t>[Subject]</a:t>
            </a:r>
          </a:p>
          <a:p>
            <a:pPr marL="0" indent="0">
              <a:buNone/>
            </a:pPr>
            <a:endParaRPr lang="en-US" dirty="0"/>
          </a:p>
          <a:p>
            <a:pPr marL="0" indent="0">
              <a:buNone/>
            </a:pPr>
            <a:r>
              <a:rPr lang="en-US" dirty="0"/>
              <a:t>Dear[Name of recipient]: (If unknown, use “To Whom It May Concern”)</a:t>
            </a:r>
          </a:p>
          <a:p>
            <a:pPr marL="0" indent="0">
              <a:buNone/>
            </a:pPr>
            <a:endParaRPr lang="en-US" dirty="0"/>
          </a:p>
          <a:p>
            <a:pPr marL="0" indent="0">
              <a:buNone/>
            </a:pPr>
            <a:r>
              <a:rPr lang="en-US" dirty="0"/>
              <a:t>[Short introduction paragraph, stating purpose]</a:t>
            </a:r>
          </a:p>
          <a:p>
            <a:pPr marL="0" indent="0">
              <a:buNone/>
            </a:pPr>
            <a:r>
              <a:rPr lang="en-US" dirty="0"/>
              <a:t>[Additional information]</a:t>
            </a:r>
          </a:p>
          <a:p>
            <a:pPr marL="0" indent="0">
              <a:buNone/>
            </a:pPr>
            <a:r>
              <a:rPr lang="en-US" dirty="0"/>
              <a:t>[Closing information, summary or thank you as appropriate]</a:t>
            </a:r>
          </a:p>
          <a:p>
            <a:pPr marL="0" indent="0">
              <a:buNone/>
            </a:pPr>
            <a:r>
              <a:rPr lang="en-US" dirty="0"/>
              <a:t>Sincerely,</a:t>
            </a:r>
          </a:p>
          <a:p>
            <a:pPr marL="0" indent="0">
              <a:buNone/>
            </a:pPr>
            <a:endParaRPr lang="en-US" dirty="0"/>
          </a:p>
          <a:p>
            <a:pPr marL="0" indent="0">
              <a:buNone/>
            </a:pPr>
            <a:r>
              <a:rPr lang="en-US" dirty="0"/>
              <a:t>Sign for the letters sent by mail or fax)</a:t>
            </a:r>
          </a:p>
          <a:p>
            <a:pPr marL="0" indent="0">
              <a:buNone/>
            </a:pPr>
            <a:r>
              <a:rPr lang="en-US" dirty="0"/>
              <a:t>[Your name]</a:t>
            </a:r>
          </a:p>
          <a:p>
            <a:pPr marL="0" indent="0">
              <a:buNone/>
            </a:pPr>
            <a:r>
              <a:rPr lang="en-US" dirty="0"/>
              <a:t>[Title – if applicable]</a:t>
            </a:r>
          </a:p>
          <a:p>
            <a:pPr marL="0" indent="0">
              <a:buNone/>
            </a:pPr>
            <a:r>
              <a:rPr lang="en-US" dirty="0"/>
              <a:t>Enclosures:</a:t>
            </a:r>
          </a:p>
          <a:p>
            <a:pPr marL="0" indent="0">
              <a:buNone/>
            </a:pPr>
            <a:r>
              <a:rPr lang="en-US" dirty="0"/>
              <a:t>CC:</a:t>
            </a:r>
          </a:p>
        </p:txBody>
      </p:sp>
      <p:sp>
        <p:nvSpPr>
          <p:cNvPr id="5" name="TextBox 4"/>
          <p:cNvSpPr txBox="1"/>
          <p:nvPr/>
        </p:nvSpPr>
        <p:spPr>
          <a:xfrm>
            <a:off x="132522" y="2226365"/>
            <a:ext cx="2226365" cy="2554545"/>
          </a:xfrm>
          <a:prstGeom prst="rect">
            <a:avLst/>
          </a:prstGeom>
          <a:noFill/>
        </p:spPr>
        <p:txBody>
          <a:bodyPr wrap="square" rtlCol="0">
            <a:spAutoFit/>
          </a:bodyPr>
          <a:lstStyle/>
          <a:p>
            <a:r>
              <a:rPr lang="en-US" sz="4000" b="1" dirty="0">
                <a:solidFill>
                  <a:srgbClr val="0070C0"/>
                </a:solidFill>
              </a:rPr>
              <a:t>Elements </a:t>
            </a:r>
          </a:p>
          <a:p>
            <a:r>
              <a:rPr lang="en-US" sz="4000" b="1" dirty="0">
                <a:solidFill>
                  <a:srgbClr val="0070C0"/>
                </a:solidFill>
              </a:rPr>
              <a:t>of </a:t>
            </a:r>
          </a:p>
          <a:p>
            <a:r>
              <a:rPr lang="en-US" sz="4000" b="1" dirty="0">
                <a:solidFill>
                  <a:srgbClr val="0070C0"/>
                </a:solidFill>
              </a:rPr>
              <a:t>a </a:t>
            </a:r>
          </a:p>
          <a:p>
            <a:r>
              <a:rPr lang="en-US" sz="4000" b="1" dirty="0">
                <a:solidFill>
                  <a:srgbClr val="0070C0"/>
                </a:solidFill>
              </a:rPr>
              <a:t>letter</a:t>
            </a:r>
          </a:p>
        </p:txBody>
      </p:sp>
      <p:sp>
        <p:nvSpPr>
          <p:cNvPr id="6" name="Title 5"/>
          <p:cNvSpPr>
            <a:spLocks noGrp="1"/>
          </p:cNvSpPr>
          <p:nvPr>
            <p:ph type="title"/>
          </p:nvPr>
        </p:nvSpPr>
        <p:spPr>
          <a:xfrm>
            <a:off x="838200" y="-516836"/>
            <a:ext cx="10515600" cy="397565"/>
          </a:xfrm>
        </p:spPr>
        <p:txBody>
          <a:bodyPr>
            <a:normAutofit fontScale="90000"/>
          </a:bodyPr>
          <a:lstStyle/>
          <a:p>
            <a:r>
              <a:rPr lang="en-US" dirty="0"/>
              <a:t>.</a:t>
            </a:r>
          </a:p>
        </p:txBody>
      </p:sp>
      <p:sp>
        <p:nvSpPr>
          <p:cNvPr id="7" name="Right Brace 6"/>
          <p:cNvSpPr/>
          <p:nvPr/>
        </p:nvSpPr>
        <p:spPr>
          <a:xfrm>
            <a:off x="6439987" y="74637"/>
            <a:ext cx="2220687" cy="4140926"/>
          </a:xfrm>
          <a:prstGeom prst="rightBrace">
            <a:avLst>
              <a:gd name="adj1" fmla="val 8333"/>
              <a:gd name="adj2" fmla="val 5126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Right Brace 7"/>
          <p:cNvSpPr/>
          <p:nvPr/>
        </p:nvSpPr>
        <p:spPr>
          <a:xfrm>
            <a:off x="4750524" y="5852160"/>
            <a:ext cx="3910150" cy="90133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ight Brace 8"/>
          <p:cNvSpPr/>
          <p:nvPr/>
        </p:nvSpPr>
        <p:spPr>
          <a:xfrm>
            <a:off x="5347061" y="4502331"/>
            <a:ext cx="3217817" cy="92746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8791303" y="1883490"/>
            <a:ext cx="1580605" cy="523220"/>
          </a:xfrm>
          <a:prstGeom prst="rect">
            <a:avLst/>
          </a:prstGeom>
          <a:noFill/>
        </p:spPr>
        <p:txBody>
          <a:bodyPr wrap="square" rtlCol="0">
            <a:spAutoFit/>
          </a:bodyPr>
          <a:lstStyle/>
          <a:p>
            <a:r>
              <a:rPr lang="en-US" sz="2800" b="1" dirty="0"/>
              <a:t>Head</a:t>
            </a:r>
          </a:p>
        </p:txBody>
      </p:sp>
      <p:sp>
        <p:nvSpPr>
          <p:cNvPr id="11" name="TextBox 10"/>
          <p:cNvSpPr txBox="1"/>
          <p:nvPr/>
        </p:nvSpPr>
        <p:spPr>
          <a:xfrm>
            <a:off x="8660674" y="4704452"/>
            <a:ext cx="1580605" cy="523220"/>
          </a:xfrm>
          <a:prstGeom prst="rect">
            <a:avLst/>
          </a:prstGeom>
          <a:noFill/>
        </p:spPr>
        <p:txBody>
          <a:bodyPr wrap="square" rtlCol="0">
            <a:spAutoFit/>
          </a:bodyPr>
          <a:lstStyle/>
          <a:p>
            <a:r>
              <a:rPr lang="en-US" sz="2800" b="1" dirty="0"/>
              <a:t>Body</a:t>
            </a:r>
          </a:p>
        </p:txBody>
      </p:sp>
      <p:sp>
        <p:nvSpPr>
          <p:cNvPr id="12" name="TextBox 11"/>
          <p:cNvSpPr txBox="1"/>
          <p:nvPr/>
        </p:nvSpPr>
        <p:spPr>
          <a:xfrm>
            <a:off x="8943702" y="6041218"/>
            <a:ext cx="1580605" cy="523220"/>
          </a:xfrm>
          <a:prstGeom prst="rect">
            <a:avLst/>
          </a:prstGeom>
          <a:noFill/>
        </p:spPr>
        <p:txBody>
          <a:bodyPr wrap="square" rtlCol="0">
            <a:spAutoFit/>
          </a:bodyPr>
          <a:lstStyle/>
          <a:p>
            <a:r>
              <a:rPr lang="en-US" sz="2800" b="1" dirty="0"/>
              <a:t>Tail</a:t>
            </a:r>
          </a:p>
        </p:txBody>
      </p:sp>
    </p:spTree>
    <p:extLst>
      <p:ext uri="{BB962C8B-B14F-4D97-AF65-F5344CB8AC3E}">
        <p14:creationId xmlns:p14="http://schemas.microsoft.com/office/powerpoint/2010/main" val="24316491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5566"/>
            <a:ext cx="10515600" cy="426278"/>
          </a:xfrm>
        </p:spPr>
        <p:txBody>
          <a:bodyPr>
            <a:normAutofit fontScale="90000"/>
          </a:bodyPr>
          <a:lstStyle/>
          <a:p>
            <a:r>
              <a:rPr lang="en-US" b="1" dirty="0">
                <a:solidFill>
                  <a:srgbClr val="FF0000"/>
                </a:solidFill>
              </a:rPr>
              <a:t>2.2.2 Types of Letters</a:t>
            </a:r>
            <a:endParaRPr lang="en-US" dirty="0">
              <a:solidFill>
                <a:srgbClr val="FF0000"/>
              </a:solidFill>
            </a:endParaRPr>
          </a:p>
        </p:txBody>
      </p:sp>
      <p:sp>
        <p:nvSpPr>
          <p:cNvPr id="3" name="Content Placeholder 2"/>
          <p:cNvSpPr>
            <a:spLocks noGrp="1"/>
          </p:cNvSpPr>
          <p:nvPr>
            <p:ph idx="1"/>
          </p:nvPr>
        </p:nvSpPr>
        <p:spPr/>
        <p:txBody>
          <a:bodyPr/>
          <a:lstStyle/>
          <a:p>
            <a:pPr marL="0" indent="0">
              <a:buNone/>
            </a:pPr>
            <a:r>
              <a:rPr lang="en-US" dirty="0"/>
              <a:t>. </a:t>
            </a:r>
          </a:p>
        </p:txBody>
      </p:sp>
      <p:sp>
        <p:nvSpPr>
          <p:cNvPr id="4" name="Oval 3"/>
          <p:cNvSpPr/>
          <p:nvPr/>
        </p:nvSpPr>
        <p:spPr>
          <a:xfrm>
            <a:off x="4876800" y="2544417"/>
            <a:ext cx="2676939" cy="24649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a:t>Types of Letters</a:t>
            </a:r>
          </a:p>
        </p:txBody>
      </p:sp>
      <p:sp>
        <p:nvSpPr>
          <p:cNvPr id="5" name="Rounded Rectangle 4"/>
          <p:cNvSpPr/>
          <p:nvPr/>
        </p:nvSpPr>
        <p:spPr>
          <a:xfrm>
            <a:off x="1316936" y="1798963"/>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Apology Letters</a:t>
            </a:r>
          </a:p>
        </p:txBody>
      </p:sp>
      <p:sp>
        <p:nvSpPr>
          <p:cNvPr id="6" name="Rounded Rectangle 5"/>
          <p:cNvSpPr/>
          <p:nvPr/>
        </p:nvSpPr>
        <p:spPr>
          <a:xfrm>
            <a:off x="467141" y="2777356"/>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Appreciation letters</a:t>
            </a:r>
          </a:p>
        </p:txBody>
      </p:sp>
      <p:sp>
        <p:nvSpPr>
          <p:cNvPr id="7" name="Rounded Rectangle 6"/>
          <p:cNvSpPr/>
          <p:nvPr/>
        </p:nvSpPr>
        <p:spPr>
          <a:xfrm>
            <a:off x="2220567" y="974696"/>
            <a:ext cx="2801178"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Acknowledgement Letters</a:t>
            </a:r>
          </a:p>
        </p:txBody>
      </p:sp>
      <p:sp>
        <p:nvSpPr>
          <p:cNvPr id="8" name="Rounded Rectangle 7"/>
          <p:cNvSpPr/>
          <p:nvPr/>
        </p:nvSpPr>
        <p:spPr>
          <a:xfrm>
            <a:off x="432351" y="3801010"/>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Circular Letters</a:t>
            </a:r>
          </a:p>
        </p:txBody>
      </p:sp>
      <p:sp>
        <p:nvSpPr>
          <p:cNvPr id="9" name="Rounded Rectangle 8"/>
          <p:cNvSpPr/>
          <p:nvPr/>
        </p:nvSpPr>
        <p:spPr>
          <a:xfrm>
            <a:off x="1076739" y="4724855"/>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Complaint Letters</a:t>
            </a:r>
          </a:p>
        </p:txBody>
      </p:sp>
      <p:sp>
        <p:nvSpPr>
          <p:cNvPr id="10" name="Rounded Rectangle 9"/>
          <p:cNvSpPr/>
          <p:nvPr/>
        </p:nvSpPr>
        <p:spPr>
          <a:xfrm>
            <a:off x="2976768" y="5600482"/>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Confirmation Letters</a:t>
            </a:r>
          </a:p>
        </p:txBody>
      </p:sp>
      <p:sp>
        <p:nvSpPr>
          <p:cNvPr id="11" name="Rounded Rectangle 10"/>
          <p:cNvSpPr/>
          <p:nvPr/>
        </p:nvSpPr>
        <p:spPr>
          <a:xfrm>
            <a:off x="6559826" y="5696710"/>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Cover Letters</a:t>
            </a:r>
          </a:p>
        </p:txBody>
      </p:sp>
      <p:sp>
        <p:nvSpPr>
          <p:cNvPr id="15" name="Rounded Rectangle 14"/>
          <p:cNvSpPr/>
          <p:nvPr/>
        </p:nvSpPr>
        <p:spPr>
          <a:xfrm>
            <a:off x="8690111" y="4872763"/>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Enquiry Letters</a:t>
            </a:r>
          </a:p>
        </p:txBody>
      </p:sp>
      <p:sp>
        <p:nvSpPr>
          <p:cNvPr id="16" name="Rounded Rectangle 15"/>
          <p:cNvSpPr/>
          <p:nvPr/>
        </p:nvSpPr>
        <p:spPr>
          <a:xfrm>
            <a:off x="9312964" y="3820810"/>
            <a:ext cx="254441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Order Letters</a:t>
            </a:r>
          </a:p>
        </p:txBody>
      </p:sp>
      <p:sp>
        <p:nvSpPr>
          <p:cNvPr id="17" name="Rounded Rectangle 16"/>
          <p:cNvSpPr/>
          <p:nvPr/>
        </p:nvSpPr>
        <p:spPr>
          <a:xfrm>
            <a:off x="9213573" y="2179327"/>
            <a:ext cx="2692647" cy="4802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Recommendation Letters</a:t>
            </a:r>
          </a:p>
        </p:txBody>
      </p:sp>
      <p:sp>
        <p:nvSpPr>
          <p:cNvPr id="18" name="Rounded Rectangle 17"/>
          <p:cNvSpPr/>
          <p:nvPr/>
        </p:nvSpPr>
        <p:spPr>
          <a:xfrm>
            <a:off x="9393668" y="2892298"/>
            <a:ext cx="2683565" cy="557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Payment Request Letters</a:t>
            </a:r>
          </a:p>
        </p:txBody>
      </p:sp>
      <p:sp>
        <p:nvSpPr>
          <p:cNvPr id="19" name="Right Arrow 18"/>
          <p:cNvSpPr/>
          <p:nvPr/>
        </p:nvSpPr>
        <p:spPr>
          <a:xfrm rot="21158999">
            <a:off x="7469219" y="3290713"/>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Down Arrow 19"/>
          <p:cNvSpPr/>
          <p:nvPr/>
        </p:nvSpPr>
        <p:spPr>
          <a:xfrm rot="2826691">
            <a:off x="4814815" y="4492639"/>
            <a:ext cx="123969" cy="11214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p:cNvSpPr/>
          <p:nvPr/>
        </p:nvSpPr>
        <p:spPr>
          <a:xfrm rot="3681162">
            <a:off x="6561727" y="5116060"/>
            <a:ext cx="1046427" cy="13619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rot="13367470">
            <a:off x="4468805" y="2058123"/>
            <a:ext cx="1689652" cy="1783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Arrow 22"/>
          <p:cNvSpPr/>
          <p:nvPr/>
        </p:nvSpPr>
        <p:spPr>
          <a:xfrm rot="12712480">
            <a:off x="3813530" y="2672340"/>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p:cNvSpPr/>
          <p:nvPr/>
        </p:nvSpPr>
        <p:spPr>
          <a:xfrm rot="11683824">
            <a:off x="3293269" y="3247968"/>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p:cNvSpPr/>
          <p:nvPr/>
        </p:nvSpPr>
        <p:spPr>
          <a:xfrm rot="10624798">
            <a:off x="3283226" y="3929737"/>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Arrow 25"/>
          <p:cNvSpPr/>
          <p:nvPr/>
        </p:nvSpPr>
        <p:spPr>
          <a:xfrm rot="19725914">
            <a:off x="6840958" y="2239047"/>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Arrow 26"/>
          <p:cNvSpPr/>
          <p:nvPr/>
        </p:nvSpPr>
        <p:spPr>
          <a:xfrm>
            <a:off x="7553739" y="3909391"/>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Arrow 27"/>
          <p:cNvSpPr/>
          <p:nvPr/>
        </p:nvSpPr>
        <p:spPr>
          <a:xfrm rot="1371773">
            <a:off x="6926326" y="4563840"/>
            <a:ext cx="1689652" cy="1394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ed Rectangle 28"/>
          <p:cNvSpPr/>
          <p:nvPr/>
        </p:nvSpPr>
        <p:spPr>
          <a:xfrm>
            <a:off x="8800701" y="1289942"/>
            <a:ext cx="2683565" cy="557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Resignation Letters</a:t>
            </a:r>
          </a:p>
        </p:txBody>
      </p:sp>
      <p:sp>
        <p:nvSpPr>
          <p:cNvPr id="30" name="Rounded Rectangle 29"/>
          <p:cNvSpPr/>
          <p:nvPr/>
        </p:nvSpPr>
        <p:spPr>
          <a:xfrm>
            <a:off x="7458918" y="592583"/>
            <a:ext cx="2683565" cy="5578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Sales Letters</a:t>
            </a:r>
          </a:p>
        </p:txBody>
      </p:sp>
      <p:sp>
        <p:nvSpPr>
          <p:cNvPr id="12" name="Right Arrow 11"/>
          <p:cNvSpPr/>
          <p:nvPr/>
        </p:nvSpPr>
        <p:spPr>
          <a:xfrm rot="20613379">
            <a:off x="7116542" y="2774105"/>
            <a:ext cx="1893956" cy="1167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ight Arrow 30"/>
          <p:cNvSpPr/>
          <p:nvPr/>
        </p:nvSpPr>
        <p:spPr>
          <a:xfrm rot="18185429">
            <a:off x="6186885" y="1931716"/>
            <a:ext cx="1689652" cy="1783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081850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
            </a:r>
          </a:p>
        </p:txBody>
      </p:sp>
      <p:sp>
        <p:nvSpPr>
          <p:cNvPr id="3" name="Content Placeholder 2"/>
          <p:cNvSpPr>
            <a:spLocks noGrp="1"/>
          </p:cNvSpPr>
          <p:nvPr>
            <p:ph idx="1"/>
          </p:nvPr>
        </p:nvSpPr>
        <p:spPr/>
        <p:txBody>
          <a:bodyPr/>
          <a:lstStyle/>
          <a:p>
            <a:pPr marL="0" indent="0">
              <a:buNone/>
            </a:pPr>
            <a:endParaRPr lang="en-GB" dirty="0"/>
          </a:p>
          <a:p>
            <a:pPr marL="0" indent="0">
              <a:buNone/>
            </a:pPr>
            <a:r>
              <a:rPr lang="en-GB" dirty="0"/>
              <a:t>			</a:t>
            </a:r>
            <a:r>
              <a:rPr lang="en-GB" sz="6000" b="1" dirty="0">
                <a:solidFill>
                  <a:srgbClr val="002060"/>
                </a:solidFill>
              </a:rPr>
              <a:t>Complaint Letter</a:t>
            </a:r>
          </a:p>
        </p:txBody>
      </p:sp>
    </p:spTree>
    <p:extLst>
      <p:ext uri="{BB962C8B-B14F-4D97-AF65-F5344CB8AC3E}">
        <p14:creationId xmlns:p14="http://schemas.microsoft.com/office/powerpoint/2010/main" val="297667735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6602A4-EC21-445F-A6A5-1ABFA408F1CC}"/>
              </a:ext>
            </a:extLst>
          </p:cNvPr>
          <p:cNvSpPr>
            <a:spLocks noGrp="1"/>
          </p:cNvSpPr>
          <p:nvPr>
            <p:ph type="title"/>
          </p:nvPr>
        </p:nvSpPr>
        <p:spPr>
          <a:xfrm>
            <a:off x="2450968" y="365125"/>
            <a:ext cx="8902831" cy="1325563"/>
          </a:xfrm>
        </p:spPr>
        <p:txBody>
          <a:bodyPr>
            <a:normAutofit/>
          </a:bodyPr>
          <a:lstStyle/>
          <a:p>
            <a:r>
              <a:rPr lang="en-US" sz="3200" b="1" i="1" dirty="0">
                <a:solidFill>
                  <a:srgbClr val="002060"/>
                </a:solidFill>
                <a:latin typeface="Times New Roman" panose="02020603050405020304" pitchFamily="18" charset="0"/>
                <a:cs typeface="Times New Roman" panose="02020603050405020304" pitchFamily="18" charset="0"/>
              </a:rPr>
              <a:t>Claim Letter for Damaged Goods/ complaint</a:t>
            </a:r>
            <a:r>
              <a:rPr lang="en-US" sz="3200" dirty="0">
                <a:latin typeface="Times New Roman" panose="02020603050405020304" pitchFamily="18" charset="0"/>
                <a:cs typeface="Times New Roman" panose="02020603050405020304" pitchFamily="18" charset="0"/>
              </a:rPr>
              <a:t/>
            </a:r>
            <a:br>
              <a:rPr lang="en-US" sz="3200" dirty="0">
                <a:latin typeface="Times New Roman" panose="02020603050405020304" pitchFamily="18" charset="0"/>
                <a:cs typeface="Times New Roman" panose="02020603050405020304" pitchFamily="18" charset="0"/>
              </a:rPr>
            </a:br>
            <a:endParaRPr lang="en-GB"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CD7F9097-71E0-4647-BF5E-1212CD2ADFA3}"/>
              </a:ext>
            </a:extLst>
          </p:cNvPr>
          <p:cNvSpPr>
            <a:spLocks noGrp="1"/>
          </p:cNvSpPr>
          <p:nvPr>
            <p:ph idx="1"/>
          </p:nvPr>
        </p:nvSpPr>
        <p:spPr>
          <a:xfrm>
            <a:off x="654424" y="1295401"/>
            <a:ext cx="11119654" cy="5454191"/>
          </a:xfrm>
        </p:spPr>
        <p:txBody>
          <a:bodyPr>
            <a:normAutofit fontScale="77500" lnSpcReduction="20000"/>
          </a:bodyPr>
          <a:lstStyle/>
          <a:p>
            <a:pPr>
              <a:buNone/>
            </a:pPr>
            <a:r>
              <a:rPr lang="en-US" dirty="0"/>
              <a:t>	</a:t>
            </a:r>
            <a:r>
              <a:rPr lang="en-US" dirty="0" err="1">
                <a:latin typeface="Times New Roman" panose="02020603050405020304" pitchFamily="18" charset="0"/>
                <a:cs typeface="Times New Roman" panose="02020603050405020304" pitchFamily="18" charset="0"/>
              </a:rPr>
              <a:t>Maharajgunj</a:t>
            </a:r>
            <a:r>
              <a:rPr lang="en-US" dirty="0">
                <a:latin typeface="Times New Roman" panose="02020603050405020304" pitchFamily="18" charset="0"/>
                <a:cs typeface="Times New Roman" panose="02020603050405020304" pitchFamily="18" charset="0"/>
              </a:rPr>
              <a:t>, Kathmandu</a:t>
            </a:r>
          </a:p>
          <a:p>
            <a:pPr>
              <a:buNone/>
            </a:pPr>
            <a:r>
              <a:rPr lang="en-US" dirty="0">
                <a:latin typeface="Times New Roman" panose="02020603050405020304" pitchFamily="18" charset="0"/>
                <a:cs typeface="Times New Roman" panose="02020603050405020304" pitchFamily="18" charset="0"/>
              </a:rPr>
              <a:t>	September 17, 2018</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Mr. S.K. Pandey</a:t>
            </a:r>
          </a:p>
          <a:p>
            <a:pPr>
              <a:buNone/>
            </a:pPr>
            <a:r>
              <a:rPr lang="en-US" dirty="0">
                <a:latin typeface="Times New Roman" panose="02020603050405020304" pitchFamily="18" charset="0"/>
                <a:cs typeface="Times New Roman" panose="02020603050405020304" pitchFamily="18" charset="0"/>
              </a:rPr>
              <a:t>	Executive Manager/ sales manager/ Marketing Manager,</a:t>
            </a:r>
          </a:p>
          <a:p>
            <a:pPr>
              <a:buNone/>
            </a:pPr>
            <a:r>
              <a:rPr lang="en-US" dirty="0">
                <a:latin typeface="Times New Roman" panose="02020603050405020304" pitchFamily="18" charset="0"/>
                <a:cs typeface="Times New Roman" panose="02020603050405020304" pitchFamily="18" charset="0"/>
              </a:rPr>
              <a:t>	ABC Suppliers &amp; Co.</a:t>
            </a:r>
          </a:p>
          <a:p>
            <a:pPr>
              <a:buNone/>
            </a:pPr>
            <a:r>
              <a:rPr lang="en-US" dirty="0">
                <a:latin typeface="Times New Roman" panose="02020603050405020304" pitchFamily="18" charset="0"/>
                <a:cs typeface="Times New Roman" panose="02020603050405020304" pitchFamily="18" charset="0"/>
              </a:rPr>
              <a:t>	New </a:t>
            </a:r>
            <a:r>
              <a:rPr lang="en-US" dirty="0" err="1">
                <a:latin typeface="Times New Roman" panose="02020603050405020304" pitchFamily="18" charset="0"/>
                <a:cs typeface="Times New Roman" panose="02020603050405020304" pitchFamily="18" charset="0"/>
              </a:rPr>
              <a:t>Baneswor</a:t>
            </a:r>
            <a:r>
              <a:rPr lang="en-US" dirty="0">
                <a:latin typeface="Times New Roman" panose="02020603050405020304" pitchFamily="18" charset="0"/>
                <a:cs typeface="Times New Roman" panose="02020603050405020304" pitchFamily="18" charset="0"/>
              </a:rPr>
              <a:t>, Kathmandu</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Subject: </a:t>
            </a:r>
            <a:r>
              <a:rPr lang="en-US" b="1" i="1" dirty="0">
                <a:latin typeface="Times New Roman" panose="02020603050405020304" pitchFamily="18" charset="0"/>
                <a:cs typeface="Times New Roman" panose="02020603050405020304" pitchFamily="18" charset="0"/>
              </a:rPr>
              <a:t>Complaint Letter to Supplier for Damaged Goods.</a:t>
            </a:r>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Dear Mr. Pandey,</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p>
          <a:p>
            <a:pPr>
              <a:buNone/>
            </a:pPr>
            <a:r>
              <a:rPr lang="en-US" dirty="0"/>
              <a:t>	</a:t>
            </a:r>
          </a:p>
          <a:p>
            <a:pPr>
              <a:buNone/>
            </a:pPr>
            <a:r>
              <a:rPr lang="en-US" dirty="0"/>
              <a:t>								…………….</a:t>
            </a:r>
            <a:endParaRPr lang="en-GB" dirty="0"/>
          </a:p>
        </p:txBody>
      </p:sp>
    </p:spTree>
    <p:extLst>
      <p:ext uri="{BB962C8B-B14F-4D97-AF65-F5344CB8AC3E}">
        <p14:creationId xmlns:p14="http://schemas.microsoft.com/office/powerpoint/2010/main" val="399210225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E911F2-9698-4FED-A5C9-77EEC862FB40}"/>
              </a:ext>
            </a:extLst>
          </p:cNvPr>
          <p:cNvSpPr>
            <a:spLocks noGrp="1"/>
          </p:cNvSpPr>
          <p:nvPr>
            <p:ph type="title"/>
          </p:nvPr>
        </p:nvSpPr>
        <p:spPr>
          <a:xfrm>
            <a:off x="1981200" y="274639"/>
            <a:ext cx="8229600" cy="457199"/>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8B357527-62CB-4484-A540-B09EB2E7AA4D}"/>
              </a:ext>
            </a:extLst>
          </p:cNvPr>
          <p:cNvSpPr>
            <a:spLocks noGrp="1"/>
          </p:cNvSpPr>
          <p:nvPr>
            <p:ph idx="1"/>
          </p:nvPr>
        </p:nvSpPr>
        <p:spPr>
          <a:xfrm>
            <a:off x="744071" y="914400"/>
            <a:ext cx="10973447" cy="5668962"/>
          </a:xfrm>
        </p:spPr>
        <p:txBody>
          <a:bodyPr>
            <a:normAutofit fontScale="85000" lnSpcReduction="10000"/>
          </a:bodyPr>
          <a:lstStyle/>
          <a:p>
            <a:pPr>
              <a:buNone/>
            </a:pPr>
            <a:r>
              <a:rPr lang="en-US" dirty="0"/>
              <a:t>	</a:t>
            </a:r>
            <a:r>
              <a:rPr lang="en-US" dirty="0">
                <a:solidFill>
                  <a:srgbClr val="FF0000"/>
                </a:solidFill>
                <a:latin typeface="Times New Roman" panose="02020603050405020304" pitchFamily="18" charset="0"/>
                <a:cs typeface="Times New Roman" panose="02020603050405020304" pitchFamily="18" charset="0"/>
              </a:rPr>
              <a:t>I  ordered furniture for kitchen from your company</a:t>
            </a:r>
            <a:r>
              <a:rPr lang="en-US" dirty="0">
                <a:latin typeface="Times New Roman" panose="02020603050405020304" pitchFamily="18" charset="0"/>
                <a:cs typeface="Times New Roman" panose="02020603050405020304" pitchFamily="18" charset="0"/>
              </a:rPr>
              <a:t> via internet on…….. and my order number was 56b000. I received the furniture sets last night. I checked the entire sets and found that two tables and three chairs are broken and their surfaces are terribly scratched.</a:t>
            </a:r>
          </a:p>
          <a:p>
            <a:pPr>
              <a:buNone/>
            </a:pPr>
            <a:r>
              <a:rPr lang="en-US" dirty="0">
                <a:latin typeface="Times New Roman" panose="02020603050405020304" pitchFamily="18" charset="0"/>
                <a:cs typeface="Times New Roman" panose="02020603050405020304" pitchFamily="18" charset="0"/>
              </a:rPr>
              <a:t>	I had paid the cash via bank card but know I think I have not been served well. I am sending the broken and scratched furniture back to you with this letter. Please refund my money and there is also no need to send those furniture sets as I have bought them from local supplier herein.</a:t>
            </a:r>
          </a:p>
          <a:p>
            <a:pPr>
              <a:buNone/>
            </a:pPr>
            <a:r>
              <a:rPr lang="en-US" dirty="0">
                <a:latin typeface="Times New Roman" panose="02020603050405020304" pitchFamily="18" charset="0"/>
                <a:cs typeface="Times New Roman" panose="02020603050405020304" pitchFamily="18" charset="0"/>
              </a:rPr>
              <a:t>	Thank you for the time you have given to consider this letter. Please feel free to contact me on my number 9841500000 or you can email me on </a:t>
            </a:r>
            <a:r>
              <a:rPr lang="en-US" u="sng" dirty="0">
                <a:latin typeface="Times New Roman" panose="02020603050405020304" pitchFamily="18" charset="0"/>
                <a:cs typeface="Times New Roman" panose="02020603050405020304" pitchFamily="18" charset="0"/>
                <a:hlinkClick r:id="rId2"/>
              </a:rPr>
              <a:t>raj@outlok.com</a:t>
            </a:r>
            <a:r>
              <a:rPr lang="en-US" dirty="0">
                <a:latin typeface="Times New Roman" panose="02020603050405020304" pitchFamily="18" charset="0"/>
                <a:cs typeface="Times New Roman" panose="02020603050405020304" pitchFamily="18" charset="0"/>
              </a:rPr>
              <a:t>.</a:t>
            </a:r>
          </a:p>
          <a:p>
            <a:pPr>
              <a:buNone/>
            </a:pPr>
            <a:endParaRPr lang="en-US" dirty="0">
              <a:latin typeface="Times New Roman" panose="02020603050405020304" pitchFamily="18" charset="0"/>
              <a:cs typeface="Times New Roman" panose="02020603050405020304" pitchFamily="18" charset="0"/>
            </a:endParaRP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Yours sincerely,</a:t>
            </a:r>
          </a:p>
          <a:p>
            <a:pPr>
              <a:buNone/>
            </a:pPr>
            <a:r>
              <a:rPr lang="en-US" dirty="0">
                <a:latin typeface="Times New Roman" panose="02020603050405020304" pitchFamily="18" charset="0"/>
                <a:cs typeface="Times New Roman" panose="02020603050405020304" pitchFamily="18" charset="0"/>
              </a:rPr>
              <a:t> 	Rajkumar Sharma</a:t>
            </a:r>
          </a:p>
          <a:p>
            <a:pPr>
              <a:buNone/>
            </a:pP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86865649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72A789-A8D3-432B-ADDC-78E2A4438462}"/>
              </a:ext>
            </a:extLst>
          </p:cNvPr>
          <p:cNvSpPr>
            <a:spLocks noGrp="1"/>
          </p:cNvSpPr>
          <p:nvPr>
            <p:ph type="title"/>
          </p:nvPr>
        </p:nvSpPr>
        <p:spPr>
          <a:xfrm>
            <a:off x="1981200" y="274638"/>
            <a:ext cx="8229600" cy="258762"/>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C20F2ACD-2C1A-4E13-A01A-F699B7071BBA}"/>
              </a:ext>
            </a:extLst>
          </p:cNvPr>
          <p:cNvSpPr>
            <a:spLocks noGrp="1"/>
          </p:cNvSpPr>
          <p:nvPr>
            <p:ph idx="1"/>
          </p:nvPr>
        </p:nvSpPr>
        <p:spPr>
          <a:xfrm>
            <a:off x="1317812" y="533400"/>
            <a:ext cx="10786203" cy="6172200"/>
          </a:xfrm>
        </p:spPr>
        <p:txBody>
          <a:bodyPr>
            <a:normAutofit fontScale="77500" lnSpcReduction="20000"/>
          </a:bodyPr>
          <a:lstStyle/>
          <a:p>
            <a:pPr>
              <a:buNone/>
            </a:pPr>
            <a:endParaRPr lang="en-US" b="1" dirty="0"/>
          </a:p>
          <a:p>
            <a:pPr>
              <a:buNone/>
            </a:pPr>
            <a:r>
              <a:rPr lang="en-US" b="1" dirty="0"/>
              <a:t>	</a:t>
            </a:r>
            <a:r>
              <a:rPr lang="en-US" b="1" dirty="0">
                <a:solidFill>
                  <a:srgbClr val="002060"/>
                </a:solidFill>
              </a:rPr>
              <a:t>Sample : </a:t>
            </a:r>
            <a:r>
              <a:rPr lang="en-US" b="1" i="1" dirty="0">
                <a:solidFill>
                  <a:srgbClr val="002060"/>
                </a:solidFill>
              </a:rPr>
              <a:t>Claim Letter (Warranty Letter)</a:t>
            </a:r>
            <a:endParaRPr lang="en-US" dirty="0">
              <a:solidFill>
                <a:srgbClr val="002060"/>
              </a:solidFill>
            </a:endParaRPr>
          </a:p>
          <a:p>
            <a:pPr>
              <a:buNone/>
            </a:pPr>
            <a:r>
              <a:rPr lang="en-US" dirty="0"/>
              <a:t>	</a:t>
            </a:r>
          </a:p>
          <a:p>
            <a:pPr>
              <a:buNone/>
            </a:pPr>
            <a:r>
              <a:rPr lang="en-US" dirty="0"/>
              <a:t>	</a:t>
            </a:r>
            <a:r>
              <a:rPr lang="en-US" dirty="0">
                <a:latin typeface="Times New Roman" panose="02020603050405020304" pitchFamily="18" charset="0"/>
                <a:cs typeface="Times New Roman" panose="02020603050405020304" pitchFamily="18" charset="0"/>
              </a:rPr>
              <a:t>Lalitpur Municipality-14</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Bagdol</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Lalitpurm</a:t>
            </a:r>
            <a:r>
              <a:rPr lang="en-US" dirty="0">
                <a:latin typeface="Times New Roman" panose="02020603050405020304" pitchFamily="18" charset="0"/>
                <a:cs typeface="Times New Roman" panose="02020603050405020304" pitchFamily="18" charset="0"/>
              </a:rPr>
              <a:t> Nepal</a:t>
            </a:r>
          </a:p>
          <a:p>
            <a:pPr>
              <a:buNone/>
            </a:pPr>
            <a:r>
              <a:rPr lang="en-US" dirty="0">
                <a:latin typeface="Times New Roman" panose="02020603050405020304" pitchFamily="18" charset="0"/>
                <a:cs typeface="Times New Roman" panose="02020603050405020304" pitchFamily="18" charset="0"/>
              </a:rPr>
              <a:t>	September 11, 2018</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The Manager</a:t>
            </a:r>
          </a:p>
          <a:p>
            <a:pPr>
              <a:buNone/>
            </a:pPr>
            <a:r>
              <a:rPr lang="en-US" dirty="0">
                <a:latin typeface="Times New Roman" panose="02020603050405020304" pitchFamily="18" charset="0"/>
                <a:cs typeface="Times New Roman" panose="02020603050405020304" pitchFamily="18" charset="0"/>
              </a:rPr>
              <a:t>	The Claim Department</a:t>
            </a:r>
          </a:p>
          <a:p>
            <a:pPr>
              <a:buNone/>
            </a:pPr>
            <a:r>
              <a:rPr lang="en-US" dirty="0">
                <a:latin typeface="Times New Roman" panose="02020603050405020304" pitchFamily="18" charset="0"/>
                <a:cs typeface="Times New Roman" panose="02020603050405020304" pitchFamily="18" charset="0"/>
              </a:rPr>
              <a:t>	Dynamic Infotech,</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Putalisadak</a:t>
            </a:r>
            <a:r>
              <a:rPr lang="en-US" dirty="0">
                <a:latin typeface="Times New Roman" panose="02020603050405020304" pitchFamily="18" charset="0"/>
                <a:cs typeface="Times New Roman" panose="02020603050405020304" pitchFamily="18" charset="0"/>
              </a:rPr>
              <a:t>, Kathmandu</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Subject – Warranty Letter / repair of laptop</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Dear Mr. Gupta, </a:t>
            </a:r>
          </a:p>
          <a:p>
            <a:pPr>
              <a:buNone/>
            </a:pPr>
            <a:r>
              <a:rPr lang="en-US" dirty="0">
                <a:latin typeface="Times New Roman" panose="02020603050405020304" pitchFamily="18" charset="0"/>
                <a:cs typeface="Times New Roman" panose="02020603050405020304" pitchFamily="18" charset="0"/>
              </a:rPr>
              <a:t>	</a:t>
            </a:r>
          </a:p>
          <a:p>
            <a:pPr>
              <a:buNone/>
            </a:pPr>
            <a:r>
              <a:rPr lang="en-US" dirty="0"/>
              <a:t>								……………….</a:t>
            </a:r>
          </a:p>
        </p:txBody>
      </p:sp>
    </p:spTree>
    <p:extLst>
      <p:ext uri="{BB962C8B-B14F-4D97-AF65-F5344CB8AC3E}">
        <p14:creationId xmlns:p14="http://schemas.microsoft.com/office/powerpoint/2010/main" val="66364960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BDED474-65FA-4A3B-B411-F40A13993569}"/>
              </a:ext>
            </a:extLst>
          </p:cNvPr>
          <p:cNvSpPr>
            <a:spLocks noGrp="1"/>
          </p:cNvSpPr>
          <p:nvPr>
            <p:ph type="title"/>
          </p:nvPr>
        </p:nvSpPr>
        <p:spPr>
          <a:xfrm>
            <a:off x="1981200" y="274639"/>
            <a:ext cx="8229600" cy="457199"/>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2EFF4F2A-F92A-484C-9CA5-0EA748968175}"/>
              </a:ext>
            </a:extLst>
          </p:cNvPr>
          <p:cNvSpPr>
            <a:spLocks noGrp="1"/>
          </p:cNvSpPr>
          <p:nvPr>
            <p:ph idx="1"/>
          </p:nvPr>
        </p:nvSpPr>
        <p:spPr>
          <a:xfrm>
            <a:off x="690282" y="731838"/>
            <a:ext cx="11432587" cy="5998900"/>
          </a:xfrm>
        </p:spPr>
        <p:txBody>
          <a:bodyPr>
            <a:normAutofit/>
          </a:bodyPr>
          <a:lstStyle/>
          <a:p>
            <a:pPr>
              <a:buNone/>
            </a:pPr>
            <a:r>
              <a:rPr lang="en-US" dirty="0"/>
              <a:t>	</a:t>
            </a:r>
            <a:r>
              <a:rPr lang="en-US" dirty="0">
                <a:latin typeface="Times New Roman" panose="02020603050405020304" pitchFamily="18" charset="0"/>
                <a:cs typeface="Times New Roman" panose="02020603050405020304" pitchFamily="18" charset="0"/>
              </a:rPr>
              <a:t>I am writing this letter to you with regards to the repair of my laptop. The laptop is in the warranty period and hence I am requesting you to repair the same. There are many issues with the laptop. It reboots automatically, the mouse is inactive and the booting process is also very slow.</a:t>
            </a:r>
          </a:p>
          <a:p>
            <a:pPr>
              <a:buNone/>
            </a:pPr>
            <a:r>
              <a:rPr lang="en-US" dirty="0">
                <a:latin typeface="Times New Roman" panose="02020603050405020304" pitchFamily="18" charset="0"/>
                <a:cs typeface="Times New Roman" panose="02020603050405020304" pitchFamily="18" charset="0"/>
              </a:rPr>
              <a:t>	I have purchased the said laptop from your outlet on February 14, 2017, the order number being 007421. The warranty period is one year and hence you are requested to do the needful at the earliest. An earlier response is highly appreciated.</a:t>
            </a:r>
          </a:p>
          <a:p>
            <a:pPr>
              <a:buNone/>
            </a:pPr>
            <a:r>
              <a:rPr lang="en-US" dirty="0">
                <a:latin typeface="Times New Roman" panose="02020603050405020304" pitchFamily="18" charset="0"/>
                <a:cs typeface="Times New Roman" panose="02020603050405020304" pitchFamily="18" charset="0"/>
              </a:rPr>
              <a:t>	Looking forward for a positive reply from your side.</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Yours sincerely</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Dhruba</a:t>
            </a:r>
            <a:r>
              <a:rPr lang="en-US" dirty="0">
                <a:latin typeface="Times New Roman" panose="02020603050405020304" pitchFamily="18" charset="0"/>
                <a:cs typeface="Times New Roman" panose="02020603050405020304" pitchFamily="18" charset="0"/>
              </a:rPr>
              <a:t> Pun</a:t>
            </a:r>
          </a:p>
          <a:p>
            <a:endParaRPr lang="en-GB" dirty="0"/>
          </a:p>
        </p:txBody>
      </p:sp>
    </p:spTree>
    <p:extLst>
      <p:ext uri="{BB962C8B-B14F-4D97-AF65-F5344CB8AC3E}">
        <p14:creationId xmlns:p14="http://schemas.microsoft.com/office/powerpoint/2010/main" val="349357678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30E980B-D3F9-4F1F-80C1-85CD200ADD90}"/>
              </a:ext>
            </a:extLst>
          </p:cNvPr>
          <p:cNvSpPr>
            <a:spLocks noGrp="1"/>
          </p:cNvSpPr>
          <p:nvPr>
            <p:ph type="title"/>
          </p:nvPr>
        </p:nvSpPr>
        <p:spPr>
          <a:xfrm>
            <a:off x="1981200" y="533400"/>
            <a:ext cx="8229600" cy="685800"/>
          </a:xfrm>
        </p:spPr>
        <p:txBody>
          <a:bodyPr>
            <a:noAutofit/>
          </a:bodyPr>
          <a:lstStyle/>
          <a:p>
            <a:r>
              <a:rPr lang="en-US" sz="2800" dirty="0"/>
              <a:t/>
            </a:r>
            <a:br>
              <a:rPr lang="en-US" sz="2800" dirty="0"/>
            </a:br>
            <a:r>
              <a:rPr lang="en-US" sz="2800" b="1" i="1" dirty="0">
                <a:solidFill>
                  <a:srgbClr val="002060"/>
                </a:solidFill>
              </a:rPr>
              <a:t>A Letter Requesting a Refund for a Faulty Item</a:t>
            </a:r>
            <a:r>
              <a:rPr lang="en-US" sz="2800" dirty="0"/>
              <a:t/>
            </a:r>
            <a:br>
              <a:rPr lang="en-US" sz="2800" dirty="0"/>
            </a:br>
            <a:endParaRPr lang="en-GB" sz="2800" dirty="0"/>
          </a:p>
        </p:txBody>
      </p:sp>
      <p:sp>
        <p:nvSpPr>
          <p:cNvPr id="3" name="Content Placeholder 2">
            <a:extLst>
              <a:ext uri="{FF2B5EF4-FFF2-40B4-BE49-F238E27FC236}">
                <a16:creationId xmlns:a16="http://schemas.microsoft.com/office/drawing/2014/main" xmlns="" id="{376D5FAC-1F4A-4AED-A2AB-6C07E0676A3C}"/>
              </a:ext>
            </a:extLst>
          </p:cNvPr>
          <p:cNvSpPr>
            <a:spLocks noGrp="1"/>
          </p:cNvSpPr>
          <p:nvPr>
            <p:ph idx="1"/>
          </p:nvPr>
        </p:nvSpPr>
        <p:spPr>
          <a:xfrm>
            <a:off x="1030941" y="1066800"/>
            <a:ext cx="10997661" cy="5562600"/>
          </a:xfrm>
        </p:spPr>
        <p:txBody>
          <a:bodyPr>
            <a:noAutofit/>
          </a:bodyPr>
          <a:lstStyle/>
          <a:p>
            <a:pPr marL="0" indent="0">
              <a:buNone/>
            </a:pPr>
            <a:r>
              <a:rPr lang="en-US" sz="2400" dirty="0"/>
              <a:t>     </a:t>
            </a:r>
            <a:r>
              <a:rPr lang="en-US" sz="2400" dirty="0">
                <a:latin typeface="Times New Roman" panose="02020603050405020304" pitchFamily="18" charset="0"/>
                <a:cs typeface="Times New Roman" panose="02020603050405020304" pitchFamily="18" charset="0"/>
              </a:rPr>
              <a:t>John </a:t>
            </a:r>
            <a:r>
              <a:rPr lang="en-US" sz="2400" dirty="0" err="1">
                <a:latin typeface="Times New Roman" panose="02020603050405020304" pitchFamily="18" charset="0"/>
                <a:cs typeface="Times New Roman" panose="02020603050405020304" pitchFamily="18" charset="0"/>
              </a:rPr>
              <a:t>Maharjan</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LMC-10, </a:t>
            </a:r>
            <a:r>
              <a:rPr lang="en-US" sz="2400" dirty="0" err="1">
                <a:latin typeface="Times New Roman" panose="02020603050405020304" pitchFamily="18" charset="0"/>
                <a:cs typeface="Times New Roman" panose="02020603050405020304" pitchFamily="18" charset="0"/>
              </a:rPr>
              <a:t>Nakhhu</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Telephone: 5555543</a:t>
            </a:r>
          </a:p>
          <a:p>
            <a:pPr>
              <a:buNone/>
            </a:pPr>
            <a:r>
              <a:rPr lang="en-US" sz="2400" dirty="0">
                <a:latin typeface="Times New Roman" panose="02020603050405020304" pitchFamily="18" charset="0"/>
                <a:cs typeface="Times New Roman" panose="02020603050405020304" pitchFamily="18" charset="0"/>
              </a:rPr>
              <a:t>	Email: </a:t>
            </a:r>
            <a:r>
              <a:rPr lang="en-US" sz="2400" u="sng" dirty="0">
                <a:latin typeface="Times New Roman" panose="02020603050405020304" pitchFamily="18" charset="0"/>
                <a:cs typeface="Times New Roman" panose="02020603050405020304" pitchFamily="18" charset="0"/>
                <a:hlinkClick r:id="rId2"/>
              </a:rPr>
              <a:t>maharjanjohn@gmail.com</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30 June 2017</a:t>
            </a:r>
          </a:p>
          <a:p>
            <a:pPr>
              <a:buNone/>
            </a:pPr>
            <a:r>
              <a:rPr lang="en-US" sz="2400" dirty="0">
                <a:latin typeface="Times New Roman" panose="02020603050405020304" pitchFamily="18" charset="0"/>
                <a:cs typeface="Times New Roman" panose="02020603050405020304" pitchFamily="18" charset="0"/>
              </a:rPr>
              <a:t>	</a:t>
            </a:r>
          </a:p>
          <a:p>
            <a:pPr>
              <a:buNone/>
            </a:pPr>
            <a:r>
              <a:rPr lang="en-US" sz="2400" dirty="0">
                <a:latin typeface="Times New Roman" panose="02020603050405020304" pitchFamily="18" charset="0"/>
                <a:cs typeface="Times New Roman" panose="02020603050405020304" pitchFamily="18" charset="0"/>
              </a:rPr>
              <a:t>	Deepak Sapkota</a:t>
            </a:r>
          </a:p>
          <a:p>
            <a:pPr>
              <a:buNone/>
            </a:pPr>
            <a:r>
              <a:rPr lang="en-US" sz="2400" dirty="0">
                <a:latin typeface="Times New Roman" panose="02020603050405020304" pitchFamily="18" charset="0"/>
                <a:cs typeface="Times New Roman" panose="02020603050405020304" pitchFamily="18" charset="0"/>
              </a:rPr>
              <a:t>	General Service Manager</a:t>
            </a:r>
          </a:p>
          <a:p>
            <a:pPr>
              <a:buNone/>
            </a:pPr>
            <a:r>
              <a:rPr lang="en-US" sz="2400" dirty="0">
                <a:latin typeface="Times New Roman" panose="02020603050405020304" pitchFamily="18" charset="0"/>
                <a:cs typeface="Times New Roman" panose="02020603050405020304" pitchFamily="18" charset="0"/>
              </a:rPr>
              <a:t>	Excel Electrical Goods</a:t>
            </a:r>
          </a:p>
          <a:p>
            <a:pPr>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Putalisadk</a:t>
            </a:r>
            <a:r>
              <a:rPr lang="en-US" sz="2400" dirty="0">
                <a:latin typeface="Times New Roman" panose="02020603050405020304" pitchFamily="18" charset="0"/>
                <a:cs typeface="Times New Roman" panose="02020603050405020304" pitchFamily="18" charset="0"/>
              </a:rPr>
              <a:t>, Kathmandu</a:t>
            </a:r>
          </a:p>
          <a:p>
            <a:pPr>
              <a:buNone/>
            </a:pPr>
            <a:r>
              <a:rPr lang="en-US" sz="2400" dirty="0">
                <a:latin typeface="Times New Roman" panose="02020603050405020304" pitchFamily="18" charset="0"/>
                <a:cs typeface="Times New Roman" panose="02020603050405020304" pitchFamily="18" charset="0"/>
              </a:rPr>
              <a:t>	</a:t>
            </a:r>
          </a:p>
          <a:p>
            <a:pPr>
              <a:buNone/>
            </a:pPr>
            <a:r>
              <a:rPr lang="en-US" sz="2400" dirty="0">
                <a:latin typeface="Times New Roman" panose="02020603050405020304" pitchFamily="18" charset="0"/>
                <a:cs typeface="Times New Roman" panose="02020603050405020304" pitchFamily="18" charset="0"/>
              </a:rPr>
              <a:t>	Subject: Faulty Speedy Coffee Machine</a:t>
            </a:r>
          </a:p>
          <a:p>
            <a:pPr>
              <a:buNone/>
            </a:pPr>
            <a:r>
              <a:rPr lang="en-US" sz="2400" dirty="0">
                <a:latin typeface="Times New Roman" panose="02020603050405020304" pitchFamily="18" charset="0"/>
                <a:cs typeface="Times New Roman" panose="02020603050405020304" pitchFamily="18" charset="0"/>
              </a:rPr>
              <a:t>	</a:t>
            </a:r>
          </a:p>
          <a:p>
            <a:pPr>
              <a:buNone/>
            </a:pPr>
            <a:r>
              <a:rPr lang="en-US" sz="2400" dirty="0"/>
              <a:t>	</a:t>
            </a:r>
          </a:p>
          <a:p>
            <a:pPr>
              <a:buNone/>
            </a:pPr>
            <a:r>
              <a:rPr lang="en-US" sz="2400" dirty="0"/>
              <a:t>	</a:t>
            </a:r>
            <a:endParaRPr lang="en-GB" sz="2400" dirty="0"/>
          </a:p>
        </p:txBody>
      </p:sp>
    </p:spTree>
    <p:extLst>
      <p:ext uri="{BB962C8B-B14F-4D97-AF65-F5344CB8AC3E}">
        <p14:creationId xmlns:p14="http://schemas.microsoft.com/office/powerpoint/2010/main" val="32913918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CAE3A00-E71D-4B43-A9A2-3B3A154690FF}"/>
              </a:ext>
            </a:extLst>
          </p:cNvPr>
          <p:cNvSpPr>
            <a:spLocks noGrp="1"/>
          </p:cNvSpPr>
          <p:nvPr>
            <p:ph type="title"/>
          </p:nvPr>
        </p:nvSpPr>
        <p:spPr>
          <a:xfrm>
            <a:off x="1981200" y="274638"/>
            <a:ext cx="8229600" cy="182562"/>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DCACAAE6-C510-41B3-B6AD-65F52E1ECA50}"/>
              </a:ext>
            </a:extLst>
          </p:cNvPr>
          <p:cNvSpPr>
            <a:spLocks noGrp="1"/>
          </p:cNvSpPr>
          <p:nvPr>
            <p:ph idx="1"/>
          </p:nvPr>
        </p:nvSpPr>
        <p:spPr>
          <a:xfrm>
            <a:off x="457201" y="685800"/>
            <a:ext cx="11486560" cy="6019800"/>
          </a:xfrm>
        </p:spPr>
        <p:txBody>
          <a:bodyPr>
            <a:noAutofit/>
          </a:bodyPr>
          <a:lstStyle/>
          <a:p>
            <a:pPr>
              <a:buNone/>
            </a:pPr>
            <a:r>
              <a:rPr lang="en-US" sz="1800" dirty="0"/>
              <a:t>	</a:t>
            </a:r>
          </a:p>
          <a:p>
            <a:pPr>
              <a:buNone/>
            </a:pPr>
            <a:r>
              <a:rPr lang="en-US" sz="1800" dirty="0"/>
              <a:t>	</a:t>
            </a:r>
            <a:r>
              <a:rPr lang="en-US" sz="2000" dirty="0">
                <a:latin typeface="Times New Roman" panose="02020603050405020304" pitchFamily="18" charset="0"/>
                <a:cs typeface="Times New Roman" panose="02020603050405020304" pitchFamily="18" charset="0"/>
              </a:rPr>
              <a:t>Dear Mr. Sapkota,</a:t>
            </a:r>
          </a:p>
          <a:p>
            <a:pPr>
              <a:buNone/>
            </a:pPr>
            <a:endParaRPr lang="en-US" sz="2000" dirty="0">
              <a:latin typeface="Times New Roman" panose="02020603050405020304" pitchFamily="18" charset="0"/>
              <a:cs typeface="Times New Roman" panose="02020603050405020304" pitchFamily="18" charset="0"/>
            </a:endParaRPr>
          </a:p>
          <a:p>
            <a:pPr>
              <a:buNone/>
            </a:pPr>
            <a:r>
              <a:rPr lang="en-US" sz="2000" dirty="0">
                <a:latin typeface="Times New Roman" panose="02020603050405020304" pitchFamily="18" charset="0"/>
                <a:cs typeface="Times New Roman" panose="02020603050405020304" pitchFamily="18" charset="0"/>
              </a:rPr>
              <a:t>	On May 31, 2017, I purchased a speedy coffee machine from your store for Rs. 13,000 with serial number 2900555. The machine was advertised as being 'on sale'. Please find copies of my receipt and the warranty attached.</a:t>
            </a:r>
          </a:p>
          <a:p>
            <a:pPr>
              <a:buNone/>
            </a:pPr>
            <a:r>
              <a:rPr lang="en-US" sz="2000" dirty="0">
                <a:latin typeface="Times New Roman" panose="02020603050405020304" pitchFamily="18" charset="0"/>
                <a:cs typeface="Times New Roman" panose="02020603050405020304" pitchFamily="18" charset="0"/>
              </a:rPr>
              <a:t>	I used the machine for two weeks with no problems. On June 15, 2017 the machine stopped working. I checked the user manual and followed all the steps listed in the trouble-shooting guide, but nothing helped. The machine appears to be faulty and is now unfit for its purpose-that is, it no longer makes coffee.</a:t>
            </a:r>
          </a:p>
          <a:p>
            <a:pPr>
              <a:buNone/>
            </a:pPr>
            <a:r>
              <a:rPr lang="en-US" sz="2000" dirty="0">
                <a:latin typeface="Times New Roman" panose="02020603050405020304" pitchFamily="18" charset="0"/>
                <a:cs typeface="Times New Roman" panose="02020603050405020304" pitchFamily="18" charset="0"/>
              </a:rPr>
              <a:t>	I returned to your store with the machine on 17 June 2017 and asked your sales representative, if he could repair the machine, or replace it with a new item.</a:t>
            </a:r>
          </a:p>
          <a:p>
            <a:pPr>
              <a:buNone/>
            </a:pPr>
            <a:r>
              <a:rPr lang="en-US" sz="2000" dirty="0">
                <a:latin typeface="Times New Roman" panose="02020603050405020304" pitchFamily="18" charset="0"/>
                <a:cs typeface="Times New Roman" panose="02020603050405020304" pitchFamily="18" charset="0"/>
              </a:rPr>
              <a:t>	He inspected the machine and found it was irreparable. As it was a discontinued model and your store no longer had any in stock. I wanted the coffee machine replaced with a machine of equal value, or my money refunded. Your sales representative advised that he could not offer me anything, as the coffee machine was on sale and your store does not offer refunds on sale items.</a:t>
            </a:r>
          </a:p>
          <a:p>
            <a:pPr>
              <a:buNone/>
            </a:pPr>
            <a:r>
              <a:rPr lang="en-US" sz="2000" dirty="0">
                <a:latin typeface="Times New Roman" panose="02020603050405020304" pitchFamily="18" charset="0"/>
                <a:cs typeface="Times New Roman" panose="02020603050405020304" pitchFamily="18" charset="0"/>
              </a:rPr>
              <a:t>	</a:t>
            </a:r>
            <a:endParaRPr lang="en-GB"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256889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03FAD7-EF7D-4E30-81A9-723D8862E6CD}"/>
              </a:ext>
            </a:extLst>
          </p:cNvPr>
          <p:cNvSpPr>
            <a:spLocks noGrp="1"/>
          </p:cNvSpPr>
          <p:nvPr>
            <p:ph type="title"/>
          </p:nvPr>
        </p:nvSpPr>
        <p:spPr/>
        <p:txBody>
          <a:bodyPr/>
          <a:lstStyle/>
          <a:p>
            <a:r>
              <a:rPr lang="en-GB" dirty="0"/>
              <a:t>.</a:t>
            </a:r>
          </a:p>
        </p:txBody>
      </p:sp>
      <p:sp>
        <p:nvSpPr>
          <p:cNvPr id="3" name="Content Placeholder 2">
            <a:extLst>
              <a:ext uri="{FF2B5EF4-FFF2-40B4-BE49-F238E27FC236}">
                <a16:creationId xmlns:a16="http://schemas.microsoft.com/office/drawing/2014/main" xmlns="" id="{A3A84523-4863-4D58-990C-61DF6D49696B}"/>
              </a:ext>
            </a:extLst>
          </p:cNvPr>
          <p:cNvSpPr>
            <a:spLocks noGrp="1"/>
          </p:cNvSpPr>
          <p:nvPr>
            <p:ph idx="1"/>
          </p:nvPr>
        </p:nvSpPr>
        <p:spPr>
          <a:xfrm>
            <a:off x="412377" y="1825625"/>
            <a:ext cx="11484250" cy="4351338"/>
          </a:xfrm>
        </p:spPr>
        <p:txBody>
          <a:bodyPr>
            <a:normAutofit fontScale="92500" lnSpcReduction="10000"/>
          </a:bodyPr>
          <a:lstStyle/>
          <a:p>
            <a:pPr>
              <a:buNone/>
            </a:pPr>
            <a:r>
              <a:rPr lang="en-US" dirty="0"/>
              <a:t>	</a:t>
            </a:r>
            <a:r>
              <a:rPr lang="en-US" dirty="0">
                <a:latin typeface="Times New Roman" panose="02020603050405020304" pitchFamily="18" charset="0"/>
                <a:cs typeface="Times New Roman" panose="02020603050405020304" pitchFamily="18" charset="0"/>
              </a:rPr>
              <a:t>I am within my rights to request a refund for a faulty product. I would like to return the coffee machine to your store for a full refund of the purchase price. I would appreciate this matter being resolved within the next 10 business days.</a:t>
            </a:r>
          </a:p>
          <a:p>
            <a:pPr>
              <a:buNone/>
            </a:pPr>
            <a:r>
              <a:rPr lang="en-US" dirty="0">
                <a:latin typeface="Times New Roman" panose="02020603050405020304" pitchFamily="18" charset="0"/>
                <a:cs typeface="Times New Roman" panose="02020603050405020304" pitchFamily="18" charset="0"/>
              </a:rPr>
              <a:t>	If I do not hear from you within 10 business days, I will forward my complaint to Consumer Affairs Center for further advice.</a:t>
            </a:r>
          </a:p>
          <a:p>
            <a:pPr>
              <a:buNone/>
            </a:pPr>
            <a:r>
              <a:rPr lang="en-US" dirty="0">
                <a:latin typeface="Times New Roman" panose="02020603050405020304" pitchFamily="18" charset="0"/>
                <a:cs typeface="Times New Roman" panose="02020603050405020304" pitchFamily="18" charset="0"/>
              </a:rPr>
              <a:t>	Please contact me by telephone or email( details provided above) at any time to discuss this letter.</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Your sincerely,</a:t>
            </a:r>
          </a:p>
          <a:p>
            <a:pPr>
              <a:buNone/>
            </a:pPr>
            <a:r>
              <a:rPr lang="en-US" dirty="0">
                <a:latin typeface="Times New Roman" panose="02020603050405020304" pitchFamily="18" charset="0"/>
                <a:cs typeface="Times New Roman" panose="02020603050405020304" pitchFamily="18" charset="0"/>
              </a:rPr>
              <a:t> 	John </a:t>
            </a:r>
            <a:r>
              <a:rPr lang="en-US" dirty="0" err="1">
                <a:latin typeface="Times New Roman" panose="02020603050405020304" pitchFamily="18" charset="0"/>
                <a:cs typeface="Times New Roman" panose="02020603050405020304" pitchFamily="18" charset="0"/>
              </a:rPr>
              <a:t>Maharjan</a:t>
            </a:r>
            <a:endParaRPr lang="en-US" dirty="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1322904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
            </a:r>
          </a:p>
        </p:txBody>
      </p:sp>
      <p:sp>
        <p:nvSpPr>
          <p:cNvPr id="3" name="Content Placeholder 2"/>
          <p:cNvSpPr>
            <a:spLocks noGrp="1"/>
          </p:cNvSpPr>
          <p:nvPr>
            <p:ph idx="1"/>
          </p:nvPr>
        </p:nvSpPr>
        <p:spPr/>
        <p:txBody>
          <a:bodyPr/>
          <a:lstStyle/>
          <a:p>
            <a:pPr marL="0" indent="0">
              <a:buNone/>
            </a:pPr>
            <a:endParaRPr lang="en-GB" dirty="0"/>
          </a:p>
          <a:p>
            <a:pPr marL="0" indent="0">
              <a:buNone/>
            </a:pPr>
            <a:endParaRPr lang="en-GB" dirty="0"/>
          </a:p>
          <a:p>
            <a:pPr marL="0" indent="0" algn="ctr">
              <a:buNone/>
            </a:pPr>
            <a:r>
              <a:rPr lang="en-GB" sz="6000" b="1" dirty="0">
                <a:solidFill>
                  <a:srgbClr val="002060"/>
                </a:solidFill>
                <a:latin typeface="Times New Roman" panose="02020603050405020304" pitchFamily="18" charset="0"/>
                <a:cs typeface="Times New Roman" panose="02020603050405020304" pitchFamily="18" charset="0"/>
              </a:rPr>
              <a:t>Inquiry Letter</a:t>
            </a:r>
          </a:p>
        </p:txBody>
      </p:sp>
    </p:spTree>
    <p:extLst>
      <p:ext uri="{BB962C8B-B14F-4D97-AF65-F5344CB8AC3E}">
        <p14:creationId xmlns:p14="http://schemas.microsoft.com/office/powerpoint/2010/main" val="181421067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26F4A4-DB11-40A5-83F0-4332502D79F2}"/>
              </a:ext>
            </a:extLst>
          </p:cNvPr>
          <p:cNvSpPr>
            <a:spLocks noGrp="1"/>
          </p:cNvSpPr>
          <p:nvPr>
            <p:ph type="title"/>
          </p:nvPr>
        </p:nvSpPr>
        <p:spPr>
          <a:xfrm>
            <a:off x="1981200" y="218662"/>
            <a:ext cx="8229600" cy="390939"/>
          </a:xfrm>
        </p:spPr>
        <p:txBody>
          <a:bodyPr>
            <a:normAutofit fontScale="90000"/>
          </a:bodyPr>
          <a:lstStyle/>
          <a:p>
            <a:r>
              <a:rPr lang="en-US" dirty="0"/>
              <a:t> </a:t>
            </a:r>
            <a:r>
              <a:rPr lang="en-US" sz="3600" b="1" dirty="0"/>
              <a:t>..</a:t>
            </a:r>
            <a:endParaRPr lang="en-GB" sz="3600" b="1" dirty="0"/>
          </a:p>
        </p:txBody>
      </p:sp>
      <p:sp>
        <p:nvSpPr>
          <p:cNvPr id="3" name="Content Placeholder 2">
            <a:extLst>
              <a:ext uri="{FF2B5EF4-FFF2-40B4-BE49-F238E27FC236}">
                <a16:creationId xmlns:a16="http://schemas.microsoft.com/office/drawing/2014/main" xmlns="" id="{2AE01AFB-F967-487E-9899-BEF077B5C7F9}"/>
              </a:ext>
            </a:extLst>
          </p:cNvPr>
          <p:cNvSpPr>
            <a:spLocks noGrp="1"/>
          </p:cNvSpPr>
          <p:nvPr>
            <p:ph idx="1"/>
          </p:nvPr>
        </p:nvSpPr>
        <p:spPr>
          <a:xfrm>
            <a:off x="457201" y="609601"/>
            <a:ext cx="11382866" cy="6111710"/>
          </a:xfrm>
        </p:spPr>
        <p:txBody>
          <a:bodyPr>
            <a:normAutofit fontScale="70000" lnSpcReduction="20000"/>
          </a:bodyPr>
          <a:lstStyle/>
          <a:p>
            <a:pPr>
              <a:buNone/>
            </a:pPr>
            <a:r>
              <a:rPr lang="en-US" dirty="0"/>
              <a:t>	</a:t>
            </a:r>
          </a:p>
          <a:p>
            <a:pPr>
              <a:buNone/>
            </a:pPr>
            <a:r>
              <a:rPr lang="en-US" dirty="0"/>
              <a:t>	</a:t>
            </a:r>
            <a:r>
              <a:rPr lang="en-US" b="1" dirty="0">
                <a:latin typeface="Times New Roman" panose="02020603050405020304" pitchFamily="18" charset="0"/>
                <a:cs typeface="Times New Roman" panose="02020603050405020304" pitchFamily="18" charset="0"/>
              </a:rPr>
              <a:t>A </a:t>
            </a:r>
            <a:r>
              <a:rPr lang="en-US" b="1" i="1" dirty="0">
                <a:latin typeface="Times New Roman" panose="02020603050405020304" pitchFamily="18" charset="0"/>
                <a:cs typeface="Times New Roman" panose="02020603050405020304" pitchFamily="18" charset="0"/>
              </a:rPr>
              <a:t>letter  to the owner of a hotel requesting a family reservation for your holiday</a:t>
            </a:r>
            <a:endParaRPr lang="en-US" b="1"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Bhakatpur</a:t>
            </a:r>
            <a:r>
              <a:rPr lang="en-US" dirty="0">
                <a:latin typeface="Times New Roman" panose="02020603050405020304" pitchFamily="18" charset="0"/>
                <a:cs typeface="Times New Roman" panose="02020603050405020304" pitchFamily="18" charset="0"/>
              </a:rPr>
              <a:t> Municipality-18</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Suryabinayak</a:t>
            </a:r>
            <a:r>
              <a:rPr lang="en-US" dirty="0">
                <a:latin typeface="Times New Roman" panose="02020603050405020304" pitchFamily="18" charset="0"/>
                <a:cs typeface="Times New Roman" panose="02020603050405020304" pitchFamily="18" charset="0"/>
              </a:rPr>
              <a:t>, Nepal</a:t>
            </a:r>
          </a:p>
          <a:p>
            <a:pPr>
              <a:buNone/>
            </a:pPr>
            <a:r>
              <a:rPr lang="en-US" dirty="0">
                <a:latin typeface="Times New Roman" panose="02020603050405020304" pitchFamily="18" charset="0"/>
                <a:cs typeface="Times New Roman" panose="02020603050405020304" pitchFamily="18" charset="0"/>
              </a:rPr>
              <a:t>	April 10, 2018</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The Manager </a:t>
            </a:r>
          </a:p>
          <a:p>
            <a:pPr>
              <a:buNone/>
            </a:pPr>
            <a:r>
              <a:rPr lang="en-US" dirty="0">
                <a:latin typeface="Times New Roman" panose="02020603050405020304" pitchFamily="18" charset="0"/>
                <a:cs typeface="Times New Roman" panose="02020603050405020304" pitchFamily="18" charset="0"/>
              </a:rPr>
              <a:t>	The Crown Hotel</a:t>
            </a:r>
          </a:p>
          <a:p>
            <a:pPr>
              <a:buNone/>
            </a:pPr>
            <a:r>
              <a:rPr lang="en-US" dirty="0">
                <a:latin typeface="Times New Roman" panose="02020603050405020304" pitchFamily="18" charset="0"/>
                <a:cs typeface="Times New Roman" panose="02020603050405020304" pitchFamily="18" charset="0"/>
              </a:rPr>
              <a:t>	KMC-20,Darbarmarg</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Kathmandu,Nepal</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Subject: Reservation of a room</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Dear sir,</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a:t>
            </a:r>
          </a:p>
          <a:p>
            <a:pPr>
              <a:buNone/>
            </a:pPr>
            <a:endParaRPr lang="en-US" dirty="0"/>
          </a:p>
          <a:p>
            <a:endParaRPr lang="en-GB" dirty="0"/>
          </a:p>
        </p:txBody>
      </p:sp>
    </p:spTree>
    <p:extLst>
      <p:ext uri="{BB962C8B-B14F-4D97-AF65-F5344CB8AC3E}">
        <p14:creationId xmlns:p14="http://schemas.microsoft.com/office/powerpoint/2010/main" val="110474305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C94DCC-2799-448B-BDF3-DF40A7063EDC}"/>
              </a:ext>
            </a:extLst>
          </p:cNvPr>
          <p:cNvSpPr>
            <a:spLocks noGrp="1"/>
          </p:cNvSpPr>
          <p:nvPr>
            <p:ph type="title"/>
          </p:nvPr>
        </p:nvSpPr>
        <p:spPr/>
        <p:txBody>
          <a:bodyPr/>
          <a:lstStyle/>
          <a:p>
            <a:r>
              <a:rPr lang="en-GB" dirty="0"/>
              <a:t>.</a:t>
            </a:r>
          </a:p>
        </p:txBody>
      </p:sp>
      <p:sp>
        <p:nvSpPr>
          <p:cNvPr id="3" name="Content Placeholder 2">
            <a:extLst>
              <a:ext uri="{FF2B5EF4-FFF2-40B4-BE49-F238E27FC236}">
                <a16:creationId xmlns:a16="http://schemas.microsoft.com/office/drawing/2014/main" xmlns="" id="{EE0BFAD2-CBC4-4989-BA03-9AD28A9A2B4B}"/>
              </a:ext>
            </a:extLst>
          </p:cNvPr>
          <p:cNvSpPr>
            <a:spLocks noGrp="1"/>
          </p:cNvSpPr>
          <p:nvPr>
            <p:ph idx="1"/>
          </p:nvPr>
        </p:nvSpPr>
        <p:spPr>
          <a:xfrm>
            <a:off x="493060" y="1825625"/>
            <a:ext cx="10860740" cy="4351338"/>
          </a:xfrm>
        </p:spPr>
        <p:txBody>
          <a:bodyPr>
            <a:normAutofit fontScale="92500" lnSpcReduction="10000"/>
          </a:bodyPr>
          <a:lstStyle/>
          <a:p>
            <a:pPr>
              <a:buNone/>
            </a:pPr>
            <a:r>
              <a:rPr lang="en-US" dirty="0"/>
              <a:t>	</a:t>
            </a:r>
            <a:r>
              <a:rPr lang="en-US" dirty="0">
                <a:latin typeface="Times New Roman" panose="02020603050405020304" pitchFamily="18" charset="0"/>
                <a:cs typeface="Times New Roman" panose="02020603050405020304" pitchFamily="18" charset="0"/>
              </a:rPr>
              <a:t>We  would like to stay a week at your hotel form 12-22 April, and would appreciate information about your prices for one double room for my husband and myself, and rooms for our three children,(two boys aged 8 and  10 and girl aged 15,).</a:t>
            </a:r>
          </a:p>
          <a:p>
            <a:pPr>
              <a:buNone/>
            </a:pPr>
            <a:r>
              <a:rPr lang="en-US" dirty="0">
                <a:latin typeface="Times New Roman" panose="02020603050405020304" pitchFamily="18" charset="0"/>
                <a:cs typeface="Times New Roman" panose="02020603050405020304" pitchFamily="18" charset="0"/>
              </a:rPr>
              <a:t>	Could you please also send us detail of what you provide; for example do you have a car park, are there facilities for children, and what will be the approximate price of accommodation for one week?</a:t>
            </a:r>
          </a:p>
          <a:p>
            <a:pPr>
              <a:buNone/>
            </a:pPr>
            <a:r>
              <a:rPr lang="en-US" dirty="0">
                <a:latin typeface="Times New Roman" panose="02020603050405020304" pitchFamily="18" charset="0"/>
                <a:cs typeface="Times New Roman" panose="02020603050405020304" pitchFamily="18" charset="0"/>
              </a:rPr>
              <a:t>	With many thanks, I look forward to hearing from you soon.</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Yours faithfully, </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Sanaya</a:t>
            </a:r>
            <a:r>
              <a:rPr lang="en-US" dirty="0">
                <a:latin typeface="Times New Roman" panose="02020603050405020304" pitchFamily="18" charset="0"/>
                <a:cs typeface="Times New Roman" panose="02020603050405020304" pitchFamily="18" charset="0"/>
              </a:rPr>
              <a:t> Gurung</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13543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9ACA15-1C34-4F67-99A9-9503B97E2ABA}"/>
              </a:ext>
            </a:extLst>
          </p:cNvPr>
          <p:cNvSpPr>
            <a:spLocks noGrp="1"/>
          </p:cNvSpPr>
          <p:nvPr>
            <p:ph type="title"/>
          </p:nvPr>
        </p:nvSpPr>
        <p:spPr>
          <a:xfrm>
            <a:off x="1981200" y="152401"/>
            <a:ext cx="8229600" cy="457200"/>
          </a:xfrm>
        </p:spPr>
        <p:txBody>
          <a:bodyPr>
            <a:normAutofit/>
          </a:bodyPr>
          <a:lstStyle/>
          <a:p>
            <a:r>
              <a:rPr lang="en-GB" sz="2400" b="1" dirty="0">
                <a:solidFill>
                  <a:srgbClr val="FF0000"/>
                </a:solidFill>
              </a:rPr>
              <a:t>REPLY</a:t>
            </a:r>
          </a:p>
        </p:txBody>
      </p:sp>
      <p:sp>
        <p:nvSpPr>
          <p:cNvPr id="3" name="Content Placeholder 2">
            <a:extLst>
              <a:ext uri="{FF2B5EF4-FFF2-40B4-BE49-F238E27FC236}">
                <a16:creationId xmlns:a16="http://schemas.microsoft.com/office/drawing/2014/main" xmlns="" id="{7070D578-E800-4609-AA3E-F4B6CD12A204}"/>
              </a:ext>
            </a:extLst>
          </p:cNvPr>
          <p:cNvSpPr>
            <a:spLocks noGrp="1"/>
          </p:cNvSpPr>
          <p:nvPr>
            <p:ph idx="1"/>
          </p:nvPr>
        </p:nvSpPr>
        <p:spPr>
          <a:xfrm>
            <a:off x="869576" y="609602"/>
            <a:ext cx="11187305" cy="6095997"/>
          </a:xfrm>
        </p:spPr>
        <p:txBody>
          <a:bodyPr>
            <a:normAutofit/>
          </a:bodyPr>
          <a:lstStyle/>
          <a:p>
            <a:pPr>
              <a:buNone/>
            </a:pPr>
            <a:r>
              <a:rPr lang="en-US" dirty="0"/>
              <a:t>	</a:t>
            </a:r>
            <a:r>
              <a:rPr lang="en-US" dirty="0">
                <a:latin typeface="Times New Roman" panose="02020603050405020304" pitchFamily="18" charset="0"/>
                <a:cs typeface="Times New Roman" panose="02020603050405020304" pitchFamily="18" charset="0"/>
              </a:rPr>
              <a:t>The Crown Hotel KMC-20, </a:t>
            </a:r>
            <a:r>
              <a:rPr lang="en-US" dirty="0" err="1">
                <a:latin typeface="Times New Roman" panose="02020603050405020304" pitchFamily="18" charset="0"/>
                <a:cs typeface="Times New Roman" panose="02020603050405020304" pitchFamily="18" charset="0"/>
              </a:rPr>
              <a:t>Darbarmarg</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Kathmandu, Nepal</a:t>
            </a:r>
          </a:p>
          <a:p>
            <a:pPr>
              <a:buNone/>
            </a:pPr>
            <a:r>
              <a:rPr lang="en-US" dirty="0">
                <a:latin typeface="Times New Roman" panose="02020603050405020304" pitchFamily="18" charset="0"/>
                <a:cs typeface="Times New Roman" panose="02020603050405020304" pitchFamily="18" charset="0"/>
              </a:rPr>
              <a:t>	Ph.: 00977-4657459</a:t>
            </a:r>
          </a:p>
          <a:p>
            <a:pPr>
              <a:buNone/>
            </a:pPr>
            <a:r>
              <a:rPr lang="en-US" dirty="0">
                <a:latin typeface="Times New Roman" panose="02020603050405020304" pitchFamily="18" charset="0"/>
                <a:cs typeface="Times New Roman" panose="02020603050405020304" pitchFamily="18" charset="0"/>
              </a:rPr>
              <a:t>	Fax.:4-567-435</a:t>
            </a:r>
          </a:p>
          <a:p>
            <a:pPr>
              <a:buNone/>
            </a:pPr>
            <a:r>
              <a:rPr lang="en-US" u="sng" dirty="0">
                <a:latin typeface="Times New Roman" panose="02020603050405020304" pitchFamily="18" charset="0"/>
                <a:cs typeface="Times New Roman" panose="02020603050405020304" pitchFamily="18" charset="0"/>
              </a:rPr>
              <a:t>	</a:t>
            </a:r>
            <a:r>
              <a:rPr lang="en-US" u="sng" dirty="0">
                <a:solidFill>
                  <a:srgbClr val="00B0F0"/>
                </a:solidFill>
                <a:latin typeface="Times New Roman" panose="02020603050405020304" pitchFamily="18" charset="0"/>
                <a:cs typeface="Times New Roman" panose="02020603050405020304" pitchFamily="18" charset="0"/>
              </a:rPr>
              <a:t>www.thcrownhotel.com</a:t>
            </a:r>
            <a:endParaRPr lang="en-US" dirty="0">
              <a:solidFill>
                <a:srgbClr val="00B0F0"/>
              </a:solidFill>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April 12, 2018</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Dear Madam,</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r>
              <a:rPr lang="en-US" dirty="0"/>
              <a:t>		……………</a:t>
            </a:r>
            <a:endParaRPr lang="en-GB" dirty="0"/>
          </a:p>
        </p:txBody>
      </p:sp>
    </p:spTree>
    <p:extLst>
      <p:ext uri="{BB962C8B-B14F-4D97-AF65-F5344CB8AC3E}">
        <p14:creationId xmlns:p14="http://schemas.microsoft.com/office/powerpoint/2010/main" val="123298252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9D2C36-4271-429C-98A5-F3D52A3E9D7C}"/>
              </a:ext>
            </a:extLst>
          </p:cNvPr>
          <p:cNvSpPr>
            <a:spLocks noGrp="1"/>
          </p:cNvSpPr>
          <p:nvPr>
            <p:ph type="title"/>
          </p:nvPr>
        </p:nvSpPr>
        <p:spPr>
          <a:xfrm>
            <a:off x="1981200" y="274638"/>
            <a:ext cx="8229600" cy="258762"/>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53CF6A30-23C3-4F74-AFB0-240F5996564E}"/>
              </a:ext>
            </a:extLst>
          </p:cNvPr>
          <p:cNvSpPr>
            <a:spLocks noGrp="1"/>
          </p:cNvSpPr>
          <p:nvPr>
            <p:ph idx="1"/>
          </p:nvPr>
        </p:nvSpPr>
        <p:spPr>
          <a:xfrm>
            <a:off x="537882" y="609600"/>
            <a:ext cx="11654118" cy="6096000"/>
          </a:xfrm>
        </p:spPr>
        <p:txBody>
          <a:bodyPr>
            <a:normAutofit fontScale="92500" lnSpcReduction="10000"/>
          </a:bodyPr>
          <a:lstStyle/>
          <a:p>
            <a:pPr>
              <a:buNone/>
            </a:pPr>
            <a:r>
              <a:rPr lang="en-US" dirty="0"/>
              <a:t>	</a:t>
            </a:r>
            <a:r>
              <a:rPr lang="en-US" dirty="0">
                <a:latin typeface="Times New Roman" panose="02020603050405020304" pitchFamily="18" charset="0"/>
                <a:cs typeface="Times New Roman" panose="02020603050405020304" pitchFamily="18" charset="0"/>
              </a:rPr>
              <a:t>We would enjoy making a reservation of rooms in our hotel for your holiday. From 15 to 22 April, we can comfortably provide you rooms of your choice.</a:t>
            </a:r>
          </a:p>
          <a:p>
            <a:pPr>
              <a:buNone/>
            </a:pPr>
            <a:r>
              <a:rPr lang="en-US" dirty="0">
                <a:latin typeface="Times New Roman" panose="02020603050405020304" pitchFamily="18" charset="0"/>
                <a:cs typeface="Times New Roman" panose="02020603050405020304" pitchFamily="18" charset="0"/>
              </a:rPr>
              <a:t>	Regarding the facilities which you have mentioned in your letter, we have got a spacious parking area and a beautiful playground for the children under tight security.</a:t>
            </a:r>
          </a:p>
          <a:p>
            <a:pPr>
              <a:buNone/>
            </a:pPr>
            <a:r>
              <a:rPr lang="en-US" dirty="0">
                <a:latin typeface="Times New Roman" panose="02020603050405020304" pitchFamily="18" charset="0"/>
                <a:cs typeface="Times New Roman" panose="02020603050405020304" pitchFamily="18" charset="0"/>
              </a:rPr>
              <a:t>	They can enjoy different games, swings etc.</a:t>
            </a:r>
          </a:p>
          <a:p>
            <a:pPr>
              <a:buNone/>
            </a:pPr>
            <a:r>
              <a:rPr lang="en-US" dirty="0">
                <a:latin typeface="Times New Roman" panose="02020603050405020304" pitchFamily="18" charset="0"/>
                <a:cs typeface="Times New Roman" panose="02020603050405020304" pitchFamily="18" charset="0"/>
              </a:rPr>
              <a:t>	As you are going to use double room and other rooms for the children for a week, the cost will be approximately Rs. 12000 including lunch and dinner.</a:t>
            </a:r>
          </a:p>
          <a:p>
            <a:pPr>
              <a:buNone/>
            </a:pPr>
            <a:r>
              <a:rPr lang="en-US" dirty="0">
                <a:latin typeface="Times New Roman" panose="02020603050405020304" pitchFamily="18" charset="0"/>
                <a:cs typeface="Times New Roman" panose="02020603050405020304" pitchFamily="18" charset="0"/>
              </a:rPr>
              <a:t>	Please call me at 555-3288 to let me know how we might serve you for your holiday refreshment.</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Yours sincerely,</a:t>
            </a:r>
          </a:p>
          <a:p>
            <a:pPr>
              <a:buNone/>
            </a:pPr>
            <a:r>
              <a:rPr lang="en-US" dirty="0">
                <a:latin typeface="Times New Roman" panose="02020603050405020304" pitchFamily="18" charset="0"/>
                <a:cs typeface="Times New Roman" panose="02020603050405020304" pitchFamily="18" charset="0"/>
              </a:rPr>
              <a:t>	Sanjay Singh</a:t>
            </a:r>
          </a:p>
          <a:p>
            <a:pPr>
              <a:buNone/>
            </a:pPr>
            <a:r>
              <a:rPr lang="en-US" dirty="0">
                <a:latin typeface="Times New Roman" panose="02020603050405020304" pitchFamily="18" charset="0"/>
                <a:cs typeface="Times New Roman" panose="02020603050405020304" pitchFamily="18" charset="0"/>
              </a:rPr>
              <a:t>	Manager, TCH</a:t>
            </a:r>
          </a:p>
          <a:p>
            <a:pPr>
              <a:buNone/>
            </a:pPr>
            <a:endParaRPr lang="en-US" dirty="0"/>
          </a:p>
          <a:p>
            <a:endParaRPr lang="en-GB" dirty="0"/>
          </a:p>
        </p:txBody>
      </p:sp>
    </p:spTree>
    <p:extLst>
      <p:ext uri="{BB962C8B-B14F-4D97-AF65-F5344CB8AC3E}">
        <p14:creationId xmlns:p14="http://schemas.microsoft.com/office/powerpoint/2010/main" val="159980337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D13180-EDF5-41FB-842E-98D922476715}"/>
              </a:ext>
            </a:extLst>
          </p:cNvPr>
          <p:cNvSpPr>
            <a:spLocks noGrp="1"/>
          </p:cNvSpPr>
          <p:nvPr>
            <p:ph type="title"/>
          </p:nvPr>
        </p:nvSpPr>
        <p:spPr>
          <a:xfrm>
            <a:off x="2413262" y="274639"/>
            <a:ext cx="7797538" cy="457199"/>
          </a:xfrm>
        </p:spPr>
        <p:txBody>
          <a:bodyPr>
            <a:noAutofit/>
          </a:bodyPr>
          <a:lstStyle/>
          <a:p>
            <a:r>
              <a:rPr lang="en-US" sz="2800" b="1" dirty="0"/>
              <a:t> </a:t>
            </a:r>
            <a:br>
              <a:rPr lang="en-US" sz="2800" b="1" dirty="0"/>
            </a:br>
            <a:r>
              <a:rPr lang="en-US" sz="2800" b="1" dirty="0">
                <a:solidFill>
                  <a:srgbClr val="0070C0"/>
                </a:solidFill>
                <a:latin typeface="Times New Roman" panose="02020603050405020304" pitchFamily="18" charset="0"/>
                <a:cs typeface="Times New Roman" panose="02020603050405020304" pitchFamily="18" charset="0"/>
              </a:rPr>
              <a:t>Job inquiry</a:t>
            </a:r>
            <a:br>
              <a:rPr lang="en-US" sz="2800" b="1" dirty="0">
                <a:solidFill>
                  <a:srgbClr val="0070C0"/>
                </a:solidFill>
                <a:latin typeface="Times New Roman" panose="02020603050405020304" pitchFamily="18" charset="0"/>
                <a:cs typeface="Times New Roman" panose="02020603050405020304" pitchFamily="18" charset="0"/>
              </a:rPr>
            </a:br>
            <a:endParaRPr lang="en-GB" sz="2800" b="1"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5B890E43-052E-40B3-8838-C77BB4CC0D76}"/>
              </a:ext>
            </a:extLst>
          </p:cNvPr>
          <p:cNvSpPr>
            <a:spLocks noGrp="1"/>
          </p:cNvSpPr>
          <p:nvPr>
            <p:ph idx="1"/>
          </p:nvPr>
        </p:nvSpPr>
        <p:spPr>
          <a:xfrm>
            <a:off x="663389" y="731838"/>
            <a:ext cx="11252092" cy="5745162"/>
          </a:xfrm>
        </p:spPr>
        <p:txBody>
          <a:bodyPr>
            <a:normAutofit fontScale="85000" lnSpcReduction="20000"/>
          </a:bodyPr>
          <a:lstStyle/>
          <a:p>
            <a:pPr>
              <a:buNone/>
            </a:pPr>
            <a:r>
              <a:rPr lang="en-US" dirty="0"/>
              <a:t>	</a:t>
            </a:r>
            <a:r>
              <a:rPr lang="en-US" dirty="0">
                <a:latin typeface="Times New Roman" panose="02020603050405020304" pitchFamily="18" charset="0"/>
                <a:cs typeface="Times New Roman" panose="02020603050405020304" pitchFamily="18" charset="0"/>
              </a:rPr>
              <a:t>KMC-12</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Subidhanagar</a:t>
            </a:r>
            <a:r>
              <a:rPr lang="en-US" dirty="0">
                <a:latin typeface="Times New Roman" panose="02020603050405020304" pitchFamily="18" charset="0"/>
                <a:cs typeface="Times New Roman" panose="02020603050405020304" pitchFamily="18" charset="0"/>
              </a:rPr>
              <a:t>, Kathmandu</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Auguest</a:t>
            </a:r>
            <a:r>
              <a:rPr lang="en-US" dirty="0">
                <a:latin typeface="Times New Roman" panose="02020603050405020304" pitchFamily="18" charset="0"/>
                <a:cs typeface="Times New Roman" panose="02020603050405020304" pitchFamily="18" charset="0"/>
              </a:rPr>
              <a:t> 24, 2017</a:t>
            </a:r>
          </a:p>
          <a:p>
            <a:pPr>
              <a:buNone/>
            </a:pPr>
            <a:r>
              <a:rPr lang="en-US" dirty="0">
                <a:latin typeface="Times New Roman" panose="02020603050405020304" pitchFamily="18" charset="0"/>
                <a:cs typeface="Times New Roman" panose="02020603050405020304" pitchFamily="18" charset="0"/>
              </a:rPr>
              <a:t>	The Human Resource Manager</a:t>
            </a:r>
          </a:p>
          <a:p>
            <a:pPr>
              <a:buNone/>
            </a:pPr>
            <a:r>
              <a:rPr lang="en-US" dirty="0">
                <a:latin typeface="Times New Roman" panose="02020603050405020304" pitchFamily="18" charset="0"/>
                <a:cs typeface="Times New Roman" panose="02020603050405020304" pitchFamily="18" charset="0"/>
              </a:rPr>
              <a:t>	Global Accommodation Services</a:t>
            </a:r>
          </a:p>
          <a:p>
            <a:pPr>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Thapatahli</a:t>
            </a:r>
            <a:r>
              <a:rPr lang="en-US" dirty="0">
                <a:latin typeface="Times New Roman" panose="02020603050405020304" pitchFamily="18" charset="0"/>
                <a:cs typeface="Times New Roman" panose="02020603050405020304" pitchFamily="18" charset="0"/>
              </a:rPr>
              <a:t>, Kathmandu, Nepal</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Dear Mr. Shrestha</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I am writing to express my interest in acquiring a position of Senior Communication Officer at Global Accommodation Services. I am very familiar with the company's excellent reputation for supplying high quality consultation services to the hotel and special event management industries. I had the pleasure of speaking with Mr. Deepak Chaudhary, the head of marketing at your company, and he suggested that I contact you about possible job openings in your sales division. I am currently seeking a position where I can utilize my superior sales abilities for the benefit of a company.</a:t>
            </a:r>
          </a:p>
          <a:p>
            <a:pPr>
              <a:buNone/>
            </a:pPr>
            <a:r>
              <a:rPr lang="en-US" dirty="0">
                <a:latin typeface="Times New Roman" panose="02020603050405020304" pitchFamily="18" charset="0"/>
                <a:cs typeface="Times New Roman" panose="02020603050405020304" pitchFamily="18" charset="0"/>
              </a:rPr>
              <a:t>	 </a:t>
            </a:r>
          </a:p>
          <a:p>
            <a:pPr>
              <a:buNone/>
            </a:pPr>
            <a:endParaRPr lang="en-US" dirty="0"/>
          </a:p>
          <a:p>
            <a:pPr marL="0" indent="0">
              <a:buNone/>
            </a:pPr>
            <a:endParaRPr lang="en-GB" dirty="0"/>
          </a:p>
        </p:txBody>
      </p:sp>
    </p:spTree>
    <p:extLst>
      <p:ext uri="{BB962C8B-B14F-4D97-AF65-F5344CB8AC3E}">
        <p14:creationId xmlns:p14="http://schemas.microsoft.com/office/powerpoint/2010/main" val="232569589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5FA0F0-C1D4-48BE-8E44-1C873DF380BC}"/>
              </a:ext>
            </a:extLst>
          </p:cNvPr>
          <p:cNvSpPr>
            <a:spLocks noGrp="1"/>
          </p:cNvSpPr>
          <p:nvPr>
            <p:ph type="title"/>
          </p:nvPr>
        </p:nvSpPr>
        <p:spPr>
          <a:xfrm>
            <a:off x="1981200" y="274639"/>
            <a:ext cx="8229600" cy="457199"/>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69A63C70-B56D-48FD-8842-2D70BC39734C}"/>
              </a:ext>
            </a:extLst>
          </p:cNvPr>
          <p:cNvSpPr>
            <a:spLocks noGrp="1"/>
          </p:cNvSpPr>
          <p:nvPr>
            <p:ph idx="1"/>
          </p:nvPr>
        </p:nvSpPr>
        <p:spPr>
          <a:xfrm>
            <a:off x="412376" y="731838"/>
            <a:ext cx="11587945" cy="5851524"/>
          </a:xfrm>
        </p:spPr>
        <p:txBody>
          <a:bodyPr>
            <a:normAutofit fontScale="85000" lnSpcReduction="20000"/>
          </a:bodyPr>
          <a:lstStyle/>
          <a:p>
            <a:pPr>
              <a:buNone/>
            </a:pPr>
            <a:r>
              <a:rPr lang="en-US" dirty="0"/>
              <a:t>	</a:t>
            </a:r>
            <a:r>
              <a:rPr lang="en-US" dirty="0">
                <a:latin typeface="Times New Roman" panose="02020603050405020304" pitchFamily="18" charset="0"/>
                <a:cs typeface="Times New Roman" panose="02020603050405020304" pitchFamily="18" charset="0"/>
              </a:rPr>
              <a:t>My experience encompasses 5 years in the entertainment and promotion industry with my communication skills. I possess excellent persuasive communication skills and I am able to communication skills. I possess excellent persuasive communication skills and I am able to communicate with people at all job levels. I am experienced in both national and international customer presentations and negotiations. I hold a master's degree in certifications for Intercultural Communication and persuasive Communication. I am extremely detail orientated, highly motivated and my work ethic is second to none.</a:t>
            </a:r>
          </a:p>
          <a:p>
            <a:pPr>
              <a:buNone/>
            </a:pPr>
            <a:r>
              <a:rPr lang="en-US" dirty="0">
                <a:latin typeface="Times New Roman" panose="02020603050405020304" pitchFamily="18" charset="0"/>
                <a:cs typeface="Times New Roman" panose="02020603050405020304" pitchFamily="18" charset="0"/>
              </a:rPr>
              <a:t>	I would very much appreciate it if you could arrange an interview, in which I can discuss my application with you in further details, at your earliest convenience. I can be reached at </a:t>
            </a:r>
            <a:r>
              <a:rPr lang="en-US" u="sng" dirty="0">
                <a:latin typeface="Times New Roman" panose="02020603050405020304" pitchFamily="18" charset="0"/>
                <a:cs typeface="Times New Roman" panose="02020603050405020304" pitchFamily="18" charset="0"/>
                <a:hlinkClick r:id="rId2"/>
              </a:rPr>
              <a:t>sthapitajita@gmail.com</a:t>
            </a:r>
            <a:r>
              <a:rPr lang="en-US" dirty="0">
                <a:latin typeface="Times New Roman" panose="02020603050405020304" pitchFamily="18" charset="0"/>
                <a:cs typeface="Times New Roman" panose="02020603050405020304" pitchFamily="18" charset="0"/>
              </a:rPr>
              <a:t> or by phone at 00977-54567876.</a:t>
            </a:r>
          </a:p>
          <a:p>
            <a:pPr>
              <a:buNone/>
            </a:pPr>
            <a:r>
              <a:rPr lang="en-US" dirty="0">
                <a:latin typeface="Times New Roman" panose="02020603050405020304" pitchFamily="18" charset="0"/>
                <a:cs typeface="Times New Roman" panose="02020603050405020304" pitchFamily="18" charset="0"/>
              </a:rPr>
              <a:t>	I am enclosing a copy of my resume for your consideration. I look forward to meeting you soon.</a:t>
            </a: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Your sincerely,</a:t>
            </a:r>
          </a:p>
          <a:p>
            <a:pPr>
              <a:buNone/>
            </a:pPr>
            <a:r>
              <a:rPr lang="en-US" dirty="0">
                <a:latin typeface="Times New Roman" panose="02020603050405020304" pitchFamily="18" charset="0"/>
                <a:cs typeface="Times New Roman" panose="02020603050405020304" pitchFamily="18" charset="0"/>
              </a:rPr>
              <a:t>	Ms. </a:t>
            </a:r>
            <a:r>
              <a:rPr lang="en-US" dirty="0" err="1">
                <a:latin typeface="Times New Roman" panose="02020603050405020304" pitchFamily="18" charset="0"/>
                <a:cs typeface="Times New Roman" panose="02020603050405020304" pitchFamily="18" charset="0"/>
              </a:rPr>
              <a:t>Ajita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Sthapit</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p>
          <a:p>
            <a:pPr>
              <a:buNone/>
            </a:pPr>
            <a:r>
              <a:rPr lang="en-US" dirty="0">
                <a:latin typeface="Times New Roman" panose="02020603050405020304" pitchFamily="18" charset="0"/>
                <a:cs typeface="Times New Roman" panose="02020603050405020304" pitchFamily="18" charset="0"/>
              </a:rPr>
              <a:t>	Enclosure : resume</a:t>
            </a:r>
          </a:p>
          <a:p>
            <a:endParaRPr lang="en-GB" dirty="0"/>
          </a:p>
        </p:txBody>
      </p:sp>
    </p:spTree>
    <p:extLst>
      <p:ext uri="{BB962C8B-B14F-4D97-AF65-F5344CB8AC3E}">
        <p14:creationId xmlns:p14="http://schemas.microsoft.com/office/powerpoint/2010/main" val="231409966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306" y="365126"/>
            <a:ext cx="10923493" cy="982908"/>
          </a:xfrm>
        </p:spPr>
        <p:txBody>
          <a:bodyPr/>
          <a:lstStyle/>
          <a:p>
            <a:r>
              <a:rPr lang="en-GB" b="1" dirty="0">
                <a:solidFill>
                  <a:srgbClr val="0070C0"/>
                </a:solidFill>
                <a:latin typeface="Times New Roman" panose="02020603050405020304" pitchFamily="18" charset="0"/>
                <a:cs typeface="Times New Roman" panose="02020603050405020304" pitchFamily="18" charset="0"/>
              </a:rPr>
              <a:t>Reply to an inquiry for sports goods</a:t>
            </a:r>
          </a:p>
        </p:txBody>
      </p:sp>
      <p:sp>
        <p:nvSpPr>
          <p:cNvPr id="3" name="Content Placeholder 2"/>
          <p:cNvSpPr>
            <a:spLocks noGrp="1"/>
          </p:cNvSpPr>
          <p:nvPr>
            <p:ph idx="1"/>
          </p:nvPr>
        </p:nvSpPr>
        <p:spPr>
          <a:xfrm>
            <a:off x="313765" y="1253766"/>
            <a:ext cx="11611141" cy="5429838"/>
          </a:xfrm>
        </p:spPr>
        <p:txBody>
          <a:bodyPr>
            <a:normAutofit fontScale="77500" lnSpcReduction="20000"/>
          </a:bodyPr>
          <a:lstStyle/>
          <a:p>
            <a:pPr marL="0" indent="0">
              <a:buNone/>
            </a:pPr>
            <a:endParaRPr lang="en-GB" dirty="0"/>
          </a:p>
          <a:p>
            <a:pPr marL="0" indent="0">
              <a:buNone/>
            </a:pPr>
            <a:r>
              <a:rPr lang="en-GB" dirty="0">
                <a:latin typeface="Times New Roman" panose="02020603050405020304" pitchFamily="18" charset="0"/>
                <a:cs typeface="Times New Roman" panose="02020603050405020304" pitchFamily="18" charset="0"/>
              </a:rPr>
              <a:t>SWASTIK SPORTS CHANDIGARH </a:t>
            </a:r>
          </a:p>
          <a:p>
            <a:pPr marL="0" indent="0">
              <a:buNone/>
            </a:pPr>
            <a:r>
              <a:rPr lang="en-GB" dirty="0">
                <a:latin typeface="Times New Roman" panose="02020603050405020304" pitchFamily="18" charset="0"/>
                <a:cs typeface="Times New Roman" panose="02020603050405020304" pitchFamily="18" charset="0"/>
              </a:rPr>
              <a:t>25Th July, 2018 </a:t>
            </a:r>
          </a:p>
          <a:p>
            <a:pPr marL="0" indent="0">
              <a:buNone/>
            </a:pPr>
            <a:r>
              <a:rPr lang="en-GB" dirty="0">
                <a:latin typeface="Times New Roman" panose="02020603050405020304" pitchFamily="18" charset="0"/>
                <a:cs typeface="Times New Roman" panose="02020603050405020304" pitchFamily="18" charset="0"/>
              </a:rPr>
              <a:t>To The Manager </a:t>
            </a:r>
            <a:r>
              <a:rPr lang="en-GB" dirty="0" err="1">
                <a:latin typeface="Times New Roman" panose="02020603050405020304" pitchFamily="18" charset="0"/>
                <a:cs typeface="Times New Roman" panose="02020603050405020304" pitchFamily="18" charset="0"/>
              </a:rPr>
              <a:t>Karnavati</a:t>
            </a:r>
            <a:r>
              <a:rPr lang="en-GB" dirty="0">
                <a:latin typeface="Times New Roman" panose="02020603050405020304" pitchFamily="18" charset="0"/>
                <a:cs typeface="Times New Roman" panose="02020603050405020304" pitchFamily="18" charset="0"/>
              </a:rPr>
              <a:t> Club </a:t>
            </a:r>
            <a:r>
              <a:rPr lang="en-GB" dirty="0" err="1">
                <a:latin typeface="Times New Roman" panose="02020603050405020304" pitchFamily="18" charset="0"/>
                <a:cs typeface="Times New Roman" panose="02020603050405020304" pitchFamily="18" charset="0"/>
              </a:rPr>
              <a:t>Ahemedabad</a:t>
            </a:r>
            <a:r>
              <a:rPr lang="en-GB" dirty="0">
                <a:latin typeface="Times New Roman" panose="02020603050405020304" pitchFamily="18" charset="0"/>
                <a:cs typeface="Times New Roman" panose="02020603050405020304" pitchFamily="18" charset="0"/>
              </a:rPr>
              <a:t>.</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Sub. : Letter of reply to your inquiry for sports goods.</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Dear sir, </a:t>
            </a:r>
          </a:p>
          <a:p>
            <a:pPr marL="0" indent="0">
              <a:buNone/>
            </a:pPr>
            <a:r>
              <a:rPr lang="en-GB" dirty="0">
                <a:latin typeface="Times New Roman" panose="02020603050405020304" pitchFamily="18" charset="0"/>
                <a:cs typeface="Times New Roman" panose="02020603050405020304" pitchFamily="18" charset="0"/>
              </a:rPr>
              <a:t> Thank you for your inquiry of 20th July, 2018. we are glad to enclose the latest price list of our sports goods. Our normal trade discount is 15% and 5% extra for bulk orders exceeding </a:t>
            </a:r>
            <a:r>
              <a:rPr lang="en-GB" dirty="0" err="1">
                <a:latin typeface="Times New Roman" panose="02020603050405020304" pitchFamily="18" charset="0"/>
                <a:cs typeface="Times New Roman" panose="02020603050405020304" pitchFamily="18" charset="0"/>
              </a:rPr>
              <a:t>Rs</a:t>
            </a:r>
            <a:r>
              <a:rPr lang="en-GB" dirty="0">
                <a:latin typeface="Times New Roman" panose="02020603050405020304" pitchFamily="18" charset="0"/>
                <a:cs typeface="Times New Roman" panose="02020603050405020304" pitchFamily="18" charset="0"/>
              </a:rPr>
              <a:t> 60,000.</a:t>
            </a:r>
          </a:p>
          <a:p>
            <a:pPr marL="0" indent="0">
              <a:buNone/>
            </a:pPr>
            <a:r>
              <a:rPr lang="en-GB" dirty="0">
                <a:latin typeface="Times New Roman" panose="02020603050405020304" pitchFamily="18" charset="0"/>
                <a:cs typeface="Times New Roman" panose="02020603050405020304" pitchFamily="18" charset="0"/>
              </a:rPr>
              <a:t>If you need any further details or assistance in meeting your special requirements, kindly feel free to write to us. </a:t>
            </a:r>
          </a:p>
          <a:p>
            <a:pPr marL="0" indent="0">
              <a:buNone/>
            </a:pPr>
            <a:r>
              <a:rPr lang="en-GB" dirty="0">
                <a:latin typeface="Times New Roman" panose="02020603050405020304" pitchFamily="18" charset="0"/>
                <a:cs typeface="Times New Roman" panose="02020603050405020304" pitchFamily="18" charset="0"/>
              </a:rPr>
              <a:t>Yours sincerely, </a:t>
            </a:r>
          </a:p>
          <a:p>
            <a:pPr marL="0" indent="0">
              <a:buNone/>
            </a:pPr>
            <a:r>
              <a:rPr lang="en-GB" dirty="0" err="1">
                <a:latin typeface="Times New Roman" panose="02020603050405020304" pitchFamily="18" charset="0"/>
                <a:cs typeface="Times New Roman" panose="02020603050405020304" pitchFamily="18" charset="0"/>
              </a:rPr>
              <a:t>P.K.Singh</a:t>
            </a:r>
            <a:r>
              <a:rPr lang="en-GB" dirty="0">
                <a:latin typeface="Times New Roman" panose="02020603050405020304" pitchFamily="18" charset="0"/>
                <a:cs typeface="Times New Roman" panose="02020603050405020304" pitchFamily="18" charset="0"/>
              </a:rPr>
              <a:t> Manager </a:t>
            </a:r>
          </a:p>
          <a:p>
            <a:pPr marL="0" indent="0">
              <a:buNone/>
            </a:pPr>
            <a:r>
              <a:rPr lang="en-GB" dirty="0">
                <a:latin typeface="Times New Roman" panose="02020603050405020304" pitchFamily="18" charset="0"/>
                <a:cs typeface="Times New Roman" panose="02020603050405020304" pitchFamily="18" charset="0"/>
              </a:rPr>
              <a:t>Encl. : price list</a:t>
            </a:r>
          </a:p>
          <a:p>
            <a:endParaRPr lang="en-GB" dirty="0"/>
          </a:p>
        </p:txBody>
      </p:sp>
    </p:spTree>
    <p:extLst>
      <p:ext uri="{BB962C8B-B14F-4D97-AF65-F5344CB8AC3E}">
        <p14:creationId xmlns:p14="http://schemas.microsoft.com/office/powerpoint/2010/main" val="117594139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65126"/>
            <a:ext cx="10591800" cy="1001762"/>
          </a:xfrm>
        </p:spPr>
        <p:txBody>
          <a:bodyPr>
            <a:normAutofit fontScale="90000"/>
          </a:bodyPr>
          <a:lstStyle/>
          <a:p>
            <a:r>
              <a:rPr lang="en-GB" b="1" dirty="0">
                <a:solidFill>
                  <a:srgbClr val="0070C0"/>
                </a:solidFill>
                <a:latin typeface="Times New Roman" panose="02020603050405020304" pitchFamily="18" charset="0"/>
                <a:cs typeface="Times New Roman" panose="02020603050405020304" pitchFamily="18" charset="0"/>
              </a:rPr>
              <a:t>Reply to the inquiry for construction fittings</a:t>
            </a:r>
          </a:p>
        </p:txBody>
      </p:sp>
      <p:sp>
        <p:nvSpPr>
          <p:cNvPr id="3" name="Content Placeholder 2"/>
          <p:cNvSpPr>
            <a:spLocks noGrp="1"/>
          </p:cNvSpPr>
          <p:nvPr>
            <p:ph idx="1"/>
          </p:nvPr>
        </p:nvSpPr>
        <p:spPr>
          <a:xfrm>
            <a:off x="555812" y="1498862"/>
            <a:ext cx="10797988" cy="5241303"/>
          </a:xfrm>
        </p:spPr>
        <p:txBody>
          <a:bodyPr>
            <a:normAutofit fontScale="77500" lnSpcReduction="20000"/>
          </a:bodyPr>
          <a:lstStyle/>
          <a:p>
            <a:pPr marL="0" indent="0">
              <a:buNone/>
            </a:pPr>
            <a:r>
              <a:rPr lang="en-GB" dirty="0">
                <a:latin typeface="Times New Roman" panose="02020603050405020304" pitchFamily="18" charset="0"/>
                <a:cs typeface="Times New Roman" panose="02020603050405020304" pitchFamily="18" charset="0"/>
              </a:rPr>
              <a:t>THE MADRAS STEEL CO. LTD. Madras </a:t>
            </a:r>
          </a:p>
          <a:p>
            <a:pPr marL="0" indent="0">
              <a:buNone/>
            </a:pPr>
            <a:r>
              <a:rPr lang="en-GB" dirty="0">
                <a:latin typeface="Times New Roman" panose="02020603050405020304" pitchFamily="18" charset="0"/>
                <a:cs typeface="Times New Roman" panose="02020603050405020304" pitchFamily="18" charset="0"/>
              </a:rPr>
              <a:t>25th July,2018</a:t>
            </a:r>
          </a:p>
          <a:p>
            <a:pPr marL="0" indent="0">
              <a:buNone/>
            </a:pPr>
            <a:r>
              <a:rPr lang="en-GB" dirty="0">
                <a:latin typeface="Times New Roman" panose="02020603050405020304" pitchFamily="18" charset="0"/>
                <a:cs typeface="Times New Roman" panose="02020603050405020304" pitchFamily="18" charset="0"/>
              </a:rPr>
              <a:t>To The Manager </a:t>
            </a:r>
          </a:p>
          <a:p>
            <a:pPr marL="0" indent="0">
              <a:buNone/>
            </a:pPr>
            <a:r>
              <a:rPr lang="en-GB" dirty="0" err="1">
                <a:latin typeface="Times New Roman" panose="02020603050405020304" pitchFamily="18" charset="0"/>
                <a:cs typeface="Times New Roman" panose="02020603050405020304" pitchFamily="18" charset="0"/>
              </a:rPr>
              <a:t>Motawala</a:t>
            </a:r>
            <a:r>
              <a:rPr lang="en-GB" dirty="0">
                <a:latin typeface="Times New Roman" panose="02020603050405020304" pitchFamily="18" charset="0"/>
                <a:cs typeface="Times New Roman" panose="02020603050405020304" pitchFamily="18" charset="0"/>
              </a:rPr>
              <a:t> constructions Mumbai</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Sub. : Reply to the enquiry for construction fittings. </a:t>
            </a:r>
          </a:p>
          <a:p>
            <a:pPr marL="0" indent="0">
              <a:buNone/>
            </a:pPr>
            <a:r>
              <a:rPr lang="en-GB" dirty="0">
                <a:latin typeface="Times New Roman" panose="02020603050405020304" pitchFamily="18" charset="0"/>
                <a:cs typeface="Times New Roman" panose="02020603050405020304" pitchFamily="18" charset="0"/>
              </a:rPr>
              <a:t>Dear sir,</a:t>
            </a:r>
          </a:p>
          <a:p>
            <a:pPr marL="0" indent="0">
              <a:buNone/>
            </a:pPr>
            <a:r>
              <a:rPr lang="en-GB" dirty="0">
                <a:latin typeface="Times New Roman" panose="02020603050405020304" pitchFamily="18" charset="0"/>
                <a:cs typeface="Times New Roman" panose="02020603050405020304" pitchFamily="18" charset="0"/>
              </a:rPr>
              <a:t>We thank you for your inquiry of 20th July, 2018 and are glad to know that you are impressed by our advertisements in the ‘Times of India'. You will be happy to know that our construction fittings are approved by ISI. Using our fittings will give you the satisfaction with maximum worth of your money. The enclosed catalogue will give you details of screws, plates, brackets etc. you will get a special trade discount of 5% on all orders and an additional 5% on all orders exceeding </a:t>
            </a:r>
            <a:r>
              <a:rPr lang="en-GB" dirty="0" err="1">
                <a:latin typeface="Times New Roman" panose="02020603050405020304" pitchFamily="18" charset="0"/>
                <a:cs typeface="Times New Roman" panose="02020603050405020304" pitchFamily="18" charset="0"/>
              </a:rPr>
              <a:t>Rs</a:t>
            </a:r>
            <a:r>
              <a:rPr lang="en-GB" dirty="0">
                <a:latin typeface="Times New Roman" panose="02020603050405020304" pitchFamily="18" charset="0"/>
                <a:cs typeface="Times New Roman" panose="02020603050405020304" pitchFamily="18" charset="0"/>
              </a:rPr>
              <a:t>. 20,000.We are opening a branch in Mumbai for convenience of our customers in </a:t>
            </a:r>
            <a:r>
              <a:rPr lang="en-GB" dirty="0" err="1">
                <a:latin typeface="Times New Roman" panose="02020603050405020304" pitchFamily="18" charset="0"/>
                <a:cs typeface="Times New Roman" panose="02020603050405020304" pitchFamily="18" charset="0"/>
              </a:rPr>
              <a:t>Maharastra</a:t>
            </a:r>
            <a:r>
              <a:rPr lang="en-GB" dirty="0">
                <a:latin typeface="Times New Roman" panose="02020603050405020304" pitchFamily="18" charset="0"/>
                <a:cs typeface="Times New Roman" panose="02020603050405020304" pitchFamily="18" charset="0"/>
              </a:rPr>
              <a:t>. We assure you of our immediate attention to your orders. </a:t>
            </a:r>
          </a:p>
          <a:p>
            <a:pPr marL="0" indent="0">
              <a:buNone/>
            </a:pPr>
            <a:r>
              <a:rPr lang="en-GB" dirty="0">
                <a:latin typeface="Times New Roman" panose="02020603050405020304" pitchFamily="18" charset="0"/>
                <a:cs typeface="Times New Roman" panose="02020603050405020304" pitchFamily="18" charset="0"/>
              </a:rPr>
              <a:t>Yours sincerely, </a:t>
            </a:r>
          </a:p>
          <a:p>
            <a:pPr marL="0" indent="0">
              <a:buNone/>
            </a:pPr>
            <a:r>
              <a:rPr lang="en-GB" dirty="0">
                <a:latin typeface="Times New Roman" panose="02020603050405020304" pitchFamily="18" charset="0"/>
                <a:cs typeface="Times New Roman" panose="02020603050405020304" pitchFamily="18" charset="0"/>
              </a:rPr>
              <a:t>Suresh </a:t>
            </a:r>
            <a:r>
              <a:rPr lang="en-GB" dirty="0" err="1">
                <a:latin typeface="Times New Roman" panose="02020603050405020304" pitchFamily="18" charset="0"/>
                <a:cs typeface="Times New Roman" panose="02020603050405020304" pitchFamily="18" charset="0"/>
              </a:rPr>
              <a:t>Rahi</a:t>
            </a:r>
            <a:r>
              <a:rPr lang="en-GB" dirty="0">
                <a:latin typeface="Times New Roman" panose="02020603050405020304" pitchFamily="18" charset="0"/>
                <a:cs typeface="Times New Roman" panose="02020603050405020304" pitchFamily="18" charset="0"/>
              </a:rPr>
              <a:t> (Sales Manager)</a:t>
            </a:r>
          </a:p>
          <a:p>
            <a:endParaRPr lang="en-GB" dirty="0"/>
          </a:p>
        </p:txBody>
      </p:sp>
    </p:spTree>
    <p:extLst>
      <p:ext uri="{BB962C8B-B14F-4D97-AF65-F5344CB8AC3E}">
        <p14:creationId xmlns:p14="http://schemas.microsoft.com/office/powerpoint/2010/main" val="270388986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t>
            </a:r>
          </a:p>
        </p:txBody>
      </p:sp>
      <p:sp>
        <p:nvSpPr>
          <p:cNvPr id="3" name="Content Placeholder 2"/>
          <p:cNvSpPr>
            <a:spLocks noGrp="1"/>
          </p:cNvSpPr>
          <p:nvPr>
            <p:ph idx="1"/>
          </p:nvPr>
        </p:nvSpPr>
        <p:spPr/>
        <p:txBody>
          <a:bodyPr/>
          <a:lstStyle/>
          <a:p>
            <a:pPr marL="0" indent="0" algn="ctr">
              <a:buNone/>
            </a:pPr>
            <a:endParaRPr lang="en-GB" dirty="0"/>
          </a:p>
          <a:p>
            <a:pPr marL="0" indent="0" algn="ctr">
              <a:buNone/>
            </a:pPr>
            <a:endParaRPr lang="en-GB" dirty="0"/>
          </a:p>
          <a:p>
            <a:pPr marL="0" indent="0" algn="ctr">
              <a:buNone/>
            </a:pPr>
            <a:r>
              <a:rPr lang="en-GB" sz="6000" b="1" dirty="0">
                <a:solidFill>
                  <a:srgbClr val="0070C0"/>
                </a:solidFill>
              </a:rPr>
              <a:t>Order Letter</a:t>
            </a:r>
          </a:p>
        </p:txBody>
      </p:sp>
    </p:spTree>
    <p:extLst>
      <p:ext uri="{BB962C8B-B14F-4D97-AF65-F5344CB8AC3E}">
        <p14:creationId xmlns:p14="http://schemas.microsoft.com/office/powerpoint/2010/main" val="54128816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3324" y="365125"/>
            <a:ext cx="9270476" cy="1325563"/>
          </a:xfrm>
        </p:spPr>
        <p:txBody>
          <a:bodyPr/>
          <a:lstStyle/>
          <a:p>
            <a:r>
              <a:rPr lang="en-GB" b="1" dirty="0">
                <a:solidFill>
                  <a:srgbClr val="0070C0"/>
                </a:solidFill>
                <a:latin typeface="Times New Roman" panose="02020603050405020304" pitchFamily="18" charset="0"/>
                <a:cs typeface="Times New Roman" panose="02020603050405020304" pitchFamily="18" charset="0"/>
              </a:rPr>
              <a:t>Order letter sample</a:t>
            </a:r>
          </a:p>
        </p:txBody>
      </p:sp>
      <p:sp>
        <p:nvSpPr>
          <p:cNvPr id="5" name="Content Placeholder 4"/>
          <p:cNvSpPr>
            <a:spLocks noGrp="1"/>
          </p:cNvSpPr>
          <p:nvPr>
            <p:ph idx="1"/>
          </p:nvPr>
        </p:nvSpPr>
        <p:spPr>
          <a:xfrm>
            <a:off x="968188" y="1825625"/>
            <a:ext cx="10385611" cy="4351338"/>
          </a:xfrm>
        </p:spPr>
        <p:txBody>
          <a:bodyPr>
            <a:normAutofit fontScale="92500" lnSpcReduction="20000"/>
          </a:bodyPr>
          <a:lstStyle/>
          <a:p>
            <a:pPr marL="0" indent="0">
              <a:buNone/>
            </a:pPr>
            <a:r>
              <a:rPr lang="en-GB" dirty="0">
                <a:latin typeface="Times New Roman" panose="02020603050405020304" pitchFamily="18" charset="0"/>
                <a:cs typeface="Times New Roman" panose="02020603050405020304" pitchFamily="18" charset="0"/>
              </a:rPr>
              <a:t>From,</a:t>
            </a:r>
          </a:p>
          <a:p>
            <a:pPr marL="0" indent="0">
              <a:buNone/>
            </a:pPr>
            <a:r>
              <a:rPr lang="en-GB" dirty="0">
                <a:latin typeface="Times New Roman" panose="02020603050405020304" pitchFamily="18" charset="0"/>
                <a:cs typeface="Times New Roman" panose="02020603050405020304" pitchFamily="18" charset="0"/>
              </a:rPr>
              <a:t>_____________</a:t>
            </a:r>
          </a:p>
          <a:p>
            <a:pPr marL="0" indent="0">
              <a:buNone/>
            </a:pPr>
            <a:r>
              <a:rPr lang="en-GB" dirty="0">
                <a:latin typeface="Times New Roman" panose="02020603050405020304" pitchFamily="18" charset="0"/>
                <a:cs typeface="Times New Roman" panose="02020603050405020304" pitchFamily="18" charset="0"/>
              </a:rPr>
              <a:t>_____________</a:t>
            </a:r>
          </a:p>
          <a:p>
            <a:pPr marL="0" indent="0">
              <a:buNone/>
            </a:pPr>
            <a:r>
              <a:rPr lang="en-GB" dirty="0">
                <a:latin typeface="Times New Roman" panose="02020603050405020304" pitchFamily="18" charset="0"/>
                <a:cs typeface="Times New Roman" panose="02020603050405020304" pitchFamily="18" charset="0"/>
              </a:rPr>
              <a:t>Date (date on which letter is written)</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To,</a:t>
            </a:r>
          </a:p>
          <a:p>
            <a:pPr marL="0" indent="0">
              <a:buNone/>
            </a:pPr>
            <a:r>
              <a:rPr lang="en-GB" dirty="0">
                <a:latin typeface="Times New Roman" panose="02020603050405020304" pitchFamily="18" charset="0"/>
                <a:cs typeface="Times New Roman" panose="02020603050405020304" pitchFamily="18" charset="0"/>
              </a:rPr>
              <a:t>________________</a:t>
            </a:r>
          </a:p>
          <a:p>
            <a:pPr marL="0" indent="0">
              <a:buNone/>
            </a:pPr>
            <a:r>
              <a:rPr lang="en-GB" dirty="0">
                <a:latin typeface="Times New Roman" panose="02020603050405020304" pitchFamily="18" charset="0"/>
                <a:cs typeface="Times New Roman" panose="02020603050405020304" pitchFamily="18" charset="0"/>
              </a:rPr>
              <a:t>________________</a:t>
            </a:r>
          </a:p>
          <a:p>
            <a:pPr marL="0" indent="0">
              <a:buNone/>
            </a:pPr>
            <a:r>
              <a:rPr lang="en-GB" dirty="0">
                <a:latin typeface="Times New Roman" panose="02020603050405020304" pitchFamily="18" charset="0"/>
                <a:cs typeface="Times New Roman" panose="02020603050405020304" pitchFamily="18" charset="0"/>
              </a:rPr>
              <a:t>Sub:_________________________________________</a:t>
            </a:r>
          </a:p>
          <a:p>
            <a:pPr marL="0" indent="0">
              <a:buNone/>
            </a:pPr>
            <a:r>
              <a:rPr lang="en-GB" dirty="0">
                <a:latin typeface="Times New Roman" panose="02020603050405020304" pitchFamily="18" charset="0"/>
                <a:cs typeface="Times New Roman" panose="02020603050405020304" pitchFamily="18" charset="0"/>
              </a:rPr>
              <a:t>Dear _________________,</a:t>
            </a:r>
          </a:p>
        </p:txBody>
      </p:sp>
    </p:spTree>
    <p:extLst>
      <p:ext uri="{BB962C8B-B14F-4D97-AF65-F5344CB8AC3E}">
        <p14:creationId xmlns:p14="http://schemas.microsoft.com/office/powerpoint/2010/main" val="314646642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98446"/>
          </a:xfrm>
        </p:spPr>
        <p:txBody>
          <a:bodyPr>
            <a:normAutofit fontScale="90000"/>
          </a:bodyPr>
          <a:lstStyle/>
          <a:p>
            <a:r>
              <a:rPr lang="en-GB" dirty="0"/>
              <a:t>.</a:t>
            </a:r>
          </a:p>
        </p:txBody>
      </p:sp>
      <p:sp>
        <p:nvSpPr>
          <p:cNvPr id="3" name="Content Placeholder 2"/>
          <p:cNvSpPr>
            <a:spLocks noGrp="1"/>
          </p:cNvSpPr>
          <p:nvPr>
            <p:ph idx="1"/>
          </p:nvPr>
        </p:nvSpPr>
        <p:spPr>
          <a:xfrm>
            <a:off x="179294" y="555812"/>
            <a:ext cx="11924722" cy="6033524"/>
          </a:xfrm>
        </p:spPr>
        <p:txBody>
          <a:bodyPr>
            <a:normAutofit fontScale="77500" lnSpcReduction="20000"/>
          </a:bodyPr>
          <a:lstStyle/>
          <a:p>
            <a:pPr marL="0" indent="0">
              <a:buNone/>
            </a:pPr>
            <a:r>
              <a:rPr lang="en-GB" dirty="0">
                <a:latin typeface="Times New Roman" panose="02020603050405020304" pitchFamily="18" charset="0"/>
                <a:cs typeface="Times New Roman" panose="02020603050405020304" pitchFamily="18" charset="0"/>
              </a:rPr>
              <a:t>With regard to an enquiry we made on date ____________ about____________, we wish to place an order for ____________. We have heard about the standards and the quality of ___________ manufactured by your company. We have made a decision to purchase</a:t>
            </a:r>
          </a:p>
          <a:p>
            <a:pPr marL="0" indent="0">
              <a:buNone/>
            </a:pPr>
            <a:r>
              <a:rPr lang="en-GB" dirty="0">
                <a:latin typeface="Times New Roman" panose="02020603050405020304" pitchFamily="18" charset="0"/>
                <a:cs typeface="Times New Roman" panose="02020603050405020304" pitchFamily="18" charset="0"/>
              </a:rPr>
              <a:t> ____________ pieces of your products. Kindly find the specifications of this order below.</a:t>
            </a:r>
          </a:p>
          <a:p>
            <a:pPr marL="0" indent="0">
              <a:buNone/>
            </a:pPr>
            <a:r>
              <a:rPr lang="en-GB" dirty="0">
                <a:latin typeface="Times New Roman" panose="02020603050405020304" pitchFamily="18" charset="0"/>
                <a:cs typeface="Times New Roman" panose="02020603050405020304" pitchFamily="18" charset="0"/>
              </a:rPr>
              <a:t> Item 		                Color 			Quantity 			Amount </a:t>
            </a:r>
          </a:p>
          <a:p>
            <a:pPr marL="0" indent="0">
              <a:buNone/>
            </a:pPr>
            <a:r>
              <a:rPr lang="en-GB" dirty="0">
                <a:latin typeface="Times New Roman" panose="02020603050405020304" pitchFamily="18" charset="0"/>
                <a:cs typeface="Times New Roman" panose="02020603050405020304" pitchFamily="18" charset="0"/>
              </a:rPr>
              <a:t>_____ 			_______		 ______				 _______ </a:t>
            </a:r>
          </a:p>
          <a:p>
            <a:pPr marL="0" indent="0">
              <a:buNone/>
            </a:pPr>
            <a:r>
              <a:rPr lang="en-GB" dirty="0">
                <a:latin typeface="Times New Roman" panose="02020603050405020304" pitchFamily="18" charset="0"/>
                <a:cs typeface="Times New Roman" panose="02020603050405020304" pitchFamily="18" charset="0"/>
              </a:rPr>
              <a:t>Kindly also find the enclosed terms and conditions for the order for your reference. Here is a check of ____________ dollars advance payment and the other amount will be settled on delivery. Kindly make arrangements for these goods to be delivered to our office address ____________ not later than ____________.  Kindly contact us on ____________ if there is any other information needed or you have questions. Please treat this order with urgency and deliver the goods at your earliest  since they are needed ASAP.  It is a pleasure to do business with an esteemed company such as yours and we hope to continue working together in the future.</a:t>
            </a:r>
          </a:p>
          <a:p>
            <a:pPr marL="0" indent="0">
              <a:buNone/>
            </a:pPr>
            <a:endParaRPr lang="en-GB" dirty="0">
              <a:latin typeface="Times New Roman" panose="02020603050405020304" pitchFamily="18" charset="0"/>
              <a:cs typeface="Times New Roman" panose="02020603050405020304" pitchFamily="18" charset="0"/>
            </a:endParaRPr>
          </a:p>
          <a:p>
            <a:pPr marL="0" indent="0">
              <a:buNone/>
            </a:pPr>
            <a:r>
              <a:rPr lang="en-GB" dirty="0">
                <a:latin typeface="Times New Roman" panose="02020603050405020304" pitchFamily="18" charset="0"/>
                <a:cs typeface="Times New Roman" panose="02020603050405020304" pitchFamily="18" charset="0"/>
              </a:rPr>
              <a:t>Thank you in advance.</a:t>
            </a:r>
          </a:p>
          <a:p>
            <a:pPr marL="0" indent="0">
              <a:buNone/>
            </a:pPr>
            <a:r>
              <a:rPr lang="en-GB" dirty="0">
                <a:latin typeface="Times New Roman" panose="02020603050405020304" pitchFamily="18" charset="0"/>
                <a:cs typeface="Times New Roman" panose="02020603050405020304" pitchFamily="18" charset="0"/>
              </a:rPr>
              <a:t>Your Faithfully,</a:t>
            </a:r>
          </a:p>
          <a:p>
            <a:pPr marL="0" indent="0">
              <a:buNone/>
            </a:pPr>
            <a:r>
              <a:rPr lang="en-GB" dirty="0">
                <a:latin typeface="Times New Roman" panose="02020603050405020304" pitchFamily="18" charset="0"/>
                <a:cs typeface="Times New Roman" panose="02020603050405020304" pitchFamily="18" charset="0"/>
              </a:rPr>
              <a:t>__________</a:t>
            </a:r>
          </a:p>
          <a:p>
            <a:pPr marL="0" indent="0">
              <a:buNone/>
            </a:pPr>
            <a:r>
              <a:rPr lang="en-GB" dirty="0">
                <a:latin typeface="Times New Roman" panose="02020603050405020304" pitchFamily="18" charset="0"/>
                <a:cs typeface="Times New Roman" panose="02020603050405020304" pitchFamily="18" charset="0"/>
              </a:rPr>
              <a:t>(__________________)</a:t>
            </a:r>
          </a:p>
          <a:p>
            <a:endParaRPr lang="en-GB" dirty="0"/>
          </a:p>
        </p:txBody>
      </p:sp>
    </p:spTree>
    <p:extLst>
      <p:ext uri="{BB962C8B-B14F-4D97-AF65-F5344CB8AC3E}">
        <p14:creationId xmlns:p14="http://schemas.microsoft.com/office/powerpoint/2010/main" val="275138101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CCEFD1-3EC6-452E-B9CA-758A74DA2889}"/>
              </a:ext>
            </a:extLst>
          </p:cNvPr>
          <p:cNvSpPr>
            <a:spLocks noGrp="1"/>
          </p:cNvSpPr>
          <p:nvPr>
            <p:ph type="title"/>
          </p:nvPr>
        </p:nvSpPr>
        <p:spPr>
          <a:xfrm>
            <a:off x="2102177" y="160256"/>
            <a:ext cx="8108623" cy="772998"/>
          </a:xfrm>
        </p:spPr>
        <p:txBody>
          <a:bodyPr>
            <a:normAutofit fontScale="90000"/>
          </a:bodyPr>
          <a:lstStyle/>
          <a:p>
            <a:r>
              <a:rPr lang="en-GB" sz="3600" b="1" dirty="0"/>
              <a:t/>
            </a:r>
            <a:br>
              <a:rPr lang="en-GB" sz="3600" b="1" dirty="0"/>
            </a:br>
            <a:r>
              <a:rPr lang="en-GB" sz="3600" b="1" dirty="0">
                <a:solidFill>
                  <a:srgbClr val="0070C0"/>
                </a:solidFill>
                <a:latin typeface="Times New Roman" panose="02020603050405020304" pitchFamily="18" charset="0"/>
                <a:cs typeface="Times New Roman" panose="02020603050405020304" pitchFamily="18" charset="0"/>
              </a:rPr>
              <a:t>Letter of Order Sample</a:t>
            </a:r>
            <a:r>
              <a:rPr lang="en-GB" dirty="0">
                <a:latin typeface="Times New Roman" panose="02020603050405020304" pitchFamily="18" charset="0"/>
                <a:cs typeface="Times New Roman" panose="02020603050405020304" pitchFamily="18" charset="0"/>
              </a:rPr>
              <a:t/>
            </a:r>
            <a:br>
              <a:rPr lang="en-GB" dirty="0">
                <a:latin typeface="Times New Roman" panose="02020603050405020304" pitchFamily="18" charset="0"/>
                <a:cs typeface="Times New Roman" panose="02020603050405020304" pitchFamily="18" charset="0"/>
              </a:rPr>
            </a:br>
            <a:endParaRPr lang="en-GB"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38A69008-C227-4A39-B448-C20697BC5175}"/>
              </a:ext>
            </a:extLst>
          </p:cNvPr>
          <p:cNvSpPr>
            <a:spLocks noGrp="1"/>
          </p:cNvSpPr>
          <p:nvPr>
            <p:ph idx="1"/>
          </p:nvPr>
        </p:nvSpPr>
        <p:spPr>
          <a:xfrm>
            <a:off x="645459" y="848474"/>
            <a:ext cx="11373715" cy="5761038"/>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Date:</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Mancini Kitchen Equipment</a:t>
            </a:r>
          </a:p>
          <a:p>
            <a:pPr marL="0" indent="0">
              <a:buNone/>
            </a:pPr>
            <a:r>
              <a:rPr lang="en-GB" dirty="0">
                <a:latin typeface="Times New Roman" panose="02020603050405020304" pitchFamily="18" charset="0"/>
                <a:cs typeface="Times New Roman" panose="02020603050405020304" pitchFamily="18" charset="0"/>
              </a:rPr>
              <a:t>Troy D. Mancini</a:t>
            </a:r>
          </a:p>
          <a:p>
            <a:pPr marL="0" indent="0">
              <a:buNone/>
            </a:pPr>
            <a:r>
              <a:rPr lang="en-GB" dirty="0">
                <a:latin typeface="Times New Roman" panose="02020603050405020304" pitchFamily="18" charset="0"/>
                <a:cs typeface="Times New Roman" panose="02020603050405020304" pitchFamily="18" charset="0"/>
              </a:rPr>
              <a:t>4220 </a:t>
            </a:r>
            <a:r>
              <a:rPr lang="en-GB" dirty="0" err="1">
                <a:latin typeface="Times New Roman" panose="02020603050405020304" pitchFamily="18" charset="0"/>
                <a:cs typeface="Times New Roman" panose="02020603050405020304" pitchFamily="18" charset="0"/>
              </a:rPr>
              <a:t>Straford</a:t>
            </a:r>
            <a:r>
              <a:rPr lang="en-GB" dirty="0">
                <a:latin typeface="Times New Roman" panose="02020603050405020304" pitchFamily="18" charset="0"/>
                <a:cs typeface="Times New Roman" panose="02020603050405020304" pitchFamily="18" charset="0"/>
              </a:rPr>
              <a:t> Park</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Harold, KY 41635</a:t>
            </a:r>
          </a:p>
          <a:p>
            <a:pPr marL="0" indent="0">
              <a:buNone/>
            </a:pPr>
            <a:r>
              <a:rPr lang="en-GB" dirty="0">
                <a:latin typeface="Times New Roman" panose="02020603050405020304" pitchFamily="18" charset="0"/>
                <a:cs typeface="Times New Roman" panose="02020603050405020304" pitchFamily="18" charset="0"/>
              </a:rPr>
              <a:t> Subject: Order letter</a:t>
            </a:r>
          </a:p>
          <a:p>
            <a:pPr marL="0" indent="0">
              <a:buNone/>
            </a:pPr>
            <a:r>
              <a:rPr lang="en-GB" dirty="0">
                <a:latin typeface="Times New Roman" panose="02020603050405020304" pitchFamily="18" charset="0"/>
                <a:cs typeface="Times New Roman" panose="02020603050405020304" pitchFamily="18" charset="0"/>
              </a:rPr>
              <a:t>Dear Mr. Mancini,</a:t>
            </a:r>
          </a:p>
          <a:p>
            <a:pPr marL="0" indent="0">
              <a:buNone/>
            </a:pPr>
            <a:r>
              <a:rPr lang="en-GB" dirty="0">
                <a:latin typeface="Times New Roman" panose="02020603050405020304" pitchFamily="18" charset="0"/>
                <a:cs typeface="Times New Roman" panose="02020603050405020304" pitchFamily="18" charset="0"/>
              </a:rPr>
              <a:t>We would like to purchase twenty two (22) individual stand mixers (Model #43423), all in the colour red. </a:t>
            </a:r>
          </a:p>
          <a:p>
            <a:pPr marL="0" indent="0">
              <a:buNone/>
            </a:pPr>
            <a:r>
              <a:rPr lang="en-GB" dirty="0">
                <a:latin typeface="Times New Roman" panose="02020603050405020304" pitchFamily="18" charset="0"/>
                <a:cs typeface="Times New Roman" panose="02020603050405020304" pitchFamily="18" charset="0"/>
              </a:rPr>
              <a:t>We would like you to charge this purchase to the pre-existing account that we have with you, business account #543234.</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endParaRPr lang="en-GB" dirty="0"/>
          </a:p>
        </p:txBody>
      </p:sp>
    </p:spTree>
    <p:extLst>
      <p:ext uri="{BB962C8B-B14F-4D97-AF65-F5344CB8AC3E}">
        <p14:creationId xmlns:p14="http://schemas.microsoft.com/office/powerpoint/2010/main" val="39809260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B86558-7A9C-4E16-9D7F-33F1A54F33AC}"/>
              </a:ext>
            </a:extLst>
          </p:cNvPr>
          <p:cNvSpPr>
            <a:spLocks noGrp="1"/>
          </p:cNvSpPr>
          <p:nvPr>
            <p:ph type="title"/>
          </p:nvPr>
        </p:nvSpPr>
        <p:spPr/>
        <p:txBody>
          <a:bodyPr/>
          <a:lstStyle/>
          <a:p>
            <a:r>
              <a:rPr lang="en-GB" dirty="0"/>
              <a:t>..</a:t>
            </a:r>
          </a:p>
        </p:txBody>
      </p:sp>
      <p:sp>
        <p:nvSpPr>
          <p:cNvPr id="3" name="Content Placeholder 2">
            <a:extLst>
              <a:ext uri="{FF2B5EF4-FFF2-40B4-BE49-F238E27FC236}">
                <a16:creationId xmlns:a16="http://schemas.microsoft.com/office/drawing/2014/main" xmlns="" id="{0078F136-8FEA-4EB8-8C10-7C2EDDD0002F}"/>
              </a:ext>
            </a:extLst>
          </p:cNvPr>
          <p:cNvSpPr>
            <a:spLocks noGrp="1"/>
          </p:cNvSpPr>
          <p:nvPr>
            <p:ph idx="1"/>
          </p:nvPr>
        </p:nvSpPr>
        <p:spPr>
          <a:xfrm>
            <a:off x="618565" y="1825625"/>
            <a:ext cx="11287489" cy="4351338"/>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We hope to receive this order no later than Friday, November 11th, 2009. Attached to this letter please find our preferred shipping method and receiving address.</a:t>
            </a:r>
          </a:p>
          <a:p>
            <a:pPr marL="0" indent="0">
              <a:buNone/>
            </a:pPr>
            <a:r>
              <a:rPr lang="en-GB" dirty="0">
                <a:latin typeface="Times New Roman" panose="02020603050405020304" pitchFamily="18" charset="0"/>
                <a:cs typeface="Times New Roman" panose="02020603050405020304" pitchFamily="18" charset="0"/>
              </a:rPr>
              <a:t> Please confirm that you received this order by calling us at 232-231-4563 anytime during business hours, Monday to Friday.</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Thank you for your cooperation</a:t>
            </a:r>
          </a:p>
          <a:p>
            <a:pPr marL="0" indent="0">
              <a:buNone/>
            </a:pPr>
            <a:r>
              <a:rPr lang="en-GB" dirty="0">
                <a:latin typeface="Times New Roman" panose="02020603050405020304" pitchFamily="18" charset="0"/>
                <a:cs typeface="Times New Roman" panose="02020603050405020304" pitchFamily="18" charset="0"/>
              </a:rPr>
              <a:t>Keller Kitchen Co.</a:t>
            </a:r>
          </a:p>
          <a:p>
            <a:endParaRPr lang="en-GB" dirty="0"/>
          </a:p>
        </p:txBody>
      </p:sp>
    </p:spTree>
    <p:extLst>
      <p:ext uri="{BB962C8B-B14F-4D97-AF65-F5344CB8AC3E}">
        <p14:creationId xmlns:p14="http://schemas.microsoft.com/office/powerpoint/2010/main" val="179839001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900B5EF-10D5-4FE3-8443-E5D24AB96B16}"/>
              </a:ext>
            </a:extLst>
          </p:cNvPr>
          <p:cNvSpPr>
            <a:spLocks noGrp="1"/>
          </p:cNvSpPr>
          <p:nvPr>
            <p:ph type="title"/>
          </p:nvPr>
        </p:nvSpPr>
        <p:spPr>
          <a:xfrm>
            <a:off x="1981200" y="274638"/>
            <a:ext cx="8229600" cy="182562"/>
          </a:xfrm>
        </p:spPr>
        <p:txBody>
          <a:bodyPr>
            <a:normAutofit fontScale="90000"/>
          </a:bodyPr>
          <a:lstStyle/>
          <a:p>
            <a:r>
              <a:rPr lang="en-GB" dirty="0"/>
              <a:t>.</a:t>
            </a:r>
          </a:p>
        </p:txBody>
      </p:sp>
      <p:sp>
        <p:nvSpPr>
          <p:cNvPr id="3" name="Content Placeholder 2">
            <a:extLst>
              <a:ext uri="{FF2B5EF4-FFF2-40B4-BE49-F238E27FC236}">
                <a16:creationId xmlns:a16="http://schemas.microsoft.com/office/drawing/2014/main" xmlns="" id="{84F76BA1-987A-4721-8CB4-95ADBABCC16E}"/>
              </a:ext>
            </a:extLst>
          </p:cNvPr>
          <p:cNvSpPr>
            <a:spLocks noGrp="1"/>
          </p:cNvSpPr>
          <p:nvPr>
            <p:ph idx="1"/>
          </p:nvPr>
        </p:nvSpPr>
        <p:spPr>
          <a:xfrm>
            <a:off x="421341" y="609600"/>
            <a:ext cx="11305603" cy="6248400"/>
          </a:xfrm>
        </p:spPr>
        <p:txBody>
          <a:bodyPr>
            <a:normAutofit fontScale="92500" lnSpcReduction="20000"/>
          </a:bodyPr>
          <a:lstStyle/>
          <a:p>
            <a:pPr marL="0" indent="0">
              <a:buNone/>
            </a:pPr>
            <a:r>
              <a:rPr lang="en-GB" b="1" dirty="0">
                <a:solidFill>
                  <a:srgbClr val="0070C0"/>
                </a:solidFill>
                <a:latin typeface="Times New Roman" panose="02020603050405020304" pitchFamily="18" charset="0"/>
                <a:cs typeface="Times New Roman" panose="02020603050405020304" pitchFamily="18" charset="0"/>
              </a:rPr>
              <a:t>Letter of Order and Acknowledgment Sample</a:t>
            </a:r>
          </a:p>
          <a:p>
            <a:pPr marL="0" indent="0">
              <a:buNone/>
            </a:pPr>
            <a:r>
              <a:rPr lang="en-GB" dirty="0">
                <a:latin typeface="Times New Roman" panose="02020603050405020304" pitchFamily="18" charset="0"/>
                <a:cs typeface="Times New Roman" panose="02020603050405020304" pitchFamily="18" charset="0"/>
              </a:rPr>
              <a:t>Date:…..</a:t>
            </a:r>
            <a:br>
              <a:rPr lang="en-GB" dirty="0">
                <a:latin typeface="Times New Roman" panose="02020603050405020304" pitchFamily="18" charset="0"/>
                <a:cs typeface="Times New Roman" panose="02020603050405020304" pitchFamily="18" charset="0"/>
              </a:rPr>
            </a:br>
            <a:r>
              <a:rPr lang="en-GB" dirty="0">
                <a:latin typeface="Times New Roman" panose="02020603050405020304" pitchFamily="18" charset="0"/>
                <a:cs typeface="Times New Roman" panose="02020603050405020304" pitchFamily="18" charset="0"/>
              </a:rPr>
              <a:t>Hello Victor,</a:t>
            </a:r>
          </a:p>
          <a:p>
            <a:pPr marL="0" indent="0">
              <a:buNone/>
            </a:pPr>
            <a:r>
              <a:rPr lang="en-GB" dirty="0">
                <a:latin typeface="Times New Roman" panose="02020603050405020304" pitchFamily="18" charset="0"/>
                <a:cs typeface="Times New Roman" panose="02020603050405020304" pitchFamily="18" charset="0"/>
              </a:rPr>
              <a:t>Thank you for your recent purchase from Furniture World. The team are currently working on getting your item dispatched, and it should be with you within 5 working days.</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Order Details</a:t>
            </a:r>
          </a:p>
          <a:p>
            <a:pPr marL="0" indent="0">
              <a:buNone/>
            </a:pPr>
            <a:r>
              <a:rPr lang="en-GB" dirty="0">
                <a:latin typeface="Times New Roman" panose="02020603050405020304" pitchFamily="18" charset="0"/>
                <a:cs typeface="Times New Roman" panose="02020603050405020304" pitchFamily="18" charset="0"/>
              </a:rPr>
              <a:t>Order Number: 86675564</a:t>
            </a:r>
          </a:p>
          <a:p>
            <a:pPr marL="0" indent="0">
              <a:buNone/>
            </a:pPr>
            <a:r>
              <a:rPr lang="en-GB" dirty="0">
                <a:latin typeface="Times New Roman" panose="02020603050405020304" pitchFamily="18" charset="0"/>
                <a:cs typeface="Times New Roman" panose="02020603050405020304" pitchFamily="18" charset="0"/>
              </a:rPr>
              <a:t>Mellow White Leather Sofa</a:t>
            </a:r>
          </a:p>
          <a:p>
            <a:pPr marL="0" indent="0">
              <a:buNone/>
            </a:pPr>
            <a:r>
              <a:rPr lang="en-GB" dirty="0">
                <a:latin typeface="Times New Roman" panose="02020603050405020304" pitchFamily="18" charset="0"/>
                <a:cs typeface="Times New Roman" panose="02020603050405020304" pitchFamily="18" charset="0"/>
              </a:rPr>
              <a:t>Price Inc Delivery: $754</a:t>
            </a:r>
          </a:p>
          <a:p>
            <a:pPr marL="0" indent="0">
              <a:buNone/>
            </a:pPr>
            <a:r>
              <a:rPr lang="en-GB" dirty="0">
                <a:latin typeface="Times New Roman" panose="02020603050405020304" pitchFamily="18" charset="0"/>
                <a:cs typeface="Times New Roman" panose="02020603050405020304" pitchFamily="18" charset="0"/>
              </a:rPr>
              <a:t>Payment Method: Credit Card</a:t>
            </a:r>
          </a:p>
          <a:p>
            <a:pPr marL="0" indent="0">
              <a:buNone/>
            </a:pPr>
            <a:r>
              <a:rPr lang="en-GB" dirty="0">
                <a:latin typeface="Times New Roman" panose="02020603050405020304" pitchFamily="18" charset="0"/>
                <a:cs typeface="Times New Roman" panose="02020603050405020304" pitchFamily="18" charset="0"/>
              </a:rPr>
              <a:t>Delivery Address:</a:t>
            </a:r>
          </a:p>
          <a:p>
            <a:pPr marL="0" indent="0">
              <a:buNone/>
            </a:pPr>
            <a:r>
              <a:rPr lang="en-GB" dirty="0">
                <a:latin typeface="Times New Roman" panose="02020603050405020304" pitchFamily="18" charset="0"/>
                <a:cs typeface="Times New Roman" panose="02020603050405020304" pitchFamily="18" charset="0"/>
              </a:rPr>
              <a:t>8561 Honey Pioneer Autoroute, Burnt House, Wisconsin, 53091-3064</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t>…………………</a:t>
            </a:r>
          </a:p>
        </p:txBody>
      </p:sp>
    </p:spTree>
    <p:extLst>
      <p:ext uri="{BB962C8B-B14F-4D97-AF65-F5344CB8AC3E}">
        <p14:creationId xmlns:p14="http://schemas.microsoft.com/office/powerpoint/2010/main" val="132680791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E3F812-A992-4AC7-8B53-BC00B4D1E706}"/>
              </a:ext>
            </a:extLst>
          </p:cNvPr>
          <p:cNvSpPr>
            <a:spLocks noGrp="1"/>
          </p:cNvSpPr>
          <p:nvPr>
            <p:ph type="title"/>
          </p:nvPr>
        </p:nvSpPr>
        <p:spPr/>
        <p:txBody>
          <a:bodyPr/>
          <a:lstStyle/>
          <a:p>
            <a:r>
              <a:rPr lang="en-GB" dirty="0"/>
              <a:t>.</a:t>
            </a:r>
          </a:p>
        </p:txBody>
      </p:sp>
      <p:sp>
        <p:nvSpPr>
          <p:cNvPr id="3" name="Content Placeholder 2">
            <a:extLst>
              <a:ext uri="{FF2B5EF4-FFF2-40B4-BE49-F238E27FC236}">
                <a16:creationId xmlns:a16="http://schemas.microsoft.com/office/drawing/2014/main" xmlns="" id="{E1C1D8C2-0B58-4DE4-B58C-2BEB4A16DDC4}"/>
              </a:ext>
            </a:extLst>
          </p:cNvPr>
          <p:cNvSpPr>
            <a:spLocks noGrp="1"/>
          </p:cNvSpPr>
          <p:nvPr>
            <p:ph idx="1"/>
          </p:nvPr>
        </p:nvSpPr>
        <p:spPr>
          <a:xfrm>
            <a:off x="1013012" y="1825625"/>
            <a:ext cx="10340788" cy="4351338"/>
          </a:xfrm>
        </p:spPr>
        <p:txBody>
          <a:bodyPr>
            <a:normAutofit/>
          </a:bodyPr>
          <a:lstStyle/>
          <a:p>
            <a:pPr marL="0" indent="0">
              <a:buNone/>
            </a:pPr>
            <a:r>
              <a:rPr lang="en-GB" dirty="0">
                <a:latin typeface="Times New Roman" panose="02020603050405020304" pitchFamily="18" charset="0"/>
                <a:cs typeface="Times New Roman" panose="02020603050405020304" pitchFamily="18" charset="0"/>
              </a:rPr>
              <a:t>Note: Because this is a large item you will need somebody to sign for the delivery upon arrival and to grant the drivers access to the property in order to position it somewhere convenient. </a:t>
            </a:r>
          </a:p>
          <a:p>
            <a:pPr marL="0" indent="0">
              <a:buNone/>
            </a:pPr>
            <a:r>
              <a:rPr lang="en-GB" dirty="0">
                <a:latin typeface="Times New Roman" panose="02020603050405020304" pitchFamily="18" charset="0"/>
                <a:cs typeface="Times New Roman" panose="02020603050405020304" pitchFamily="18" charset="0"/>
              </a:rPr>
              <a:t>If you should have any problems or queries about this order please contact customer support on (534) 872-9133, or via email at support@furnitureworld.us</a:t>
            </a:r>
          </a:p>
          <a:p>
            <a:pPr marL="0" indent="0">
              <a:buNone/>
            </a:pPr>
            <a:r>
              <a:rPr lang="en-GB" dirty="0">
                <a:latin typeface="Times New Roman" panose="02020603050405020304" pitchFamily="18" charset="0"/>
                <a:cs typeface="Times New Roman" panose="02020603050405020304" pitchFamily="18" charset="0"/>
              </a:rPr>
              <a:t> </a:t>
            </a:r>
          </a:p>
          <a:p>
            <a:pPr marL="0" indent="0">
              <a:buNone/>
            </a:pPr>
            <a:r>
              <a:rPr lang="en-GB" dirty="0">
                <a:latin typeface="Times New Roman" panose="02020603050405020304" pitchFamily="18" charset="0"/>
                <a:cs typeface="Times New Roman" panose="02020603050405020304" pitchFamily="18" charset="0"/>
              </a:rPr>
              <a:t>All the best,</a:t>
            </a:r>
          </a:p>
          <a:p>
            <a:pPr marL="0" indent="0">
              <a:buNone/>
            </a:pPr>
            <a:r>
              <a:rPr lang="en-GB" dirty="0">
                <a:latin typeface="Times New Roman" panose="02020603050405020304" pitchFamily="18" charset="0"/>
                <a:cs typeface="Times New Roman" panose="02020603050405020304" pitchFamily="18" charset="0"/>
              </a:rPr>
              <a:t>Furniture World</a:t>
            </a:r>
          </a:p>
          <a:p>
            <a:pPr marL="0" indent="0">
              <a:buNone/>
            </a:pPr>
            <a:endParaRPr lang="en-GB" dirty="0"/>
          </a:p>
        </p:txBody>
      </p:sp>
    </p:spTree>
    <p:extLst>
      <p:ext uri="{BB962C8B-B14F-4D97-AF65-F5344CB8AC3E}">
        <p14:creationId xmlns:p14="http://schemas.microsoft.com/office/powerpoint/2010/main" val="163269660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Write the samples of each letter.</a:t>
            </a:r>
          </a:p>
          <a:p>
            <a:r>
              <a:rPr lang="en-US" dirty="0" smtClean="0"/>
              <a:t>Recently </a:t>
            </a:r>
            <a:r>
              <a:rPr lang="en-US" dirty="0"/>
              <a:t>you bought a </a:t>
            </a:r>
            <a:r>
              <a:rPr lang="en-US" dirty="0" smtClean="0"/>
              <a:t>computer </a:t>
            </a:r>
            <a:r>
              <a:rPr lang="en-US" dirty="0"/>
              <a:t>from a dealer in your city. Unfortunately the car did not work properly. Now, you want to return it and have full refunding. Write a letter claiming the refund by furnishing all the details. </a:t>
            </a:r>
          </a:p>
        </p:txBody>
      </p:sp>
    </p:spTree>
    <p:extLst>
      <p:ext uri="{BB962C8B-B14F-4D97-AF65-F5344CB8AC3E}">
        <p14:creationId xmlns:p14="http://schemas.microsoft.com/office/powerpoint/2010/main" val="3260188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77671"/>
            <a:ext cx="10515600" cy="3299292"/>
          </a:xfrm>
        </p:spPr>
        <p:txBody>
          <a:bodyPr>
            <a:normAutofit/>
          </a:bodyPr>
          <a:lstStyle/>
          <a:p>
            <a:pPr marL="0" indent="0" algn="ctr">
              <a:buNone/>
            </a:pPr>
            <a:r>
              <a:rPr lang="en-US" sz="4800" b="1" dirty="0" smtClean="0">
                <a:solidFill>
                  <a:srgbClr val="C00000"/>
                </a:solidFill>
              </a:rPr>
              <a:t>The End </a:t>
            </a:r>
            <a:endParaRPr lang="en-US" sz="4800" b="1" dirty="0">
              <a:solidFill>
                <a:srgbClr val="C00000"/>
              </a:solidFill>
            </a:endParaRPr>
          </a:p>
        </p:txBody>
      </p:sp>
    </p:spTree>
    <p:extLst>
      <p:ext uri="{BB962C8B-B14F-4D97-AF65-F5344CB8AC3E}">
        <p14:creationId xmlns:p14="http://schemas.microsoft.com/office/powerpoint/2010/main" val="10103191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5431</TotalTime>
  <Words>2042</Words>
  <Application>Microsoft Office PowerPoint</Application>
  <PresentationFormat>Custom</PresentationFormat>
  <Paragraphs>680</Paragraphs>
  <Slides>61</Slides>
  <Notes>0</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Office Theme</vt:lpstr>
      <vt:lpstr>PowerPoint Presentation</vt:lpstr>
      <vt:lpstr>PowerPoint Presentation</vt:lpstr>
      <vt:lpstr>PowerPoint Presentation</vt:lpstr>
      <vt:lpstr>PowerPoint Presentation</vt:lpstr>
      <vt:lpstr>PowerPoint Presentation</vt:lpstr>
      <vt:lpstr>PowerPoint Presentation</vt:lpstr>
      <vt:lpstr>Purpose</vt:lpstr>
      <vt:lpstr>Memo Format</vt:lpstr>
      <vt:lpstr>Parts of Memo</vt:lpstr>
      <vt:lpstr>Memo Format </vt:lpstr>
      <vt:lpstr>MEMO</vt:lpstr>
      <vt:lpstr>Memo </vt:lpstr>
      <vt:lpstr>PowerPoint Presentation</vt:lpstr>
      <vt:lpstr>PowerPoint Presentation</vt:lpstr>
      <vt:lpstr>PowerPoint Presentation</vt:lpstr>
      <vt:lpstr>PowerPoint Presentation</vt:lpstr>
      <vt:lpstr>Job Application</vt:lpstr>
      <vt:lpstr>Job application Format</vt:lpstr>
      <vt:lpstr>…</vt:lpstr>
      <vt:lpstr>A sample</vt:lpstr>
      <vt:lpstr>.</vt:lpstr>
      <vt:lpstr> Sample Cover Letter - Entry Level Finance Position </vt:lpstr>
      <vt:lpstr>Contd..</vt:lpstr>
      <vt:lpstr>Resume/CV</vt:lpstr>
      <vt:lpstr>.</vt:lpstr>
      <vt:lpstr>Contd…</vt:lpstr>
      <vt:lpstr>.</vt:lpstr>
      <vt:lpstr>Contd…</vt:lpstr>
      <vt:lpstr>.</vt:lpstr>
      <vt:lpstr>Contd…</vt:lpstr>
      <vt:lpstr>Contd.</vt:lpstr>
      <vt:lpstr>PowerPoint Presentation</vt:lpstr>
      <vt:lpstr> Business Letter Format</vt:lpstr>
      <vt:lpstr>.</vt:lpstr>
      <vt:lpstr>2.2.2 Types of Letters</vt:lpstr>
      <vt:lpstr>.</vt:lpstr>
      <vt:lpstr>Claim Letter for Damaged Goods/ complaint </vt:lpstr>
      <vt:lpstr>.</vt:lpstr>
      <vt:lpstr>.</vt:lpstr>
      <vt:lpstr>.</vt:lpstr>
      <vt:lpstr> A Letter Requesting a Refund for a Faulty Item </vt:lpstr>
      <vt:lpstr>.</vt:lpstr>
      <vt:lpstr>.</vt:lpstr>
      <vt:lpstr>.</vt:lpstr>
      <vt:lpstr> ..</vt:lpstr>
      <vt:lpstr>.</vt:lpstr>
      <vt:lpstr>REPLY</vt:lpstr>
      <vt:lpstr>.</vt:lpstr>
      <vt:lpstr>  Job inquiry </vt:lpstr>
      <vt:lpstr>..</vt:lpstr>
      <vt:lpstr>Reply to an inquiry for sports goods</vt:lpstr>
      <vt:lpstr>Reply to the inquiry for construction fittings</vt:lpstr>
      <vt:lpstr>..</vt:lpstr>
      <vt:lpstr>Order letter sample</vt:lpstr>
      <vt:lpstr>.</vt:lpstr>
      <vt:lpstr> Letter of Order Sample </vt:lpstr>
      <vt:lpstr>..</vt:lpstr>
      <vt:lpstr>.</vt:lpstr>
      <vt:lpstr>.</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Techniques</dc:title>
  <dc:creator>Microsoft account</dc:creator>
  <cp:lastModifiedBy>lenovo</cp:lastModifiedBy>
  <cp:revision>559</cp:revision>
  <dcterms:created xsi:type="dcterms:W3CDTF">2023-01-05T15:29:22Z</dcterms:created>
  <dcterms:modified xsi:type="dcterms:W3CDTF">2024-12-28T03:04:46Z</dcterms:modified>
</cp:coreProperties>
</file>