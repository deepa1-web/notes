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654" r:id="rId2"/>
    <p:sldId id="655" r:id="rId3"/>
    <p:sldId id="728" r:id="rId4"/>
    <p:sldId id="810" r:id="rId5"/>
    <p:sldId id="656" r:id="rId6"/>
    <p:sldId id="657" r:id="rId7"/>
    <p:sldId id="811" r:id="rId8"/>
    <p:sldId id="785" r:id="rId9"/>
    <p:sldId id="658" r:id="rId10"/>
    <p:sldId id="659" r:id="rId11"/>
    <p:sldId id="803" r:id="rId12"/>
    <p:sldId id="812" r:id="rId13"/>
    <p:sldId id="661" r:id="rId14"/>
    <p:sldId id="662" r:id="rId15"/>
    <p:sldId id="663" r:id="rId16"/>
    <p:sldId id="813" r:id="rId17"/>
    <p:sldId id="729" r:id="rId18"/>
    <p:sldId id="730" r:id="rId19"/>
    <p:sldId id="814" r:id="rId20"/>
    <p:sldId id="81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77" d="100"/>
          <a:sy n="77" d="100"/>
        </p:scale>
        <p:origin x="-366" y="19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22C2EC6-F5D4-4EB2-B55F-04434BE7B208}" type="datetimeFigureOut">
              <a:rPr lang="en-US" smtClean="0"/>
              <a:t>12/31/2024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977A39-988E-47BA-AE30-E5DEF8B6BD4E}" type="slidenum">
              <a:rPr lang="en-US" smtClean="0"/>
              <a:t>‹#›</a:t>
            </a:fld>
            <a:endParaRPr lang="en-US"/>
          </a:p>
        </p:txBody>
      </p:sp>
    </p:spTree>
    <p:extLst>
      <p:ext uri="{BB962C8B-B14F-4D97-AF65-F5344CB8AC3E}">
        <p14:creationId xmlns:p14="http://schemas.microsoft.com/office/powerpoint/2010/main" val="1201032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22C2EC6-F5D4-4EB2-B55F-04434BE7B208}" type="datetimeFigureOut">
              <a:rPr lang="en-US" smtClean="0"/>
              <a:t>12/31/2024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977A39-988E-47BA-AE30-E5DEF8B6BD4E}" type="slidenum">
              <a:rPr lang="en-US" smtClean="0"/>
              <a:t>‹#›</a:t>
            </a:fld>
            <a:endParaRPr lang="en-US"/>
          </a:p>
        </p:txBody>
      </p:sp>
    </p:spTree>
    <p:extLst>
      <p:ext uri="{BB962C8B-B14F-4D97-AF65-F5344CB8AC3E}">
        <p14:creationId xmlns:p14="http://schemas.microsoft.com/office/powerpoint/2010/main" val="5044333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22C2EC6-F5D4-4EB2-B55F-04434BE7B208}" type="datetimeFigureOut">
              <a:rPr lang="en-US" smtClean="0"/>
              <a:t>12/31/2024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977A39-988E-47BA-AE30-E5DEF8B6BD4E}" type="slidenum">
              <a:rPr lang="en-US" smtClean="0"/>
              <a:t>‹#›</a:t>
            </a:fld>
            <a:endParaRPr lang="en-US"/>
          </a:p>
        </p:txBody>
      </p:sp>
    </p:spTree>
    <p:extLst>
      <p:ext uri="{BB962C8B-B14F-4D97-AF65-F5344CB8AC3E}">
        <p14:creationId xmlns:p14="http://schemas.microsoft.com/office/powerpoint/2010/main" val="21834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22C2EC6-F5D4-4EB2-B55F-04434BE7B208}" type="datetimeFigureOut">
              <a:rPr lang="en-US" smtClean="0"/>
              <a:t>12/31/2024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D977A39-988E-47BA-AE30-E5DEF8B6BD4E}" type="slidenum">
              <a:rPr lang="en-US" smtClean="0"/>
              <a:t>‹#›</a:t>
            </a:fld>
            <a:endParaRPr lang="en-US"/>
          </a:p>
        </p:txBody>
      </p:sp>
    </p:spTree>
    <p:extLst>
      <p:ext uri="{BB962C8B-B14F-4D97-AF65-F5344CB8AC3E}">
        <p14:creationId xmlns:p14="http://schemas.microsoft.com/office/powerpoint/2010/main" val="17796065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22C2EC6-F5D4-4EB2-B55F-04434BE7B208}" type="datetimeFigureOut">
              <a:rPr lang="en-US" smtClean="0"/>
              <a:t>12/31/2024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D977A39-988E-47BA-AE30-E5DEF8B6BD4E}" type="slidenum">
              <a:rPr lang="en-US" smtClean="0"/>
              <a:t>‹#›</a:t>
            </a:fld>
            <a:endParaRPr lang="en-US"/>
          </a:p>
        </p:txBody>
      </p:sp>
    </p:spTree>
    <p:extLst>
      <p:ext uri="{BB962C8B-B14F-4D97-AF65-F5344CB8AC3E}">
        <p14:creationId xmlns:p14="http://schemas.microsoft.com/office/powerpoint/2010/main" val="40215865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22C2EC6-F5D4-4EB2-B55F-04434BE7B208}" type="datetimeFigureOut">
              <a:rPr lang="en-US" smtClean="0"/>
              <a:t>12/31/2024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D977A39-988E-47BA-AE30-E5DEF8B6BD4E}" type="slidenum">
              <a:rPr lang="en-US" smtClean="0"/>
              <a:t>‹#›</a:t>
            </a:fld>
            <a:endParaRPr lang="en-US"/>
          </a:p>
        </p:txBody>
      </p:sp>
    </p:spTree>
    <p:extLst>
      <p:ext uri="{BB962C8B-B14F-4D97-AF65-F5344CB8AC3E}">
        <p14:creationId xmlns:p14="http://schemas.microsoft.com/office/powerpoint/2010/main" val="31100599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22C2EC6-F5D4-4EB2-B55F-04434BE7B208}" type="datetimeFigureOut">
              <a:rPr lang="en-US" smtClean="0"/>
              <a:t>12/31/2024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D977A39-988E-47BA-AE30-E5DEF8B6BD4E}" type="slidenum">
              <a:rPr lang="en-US" smtClean="0"/>
              <a:t>‹#›</a:t>
            </a:fld>
            <a:endParaRPr lang="en-US"/>
          </a:p>
        </p:txBody>
      </p:sp>
    </p:spTree>
    <p:extLst>
      <p:ext uri="{BB962C8B-B14F-4D97-AF65-F5344CB8AC3E}">
        <p14:creationId xmlns:p14="http://schemas.microsoft.com/office/powerpoint/2010/main" val="41853524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22C2EC6-F5D4-4EB2-B55F-04434BE7B208}" type="datetimeFigureOut">
              <a:rPr lang="en-US" smtClean="0"/>
              <a:t>12/31/2024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D977A39-988E-47BA-AE30-E5DEF8B6BD4E}" type="slidenum">
              <a:rPr lang="en-US" smtClean="0"/>
              <a:t>‹#›</a:t>
            </a:fld>
            <a:endParaRPr lang="en-US"/>
          </a:p>
        </p:txBody>
      </p:sp>
    </p:spTree>
    <p:extLst>
      <p:ext uri="{BB962C8B-B14F-4D97-AF65-F5344CB8AC3E}">
        <p14:creationId xmlns:p14="http://schemas.microsoft.com/office/powerpoint/2010/main" val="34234159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22C2EC6-F5D4-4EB2-B55F-04434BE7B208}" type="datetimeFigureOut">
              <a:rPr lang="en-US" smtClean="0"/>
              <a:t>12/31/2024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D977A39-988E-47BA-AE30-E5DEF8B6BD4E}" type="slidenum">
              <a:rPr lang="en-US" smtClean="0"/>
              <a:t>‹#›</a:t>
            </a:fld>
            <a:endParaRPr lang="en-US"/>
          </a:p>
        </p:txBody>
      </p:sp>
    </p:spTree>
    <p:extLst>
      <p:ext uri="{BB962C8B-B14F-4D97-AF65-F5344CB8AC3E}">
        <p14:creationId xmlns:p14="http://schemas.microsoft.com/office/powerpoint/2010/main" val="38954490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22C2EC6-F5D4-4EB2-B55F-04434BE7B208}" type="datetimeFigureOut">
              <a:rPr lang="en-US" smtClean="0"/>
              <a:t>12/31/2024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977A39-988E-47BA-AE30-E5DEF8B6BD4E}" type="slidenum">
              <a:rPr lang="en-US" smtClean="0"/>
              <a:t>‹#›</a:t>
            </a:fld>
            <a:endParaRPr lang="en-US"/>
          </a:p>
        </p:txBody>
      </p:sp>
    </p:spTree>
    <p:extLst>
      <p:ext uri="{BB962C8B-B14F-4D97-AF65-F5344CB8AC3E}">
        <p14:creationId xmlns:p14="http://schemas.microsoft.com/office/powerpoint/2010/main" val="11603702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22C2EC6-F5D4-4EB2-B55F-04434BE7B208}" type="datetimeFigureOut">
              <a:rPr lang="en-US" smtClean="0"/>
              <a:t>12/31/2024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977A39-988E-47BA-AE30-E5DEF8B6BD4E}" type="slidenum">
              <a:rPr lang="en-US" smtClean="0"/>
              <a:t>‹#›</a:t>
            </a:fld>
            <a:endParaRPr lang="en-US"/>
          </a:p>
        </p:txBody>
      </p:sp>
    </p:spTree>
    <p:extLst>
      <p:ext uri="{BB962C8B-B14F-4D97-AF65-F5344CB8AC3E}">
        <p14:creationId xmlns:p14="http://schemas.microsoft.com/office/powerpoint/2010/main" val="7311220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22C2EC6-F5D4-4EB2-B55F-04434BE7B208}" type="datetimeFigureOut">
              <a:rPr lang="en-US" smtClean="0"/>
              <a:t>12/31/2024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D977A39-988E-47BA-AE30-E5DEF8B6BD4E}" type="slidenum">
              <a:rPr lang="en-US" smtClean="0"/>
              <a:t>‹#›</a:t>
            </a:fld>
            <a:endParaRPr lang="en-US"/>
          </a:p>
        </p:txBody>
      </p:sp>
    </p:spTree>
    <p:extLst>
      <p:ext uri="{BB962C8B-B14F-4D97-AF65-F5344CB8AC3E}">
        <p14:creationId xmlns:p14="http://schemas.microsoft.com/office/powerpoint/2010/main" val="37673758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www.megabanknepal.com/"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b="1" dirty="0">
                <a:solidFill>
                  <a:srgbClr val="C00000"/>
                </a:solidFill>
              </a:rPr>
              <a:t>Writing </a:t>
            </a:r>
            <a:r>
              <a:rPr lang="en-US" sz="4800" b="1" dirty="0" smtClean="0">
                <a:solidFill>
                  <a:srgbClr val="C00000"/>
                </a:solidFill>
              </a:rPr>
              <a:t>Messages</a:t>
            </a:r>
            <a:endParaRPr lang="en-US" sz="4800" b="1" dirty="0">
              <a:solidFill>
                <a:srgbClr val="C00000"/>
              </a:solidFill>
            </a:endParaRPr>
          </a:p>
        </p:txBody>
      </p:sp>
      <p:sp>
        <p:nvSpPr>
          <p:cNvPr id="3" name="Content Placeholder 2"/>
          <p:cNvSpPr>
            <a:spLocks noGrp="1"/>
          </p:cNvSpPr>
          <p:nvPr>
            <p:ph idx="1"/>
          </p:nvPr>
        </p:nvSpPr>
        <p:spPr/>
        <p:txBody>
          <a:bodyPr/>
          <a:lstStyle/>
          <a:p>
            <a:pPr marL="0" indent="0">
              <a:buNone/>
            </a:pPr>
            <a:r>
              <a:rPr lang="en-US" b="1" dirty="0"/>
              <a:t>The messages </a:t>
            </a:r>
            <a:r>
              <a:rPr lang="en-US" b="1" dirty="0" smtClean="0"/>
              <a:t>used </a:t>
            </a:r>
            <a:r>
              <a:rPr lang="en-US" b="1" dirty="0"/>
              <a:t>in the </a:t>
            </a:r>
            <a:r>
              <a:rPr lang="en-US" b="1" dirty="0" smtClean="0"/>
              <a:t>workplace </a:t>
            </a:r>
            <a:r>
              <a:rPr lang="en-US" b="1" dirty="0"/>
              <a:t>fall into four </a:t>
            </a:r>
            <a:r>
              <a:rPr lang="en-US" b="1" dirty="0" smtClean="0"/>
              <a:t>general </a:t>
            </a:r>
            <a:r>
              <a:rPr lang="en-US" b="1" dirty="0"/>
              <a:t>categories:</a:t>
            </a:r>
            <a:endParaRPr lang="en-US" b="1" dirty="0" smtClean="0"/>
          </a:p>
          <a:p>
            <a:r>
              <a:rPr lang="en-US" b="1" dirty="0">
                <a:solidFill>
                  <a:srgbClr val="FF0000"/>
                </a:solidFill>
              </a:rPr>
              <a:t>I</a:t>
            </a:r>
            <a:r>
              <a:rPr lang="en-US" b="1" dirty="0" smtClean="0">
                <a:solidFill>
                  <a:srgbClr val="FF0000"/>
                </a:solidFill>
              </a:rPr>
              <a:t>nformative </a:t>
            </a:r>
          </a:p>
          <a:p>
            <a:r>
              <a:rPr lang="en-US" b="1" dirty="0" smtClean="0">
                <a:solidFill>
                  <a:srgbClr val="FF0000"/>
                </a:solidFill>
              </a:rPr>
              <a:t>Positive </a:t>
            </a:r>
          </a:p>
          <a:p>
            <a:r>
              <a:rPr lang="en-US" b="1" dirty="0" smtClean="0">
                <a:solidFill>
                  <a:srgbClr val="FF0000"/>
                </a:solidFill>
              </a:rPr>
              <a:t>Negative</a:t>
            </a:r>
          </a:p>
          <a:p>
            <a:r>
              <a:rPr lang="en-US" b="1" dirty="0" smtClean="0">
                <a:solidFill>
                  <a:srgbClr val="FF0000"/>
                </a:solidFill>
              </a:rPr>
              <a:t>Persuasive</a:t>
            </a:r>
            <a:endParaRPr lang="en-US" b="1" dirty="0">
              <a:solidFill>
                <a:srgbClr val="FF0000"/>
              </a:solidFill>
            </a:endParaRPr>
          </a:p>
        </p:txBody>
      </p:sp>
    </p:spTree>
    <p:extLst>
      <p:ext uri="{BB962C8B-B14F-4D97-AF65-F5344CB8AC3E}">
        <p14:creationId xmlns:p14="http://schemas.microsoft.com/office/powerpoint/2010/main" val="227913091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t>
            </a:r>
            <a:endParaRPr lang="en-US" dirty="0"/>
          </a:p>
        </p:txBody>
      </p:sp>
      <p:sp>
        <p:nvSpPr>
          <p:cNvPr id="3" name="Content Placeholder 2"/>
          <p:cNvSpPr>
            <a:spLocks noGrp="1"/>
          </p:cNvSpPr>
          <p:nvPr>
            <p:ph idx="1"/>
          </p:nvPr>
        </p:nvSpPr>
        <p:spPr/>
        <p:txBody>
          <a:bodyPr>
            <a:normAutofit/>
          </a:bodyPr>
          <a:lstStyle/>
          <a:p>
            <a:pPr marL="0" indent="0">
              <a:buNone/>
            </a:pPr>
            <a:r>
              <a:rPr lang="en-US" sz="4800" b="1" dirty="0" smtClean="0">
                <a:solidFill>
                  <a:srgbClr val="FF0000"/>
                </a:solidFill>
              </a:rPr>
              <a:t>Informative Messages</a:t>
            </a:r>
          </a:p>
          <a:p>
            <a:r>
              <a:rPr lang="en-US" dirty="0" smtClean="0"/>
              <a:t> </a:t>
            </a:r>
            <a:r>
              <a:rPr lang="en-US" dirty="0"/>
              <a:t>Informative </a:t>
            </a:r>
            <a:r>
              <a:rPr lang="en-US" dirty="0" smtClean="0"/>
              <a:t>message </a:t>
            </a:r>
            <a:r>
              <a:rPr lang="en-US" dirty="0" smtClean="0">
                <a:solidFill>
                  <a:srgbClr val="00B0F0"/>
                </a:solidFill>
              </a:rPr>
              <a:t>aims </a:t>
            </a:r>
            <a:r>
              <a:rPr lang="en-US" dirty="0">
                <a:solidFill>
                  <a:srgbClr val="00B0F0"/>
                </a:solidFill>
              </a:rPr>
              <a:t>to provide necessary information, prompt understanding, and </a:t>
            </a:r>
            <a:r>
              <a:rPr lang="en-US" dirty="0" smtClean="0">
                <a:solidFill>
                  <a:srgbClr val="00B0F0"/>
                </a:solidFill>
              </a:rPr>
              <a:t>provoke </a:t>
            </a:r>
            <a:r>
              <a:rPr lang="en-US" dirty="0">
                <a:solidFill>
                  <a:srgbClr val="00B0F0"/>
                </a:solidFill>
              </a:rPr>
              <a:t>neutral or positive responses while minimizing negative aspects</a:t>
            </a:r>
            <a:r>
              <a:rPr lang="en-US" dirty="0" smtClean="0">
                <a:solidFill>
                  <a:srgbClr val="00B0F0"/>
                </a:solidFill>
              </a:rPr>
              <a:t>.</a:t>
            </a:r>
            <a:r>
              <a:rPr lang="en-US" dirty="0">
                <a:solidFill>
                  <a:srgbClr val="00B0F0"/>
                </a:solidFill>
              </a:rPr>
              <a:t/>
            </a:r>
            <a:br>
              <a:rPr lang="en-US" dirty="0">
                <a:solidFill>
                  <a:srgbClr val="00B0F0"/>
                </a:solidFill>
              </a:rPr>
            </a:br>
            <a:r>
              <a:rPr lang="en-US" dirty="0"/>
              <a:t>Informative </a:t>
            </a:r>
            <a:r>
              <a:rPr lang="en-US" dirty="0" smtClean="0"/>
              <a:t>message </a:t>
            </a:r>
            <a:r>
              <a:rPr lang="en-US" dirty="0"/>
              <a:t>also </a:t>
            </a:r>
            <a:r>
              <a:rPr lang="en-US" dirty="0" smtClean="0"/>
              <a:t>strives </a:t>
            </a:r>
            <a:r>
              <a:rPr lang="en-US" dirty="0"/>
              <a:t>to </a:t>
            </a:r>
            <a:r>
              <a:rPr lang="en-US" dirty="0">
                <a:solidFill>
                  <a:srgbClr val="00B0F0"/>
                </a:solidFill>
              </a:rPr>
              <a:t>uphold a positive image of the sender and </a:t>
            </a:r>
            <a:r>
              <a:rPr lang="en-US" dirty="0" smtClean="0">
                <a:solidFill>
                  <a:srgbClr val="00B0F0"/>
                </a:solidFill>
              </a:rPr>
              <a:t>the </a:t>
            </a:r>
            <a:r>
              <a:rPr lang="en-US" dirty="0">
                <a:solidFill>
                  <a:srgbClr val="00B0F0"/>
                </a:solidFill>
              </a:rPr>
              <a:t>organization</a:t>
            </a:r>
            <a:r>
              <a:rPr lang="en-US" dirty="0"/>
              <a:t> </a:t>
            </a:r>
            <a:r>
              <a:rPr lang="en-US" dirty="0" smtClean="0"/>
              <a:t>by providing </a:t>
            </a:r>
            <a:r>
              <a:rPr lang="en-US" dirty="0" smtClean="0"/>
              <a:t>complete </a:t>
            </a:r>
            <a:r>
              <a:rPr lang="en-US" dirty="0" smtClean="0"/>
              <a:t>details.</a:t>
            </a:r>
            <a:r>
              <a:rPr lang="en-US" dirty="0"/>
              <a:t/>
            </a:r>
            <a:br>
              <a:rPr lang="en-US" dirty="0"/>
            </a:br>
            <a:endParaRPr lang="en-US" b="1" dirty="0"/>
          </a:p>
        </p:txBody>
      </p:sp>
    </p:spTree>
    <p:extLst>
      <p:ext uri="{BB962C8B-B14F-4D97-AF65-F5344CB8AC3E}">
        <p14:creationId xmlns:p14="http://schemas.microsoft.com/office/powerpoint/2010/main" val="241519545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2"/>
          <a:srcRect l="60894" t="26238" r="10482" b="9895"/>
          <a:stretch/>
        </p:blipFill>
        <p:spPr>
          <a:xfrm>
            <a:off x="1147482" y="1"/>
            <a:ext cx="8005483" cy="6606988"/>
          </a:xfrm>
          <a:prstGeom prst="rect">
            <a:avLst/>
          </a:prstGeom>
          <a:ln>
            <a:noFill/>
          </a:ln>
          <a:effectLst>
            <a:softEdge rad="112500"/>
          </a:effectLst>
        </p:spPr>
      </p:pic>
    </p:spTree>
    <p:extLst>
      <p:ext uri="{BB962C8B-B14F-4D97-AF65-F5344CB8AC3E}">
        <p14:creationId xmlns:p14="http://schemas.microsoft.com/office/powerpoint/2010/main" val="115140666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85349"/>
            <a:ext cx="10515600" cy="4351338"/>
          </a:xfrm>
        </p:spPr>
        <p:txBody>
          <a:bodyPr>
            <a:noAutofit/>
          </a:bodyPr>
          <a:lstStyle/>
          <a:p>
            <a:pPr marL="0" indent="0" algn="ctr">
              <a:buNone/>
            </a:pPr>
            <a:r>
              <a:rPr lang="en-US" sz="1800" b="1" dirty="0">
                <a:solidFill>
                  <a:srgbClr val="00B0F0"/>
                </a:solidFill>
                <a:latin typeface="Times New Roman" pitchFamily="18" charset="0"/>
                <a:cs typeface="Times New Roman" pitchFamily="18" charset="0"/>
              </a:rPr>
              <a:t>Sample of Informative Message</a:t>
            </a:r>
          </a:p>
          <a:p>
            <a:pPr marL="0" indent="0">
              <a:buNone/>
            </a:pPr>
            <a:r>
              <a:rPr lang="en-US" sz="1400" dirty="0" smtClean="0">
                <a:latin typeface="Times New Roman" pitchFamily="18" charset="0"/>
                <a:cs typeface="Times New Roman" pitchFamily="18" charset="0"/>
              </a:rPr>
              <a:t>To: All Team </a:t>
            </a:r>
            <a:r>
              <a:rPr lang="en-US" sz="1400" dirty="0">
                <a:latin typeface="Times New Roman" pitchFamily="18" charset="0"/>
                <a:cs typeface="Times New Roman" pitchFamily="18" charset="0"/>
              </a:rPr>
              <a:t>Members</a:t>
            </a:r>
            <a:endParaRPr lang="en-US" sz="1400" dirty="0" smtClean="0">
              <a:latin typeface="Times New Roman" pitchFamily="18" charset="0"/>
              <a:cs typeface="Times New Roman" pitchFamily="18" charset="0"/>
            </a:endParaRPr>
          </a:p>
          <a:p>
            <a:pPr marL="0" indent="0">
              <a:buNone/>
            </a:pPr>
            <a:r>
              <a:rPr lang="en-US" sz="1400" dirty="0" smtClean="0">
                <a:latin typeface="Times New Roman" pitchFamily="18" charset="0"/>
                <a:cs typeface="Times New Roman" pitchFamily="18" charset="0"/>
              </a:rPr>
              <a:t>From: Event co-</a:t>
            </a:r>
            <a:r>
              <a:rPr lang="en-US" sz="1400" dirty="0" err="1" smtClean="0">
                <a:latin typeface="Times New Roman" pitchFamily="18" charset="0"/>
                <a:cs typeface="Times New Roman" pitchFamily="18" charset="0"/>
              </a:rPr>
              <a:t>ordinator</a:t>
            </a:r>
            <a:endParaRPr lang="en-US" sz="1400" dirty="0" smtClean="0">
              <a:latin typeface="Times New Roman" pitchFamily="18" charset="0"/>
              <a:cs typeface="Times New Roman" pitchFamily="18" charset="0"/>
            </a:endParaRPr>
          </a:p>
          <a:p>
            <a:pPr marL="0" indent="0">
              <a:buNone/>
            </a:pPr>
            <a:r>
              <a:rPr lang="en-US" sz="1400" dirty="0" smtClean="0">
                <a:latin typeface="Times New Roman" pitchFamily="18" charset="0"/>
                <a:cs typeface="Times New Roman" pitchFamily="18" charset="0"/>
              </a:rPr>
              <a:t>Date: 25</a:t>
            </a:r>
            <a:r>
              <a:rPr lang="en-US" sz="1400" baseline="30000" dirty="0" smtClean="0">
                <a:latin typeface="Times New Roman" pitchFamily="18" charset="0"/>
                <a:cs typeface="Times New Roman" pitchFamily="18" charset="0"/>
              </a:rPr>
              <a:t>th</a:t>
            </a:r>
            <a:r>
              <a:rPr lang="en-US" sz="1400" dirty="0" smtClean="0">
                <a:latin typeface="Times New Roman" pitchFamily="18" charset="0"/>
                <a:cs typeface="Times New Roman" pitchFamily="18" charset="0"/>
              </a:rPr>
              <a:t> Dec, 2024</a:t>
            </a:r>
            <a:endParaRPr lang="en-US" sz="1400" dirty="0">
              <a:solidFill>
                <a:srgbClr val="00B0F0"/>
              </a:solidFill>
              <a:latin typeface="Times New Roman" pitchFamily="18" charset="0"/>
              <a:cs typeface="Times New Roman" pitchFamily="18" charset="0"/>
            </a:endParaRPr>
          </a:p>
          <a:p>
            <a:pPr marL="0" indent="0">
              <a:buNone/>
            </a:pPr>
            <a:r>
              <a:rPr lang="en-US" sz="1400" dirty="0" smtClean="0">
                <a:latin typeface="Times New Roman" pitchFamily="18" charset="0"/>
                <a:cs typeface="Times New Roman" pitchFamily="18" charset="0"/>
              </a:rPr>
              <a:t>Subject</a:t>
            </a:r>
            <a:r>
              <a:rPr lang="en-US" sz="1400" dirty="0">
                <a:latin typeface="Times New Roman" pitchFamily="18" charset="0"/>
                <a:cs typeface="Times New Roman" pitchFamily="18" charset="0"/>
              </a:rPr>
              <a:t>: Invitation to Participate in Employee Training </a:t>
            </a:r>
            <a:r>
              <a:rPr lang="en-US" sz="1400" dirty="0" smtClean="0">
                <a:latin typeface="Times New Roman" pitchFamily="18" charset="0"/>
                <a:cs typeface="Times New Roman" pitchFamily="18" charset="0"/>
              </a:rPr>
              <a:t>Workshop</a:t>
            </a:r>
            <a:endParaRPr lang="en-US" sz="1400" dirty="0">
              <a:latin typeface="Times New Roman" pitchFamily="18" charset="0"/>
              <a:cs typeface="Times New Roman" pitchFamily="18" charset="0"/>
            </a:endParaRPr>
          </a:p>
          <a:p>
            <a:pPr marL="0" indent="0">
              <a:buNone/>
            </a:pPr>
            <a:r>
              <a:rPr lang="en-US" sz="1600"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We </a:t>
            </a:r>
            <a:r>
              <a:rPr lang="en-US" sz="1600" dirty="0">
                <a:latin typeface="Times New Roman" pitchFamily="18" charset="0"/>
                <a:cs typeface="Times New Roman" pitchFamily="18" charset="0"/>
              </a:rPr>
              <a:t>are pleased to invite you to participate in our upcoming training workshop focused on [topic]. This workshop aims to equip participants with essential skills and knowledge to enhance performance and drive success in their respective </a:t>
            </a:r>
            <a:r>
              <a:rPr lang="en-US" sz="1600" dirty="0" smtClean="0">
                <a:latin typeface="Times New Roman" pitchFamily="18" charset="0"/>
                <a:cs typeface="Times New Roman" pitchFamily="18" charset="0"/>
              </a:rPr>
              <a:t>roles. The </a:t>
            </a:r>
            <a:r>
              <a:rPr lang="en-US" sz="1600" dirty="0">
                <a:latin typeface="Times New Roman" pitchFamily="18" charset="0"/>
                <a:cs typeface="Times New Roman" pitchFamily="18" charset="0"/>
              </a:rPr>
              <a:t>workshop will cover topics such as [brief overview of workshop agenda]. Led by industry experts, this interactive </a:t>
            </a:r>
            <a:r>
              <a:rPr lang="en-US" sz="1600" dirty="0" smtClean="0">
                <a:latin typeface="Times New Roman" pitchFamily="18" charset="0"/>
                <a:cs typeface="Times New Roman" pitchFamily="18" charset="0"/>
              </a:rPr>
              <a:t>session will </a:t>
            </a:r>
            <a:r>
              <a:rPr lang="en-US" sz="1600" dirty="0">
                <a:latin typeface="Times New Roman" pitchFamily="18" charset="0"/>
                <a:cs typeface="Times New Roman" pitchFamily="18" charset="0"/>
              </a:rPr>
              <a:t>be informative and engaging, offering valuable insights and practical strategies that can be applied in the </a:t>
            </a:r>
            <a:r>
              <a:rPr lang="en-US" sz="1600" dirty="0" smtClean="0">
                <a:latin typeface="Times New Roman" pitchFamily="18" charset="0"/>
                <a:cs typeface="Times New Roman" pitchFamily="18" charset="0"/>
              </a:rPr>
              <a:t>workplace. The detail of the event is as follows:</a:t>
            </a:r>
            <a:endParaRPr lang="en-US" sz="1600" dirty="0">
              <a:latin typeface="Times New Roman" pitchFamily="18" charset="0"/>
              <a:cs typeface="Times New Roman" pitchFamily="18" charset="0"/>
            </a:endParaRPr>
          </a:p>
          <a:p>
            <a:pPr marL="0" indent="0">
              <a:buNone/>
            </a:pPr>
            <a:r>
              <a:rPr lang="en-US" sz="1600" dirty="0">
                <a:latin typeface="Times New Roman" pitchFamily="18" charset="0"/>
                <a:cs typeface="Times New Roman" pitchFamily="18" charset="0"/>
              </a:rPr>
              <a:t>Date</a:t>
            </a:r>
            <a:r>
              <a:rPr lang="en-US" sz="1600" dirty="0" smtClean="0">
                <a:latin typeface="Times New Roman" pitchFamily="18" charset="0"/>
                <a:cs typeface="Times New Roman" pitchFamily="18" charset="0"/>
              </a:rPr>
              <a:t>:………….</a:t>
            </a:r>
          </a:p>
          <a:p>
            <a:pPr marL="0" indent="0">
              <a:buNone/>
            </a:pPr>
            <a:r>
              <a:rPr lang="en-US" sz="1600" dirty="0" smtClean="0">
                <a:latin typeface="Times New Roman" pitchFamily="18" charset="0"/>
                <a:cs typeface="Times New Roman" pitchFamily="18" charset="0"/>
              </a:rPr>
              <a:t>Time:…………..</a:t>
            </a:r>
          </a:p>
          <a:p>
            <a:pPr marL="0" indent="0">
              <a:buNone/>
            </a:pPr>
            <a:r>
              <a:rPr lang="en-US" sz="1600" dirty="0" smtClean="0">
                <a:latin typeface="Times New Roman" pitchFamily="18" charset="0"/>
                <a:cs typeface="Times New Roman" pitchFamily="18" charset="0"/>
              </a:rPr>
              <a:t>Venue</a:t>
            </a:r>
            <a:r>
              <a:rPr lang="en-US" sz="1600" dirty="0" smtClean="0">
                <a:latin typeface="Times New Roman" pitchFamily="18" charset="0"/>
                <a:cs typeface="Times New Roman" pitchFamily="18" charset="0"/>
              </a:rPr>
              <a:t>:………….</a:t>
            </a:r>
            <a:endParaRPr lang="en-US" sz="1600" dirty="0">
              <a:latin typeface="Times New Roman" pitchFamily="18" charset="0"/>
              <a:cs typeface="Times New Roman" pitchFamily="18" charset="0"/>
            </a:endParaRPr>
          </a:p>
          <a:p>
            <a:pPr marL="0" indent="0">
              <a:buNone/>
            </a:pPr>
            <a:r>
              <a:rPr lang="en-US" sz="1600" dirty="0" smtClean="0">
                <a:latin typeface="Times New Roman" pitchFamily="18" charset="0"/>
                <a:cs typeface="Times New Roman" pitchFamily="18" charset="0"/>
              </a:rPr>
              <a:t>We </a:t>
            </a:r>
            <a:r>
              <a:rPr lang="en-US" sz="1600" dirty="0">
                <a:latin typeface="Times New Roman" pitchFamily="18" charset="0"/>
                <a:cs typeface="Times New Roman" pitchFamily="18" charset="0"/>
              </a:rPr>
              <a:t>look forward to your participation and the opportunity to further invest in your professional development.</a:t>
            </a:r>
          </a:p>
          <a:p>
            <a:pPr marL="0" indent="0">
              <a:buNone/>
            </a:pPr>
            <a:r>
              <a:rPr lang="en-US" sz="1600" dirty="0">
                <a:latin typeface="Times New Roman" pitchFamily="18" charset="0"/>
                <a:cs typeface="Times New Roman" pitchFamily="18" charset="0"/>
              </a:rPr>
              <a:t>Best </a:t>
            </a:r>
            <a:r>
              <a:rPr lang="en-US" sz="1600" dirty="0" smtClean="0">
                <a:latin typeface="Times New Roman" pitchFamily="18" charset="0"/>
                <a:cs typeface="Times New Roman" pitchFamily="18" charset="0"/>
              </a:rPr>
              <a:t>Regards</a:t>
            </a:r>
            <a:endParaRPr lang="en-US" sz="1600" dirty="0">
              <a:latin typeface="Times New Roman" pitchFamily="18" charset="0"/>
              <a:cs typeface="Times New Roman" pitchFamily="18" charset="0"/>
            </a:endParaRPr>
          </a:p>
          <a:p>
            <a:pPr marL="0" indent="0">
              <a:buNone/>
            </a:pPr>
            <a:r>
              <a:rPr lang="en-US" sz="1600" dirty="0" smtClean="0">
                <a:latin typeface="Times New Roman" pitchFamily="18" charset="0"/>
                <a:cs typeface="Times New Roman" pitchFamily="18" charset="0"/>
              </a:rPr>
              <a:t>…………..</a:t>
            </a:r>
            <a:r>
              <a:rPr lang="en-US" sz="1600" dirty="0">
                <a:latin typeface="Times New Roman" pitchFamily="18" charset="0"/>
                <a:cs typeface="Times New Roman" pitchFamily="18" charset="0"/>
              </a:rPr>
              <a:t/>
            </a:r>
            <a:br>
              <a:rPr lang="en-US" sz="1600" dirty="0">
                <a:latin typeface="Times New Roman" pitchFamily="18" charset="0"/>
                <a:cs typeface="Times New Roman" pitchFamily="18" charset="0"/>
              </a:rPr>
            </a:br>
            <a:endParaRPr lang="en-US" sz="1600" dirty="0">
              <a:latin typeface="Times New Roman" pitchFamily="18" charset="0"/>
              <a:cs typeface="Times New Roman" pitchFamily="18" charset="0"/>
            </a:endParaRPr>
          </a:p>
        </p:txBody>
      </p:sp>
    </p:spTree>
    <p:extLst>
      <p:ext uri="{BB962C8B-B14F-4D97-AF65-F5344CB8AC3E}">
        <p14:creationId xmlns:p14="http://schemas.microsoft.com/office/powerpoint/2010/main" val="161473110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t>
            </a:r>
            <a:endParaRPr lang="en-US" dirty="0"/>
          </a:p>
        </p:txBody>
      </p:sp>
      <p:sp>
        <p:nvSpPr>
          <p:cNvPr id="3" name="Content Placeholder 2"/>
          <p:cNvSpPr>
            <a:spLocks noGrp="1"/>
          </p:cNvSpPr>
          <p:nvPr>
            <p:ph idx="1"/>
          </p:nvPr>
        </p:nvSpPr>
        <p:spPr/>
        <p:txBody>
          <a:bodyPr>
            <a:normAutofit/>
          </a:bodyPr>
          <a:lstStyle/>
          <a:p>
            <a:pPr marL="0" indent="0">
              <a:buNone/>
            </a:pPr>
            <a:r>
              <a:rPr lang="en-US" sz="3600" b="1" dirty="0" smtClean="0">
                <a:solidFill>
                  <a:srgbClr val="FF0000"/>
                </a:solidFill>
              </a:rPr>
              <a:t>Positive </a:t>
            </a:r>
            <a:r>
              <a:rPr lang="en-US" sz="3600" b="1" dirty="0">
                <a:solidFill>
                  <a:srgbClr val="FF0000"/>
                </a:solidFill>
              </a:rPr>
              <a:t>M</a:t>
            </a:r>
            <a:r>
              <a:rPr lang="en-US" sz="3600" b="1" dirty="0" smtClean="0">
                <a:solidFill>
                  <a:srgbClr val="FF0000"/>
                </a:solidFill>
              </a:rPr>
              <a:t>essages </a:t>
            </a:r>
          </a:p>
          <a:p>
            <a:r>
              <a:rPr lang="en-US" dirty="0"/>
              <a:t>Positive messages have several goals as </a:t>
            </a:r>
            <a:r>
              <a:rPr lang="en-US" dirty="0">
                <a:solidFill>
                  <a:srgbClr val="00B0F0"/>
                </a:solidFill>
              </a:rPr>
              <a:t>sharing good news; </a:t>
            </a:r>
            <a:r>
              <a:rPr lang="en-US" dirty="0" smtClean="0">
                <a:solidFill>
                  <a:srgbClr val="00B0F0"/>
                </a:solidFill>
              </a:rPr>
              <a:t>restraining </a:t>
            </a:r>
            <a:r>
              <a:rPr lang="en-US" dirty="0">
                <a:solidFill>
                  <a:srgbClr val="00B0F0"/>
                </a:solidFill>
              </a:rPr>
              <a:t>any negative elements; and ensuring that readers read, understand, and respond positively.</a:t>
            </a:r>
          </a:p>
          <a:p>
            <a:r>
              <a:rPr lang="en-US" dirty="0" smtClean="0"/>
              <a:t>Its </a:t>
            </a:r>
            <a:r>
              <a:rPr lang="en-US" dirty="0">
                <a:solidFill>
                  <a:srgbClr val="00B0F0"/>
                </a:solidFill>
              </a:rPr>
              <a:t>secondary goal</a:t>
            </a:r>
            <a:r>
              <a:rPr lang="en-US" dirty="0"/>
              <a:t>- readers think well of the writer  and that no further communication is needed on this topic. </a:t>
            </a:r>
          </a:p>
          <a:p>
            <a:r>
              <a:rPr lang="en-US" dirty="0"/>
              <a:t>pattern for organizing positive messages is similar to informative messages. </a:t>
            </a:r>
          </a:p>
        </p:txBody>
      </p:sp>
    </p:spTree>
    <p:extLst>
      <p:ext uri="{BB962C8B-B14F-4D97-AF65-F5344CB8AC3E}">
        <p14:creationId xmlns:p14="http://schemas.microsoft.com/office/powerpoint/2010/main" val="205935816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t>
            </a:r>
            <a:endParaRPr lang="en-US" dirty="0"/>
          </a:p>
        </p:txBody>
      </p:sp>
      <p:pic>
        <p:nvPicPr>
          <p:cNvPr id="4" name="Content Placeholder 3"/>
          <p:cNvPicPr>
            <a:picLocks noGrp="1" noChangeAspect="1"/>
          </p:cNvPicPr>
          <p:nvPr>
            <p:ph idx="1"/>
          </p:nvPr>
        </p:nvPicPr>
        <p:blipFill rotWithShape="1">
          <a:blip r:embed="rId2"/>
          <a:srcRect l="9323" t="53638" r="12916" b="11956"/>
          <a:stretch/>
        </p:blipFill>
        <p:spPr>
          <a:xfrm>
            <a:off x="224118" y="1515035"/>
            <a:ext cx="11663082" cy="4697506"/>
          </a:xfrm>
          <a:prstGeom prst="rect">
            <a:avLst/>
          </a:prstGeom>
          <a:ln>
            <a:noFill/>
          </a:ln>
          <a:effectLst>
            <a:softEdge rad="112500"/>
          </a:effectLst>
        </p:spPr>
      </p:pic>
    </p:spTree>
    <p:extLst>
      <p:ext uri="{BB962C8B-B14F-4D97-AF65-F5344CB8AC3E}">
        <p14:creationId xmlns:p14="http://schemas.microsoft.com/office/powerpoint/2010/main" val="300498986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02282"/>
            <a:ext cx="10515600" cy="4351338"/>
          </a:xfrm>
        </p:spPr>
        <p:txBody>
          <a:bodyPr>
            <a:normAutofit fontScale="70000" lnSpcReduction="20000"/>
          </a:bodyPr>
          <a:lstStyle/>
          <a:p>
            <a:pPr marL="0" indent="0" algn="ctr">
              <a:buNone/>
            </a:pPr>
            <a:r>
              <a:rPr lang="en-US" b="1" dirty="0">
                <a:solidFill>
                  <a:srgbClr val="00B0F0"/>
                </a:solidFill>
                <a:latin typeface="Times New Roman" pitchFamily="18" charset="0"/>
                <a:cs typeface="Times New Roman" pitchFamily="18" charset="0"/>
              </a:rPr>
              <a:t>Sample of  </a:t>
            </a:r>
            <a:r>
              <a:rPr lang="en-US" b="1" dirty="0" smtClean="0">
                <a:solidFill>
                  <a:srgbClr val="00B0F0"/>
                </a:solidFill>
                <a:latin typeface="Times New Roman" pitchFamily="18" charset="0"/>
                <a:cs typeface="Times New Roman" pitchFamily="18" charset="0"/>
              </a:rPr>
              <a:t>positive </a:t>
            </a:r>
            <a:r>
              <a:rPr lang="en-US" b="1" dirty="0">
                <a:solidFill>
                  <a:srgbClr val="00B0F0"/>
                </a:solidFill>
                <a:latin typeface="Times New Roman" pitchFamily="18" charset="0"/>
                <a:cs typeface="Times New Roman" pitchFamily="18" charset="0"/>
              </a:rPr>
              <a:t>Message</a:t>
            </a:r>
          </a:p>
          <a:p>
            <a:pPr marL="0" indent="0">
              <a:buNone/>
            </a:pPr>
            <a:r>
              <a:rPr lang="en-US" dirty="0" smtClean="0">
                <a:latin typeface="Times New Roman" pitchFamily="18" charset="0"/>
                <a:cs typeface="Times New Roman" pitchFamily="18" charset="0"/>
              </a:rPr>
              <a:t>Address: ………….</a:t>
            </a:r>
          </a:p>
          <a:p>
            <a:pPr marL="0" indent="0">
              <a:buNone/>
            </a:pPr>
            <a:r>
              <a:rPr lang="en-US" dirty="0" smtClean="0">
                <a:latin typeface="Times New Roman" pitchFamily="18" charset="0"/>
                <a:cs typeface="Times New Roman" pitchFamily="18" charset="0"/>
              </a:rPr>
              <a:t>Date: </a:t>
            </a:r>
            <a:r>
              <a:rPr lang="en-US" dirty="0" smtClean="0">
                <a:latin typeface="Times New Roman" pitchFamily="18" charset="0"/>
                <a:cs typeface="Times New Roman" pitchFamily="18" charset="0"/>
              </a:rPr>
              <a:t>……………</a:t>
            </a:r>
            <a:endParaRPr lang="en-US" b="1" dirty="0" smtClean="0">
              <a:latin typeface="Times New Roman" pitchFamily="18" charset="0"/>
              <a:cs typeface="Times New Roman" pitchFamily="18" charset="0"/>
            </a:endParaRPr>
          </a:p>
          <a:p>
            <a:pPr marL="0" indent="0" algn="ctr">
              <a:buNone/>
            </a:pPr>
            <a:r>
              <a:rPr lang="en-US" dirty="0" smtClean="0">
                <a:latin typeface="Times New Roman" pitchFamily="18" charset="0"/>
                <a:cs typeface="Times New Roman" pitchFamily="18" charset="0"/>
              </a:rPr>
              <a:t>Subject</a:t>
            </a:r>
            <a:r>
              <a:rPr lang="en-US" dirty="0">
                <a:latin typeface="Times New Roman" pitchFamily="18" charset="0"/>
                <a:cs typeface="Times New Roman" pitchFamily="18" charset="0"/>
              </a:rPr>
              <a:t>: Heartfelt Thanks for Your Positive Feedback</a:t>
            </a:r>
          </a:p>
          <a:p>
            <a:pPr marL="0" indent="0">
              <a:buNone/>
            </a:pPr>
            <a:r>
              <a:rPr lang="en-US" dirty="0">
                <a:latin typeface="Times New Roman" pitchFamily="18" charset="0"/>
                <a:cs typeface="Times New Roman" pitchFamily="18" charset="0"/>
              </a:rPr>
              <a:t>Dear [Customer's Name],</a:t>
            </a:r>
          </a:p>
          <a:p>
            <a:pPr marL="0" indent="0">
              <a:buNone/>
            </a:pPr>
            <a:r>
              <a:rPr lang="en-US" dirty="0">
                <a:latin typeface="Times New Roman" pitchFamily="18" charset="0"/>
                <a:cs typeface="Times New Roman" pitchFamily="18" charset="0"/>
              </a:rPr>
              <a:t>We </a:t>
            </a:r>
            <a:r>
              <a:rPr lang="en-US" dirty="0" smtClean="0">
                <a:latin typeface="Times New Roman" pitchFamily="18" charset="0"/>
                <a:cs typeface="Times New Roman" pitchFamily="18" charset="0"/>
              </a:rPr>
              <a:t>express </a:t>
            </a:r>
            <a:r>
              <a:rPr lang="en-US" dirty="0">
                <a:latin typeface="Times New Roman" pitchFamily="18" charset="0"/>
                <a:cs typeface="Times New Roman" pitchFamily="18" charset="0"/>
              </a:rPr>
              <a:t>our sincere gratitude for your recent feedback regarding your experience with our product/service. Your kind words and </a:t>
            </a:r>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review have truly brightened our </a:t>
            </a:r>
            <a:r>
              <a:rPr lang="en-US" dirty="0" smtClean="0">
                <a:latin typeface="Times New Roman" pitchFamily="18" charset="0"/>
                <a:cs typeface="Times New Roman" pitchFamily="18" charset="0"/>
              </a:rPr>
              <a:t>day. Knowing </a:t>
            </a:r>
            <a:r>
              <a:rPr lang="en-US" dirty="0">
                <a:latin typeface="Times New Roman" pitchFamily="18" charset="0"/>
                <a:cs typeface="Times New Roman" pitchFamily="18" charset="0"/>
              </a:rPr>
              <a:t>that we've been able to meet and exceed your expectations fills us with immense pride. Your satisfaction is our top priority, and we're thrilled to hear that we've been able to make a positive impact.</a:t>
            </a:r>
          </a:p>
          <a:p>
            <a:pPr marL="0" indent="0">
              <a:buNone/>
            </a:pPr>
            <a:r>
              <a:rPr lang="en-US" dirty="0">
                <a:latin typeface="Times New Roman" pitchFamily="18" charset="0"/>
                <a:cs typeface="Times New Roman" pitchFamily="18" charset="0"/>
              </a:rPr>
              <a:t>Thank you for choosing us and for </a:t>
            </a:r>
            <a:r>
              <a:rPr lang="en-US" dirty="0" smtClean="0">
                <a:latin typeface="Times New Roman" pitchFamily="18" charset="0"/>
                <a:cs typeface="Times New Roman" pitchFamily="18" charset="0"/>
              </a:rPr>
              <a:t>providing </a:t>
            </a:r>
            <a:r>
              <a:rPr lang="en-US" dirty="0">
                <a:latin typeface="Times New Roman" pitchFamily="18" charset="0"/>
                <a:cs typeface="Times New Roman" pitchFamily="18" charset="0"/>
              </a:rPr>
              <a:t>us the opportunity to serve you. We look forward to </a:t>
            </a:r>
            <a:r>
              <a:rPr lang="en-US" dirty="0" smtClean="0">
                <a:latin typeface="Times New Roman" pitchFamily="18" charset="0"/>
                <a:cs typeface="Times New Roman" pitchFamily="18" charset="0"/>
              </a:rPr>
              <a:t>continuing </a:t>
            </a:r>
            <a:r>
              <a:rPr lang="en-US" dirty="0">
                <a:latin typeface="Times New Roman" pitchFamily="18" charset="0"/>
                <a:cs typeface="Times New Roman" pitchFamily="18" charset="0"/>
              </a:rPr>
              <a:t>to exceed your expectations in the future.</a:t>
            </a:r>
          </a:p>
          <a:p>
            <a:pPr marL="0" indent="0">
              <a:buNone/>
            </a:pPr>
            <a:r>
              <a:rPr lang="en-US" dirty="0">
                <a:latin typeface="Times New Roman" pitchFamily="18" charset="0"/>
                <a:cs typeface="Times New Roman" pitchFamily="18" charset="0"/>
              </a:rPr>
              <a:t>Warmest </a:t>
            </a:r>
            <a:r>
              <a:rPr lang="en-US" dirty="0" smtClean="0">
                <a:latin typeface="Times New Roman" pitchFamily="18" charset="0"/>
                <a:cs typeface="Times New Roman" pitchFamily="18" charset="0"/>
              </a:rPr>
              <a:t>Regards</a:t>
            </a:r>
            <a:r>
              <a:rPr lang="en-US" dirty="0">
                <a:latin typeface="Times New Roman" pitchFamily="18" charset="0"/>
                <a:cs typeface="Times New Roman" pitchFamily="18" charset="0"/>
              </a:rPr>
              <a:t>, </a:t>
            </a:r>
            <a:endParaRPr lang="en-US" dirty="0" smtClean="0">
              <a:latin typeface="Times New Roman" pitchFamily="18" charset="0"/>
              <a:cs typeface="Times New Roman" pitchFamily="18" charset="0"/>
            </a:endParaRPr>
          </a:p>
          <a:p>
            <a:pPr marL="0" indent="0">
              <a:buNone/>
            </a:pPr>
            <a:r>
              <a:rPr lang="en-US" dirty="0" smtClean="0">
                <a:latin typeface="Times New Roman" pitchFamily="18" charset="0"/>
                <a:cs typeface="Times New Roman" pitchFamily="18" charset="0"/>
              </a:rPr>
              <a:t>[</a:t>
            </a:r>
            <a:r>
              <a:rPr lang="en-US" dirty="0">
                <a:latin typeface="Times New Roman" pitchFamily="18" charset="0"/>
                <a:cs typeface="Times New Roman" pitchFamily="18" charset="0"/>
              </a:rPr>
              <a:t>Your Name] </a:t>
            </a:r>
            <a:endParaRPr lang="en-US" dirty="0" smtClean="0">
              <a:latin typeface="Times New Roman" pitchFamily="18" charset="0"/>
              <a:cs typeface="Times New Roman" pitchFamily="18" charset="0"/>
            </a:endParaRPr>
          </a:p>
          <a:p>
            <a:pPr marL="0" indent="0">
              <a:buNone/>
            </a:pPr>
            <a:r>
              <a:rPr lang="en-US" dirty="0" smtClean="0">
                <a:latin typeface="Times New Roman" pitchFamily="18" charset="0"/>
                <a:cs typeface="Times New Roman" pitchFamily="18" charset="0"/>
              </a:rPr>
              <a:t>[</a:t>
            </a:r>
            <a:r>
              <a:rPr lang="en-US" dirty="0">
                <a:latin typeface="Times New Roman" pitchFamily="18" charset="0"/>
                <a:cs typeface="Times New Roman" pitchFamily="18" charset="0"/>
              </a:rPr>
              <a:t>Your Position]</a:t>
            </a:r>
          </a:p>
          <a:p>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181923323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2"/>
          <a:srcRect l="27865" t="20058" r="32617" b="12161"/>
          <a:stretch/>
        </p:blipFill>
        <p:spPr>
          <a:xfrm>
            <a:off x="188260" y="0"/>
            <a:ext cx="9126070" cy="6858000"/>
          </a:xfrm>
          <a:prstGeom prst="rect">
            <a:avLst/>
          </a:prstGeom>
          <a:ln>
            <a:noFill/>
          </a:ln>
          <a:effectLst>
            <a:softEdge rad="112500"/>
          </a:effectLst>
        </p:spPr>
      </p:pic>
    </p:spTree>
    <p:extLst>
      <p:ext uri="{BB962C8B-B14F-4D97-AF65-F5344CB8AC3E}">
        <p14:creationId xmlns:p14="http://schemas.microsoft.com/office/powerpoint/2010/main" val="284069339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41555"/>
            <a:ext cx="10515600" cy="1325563"/>
          </a:xfrm>
        </p:spPr>
        <p:txBody>
          <a:bodyPr/>
          <a:lstStyle/>
          <a:p>
            <a:r>
              <a:rPr lang="en-US" dirty="0" smtClean="0"/>
              <a:t>…</a:t>
            </a:r>
            <a:endParaRPr lang="en-US" dirty="0"/>
          </a:p>
        </p:txBody>
      </p:sp>
      <p:sp>
        <p:nvSpPr>
          <p:cNvPr id="3" name="Content Placeholder 2"/>
          <p:cNvSpPr>
            <a:spLocks noGrp="1"/>
          </p:cNvSpPr>
          <p:nvPr>
            <p:ph idx="1"/>
          </p:nvPr>
        </p:nvSpPr>
        <p:spPr>
          <a:xfrm>
            <a:off x="838200" y="1578485"/>
            <a:ext cx="10515600" cy="4351338"/>
          </a:xfrm>
        </p:spPr>
        <p:txBody>
          <a:bodyPr>
            <a:normAutofit fontScale="92500"/>
          </a:bodyPr>
          <a:lstStyle/>
          <a:p>
            <a:pPr marL="0" indent="0">
              <a:buNone/>
            </a:pPr>
            <a:r>
              <a:rPr lang="en-US" sz="4000" b="1" dirty="0" smtClean="0">
                <a:solidFill>
                  <a:srgbClr val="FF0000"/>
                </a:solidFill>
              </a:rPr>
              <a:t>Negative Messages</a:t>
            </a:r>
          </a:p>
          <a:p>
            <a:pPr marL="0" indent="0">
              <a:buNone/>
            </a:pPr>
            <a:r>
              <a:rPr lang="en-US" dirty="0" smtClean="0"/>
              <a:t>Negative </a:t>
            </a:r>
            <a:r>
              <a:rPr lang="en-US" dirty="0"/>
              <a:t>messages are those that you expect</a:t>
            </a:r>
            <a:r>
              <a:rPr lang="en-US" dirty="0">
                <a:solidFill>
                  <a:srgbClr val="00B0F0"/>
                </a:solidFill>
              </a:rPr>
              <a:t> readers to receive with anger or disappointment</a:t>
            </a:r>
            <a:r>
              <a:rPr lang="en-US" dirty="0" smtClean="0">
                <a:solidFill>
                  <a:srgbClr val="00B0F0"/>
                </a:solidFill>
              </a:rPr>
              <a:t>.</a:t>
            </a:r>
          </a:p>
          <a:p>
            <a:r>
              <a:rPr lang="en-US" dirty="0" smtClean="0"/>
              <a:t>Its </a:t>
            </a:r>
            <a:r>
              <a:rPr lang="en-US" dirty="0"/>
              <a:t>goal is to </a:t>
            </a:r>
            <a:r>
              <a:rPr lang="en-US" dirty="0">
                <a:solidFill>
                  <a:srgbClr val="00B0F0"/>
                </a:solidFill>
              </a:rPr>
              <a:t>communicate the information in a way that readers can </a:t>
            </a:r>
            <a:r>
              <a:rPr lang="en-US" dirty="0" smtClean="0">
                <a:solidFill>
                  <a:srgbClr val="00B0F0"/>
                </a:solidFill>
              </a:rPr>
              <a:t>accept </a:t>
            </a:r>
            <a:endParaRPr lang="en-US" dirty="0">
              <a:solidFill>
                <a:srgbClr val="00B0F0"/>
              </a:solidFill>
            </a:endParaRPr>
          </a:p>
          <a:p>
            <a:r>
              <a:rPr lang="en-US" dirty="0" smtClean="0"/>
              <a:t>Need to </a:t>
            </a:r>
            <a:r>
              <a:rPr lang="en-US" dirty="0"/>
              <a:t>diffuse any negative emotions and to maintain  reader’s good will towards the writer</a:t>
            </a:r>
          </a:p>
          <a:p>
            <a:r>
              <a:rPr lang="en-US" dirty="0"/>
              <a:t>You can organize a </a:t>
            </a:r>
            <a:r>
              <a:rPr lang="en-US" dirty="0">
                <a:solidFill>
                  <a:srgbClr val="00B0F0"/>
                </a:solidFill>
              </a:rPr>
              <a:t>negative message with a buffer </a:t>
            </a:r>
            <a:r>
              <a:rPr lang="en-US" dirty="0" smtClean="0">
                <a:solidFill>
                  <a:srgbClr val="00B0F0"/>
                </a:solidFill>
              </a:rPr>
              <a:t>statement</a:t>
            </a:r>
            <a:endParaRPr lang="en-US" dirty="0">
              <a:solidFill>
                <a:srgbClr val="00B0F0"/>
              </a:solidFill>
            </a:endParaRPr>
          </a:p>
          <a:p>
            <a:r>
              <a:rPr lang="en-US" dirty="0" smtClean="0">
                <a:solidFill>
                  <a:srgbClr val="00B0F0"/>
                </a:solidFill>
              </a:rPr>
              <a:t>Buffer</a:t>
            </a:r>
            <a:r>
              <a:rPr lang="en-US" dirty="0" smtClean="0"/>
              <a:t> </a:t>
            </a:r>
            <a:r>
              <a:rPr lang="en-US" dirty="0"/>
              <a:t>is a </a:t>
            </a:r>
            <a:r>
              <a:rPr lang="en-US" dirty="0" smtClean="0"/>
              <a:t>neutral/positive </a:t>
            </a:r>
            <a:r>
              <a:rPr lang="en-US" dirty="0"/>
              <a:t>statement that delays the negative </a:t>
            </a:r>
            <a:r>
              <a:rPr lang="en-US" dirty="0" smtClean="0"/>
              <a:t>information</a:t>
            </a:r>
            <a:endParaRPr lang="en-US" dirty="0"/>
          </a:p>
          <a:p>
            <a:r>
              <a:rPr lang="en-US" dirty="0"/>
              <a:t>Postponement of </a:t>
            </a:r>
            <a:r>
              <a:rPr lang="en-US" dirty="0" smtClean="0"/>
              <a:t>program/meeting etc.</a:t>
            </a:r>
            <a:endParaRPr lang="en-US" dirty="0"/>
          </a:p>
          <a:p>
            <a:pPr marL="0" indent="0">
              <a:buNone/>
            </a:pPr>
            <a:endParaRPr lang="en-US" b="1" dirty="0"/>
          </a:p>
        </p:txBody>
      </p:sp>
    </p:spTree>
    <p:extLst>
      <p:ext uri="{BB962C8B-B14F-4D97-AF65-F5344CB8AC3E}">
        <p14:creationId xmlns:p14="http://schemas.microsoft.com/office/powerpoint/2010/main" val="169665174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7859" y="340659"/>
            <a:ext cx="10555941" cy="1350029"/>
          </a:xfrm>
        </p:spPr>
        <p:txBody>
          <a:bodyPr/>
          <a:lstStyle/>
          <a:p>
            <a:r>
              <a:rPr lang="en-US" b="1" dirty="0" smtClean="0">
                <a:solidFill>
                  <a:srgbClr val="FF0000"/>
                </a:solidFill>
              </a:rPr>
              <a:t>How to write negative message?</a:t>
            </a:r>
            <a:endParaRPr lang="en-US" b="1" dirty="0">
              <a:solidFill>
                <a:srgbClr val="FF0000"/>
              </a:solidFill>
            </a:endParaRPr>
          </a:p>
        </p:txBody>
      </p:sp>
      <p:pic>
        <p:nvPicPr>
          <p:cNvPr id="4" name="Content Placeholder 3"/>
          <p:cNvPicPr>
            <a:picLocks noGrp="1" noChangeAspect="1"/>
          </p:cNvPicPr>
          <p:nvPr>
            <p:ph idx="1"/>
          </p:nvPr>
        </p:nvPicPr>
        <p:blipFill rotWithShape="1">
          <a:blip r:embed="rId2"/>
          <a:srcRect l="49652" t="27062" r="12337" b="8660"/>
          <a:stretch/>
        </p:blipFill>
        <p:spPr>
          <a:xfrm>
            <a:off x="986119" y="1434352"/>
            <a:ext cx="6840070" cy="5262283"/>
          </a:xfrm>
          <a:prstGeom prst="rect">
            <a:avLst/>
          </a:prstGeom>
          <a:ln>
            <a:noFill/>
          </a:ln>
          <a:effectLst>
            <a:softEdge rad="112500"/>
          </a:effectLst>
        </p:spPr>
      </p:pic>
    </p:spTree>
    <p:extLst>
      <p:ext uri="{BB962C8B-B14F-4D97-AF65-F5344CB8AC3E}">
        <p14:creationId xmlns:p14="http://schemas.microsoft.com/office/powerpoint/2010/main" val="384735571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28600"/>
            <a:ext cx="8229600" cy="381000"/>
          </a:xfrm>
        </p:spPr>
        <p:txBody>
          <a:bodyPr>
            <a:normAutofit fontScale="90000"/>
          </a:bodyPr>
          <a:lstStyle/>
          <a:p>
            <a:r>
              <a:rPr lang="en-US" sz="2800" b="1" dirty="0">
                <a:latin typeface="Times New Roman" pitchFamily="18" charset="0"/>
                <a:cs typeface="Times New Roman" pitchFamily="18" charset="0"/>
              </a:rPr>
              <a:t>Indirect Approach: Rejecting Application Letter</a:t>
            </a:r>
            <a:endParaRPr lang="en-US" sz="2800" dirty="0">
              <a:latin typeface="Times New Roman" pitchFamily="18" charset="0"/>
              <a:cs typeface="Times New Roman" pitchFamily="18" charset="0"/>
            </a:endParaRPr>
          </a:p>
        </p:txBody>
      </p:sp>
      <p:sp>
        <p:nvSpPr>
          <p:cNvPr id="3" name="Content Placeholder 2"/>
          <p:cNvSpPr>
            <a:spLocks noGrp="1"/>
          </p:cNvSpPr>
          <p:nvPr>
            <p:ph idx="1"/>
          </p:nvPr>
        </p:nvSpPr>
        <p:spPr>
          <a:xfrm>
            <a:off x="824753" y="762000"/>
            <a:ext cx="11170023" cy="5867400"/>
          </a:xfrm>
        </p:spPr>
        <p:txBody>
          <a:bodyPr>
            <a:normAutofit fontScale="55000" lnSpcReduction="20000"/>
          </a:bodyPr>
          <a:lstStyle/>
          <a:p>
            <a:pPr algn="ctr">
              <a:buNone/>
            </a:pPr>
            <a:r>
              <a:rPr lang="en-US" dirty="0"/>
              <a:t>	</a:t>
            </a:r>
            <a:r>
              <a:rPr lang="en-US" sz="2900" dirty="0">
                <a:latin typeface="Times New Roman" pitchFamily="18" charset="0"/>
                <a:cs typeface="Times New Roman" pitchFamily="18" charset="0"/>
              </a:rPr>
              <a:t>Mega Bank Nepal Pvt. Ltd.</a:t>
            </a:r>
          </a:p>
          <a:p>
            <a:pPr algn="ctr">
              <a:buNone/>
            </a:pPr>
            <a:r>
              <a:rPr lang="en-US" sz="2900" dirty="0">
                <a:latin typeface="Times New Roman" pitchFamily="18" charset="0"/>
                <a:cs typeface="Times New Roman" pitchFamily="18" charset="0"/>
              </a:rPr>
              <a:t>	</a:t>
            </a:r>
            <a:r>
              <a:rPr lang="en-US" sz="2900" dirty="0" err="1">
                <a:latin typeface="Times New Roman" pitchFamily="18" charset="0"/>
                <a:cs typeface="Times New Roman" pitchFamily="18" charset="0"/>
              </a:rPr>
              <a:t>Darbarmarg</a:t>
            </a:r>
            <a:r>
              <a:rPr lang="en-US" sz="2900" dirty="0">
                <a:latin typeface="Times New Roman" pitchFamily="18" charset="0"/>
                <a:cs typeface="Times New Roman" pitchFamily="18" charset="0"/>
              </a:rPr>
              <a:t>, Kathmandu</a:t>
            </a:r>
          </a:p>
          <a:p>
            <a:pPr algn="ctr">
              <a:buNone/>
            </a:pPr>
            <a:r>
              <a:rPr lang="en-US" sz="2900" dirty="0">
                <a:latin typeface="Times New Roman" pitchFamily="18" charset="0"/>
                <a:cs typeface="Times New Roman" pitchFamily="18" charset="0"/>
              </a:rPr>
              <a:t>	Phone: 00977-23415675</a:t>
            </a:r>
          </a:p>
          <a:p>
            <a:pPr algn="ctr">
              <a:buNone/>
            </a:pPr>
            <a:r>
              <a:rPr lang="en-US" sz="2900" u="sng" dirty="0">
                <a:latin typeface="Times New Roman" pitchFamily="18" charset="0"/>
                <a:cs typeface="Times New Roman" pitchFamily="18" charset="0"/>
                <a:hlinkClick r:id="rId2"/>
              </a:rPr>
              <a:t>	www.megabanknepal.com</a:t>
            </a:r>
            <a:endParaRPr lang="en-US" sz="2900" dirty="0">
              <a:latin typeface="Times New Roman" pitchFamily="18" charset="0"/>
              <a:cs typeface="Times New Roman" pitchFamily="18" charset="0"/>
            </a:endParaRPr>
          </a:p>
          <a:p>
            <a:pPr>
              <a:buNone/>
            </a:pPr>
            <a:r>
              <a:rPr lang="en-US" dirty="0"/>
              <a:t>	</a:t>
            </a:r>
            <a:r>
              <a:rPr lang="en-US" dirty="0" smtClean="0"/>
              <a:t>Sept </a:t>
            </a:r>
            <a:r>
              <a:rPr lang="en-US" dirty="0"/>
              <a:t>11, </a:t>
            </a:r>
            <a:r>
              <a:rPr lang="en-US" dirty="0" smtClean="0"/>
              <a:t>2023</a:t>
            </a:r>
            <a:endParaRPr lang="en-US" dirty="0"/>
          </a:p>
          <a:p>
            <a:pPr>
              <a:buNone/>
            </a:pPr>
            <a:r>
              <a:rPr lang="en-US" dirty="0"/>
              <a:t>	</a:t>
            </a:r>
          </a:p>
          <a:p>
            <a:pPr>
              <a:buNone/>
            </a:pPr>
            <a:r>
              <a:rPr lang="en-US" dirty="0"/>
              <a:t>	</a:t>
            </a:r>
            <a:r>
              <a:rPr lang="en-US" sz="3300" dirty="0">
                <a:latin typeface="Times New Roman" pitchFamily="18" charset="0"/>
                <a:cs typeface="Times New Roman" pitchFamily="18" charset="0"/>
              </a:rPr>
              <a:t>Dear Mr. </a:t>
            </a:r>
            <a:r>
              <a:rPr lang="en-US" sz="3300" dirty="0" smtClean="0">
                <a:latin typeface="Times New Roman" pitchFamily="18" charset="0"/>
                <a:cs typeface="Times New Roman" pitchFamily="18" charset="0"/>
              </a:rPr>
              <a:t>Gupta,</a:t>
            </a:r>
            <a:endParaRPr lang="en-US" sz="3300" dirty="0">
              <a:latin typeface="Times New Roman" pitchFamily="18" charset="0"/>
              <a:cs typeface="Times New Roman" pitchFamily="18" charset="0"/>
            </a:endParaRPr>
          </a:p>
          <a:p>
            <a:pPr>
              <a:buNone/>
            </a:pPr>
            <a:r>
              <a:rPr lang="en-US" sz="3300" dirty="0">
                <a:latin typeface="Times New Roman" pitchFamily="18" charset="0"/>
                <a:cs typeface="Times New Roman" pitchFamily="18" charset="0"/>
              </a:rPr>
              <a:t> </a:t>
            </a:r>
            <a:r>
              <a:rPr lang="en-US" sz="3300" dirty="0" smtClean="0">
                <a:latin typeface="Times New Roman" pitchFamily="18" charset="0"/>
                <a:cs typeface="Times New Roman" pitchFamily="18" charset="0"/>
              </a:rPr>
              <a:t>                          Thank </a:t>
            </a:r>
            <a:r>
              <a:rPr lang="en-US" sz="3300" dirty="0">
                <a:latin typeface="Times New Roman" pitchFamily="18" charset="0"/>
                <a:cs typeface="Times New Roman" pitchFamily="18" charset="0"/>
              </a:rPr>
              <a:t>you for your interest in applying in Mega Bank Nepal. Our evaluation team was quite interested with your academic excellence along with your resume and cover </a:t>
            </a:r>
            <a:r>
              <a:rPr lang="en-US" sz="3300" dirty="0" smtClean="0">
                <a:latin typeface="Times New Roman" pitchFamily="18" charset="0"/>
                <a:cs typeface="Times New Roman" pitchFamily="18" charset="0"/>
              </a:rPr>
              <a:t>letter. Despite </a:t>
            </a:r>
            <a:r>
              <a:rPr lang="en-US" sz="3300" dirty="0">
                <a:latin typeface="Times New Roman" pitchFamily="18" charset="0"/>
                <a:cs typeface="Times New Roman" pitchFamily="18" charset="0"/>
              </a:rPr>
              <a:t>the fact that your resume and cover letter were very impressive, our evaluation team did not select it for further consideration as it found another candidate's application and resume more relevant at this point of time.</a:t>
            </a:r>
          </a:p>
          <a:p>
            <a:pPr>
              <a:buNone/>
            </a:pPr>
            <a:r>
              <a:rPr lang="en-US" sz="3300" dirty="0">
                <a:latin typeface="Times New Roman" pitchFamily="18" charset="0"/>
                <a:cs typeface="Times New Roman" pitchFamily="18" charset="0"/>
              </a:rPr>
              <a:t>	We will, however, keep your resume on record and get in touch with you about future opportunities that may be a better fit for your skills and </a:t>
            </a:r>
            <a:r>
              <a:rPr lang="en-US" sz="3300" dirty="0" smtClean="0">
                <a:latin typeface="Times New Roman" pitchFamily="18" charset="0"/>
                <a:cs typeface="Times New Roman" pitchFamily="18" charset="0"/>
              </a:rPr>
              <a:t>experiences. </a:t>
            </a:r>
          </a:p>
          <a:p>
            <a:pPr>
              <a:buNone/>
            </a:pPr>
            <a:r>
              <a:rPr lang="en-US" sz="3300" dirty="0">
                <a:latin typeface="Times New Roman" pitchFamily="18" charset="0"/>
                <a:cs typeface="Times New Roman" pitchFamily="18" charset="0"/>
              </a:rPr>
              <a:t> </a:t>
            </a:r>
            <a:r>
              <a:rPr lang="en-US" sz="3300" dirty="0" smtClean="0">
                <a:latin typeface="Times New Roman" pitchFamily="18" charset="0"/>
                <a:cs typeface="Times New Roman" pitchFamily="18" charset="0"/>
              </a:rPr>
              <a:t>   We </a:t>
            </a:r>
            <a:r>
              <a:rPr lang="en-US" sz="3300" dirty="0">
                <a:latin typeface="Times New Roman" pitchFamily="18" charset="0"/>
                <a:cs typeface="Times New Roman" pitchFamily="18" charset="0"/>
              </a:rPr>
              <a:t>wish you all the best in your job search and hope we will have the chance to consider you for another role in the future.</a:t>
            </a:r>
          </a:p>
          <a:p>
            <a:pPr>
              <a:buNone/>
            </a:pPr>
            <a:r>
              <a:rPr lang="en-US" sz="3300" dirty="0">
                <a:latin typeface="Times New Roman" pitchFamily="18" charset="0"/>
                <a:cs typeface="Times New Roman" pitchFamily="18" charset="0"/>
              </a:rPr>
              <a:t>	</a:t>
            </a:r>
          </a:p>
          <a:p>
            <a:pPr>
              <a:buNone/>
            </a:pPr>
            <a:r>
              <a:rPr lang="en-US" sz="3300" dirty="0">
                <a:latin typeface="Times New Roman" pitchFamily="18" charset="0"/>
                <a:cs typeface="Times New Roman" pitchFamily="18" charset="0"/>
              </a:rPr>
              <a:t>	Regards,</a:t>
            </a:r>
          </a:p>
          <a:p>
            <a:pPr>
              <a:buNone/>
            </a:pPr>
            <a:r>
              <a:rPr lang="en-US" sz="3300" dirty="0">
                <a:latin typeface="Times New Roman" pitchFamily="18" charset="0"/>
                <a:cs typeface="Times New Roman" pitchFamily="18" charset="0"/>
              </a:rPr>
              <a:t>	</a:t>
            </a:r>
            <a:r>
              <a:rPr lang="en-US" sz="3300" dirty="0" smtClean="0">
                <a:latin typeface="Times New Roman" pitchFamily="18" charset="0"/>
                <a:cs typeface="Times New Roman" pitchFamily="18" charset="0"/>
              </a:rPr>
              <a:t>Ramesh Chand</a:t>
            </a:r>
            <a:endParaRPr lang="en-US" sz="3300" dirty="0">
              <a:latin typeface="Times New Roman" pitchFamily="18" charset="0"/>
              <a:cs typeface="Times New Roman" pitchFamily="18" charset="0"/>
            </a:endParaRPr>
          </a:p>
          <a:p>
            <a:pPr>
              <a:buNone/>
            </a:pPr>
            <a:r>
              <a:rPr lang="en-US" sz="3300" dirty="0">
                <a:latin typeface="Times New Roman" pitchFamily="18" charset="0"/>
                <a:cs typeface="Times New Roman" pitchFamily="18" charset="0"/>
              </a:rPr>
              <a:t>	</a:t>
            </a:r>
            <a:r>
              <a:rPr lang="en-US" sz="3300" dirty="0" smtClean="0">
                <a:latin typeface="Times New Roman" pitchFamily="18" charset="0"/>
                <a:cs typeface="Times New Roman" pitchFamily="18" charset="0"/>
              </a:rPr>
              <a:t>(</a:t>
            </a:r>
            <a:r>
              <a:rPr lang="en-US" sz="3300" dirty="0" err="1" smtClean="0">
                <a:latin typeface="Times New Roman" pitchFamily="18" charset="0"/>
                <a:cs typeface="Times New Roman" pitchFamily="18" charset="0"/>
              </a:rPr>
              <a:t>HR</a:t>
            </a:r>
            <a:r>
              <a:rPr lang="en-US" sz="3300" dirty="0" smtClean="0">
                <a:latin typeface="Times New Roman" pitchFamily="18" charset="0"/>
                <a:cs typeface="Times New Roman" pitchFamily="18" charset="0"/>
              </a:rPr>
              <a:t> </a:t>
            </a:r>
            <a:r>
              <a:rPr lang="en-US" sz="3300" dirty="0">
                <a:latin typeface="Times New Roman" pitchFamily="18" charset="0"/>
                <a:cs typeface="Times New Roman" pitchFamily="18" charset="0"/>
              </a:rPr>
              <a:t>Manager)</a:t>
            </a:r>
          </a:p>
        </p:txBody>
      </p:sp>
    </p:spTree>
    <p:extLst>
      <p:ext uri="{BB962C8B-B14F-4D97-AF65-F5344CB8AC3E}">
        <p14:creationId xmlns:p14="http://schemas.microsoft.com/office/powerpoint/2010/main" val="26460820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89925"/>
            <a:ext cx="10515600" cy="4351338"/>
          </a:xfrm>
        </p:spPr>
        <p:txBody>
          <a:bodyPr>
            <a:noAutofit/>
          </a:bodyPr>
          <a:lstStyle/>
          <a:p>
            <a:pPr marL="0" indent="0">
              <a:buNone/>
            </a:pPr>
            <a:r>
              <a:rPr lang="en-US" sz="2000" dirty="0" smtClean="0">
                <a:latin typeface="Times New Roman" pitchFamily="18" charset="0"/>
                <a:cs typeface="Times New Roman" pitchFamily="18" charset="0"/>
              </a:rPr>
              <a:t>Address: …………….</a:t>
            </a:r>
          </a:p>
          <a:p>
            <a:pPr marL="0" indent="0">
              <a:buNone/>
            </a:pPr>
            <a:r>
              <a:rPr lang="en-US" sz="2000" dirty="0" smtClean="0">
                <a:latin typeface="Times New Roman" pitchFamily="18" charset="0"/>
                <a:cs typeface="Times New Roman" pitchFamily="18" charset="0"/>
              </a:rPr>
              <a:t>Date: ………….. </a:t>
            </a:r>
          </a:p>
          <a:p>
            <a:pPr marL="0" indent="0" algn="ctr">
              <a:buNone/>
            </a:pPr>
            <a:r>
              <a:rPr lang="en-US" sz="2000" dirty="0" smtClean="0">
                <a:latin typeface="Times New Roman" pitchFamily="18" charset="0"/>
                <a:cs typeface="Times New Roman" pitchFamily="18" charset="0"/>
              </a:rPr>
              <a:t>Subject</a:t>
            </a:r>
            <a:r>
              <a:rPr lang="en-US" sz="2000" dirty="0">
                <a:latin typeface="Times New Roman" pitchFamily="18" charset="0"/>
                <a:cs typeface="Times New Roman" pitchFamily="18" charset="0"/>
              </a:rPr>
              <a:t>: Important Update Regarding [Program Name] </a:t>
            </a:r>
            <a:endParaRPr lang="en-US" sz="2000" dirty="0" smtClean="0">
              <a:latin typeface="Times New Roman" pitchFamily="18" charset="0"/>
              <a:cs typeface="Times New Roman" pitchFamily="18" charset="0"/>
            </a:endParaRPr>
          </a:p>
          <a:p>
            <a:pPr marL="0" indent="0">
              <a:buNone/>
            </a:pPr>
            <a:r>
              <a:rPr lang="en-US" sz="2000" dirty="0" smtClean="0">
                <a:latin typeface="Times New Roman" pitchFamily="18" charset="0"/>
                <a:cs typeface="Times New Roman" pitchFamily="18" charset="0"/>
              </a:rPr>
              <a:t>Dear </a:t>
            </a:r>
            <a:r>
              <a:rPr lang="en-US" sz="2000" dirty="0">
                <a:latin typeface="Times New Roman" pitchFamily="18" charset="0"/>
                <a:cs typeface="Times New Roman" pitchFamily="18" charset="0"/>
              </a:rPr>
              <a:t>Participants</a:t>
            </a:r>
            <a:r>
              <a:rPr lang="en-US" sz="2000" dirty="0" smtClean="0">
                <a:latin typeface="Times New Roman" pitchFamily="18" charset="0"/>
                <a:cs typeface="Times New Roman" pitchFamily="18" charset="0"/>
              </a:rPr>
              <a:t>,</a:t>
            </a:r>
          </a:p>
          <a:p>
            <a:pPr marL="0" indent="0">
              <a:buNone/>
            </a:pPr>
            <a:r>
              <a:rPr lang="en-US" sz="2000" dirty="0" smtClean="0">
                <a:latin typeface="Times New Roman" pitchFamily="18" charset="0"/>
                <a:cs typeface="Times New Roman" pitchFamily="18" charset="0"/>
              </a:rPr>
              <a:t>                      Thank </a:t>
            </a:r>
            <a:r>
              <a:rPr lang="en-US" sz="2000" dirty="0">
                <a:latin typeface="Times New Roman" pitchFamily="18" charset="0"/>
                <a:cs typeface="Times New Roman" pitchFamily="18" charset="0"/>
              </a:rPr>
              <a:t>you for your enthusiastic participation in [Program Name]. Unfortunately, due to unforeseen logistical challenges, we must postpone the program originally scheduled for [Date].</a:t>
            </a:r>
          </a:p>
          <a:p>
            <a:pPr marL="0" indent="0">
              <a:buNone/>
            </a:pPr>
            <a:r>
              <a:rPr lang="en-US" sz="2000" dirty="0">
                <a:latin typeface="Times New Roman" pitchFamily="18" charset="0"/>
                <a:cs typeface="Times New Roman" pitchFamily="18" charset="0"/>
              </a:rPr>
              <a:t>We are working diligently to address these issues and will reschedule at the earliest opportunity. Updates regarding the new date and any adjustments to the agenda will be shared </a:t>
            </a:r>
            <a:r>
              <a:rPr lang="en-US" sz="2000" dirty="0" smtClean="0">
                <a:latin typeface="Times New Roman" pitchFamily="18" charset="0"/>
                <a:cs typeface="Times New Roman" pitchFamily="18" charset="0"/>
              </a:rPr>
              <a:t>soon. Your </a:t>
            </a:r>
            <a:r>
              <a:rPr lang="en-US" sz="2000" dirty="0">
                <a:latin typeface="Times New Roman" pitchFamily="18" charset="0"/>
                <a:cs typeface="Times New Roman" pitchFamily="18" charset="0"/>
              </a:rPr>
              <a:t>patience and support are greatly appreciated, and we remain committed to providing an enriching experience for all participants.</a:t>
            </a:r>
          </a:p>
          <a:p>
            <a:pPr marL="0" indent="0">
              <a:buNone/>
            </a:pPr>
            <a:r>
              <a:rPr lang="en-US" sz="2000" dirty="0" smtClean="0">
                <a:latin typeface="Times New Roman" pitchFamily="18" charset="0"/>
                <a:cs typeface="Times New Roman" pitchFamily="18" charset="0"/>
              </a:rPr>
              <a:t>Best </a:t>
            </a:r>
            <a:r>
              <a:rPr lang="en-US" sz="2000" dirty="0">
                <a:latin typeface="Times New Roman" pitchFamily="18" charset="0"/>
                <a:cs typeface="Times New Roman" pitchFamily="18" charset="0"/>
              </a:rPr>
              <a:t>R</a:t>
            </a:r>
            <a:r>
              <a:rPr lang="en-US" sz="2000" dirty="0" smtClean="0">
                <a:latin typeface="Times New Roman" pitchFamily="18" charset="0"/>
                <a:cs typeface="Times New Roman" pitchFamily="18" charset="0"/>
              </a:rPr>
              <a:t>egards,</a:t>
            </a:r>
          </a:p>
          <a:p>
            <a:pPr marL="0" indent="0">
              <a:buNone/>
            </a:pPr>
            <a:r>
              <a:rPr lang="en-US" sz="2000" dirty="0" smtClean="0">
                <a:latin typeface="Times New Roman" pitchFamily="18" charset="0"/>
                <a:cs typeface="Times New Roman" pitchFamily="18" charset="0"/>
              </a:rPr>
              <a:t> </a:t>
            </a:r>
            <a:r>
              <a:rPr lang="en-US" sz="2000" dirty="0">
                <a:latin typeface="Times New Roman" pitchFamily="18" charset="0"/>
                <a:cs typeface="Times New Roman" pitchFamily="18" charset="0"/>
              </a:rPr>
              <a:t>[Your Name] </a:t>
            </a:r>
            <a:endParaRPr lang="en-US" sz="2000" dirty="0" smtClean="0">
              <a:latin typeface="Times New Roman" pitchFamily="18" charset="0"/>
              <a:cs typeface="Times New Roman" pitchFamily="18" charset="0"/>
            </a:endParaRPr>
          </a:p>
          <a:p>
            <a:pPr marL="0" indent="0">
              <a:buNone/>
            </a:pPr>
            <a:r>
              <a:rPr lang="en-US" sz="2000" dirty="0" smtClean="0">
                <a:latin typeface="Times New Roman" pitchFamily="18" charset="0"/>
                <a:cs typeface="Times New Roman" pitchFamily="18" charset="0"/>
              </a:rPr>
              <a:t>[</a:t>
            </a:r>
            <a:r>
              <a:rPr lang="en-US" sz="2000" dirty="0">
                <a:latin typeface="Times New Roman" pitchFamily="18" charset="0"/>
                <a:cs typeface="Times New Roman" pitchFamily="18" charset="0"/>
              </a:rPr>
              <a:t>Your Position]</a:t>
            </a:r>
          </a:p>
        </p:txBody>
      </p:sp>
    </p:spTree>
    <p:extLst>
      <p:ext uri="{BB962C8B-B14F-4D97-AF65-F5344CB8AC3E}">
        <p14:creationId xmlns:p14="http://schemas.microsoft.com/office/powerpoint/2010/main" val="384641208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t>
            </a:r>
            <a:endParaRPr lang="en-US" dirty="0"/>
          </a:p>
        </p:txBody>
      </p:sp>
      <p:sp>
        <p:nvSpPr>
          <p:cNvPr id="3" name="Content Placeholder 2"/>
          <p:cNvSpPr>
            <a:spLocks noGrp="1"/>
          </p:cNvSpPr>
          <p:nvPr>
            <p:ph idx="1"/>
          </p:nvPr>
        </p:nvSpPr>
        <p:spPr>
          <a:xfrm>
            <a:off x="838199" y="1407460"/>
            <a:ext cx="10887635" cy="5271246"/>
          </a:xfrm>
        </p:spPr>
        <p:txBody>
          <a:bodyPr>
            <a:normAutofit/>
          </a:bodyPr>
          <a:lstStyle/>
          <a:p>
            <a:pPr marL="0" indent="0">
              <a:buNone/>
            </a:pPr>
            <a:r>
              <a:rPr lang="en-US" sz="3900" b="1" dirty="0" smtClean="0">
                <a:solidFill>
                  <a:srgbClr val="FF0000"/>
                </a:solidFill>
              </a:rPr>
              <a:t>Persuasive Messages</a:t>
            </a:r>
          </a:p>
          <a:p>
            <a:r>
              <a:rPr lang="en-US" b="1" dirty="0" smtClean="0"/>
              <a:t> </a:t>
            </a:r>
            <a:r>
              <a:rPr lang="en-US" dirty="0"/>
              <a:t>Persuasive messages are </a:t>
            </a:r>
            <a:r>
              <a:rPr lang="en-US" dirty="0">
                <a:solidFill>
                  <a:srgbClr val="00B0F0"/>
                </a:solidFill>
              </a:rPr>
              <a:t>to persuade readers to take particular  action.</a:t>
            </a:r>
          </a:p>
          <a:p>
            <a:r>
              <a:rPr lang="en-US" dirty="0">
                <a:solidFill>
                  <a:srgbClr val="00B0F0"/>
                </a:solidFill>
              </a:rPr>
              <a:t>Used in marketing, advertising, politics, fundraising, </a:t>
            </a:r>
            <a:r>
              <a:rPr lang="en-US" dirty="0" smtClean="0">
                <a:solidFill>
                  <a:srgbClr val="00B0F0"/>
                </a:solidFill>
              </a:rPr>
              <a:t>promotion </a:t>
            </a:r>
            <a:r>
              <a:rPr lang="en-US" dirty="0">
                <a:solidFill>
                  <a:srgbClr val="00B0F0"/>
                </a:solidFill>
              </a:rPr>
              <a:t>etc.</a:t>
            </a:r>
          </a:p>
          <a:p>
            <a:r>
              <a:rPr lang="en-US" dirty="0">
                <a:solidFill>
                  <a:srgbClr val="00B0F0"/>
                </a:solidFill>
              </a:rPr>
              <a:t>Emotional appeal to persuade/ provide evidence</a:t>
            </a:r>
          </a:p>
          <a:p>
            <a:r>
              <a:rPr lang="en-US" b="1" dirty="0" smtClean="0">
                <a:solidFill>
                  <a:srgbClr val="FF0000"/>
                </a:solidFill>
              </a:rPr>
              <a:t>Persuasive </a:t>
            </a:r>
            <a:r>
              <a:rPr lang="en-US" b="1" dirty="0">
                <a:solidFill>
                  <a:srgbClr val="FF0000"/>
                </a:solidFill>
              </a:rPr>
              <a:t>messages fall into two categories: </a:t>
            </a:r>
            <a:endParaRPr lang="en-US" b="1" dirty="0" smtClean="0">
              <a:solidFill>
                <a:srgbClr val="FF0000"/>
              </a:solidFill>
            </a:endParaRPr>
          </a:p>
          <a:p>
            <a:pPr marL="0" indent="0">
              <a:buNone/>
            </a:pPr>
            <a:r>
              <a:rPr lang="en-US" b="1" dirty="0" smtClean="0"/>
              <a:t>a. Direct </a:t>
            </a:r>
            <a:r>
              <a:rPr lang="en-US" b="1" dirty="0"/>
              <a:t>requests </a:t>
            </a:r>
          </a:p>
          <a:p>
            <a:pPr marL="0" indent="0">
              <a:buNone/>
            </a:pPr>
            <a:r>
              <a:rPr lang="en-US" b="1" dirty="0" smtClean="0"/>
              <a:t>b. Solution-finding </a:t>
            </a:r>
            <a:r>
              <a:rPr lang="en-US" b="1" dirty="0"/>
              <a:t>messages</a:t>
            </a:r>
            <a:r>
              <a:rPr lang="en-US" b="1" dirty="0" smtClean="0"/>
              <a:t>.</a:t>
            </a:r>
          </a:p>
          <a:p>
            <a:pPr marL="0" indent="0">
              <a:buNone/>
            </a:pPr>
            <a:r>
              <a:rPr lang="en-US" b="1" dirty="0" smtClean="0"/>
              <a:t> </a:t>
            </a:r>
            <a:endParaRPr lang="en-US" b="1" dirty="0"/>
          </a:p>
        </p:txBody>
      </p:sp>
    </p:spTree>
    <p:extLst>
      <p:ext uri="{BB962C8B-B14F-4D97-AF65-F5344CB8AC3E}">
        <p14:creationId xmlns:p14="http://schemas.microsoft.com/office/powerpoint/2010/main" val="11769562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a. Direct </a:t>
            </a:r>
            <a:r>
              <a:rPr lang="en-US" b="1" dirty="0">
                <a:solidFill>
                  <a:srgbClr val="FF0000"/>
                </a:solidFill>
              </a:rPr>
              <a:t>request messages</a:t>
            </a:r>
          </a:p>
        </p:txBody>
      </p:sp>
      <p:sp>
        <p:nvSpPr>
          <p:cNvPr id="3" name="Content Placeholder 2"/>
          <p:cNvSpPr>
            <a:spLocks noGrp="1"/>
          </p:cNvSpPr>
          <p:nvPr>
            <p:ph idx="1"/>
          </p:nvPr>
        </p:nvSpPr>
        <p:spPr>
          <a:xfrm>
            <a:off x="838199" y="1825625"/>
            <a:ext cx="11057965" cy="4351338"/>
          </a:xfrm>
        </p:spPr>
        <p:txBody>
          <a:bodyPr>
            <a:normAutofit fontScale="85000" lnSpcReduction="20000"/>
          </a:bodyPr>
          <a:lstStyle/>
          <a:p>
            <a:r>
              <a:rPr lang="en-US" b="1" dirty="0" smtClean="0">
                <a:solidFill>
                  <a:srgbClr val="00B0F0"/>
                </a:solidFill>
              </a:rPr>
              <a:t>Asking </a:t>
            </a:r>
            <a:r>
              <a:rPr lang="en-US" b="1" dirty="0">
                <a:solidFill>
                  <a:srgbClr val="00B0F0"/>
                </a:solidFill>
              </a:rPr>
              <a:t>readers to do something </a:t>
            </a:r>
            <a:r>
              <a:rPr lang="en-US" b="1" dirty="0" smtClean="0">
                <a:solidFill>
                  <a:srgbClr val="00B0F0"/>
                </a:solidFill>
              </a:rPr>
              <a:t>and people </a:t>
            </a:r>
            <a:r>
              <a:rPr lang="en-US" b="1" dirty="0">
                <a:solidFill>
                  <a:srgbClr val="00B0F0"/>
                </a:solidFill>
              </a:rPr>
              <a:t>act when they are </a:t>
            </a:r>
            <a:r>
              <a:rPr lang="en-US" b="1" dirty="0" smtClean="0">
                <a:solidFill>
                  <a:srgbClr val="00B0F0"/>
                </a:solidFill>
              </a:rPr>
              <a:t>motivated. </a:t>
            </a:r>
          </a:p>
          <a:p>
            <a:r>
              <a:rPr lang="en-US" dirty="0"/>
              <a:t>Motivating readers involves </a:t>
            </a:r>
            <a:r>
              <a:rPr lang="en-US" dirty="0">
                <a:solidFill>
                  <a:srgbClr val="00B0F0"/>
                </a:solidFill>
              </a:rPr>
              <a:t>understanding their </a:t>
            </a:r>
            <a:r>
              <a:rPr lang="en-US" dirty="0" smtClean="0">
                <a:solidFill>
                  <a:srgbClr val="00B0F0"/>
                </a:solidFill>
              </a:rPr>
              <a:t>thoughts</a:t>
            </a:r>
            <a:r>
              <a:rPr lang="en-US" dirty="0">
                <a:solidFill>
                  <a:srgbClr val="00B0F0"/>
                </a:solidFill>
              </a:rPr>
              <a:t> </a:t>
            </a:r>
            <a:r>
              <a:rPr lang="en-US" dirty="0" smtClean="0">
                <a:solidFill>
                  <a:srgbClr val="00B0F0"/>
                </a:solidFill>
              </a:rPr>
              <a:t>and</a:t>
            </a:r>
            <a:r>
              <a:rPr lang="en-US" dirty="0" smtClean="0">
                <a:solidFill>
                  <a:srgbClr val="00B0F0"/>
                </a:solidFill>
              </a:rPr>
              <a:t> </a:t>
            </a:r>
            <a:r>
              <a:rPr lang="en-US" dirty="0" smtClean="0">
                <a:solidFill>
                  <a:srgbClr val="00B0F0"/>
                </a:solidFill>
              </a:rPr>
              <a:t>expecting </a:t>
            </a:r>
            <a:r>
              <a:rPr lang="en-US" dirty="0">
                <a:solidFill>
                  <a:srgbClr val="00B0F0"/>
                </a:solidFill>
              </a:rPr>
              <a:t>any </a:t>
            </a:r>
            <a:r>
              <a:rPr lang="en-US" dirty="0" smtClean="0">
                <a:solidFill>
                  <a:srgbClr val="00B0F0"/>
                </a:solidFill>
              </a:rPr>
              <a:t>opposition</a:t>
            </a:r>
            <a:r>
              <a:rPr lang="en-US" dirty="0" smtClean="0"/>
              <a:t> </a:t>
            </a:r>
            <a:r>
              <a:rPr lang="en-US" dirty="0"/>
              <a:t>to your request.</a:t>
            </a:r>
          </a:p>
          <a:p>
            <a:r>
              <a:rPr lang="en-US" dirty="0" smtClean="0"/>
              <a:t>Identify </a:t>
            </a:r>
            <a:r>
              <a:rPr lang="en-US" dirty="0"/>
              <a:t>potential obstacles by asking readers or analyzing the situation to understand </a:t>
            </a:r>
            <a:r>
              <a:rPr lang="en-US" dirty="0" smtClean="0"/>
              <a:t>causes </a:t>
            </a:r>
            <a:r>
              <a:rPr lang="en-US" dirty="0"/>
              <a:t>of </a:t>
            </a:r>
            <a:r>
              <a:rPr lang="en-US" dirty="0" smtClean="0"/>
              <a:t>opposition.</a:t>
            </a:r>
            <a:endParaRPr lang="en-US" dirty="0"/>
          </a:p>
          <a:p>
            <a:pPr marL="0" indent="0">
              <a:buNone/>
            </a:pPr>
            <a:r>
              <a:rPr lang="en-US" dirty="0"/>
              <a:t/>
            </a:r>
            <a:br>
              <a:rPr lang="en-US" dirty="0"/>
            </a:br>
            <a:r>
              <a:rPr lang="en-US" b="1" dirty="0" smtClean="0">
                <a:solidFill>
                  <a:srgbClr val="FF0000"/>
                </a:solidFill>
              </a:rPr>
              <a:t>Obstacles </a:t>
            </a:r>
            <a:r>
              <a:rPr lang="en-US" b="1" dirty="0">
                <a:solidFill>
                  <a:srgbClr val="FF0000"/>
                </a:solidFill>
              </a:rPr>
              <a:t>or objections often arise from three areas:</a:t>
            </a:r>
            <a:r>
              <a:rPr lang="en-US" b="1" dirty="0">
                <a:solidFill>
                  <a:srgbClr val="00B0F0"/>
                </a:solidFill>
              </a:rPr>
              <a:t> </a:t>
            </a:r>
            <a:endParaRPr lang="en-US" b="1" dirty="0" smtClean="0">
              <a:solidFill>
                <a:srgbClr val="00B0F0"/>
              </a:solidFill>
            </a:endParaRPr>
          </a:p>
          <a:p>
            <a:r>
              <a:rPr lang="en-US" b="1" dirty="0" smtClean="0">
                <a:solidFill>
                  <a:srgbClr val="00B0F0"/>
                </a:solidFill>
              </a:rPr>
              <a:t>Emotional </a:t>
            </a:r>
            <a:r>
              <a:rPr lang="en-US" b="1" dirty="0">
                <a:solidFill>
                  <a:srgbClr val="00B0F0"/>
                </a:solidFill>
              </a:rPr>
              <a:t>reasons-</a:t>
            </a:r>
            <a:r>
              <a:rPr lang="en-US" b="1" dirty="0"/>
              <a:t> </a:t>
            </a:r>
            <a:r>
              <a:rPr lang="en-US" dirty="0"/>
              <a:t>fear, frustration, anger, discomfort etc.</a:t>
            </a:r>
          </a:p>
          <a:p>
            <a:r>
              <a:rPr lang="en-US" b="1" dirty="0" smtClean="0">
                <a:solidFill>
                  <a:srgbClr val="00B0F0"/>
                </a:solidFill>
              </a:rPr>
              <a:t>Practical </a:t>
            </a:r>
            <a:r>
              <a:rPr lang="en-US" b="1" dirty="0">
                <a:solidFill>
                  <a:srgbClr val="00B0F0"/>
                </a:solidFill>
              </a:rPr>
              <a:t>reasons-</a:t>
            </a:r>
            <a:r>
              <a:rPr lang="en-US" b="1" dirty="0"/>
              <a:t> </a:t>
            </a:r>
            <a:r>
              <a:rPr lang="en-US" dirty="0"/>
              <a:t>lack of resource- time, money, </a:t>
            </a:r>
            <a:r>
              <a:rPr lang="en-US" dirty="0" smtClean="0"/>
              <a:t>equipment,</a:t>
            </a:r>
            <a:r>
              <a:rPr lang="en-US" b="1" dirty="0" smtClean="0"/>
              <a:t> </a:t>
            </a:r>
            <a:r>
              <a:rPr lang="en-US" dirty="0" smtClean="0"/>
              <a:t>prioritization and </a:t>
            </a:r>
            <a:r>
              <a:rPr lang="en-US" dirty="0" smtClean="0"/>
              <a:t>hostile </a:t>
            </a:r>
            <a:r>
              <a:rPr lang="en-US" dirty="0"/>
              <a:t>demands, technical constraints, </a:t>
            </a:r>
            <a:r>
              <a:rPr lang="en-US" dirty="0" smtClean="0"/>
              <a:t>legal and </a:t>
            </a:r>
            <a:r>
              <a:rPr lang="en-US" dirty="0"/>
              <a:t>ethical issues.</a:t>
            </a:r>
            <a:endParaRPr lang="en-US" dirty="0">
              <a:solidFill>
                <a:srgbClr val="00B0F0"/>
              </a:solidFill>
            </a:endParaRPr>
          </a:p>
          <a:p>
            <a:r>
              <a:rPr lang="el-GR" dirty="0">
                <a:solidFill>
                  <a:srgbClr val="00B0F0"/>
                </a:solidFill>
              </a:rPr>
              <a:t> </a:t>
            </a:r>
            <a:r>
              <a:rPr lang="en-US" b="1" dirty="0" smtClean="0">
                <a:solidFill>
                  <a:srgbClr val="00B0F0"/>
                </a:solidFill>
              </a:rPr>
              <a:t>Misapprehension-</a:t>
            </a:r>
            <a:r>
              <a:rPr lang="en-US" dirty="0" smtClean="0"/>
              <a:t>misunderstanding</a:t>
            </a:r>
            <a:r>
              <a:rPr lang="en-US" dirty="0"/>
              <a:t>/ misconception- incomplete, incorrect understanding- need clarification, open- minded</a:t>
            </a:r>
            <a:r>
              <a:rPr lang="en-US" dirty="0" smtClean="0"/>
              <a:t>.</a:t>
            </a:r>
            <a:endParaRPr lang="en-US" dirty="0"/>
          </a:p>
        </p:txBody>
      </p:sp>
    </p:spTree>
    <p:extLst>
      <p:ext uri="{BB962C8B-B14F-4D97-AF65-F5344CB8AC3E}">
        <p14:creationId xmlns:p14="http://schemas.microsoft.com/office/powerpoint/2010/main" val="427574564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How </a:t>
            </a:r>
            <a:r>
              <a:rPr lang="en-US" b="1" dirty="0">
                <a:solidFill>
                  <a:srgbClr val="FF0000"/>
                </a:solidFill>
              </a:rPr>
              <a:t>to organize a direct </a:t>
            </a:r>
            <a:r>
              <a:rPr lang="en-US" b="1" dirty="0" smtClean="0">
                <a:solidFill>
                  <a:srgbClr val="FF0000"/>
                </a:solidFill>
              </a:rPr>
              <a:t>request message</a:t>
            </a:r>
            <a:endParaRPr lang="en-US" b="1" dirty="0">
              <a:solidFill>
                <a:srgbClr val="FF0000"/>
              </a:solidFill>
            </a:endParaRPr>
          </a:p>
        </p:txBody>
      </p:sp>
      <p:pic>
        <p:nvPicPr>
          <p:cNvPr id="4" name="Content Placeholder 3"/>
          <p:cNvPicPr>
            <a:picLocks noGrp="1" noChangeAspect="1"/>
          </p:cNvPicPr>
          <p:nvPr>
            <p:ph idx="1"/>
          </p:nvPr>
        </p:nvPicPr>
        <p:blipFill rotWithShape="1">
          <a:blip r:embed="rId2"/>
          <a:srcRect l="14075" t="28710" r="40150" b="32306"/>
          <a:stretch/>
        </p:blipFill>
        <p:spPr>
          <a:xfrm>
            <a:off x="1380565" y="1690688"/>
            <a:ext cx="8713693" cy="4557711"/>
          </a:xfrm>
          <a:prstGeom prst="rect">
            <a:avLst/>
          </a:prstGeom>
          <a:ln>
            <a:noFill/>
          </a:ln>
          <a:effectLst>
            <a:softEdge rad="112500"/>
          </a:effectLst>
        </p:spPr>
      </p:pic>
    </p:spTree>
    <p:extLst>
      <p:ext uri="{BB962C8B-B14F-4D97-AF65-F5344CB8AC3E}">
        <p14:creationId xmlns:p14="http://schemas.microsoft.com/office/powerpoint/2010/main" val="241193990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86493"/>
            <a:ext cx="10515600" cy="4351338"/>
          </a:xfrm>
        </p:spPr>
        <p:txBody>
          <a:bodyPr>
            <a:noAutofit/>
          </a:bodyPr>
          <a:lstStyle/>
          <a:p>
            <a:pPr marL="0" indent="0">
              <a:buNone/>
            </a:pPr>
            <a:r>
              <a:rPr lang="en-US" sz="1800" b="1" dirty="0">
                <a:latin typeface="Times New Roman" pitchFamily="18" charset="0"/>
                <a:cs typeface="Times New Roman" pitchFamily="18" charset="0"/>
              </a:rPr>
              <a:t>Request for Feedback on New Product Design:</a:t>
            </a:r>
            <a:endParaRPr lang="en-US" sz="1800" dirty="0">
              <a:latin typeface="Times New Roman" pitchFamily="18" charset="0"/>
              <a:cs typeface="Times New Roman" pitchFamily="18" charset="0"/>
            </a:endParaRPr>
          </a:p>
          <a:p>
            <a:pPr marL="0" indent="0">
              <a:buNone/>
            </a:pPr>
            <a:r>
              <a:rPr lang="en-US" sz="1800" dirty="0" smtClean="0">
                <a:latin typeface="Times New Roman" pitchFamily="18" charset="0"/>
                <a:cs typeface="Times New Roman" pitchFamily="18" charset="0"/>
              </a:rPr>
              <a:t>To: ………..</a:t>
            </a:r>
          </a:p>
          <a:p>
            <a:pPr marL="0" indent="0">
              <a:buNone/>
            </a:pPr>
            <a:r>
              <a:rPr lang="en-US" sz="1800" dirty="0" smtClean="0">
                <a:latin typeface="Times New Roman" pitchFamily="18" charset="0"/>
                <a:cs typeface="Times New Roman" pitchFamily="18" charset="0"/>
              </a:rPr>
              <a:t>From: ……………..</a:t>
            </a:r>
          </a:p>
          <a:p>
            <a:pPr marL="0" indent="0">
              <a:buNone/>
            </a:pPr>
            <a:r>
              <a:rPr lang="en-US" sz="1800" dirty="0" smtClean="0">
                <a:latin typeface="Times New Roman" pitchFamily="18" charset="0"/>
                <a:cs typeface="Times New Roman" pitchFamily="18" charset="0"/>
              </a:rPr>
              <a:t>Date: ……………..</a:t>
            </a:r>
          </a:p>
          <a:p>
            <a:pPr marL="0" indent="0">
              <a:buNone/>
            </a:pPr>
            <a:r>
              <a:rPr lang="en-US" sz="1800" dirty="0" smtClean="0">
                <a:latin typeface="Times New Roman" pitchFamily="18" charset="0"/>
                <a:cs typeface="Times New Roman" pitchFamily="18" charset="0"/>
              </a:rPr>
              <a:t>Subject</a:t>
            </a:r>
            <a:r>
              <a:rPr lang="en-US" sz="1800" dirty="0">
                <a:latin typeface="Times New Roman" pitchFamily="18" charset="0"/>
                <a:cs typeface="Times New Roman" pitchFamily="18" charset="0"/>
              </a:rPr>
              <a:t>: Your Input Needed: New Product </a:t>
            </a:r>
            <a:r>
              <a:rPr lang="en-US" sz="1800" dirty="0" smtClean="0">
                <a:latin typeface="Times New Roman" pitchFamily="18" charset="0"/>
                <a:cs typeface="Times New Roman" pitchFamily="18" charset="0"/>
              </a:rPr>
              <a:t>Design</a:t>
            </a:r>
            <a:endParaRPr lang="en-US" sz="1800" dirty="0">
              <a:latin typeface="Times New Roman" pitchFamily="18" charset="0"/>
              <a:cs typeface="Times New Roman" pitchFamily="18" charset="0"/>
            </a:endParaRPr>
          </a:p>
          <a:p>
            <a:pPr marL="0" indent="0">
              <a:buNone/>
            </a:pPr>
            <a:r>
              <a:rPr lang="en-US" sz="1800" dirty="0">
                <a:latin typeface="Times New Roman" pitchFamily="18" charset="0"/>
                <a:cs typeface="Times New Roman" pitchFamily="18" charset="0"/>
              </a:rPr>
              <a:t>We value your opinion and would greatly appreciate your feedback on our latest product design. Your insights will help us </a:t>
            </a:r>
            <a:r>
              <a:rPr lang="en-US" sz="1800" dirty="0" smtClean="0">
                <a:latin typeface="Times New Roman" pitchFamily="18" charset="0"/>
                <a:cs typeface="Times New Roman" pitchFamily="18" charset="0"/>
              </a:rPr>
              <a:t>to ensure </a:t>
            </a:r>
            <a:r>
              <a:rPr lang="en-US" sz="1800" dirty="0">
                <a:latin typeface="Times New Roman" pitchFamily="18" charset="0"/>
                <a:cs typeface="Times New Roman" pitchFamily="18" charset="0"/>
              </a:rPr>
              <a:t>that we're meeting your needs and expectations </a:t>
            </a:r>
            <a:r>
              <a:rPr lang="en-US" sz="1800" dirty="0" smtClean="0">
                <a:latin typeface="Times New Roman" pitchFamily="18" charset="0"/>
                <a:cs typeface="Times New Roman" pitchFamily="18" charset="0"/>
              </a:rPr>
              <a:t>effectively. We </a:t>
            </a:r>
            <a:r>
              <a:rPr lang="en-US" sz="1800" dirty="0">
                <a:latin typeface="Times New Roman" pitchFamily="18" charset="0"/>
                <a:cs typeface="Times New Roman" pitchFamily="18" charset="0"/>
              </a:rPr>
              <a:t>understand that you may have </a:t>
            </a:r>
            <a:r>
              <a:rPr lang="en-US" sz="1800" dirty="0" smtClean="0">
                <a:latin typeface="Times New Roman" pitchFamily="18" charset="0"/>
                <a:cs typeface="Times New Roman" pitchFamily="18" charset="0"/>
              </a:rPr>
              <a:t>concerns about </a:t>
            </a:r>
            <a:r>
              <a:rPr lang="en-US" sz="1800" dirty="0">
                <a:latin typeface="Times New Roman" pitchFamily="18" charset="0"/>
                <a:cs typeface="Times New Roman" pitchFamily="18" charset="0"/>
              </a:rPr>
              <a:t>the design process. It's important to us that you feel heard and </a:t>
            </a:r>
            <a:r>
              <a:rPr lang="en-US" sz="1800" dirty="0" smtClean="0">
                <a:latin typeface="Times New Roman" pitchFamily="18" charset="0"/>
                <a:cs typeface="Times New Roman" pitchFamily="18" charset="0"/>
              </a:rPr>
              <a:t>that any misunderstandings </a:t>
            </a:r>
            <a:r>
              <a:rPr lang="en-US" sz="1800" dirty="0">
                <a:latin typeface="Times New Roman" pitchFamily="18" charset="0"/>
                <a:cs typeface="Times New Roman" pitchFamily="18" charset="0"/>
              </a:rPr>
              <a:t>are addressed promptly. Your input is vital in helping us </a:t>
            </a:r>
            <a:r>
              <a:rPr lang="en-US" sz="1800" dirty="0" smtClean="0">
                <a:latin typeface="Times New Roman" pitchFamily="18" charset="0"/>
                <a:cs typeface="Times New Roman" pitchFamily="18" charset="0"/>
              </a:rPr>
              <a:t>to create </a:t>
            </a:r>
            <a:r>
              <a:rPr lang="en-US" sz="1800" dirty="0">
                <a:latin typeface="Times New Roman" pitchFamily="18" charset="0"/>
                <a:cs typeface="Times New Roman" pitchFamily="18" charset="0"/>
              </a:rPr>
              <a:t>a product that </a:t>
            </a:r>
            <a:r>
              <a:rPr lang="en-US" sz="1800" dirty="0" smtClean="0">
                <a:latin typeface="Times New Roman" pitchFamily="18" charset="0"/>
                <a:cs typeface="Times New Roman" pitchFamily="18" charset="0"/>
              </a:rPr>
              <a:t>resounds </a:t>
            </a:r>
            <a:r>
              <a:rPr lang="en-US" sz="1800" dirty="0">
                <a:latin typeface="Times New Roman" pitchFamily="18" charset="0"/>
                <a:cs typeface="Times New Roman" pitchFamily="18" charset="0"/>
              </a:rPr>
              <a:t>with </a:t>
            </a:r>
            <a:r>
              <a:rPr lang="en-US" sz="1800" dirty="0" smtClean="0">
                <a:latin typeface="Times New Roman" pitchFamily="18" charset="0"/>
                <a:cs typeface="Times New Roman" pitchFamily="18" charset="0"/>
              </a:rPr>
              <a:t>you. Please </a:t>
            </a:r>
            <a:r>
              <a:rPr lang="en-US" sz="1800" dirty="0">
                <a:latin typeface="Times New Roman" pitchFamily="18" charset="0"/>
                <a:cs typeface="Times New Roman" pitchFamily="18" charset="0"/>
              </a:rPr>
              <a:t>take a moment to review the attached design mock-ups and share your thoughts with us. Your feedback will guide us in refining the product to better serve you and our community.</a:t>
            </a:r>
          </a:p>
          <a:p>
            <a:pPr marL="0" indent="0">
              <a:buNone/>
            </a:pPr>
            <a:r>
              <a:rPr lang="en-US" sz="1800" dirty="0">
                <a:latin typeface="Times New Roman" pitchFamily="18" charset="0"/>
                <a:cs typeface="Times New Roman" pitchFamily="18" charset="0"/>
              </a:rPr>
              <a:t>Thank you for your time and consideration. We look forward to hearing from you soon.</a:t>
            </a:r>
          </a:p>
          <a:p>
            <a:pPr marL="0" indent="0">
              <a:buNone/>
            </a:pPr>
            <a:r>
              <a:rPr lang="en-US" sz="1800" dirty="0">
                <a:latin typeface="Times New Roman" pitchFamily="18" charset="0"/>
                <a:cs typeface="Times New Roman" pitchFamily="18" charset="0"/>
              </a:rPr>
              <a:t>Best </a:t>
            </a:r>
            <a:r>
              <a:rPr lang="en-US" sz="1800" dirty="0" smtClean="0">
                <a:latin typeface="Times New Roman" pitchFamily="18" charset="0"/>
                <a:cs typeface="Times New Roman" pitchFamily="18" charset="0"/>
              </a:rPr>
              <a:t>Regards</a:t>
            </a:r>
            <a:r>
              <a:rPr lang="en-US" sz="1800" dirty="0">
                <a:latin typeface="Times New Roman" pitchFamily="18" charset="0"/>
                <a:cs typeface="Times New Roman" pitchFamily="18" charset="0"/>
              </a:rPr>
              <a:t>, </a:t>
            </a:r>
            <a:endParaRPr lang="en-US" sz="1800" dirty="0" smtClean="0">
              <a:latin typeface="Times New Roman" pitchFamily="18" charset="0"/>
              <a:cs typeface="Times New Roman" pitchFamily="18" charset="0"/>
            </a:endParaRPr>
          </a:p>
          <a:p>
            <a:pPr marL="0" indent="0">
              <a:buNone/>
            </a:pPr>
            <a:r>
              <a:rPr lang="en-US" sz="1800" dirty="0" smtClean="0">
                <a:latin typeface="Times New Roman" pitchFamily="18" charset="0"/>
                <a:cs typeface="Times New Roman" pitchFamily="18" charset="0"/>
              </a:rPr>
              <a:t>…….</a:t>
            </a:r>
            <a:endParaRPr lang="en-US" sz="1800" dirty="0">
              <a:latin typeface="Times New Roman" pitchFamily="18" charset="0"/>
              <a:cs typeface="Times New Roman" pitchFamily="18" charset="0"/>
            </a:endParaRPr>
          </a:p>
          <a:p>
            <a:endParaRPr lang="en-US" sz="1800" dirty="0">
              <a:latin typeface="Times New Roman" pitchFamily="18" charset="0"/>
              <a:cs typeface="Times New Roman" pitchFamily="18" charset="0"/>
            </a:endParaRPr>
          </a:p>
        </p:txBody>
      </p:sp>
    </p:spTree>
    <p:extLst>
      <p:ext uri="{BB962C8B-B14F-4D97-AF65-F5344CB8AC3E}">
        <p14:creationId xmlns:p14="http://schemas.microsoft.com/office/powerpoint/2010/main" val="48512918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t>
            </a:r>
            <a:endParaRPr lang="en-US" dirty="0"/>
          </a:p>
        </p:txBody>
      </p:sp>
      <p:sp>
        <p:nvSpPr>
          <p:cNvPr id="3" name="Content Placeholder 2"/>
          <p:cNvSpPr>
            <a:spLocks noGrp="1"/>
          </p:cNvSpPr>
          <p:nvPr>
            <p:ph idx="1"/>
          </p:nvPr>
        </p:nvSpPr>
        <p:spPr/>
        <p:txBody>
          <a:bodyPr/>
          <a:lstStyle/>
          <a:p>
            <a:pPr marL="0" indent="0">
              <a:buNone/>
            </a:pPr>
            <a:r>
              <a:rPr lang="en-US" sz="4000" b="1" dirty="0" smtClean="0">
                <a:solidFill>
                  <a:srgbClr val="FF0000"/>
                </a:solidFill>
              </a:rPr>
              <a:t>b. Solution-finding </a:t>
            </a:r>
            <a:r>
              <a:rPr lang="en-US" sz="4000" b="1" dirty="0">
                <a:solidFill>
                  <a:srgbClr val="FF0000"/>
                </a:solidFill>
              </a:rPr>
              <a:t>messages </a:t>
            </a:r>
            <a:endParaRPr lang="en-US" sz="4000" b="1" dirty="0" smtClean="0">
              <a:solidFill>
                <a:srgbClr val="FF0000"/>
              </a:solidFill>
            </a:endParaRPr>
          </a:p>
          <a:p>
            <a:pPr marL="0" indent="0">
              <a:buNone/>
            </a:pPr>
            <a:r>
              <a:rPr lang="en-US" b="1" dirty="0" smtClean="0"/>
              <a:t>A </a:t>
            </a:r>
            <a:r>
              <a:rPr lang="en-US" b="1" dirty="0"/>
              <a:t>solution-finding message generally </a:t>
            </a:r>
            <a:r>
              <a:rPr lang="en-US" b="1" dirty="0">
                <a:solidFill>
                  <a:srgbClr val="00B0F0"/>
                </a:solidFill>
              </a:rPr>
              <a:t>identifies a problem </a:t>
            </a:r>
            <a:r>
              <a:rPr lang="en-US" b="1" dirty="0" smtClean="0">
                <a:solidFill>
                  <a:srgbClr val="00B0F0"/>
                </a:solidFill>
              </a:rPr>
              <a:t>and </a:t>
            </a:r>
            <a:r>
              <a:rPr lang="en-US" b="1" dirty="0">
                <a:solidFill>
                  <a:srgbClr val="00B0F0"/>
                </a:solidFill>
              </a:rPr>
              <a:t>proposes a solution. </a:t>
            </a:r>
            <a:endParaRPr lang="en-US" b="1" dirty="0" smtClean="0">
              <a:solidFill>
                <a:srgbClr val="00B0F0"/>
              </a:solidFill>
            </a:endParaRPr>
          </a:p>
          <a:p>
            <a:pPr marL="0" indent="0">
              <a:buNone/>
            </a:pPr>
            <a:r>
              <a:rPr lang="en-US" b="1" dirty="0" smtClean="0"/>
              <a:t>This </a:t>
            </a:r>
            <a:r>
              <a:rPr lang="en-US" b="1" dirty="0"/>
              <a:t>type of message becomes </a:t>
            </a:r>
            <a:r>
              <a:rPr lang="en-US" b="1" dirty="0">
                <a:solidFill>
                  <a:srgbClr val="00B0F0"/>
                </a:solidFill>
              </a:rPr>
              <a:t>persuasive</a:t>
            </a:r>
            <a:r>
              <a:rPr lang="en-US" b="1" dirty="0"/>
              <a:t> when you </a:t>
            </a:r>
            <a:r>
              <a:rPr lang="en-US" b="1" dirty="0" smtClean="0"/>
              <a:t>encourage </a:t>
            </a:r>
            <a:r>
              <a:rPr lang="en-US" b="1" dirty="0"/>
              <a:t>readers to accept (and act on) the solution that you propose</a:t>
            </a:r>
            <a:r>
              <a:rPr lang="en-US" b="1" dirty="0" smtClean="0"/>
              <a:t>.</a:t>
            </a:r>
          </a:p>
          <a:p>
            <a:pPr marL="0" indent="0">
              <a:buNone/>
            </a:pPr>
            <a:r>
              <a:rPr lang="en-US" b="1" dirty="0">
                <a:solidFill>
                  <a:srgbClr val="00B0F0"/>
                </a:solidFill>
              </a:rPr>
              <a:t>C</a:t>
            </a:r>
            <a:r>
              <a:rPr lang="en-US" b="1" dirty="0" smtClean="0">
                <a:solidFill>
                  <a:srgbClr val="00B0F0"/>
                </a:solidFill>
              </a:rPr>
              <a:t>onsider </a:t>
            </a:r>
            <a:r>
              <a:rPr lang="en-US" b="1" dirty="0">
                <a:solidFill>
                  <a:srgbClr val="00B0F0"/>
                </a:solidFill>
              </a:rPr>
              <a:t>whether readers might object to your solution</a:t>
            </a:r>
            <a:r>
              <a:rPr lang="en-US" b="1" dirty="0"/>
              <a:t> so that you can </a:t>
            </a:r>
            <a:r>
              <a:rPr lang="en-US" b="1" dirty="0" smtClean="0"/>
              <a:t>do ahead </a:t>
            </a:r>
            <a:r>
              <a:rPr lang="en-US" b="1" dirty="0"/>
              <a:t>and overcome any potential obstacles.</a:t>
            </a:r>
          </a:p>
        </p:txBody>
      </p:sp>
    </p:spTree>
    <p:extLst>
      <p:ext uri="{BB962C8B-B14F-4D97-AF65-F5344CB8AC3E}">
        <p14:creationId xmlns:p14="http://schemas.microsoft.com/office/powerpoint/2010/main" val="323997392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How </a:t>
            </a:r>
            <a:r>
              <a:rPr lang="en-US" b="1" dirty="0">
                <a:solidFill>
                  <a:srgbClr val="FF0000"/>
                </a:solidFill>
              </a:rPr>
              <a:t>to organize a solution-finding </a:t>
            </a:r>
            <a:r>
              <a:rPr lang="en-US" b="1" dirty="0" smtClean="0">
                <a:solidFill>
                  <a:srgbClr val="FF0000"/>
                </a:solidFill>
              </a:rPr>
              <a:t>message?</a:t>
            </a:r>
            <a:endParaRPr lang="en-US" b="1" dirty="0">
              <a:solidFill>
                <a:srgbClr val="FF0000"/>
              </a:solidFill>
            </a:endParaRPr>
          </a:p>
        </p:txBody>
      </p:sp>
      <p:pic>
        <p:nvPicPr>
          <p:cNvPr id="4" name="Content Placeholder 3"/>
          <p:cNvPicPr>
            <a:picLocks noGrp="1" noChangeAspect="1"/>
          </p:cNvPicPr>
          <p:nvPr>
            <p:ph idx="1"/>
          </p:nvPr>
        </p:nvPicPr>
        <p:blipFill rotWithShape="1">
          <a:blip r:embed="rId2"/>
          <a:srcRect l="14075" t="63694" r="40150" b="8247"/>
          <a:stretch/>
        </p:blipFill>
        <p:spPr>
          <a:xfrm>
            <a:off x="717177" y="1690688"/>
            <a:ext cx="10542494" cy="4557712"/>
          </a:xfrm>
          <a:prstGeom prst="rect">
            <a:avLst/>
          </a:prstGeom>
          <a:ln>
            <a:noFill/>
          </a:ln>
          <a:effectLst>
            <a:softEdge rad="112500"/>
          </a:effectLst>
        </p:spPr>
      </p:pic>
    </p:spTree>
    <p:extLst>
      <p:ext uri="{BB962C8B-B14F-4D97-AF65-F5344CB8AC3E}">
        <p14:creationId xmlns:p14="http://schemas.microsoft.com/office/powerpoint/2010/main" val="301663662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60635"/>
            <a:ext cx="10515600" cy="4351338"/>
          </a:xfrm>
        </p:spPr>
        <p:txBody>
          <a:bodyPr>
            <a:noAutofit/>
          </a:bodyPr>
          <a:lstStyle/>
          <a:p>
            <a:pPr marL="0" indent="0" algn="ctr">
              <a:buNone/>
            </a:pPr>
            <a:endParaRPr lang="en-US" sz="2000" dirty="0" smtClean="0">
              <a:latin typeface="Times New Roman" pitchFamily="18" charset="0"/>
              <a:cs typeface="Times New Roman" pitchFamily="18" charset="0"/>
            </a:endParaRPr>
          </a:p>
          <a:p>
            <a:pPr marL="0" indent="0" algn="ctr">
              <a:buNone/>
            </a:pPr>
            <a:r>
              <a:rPr lang="en-US" sz="2000" b="1" dirty="0" smtClean="0">
                <a:solidFill>
                  <a:srgbClr val="00B0F0"/>
                </a:solidFill>
                <a:latin typeface="Times New Roman" pitchFamily="18" charset="0"/>
                <a:cs typeface="Times New Roman" pitchFamily="18" charset="0"/>
              </a:rPr>
              <a:t>Proposal </a:t>
            </a:r>
            <a:r>
              <a:rPr lang="en-US" sz="2000" b="1" dirty="0">
                <a:solidFill>
                  <a:srgbClr val="00B0F0"/>
                </a:solidFill>
                <a:latin typeface="Times New Roman" pitchFamily="18" charset="0"/>
                <a:cs typeface="Times New Roman" pitchFamily="18" charset="0"/>
              </a:rPr>
              <a:t>for Addressing Employee </a:t>
            </a:r>
            <a:r>
              <a:rPr lang="en-US" sz="2000" b="1" dirty="0" smtClean="0">
                <a:solidFill>
                  <a:srgbClr val="00B0F0"/>
                </a:solidFill>
                <a:latin typeface="Times New Roman" pitchFamily="18" charset="0"/>
                <a:cs typeface="Times New Roman" pitchFamily="18" charset="0"/>
              </a:rPr>
              <a:t>Burnout</a:t>
            </a:r>
            <a:r>
              <a:rPr lang="en-US" sz="2000" dirty="0" smtClean="0">
                <a:solidFill>
                  <a:srgbClr val="00B0F0"/>
                </a:solidFill>
                <a:latin typeface="Times New Roman" pitchFamily="18" charset="0"/>
                <a:cs typeface="Times New Roman" pitchFamily="18" charset="0"/>
              </a:rPr>
              <a:t> </a:t>
            </a:r>
          </a:p>
          <a:p>
            <a:pPr marL="0" indent="0">
              <a:buNone/>
            </a:pPr>
            <a:r>
              <a:rPr lang="en-US" sz="1600" dirty="0">
                <a:latin typeface="Times New Roman" pitchFamily="18" charset="0"/>
                <a:cs typeface="Times New Roman" pitchFamily="18" charset="0"/>
              </a:rPr>
              <a:t>Date: ………….</a:t>
            </a:r>
          </a:p>
          <a:p>
            <a:pPr marL="0" indent="0">
              <a:buNone/>
            </a:pPr>
            <a:r>
              <a:rPr lang="en-US" sz="1600" dirty="0" smtClean="0">
                <a:latin typeface="Times New Roman" pitchFamily="18" charset="0"/>
                <a:cs typeface="Times New Roman" pitchFamily="18" charset="0"/>
              </a:rPr>
              <a:t>Subject</a:t>
            </a:r>
            <a:r>
              <a:rPr lang="en-US" sz="1600" dirty="0">
                <a:latin typeface="Times New Roman" pitchFamily="18" charset="0"/>
                <a:cs typeface="Times New Roman" pitchFamily="18" charset="0"/>
              </a:rPr>
              <a:t>: Addressing Employee Burnout - Proposal for Flexible Work Arrangements </a:t>
            </a:r>
            <a:endParaRPr lang="en-US" sz="1600" dirty="0" smtClean="0">
              <a:latin typeface="Times New Roman" pitchFamily="18" charset="0"/>
              <a:cs typeface="Times New Roman" pitchFamily="18" charset="0"/>
            </a:endParaRPr>
          </a:p>
          <a:p>
            <a:pPr marL="0" indent="0">
              <a:buNone/>
            </a:pPr>
            <a:r>
              <a:rPr lang="en-US" sz="1600" dirty="0" smtClean="0">
                <a:latin typeface="Times New Roman" pitchFamily="18" charset="0"/>
                <a:cs typeface="Times New Roman" pitchFamily="18" charset="0"/>
              </a:rPr>
              <a:t>Dear </a:t>
            </a:r>
            <a:r>
              <a:rPr lang="en-US" sz="1600" dirty="0">
                <a:latin typeface="Times New Roman" pitchFamily="18" charset="0"/>
                <a:cs typeface="Times New Roman" pitchFamily="18" charset="0"/>
              </a:rPr>
              <a:t>E</a:t>
            </a:r>
            <a:r>
              <a:rPr lang="en-US" sz="1600" dirty="0" smtClean="0">
                <a:latin typeface="Times New Roman" pitchFamily="18" charset="0"/>
                <a:cs typeface="Times New Roman" pitchFamily="18" charset="0"/>
              </a:rPr>
              <a:t>mployees, </a:t>
            </a:r>
          </a:p>
          <a:p>
            <a:pPr marL="0" indent="0">
              <a:buNone/>
            </a:pPr>
            <a:r>
              <a:rPr lang="en-US" sz="1600" dirty="0" smtClean="0">
                <a:latin typeface="Times New Roman" pitchFamily="18" charset="0"/>
                <a:cs typeface="Times New Roman" pitchFamily="18" charset="0"/>
              </a:rPr>
              <a:t>               It </a:t>
            </a:r>
            <a:r>
              <a:rPr lang="en-US" sz="1600" dirty="0">
                <a:latin typeface="Times New Roman" pitchFamily="18" charset="0"/>
                <a:cs typeface="Times New Roman" pitchFamily="18" charset="0"/>
              </a:rPr>
              <a:t>has come to our attention that many of </a:t>
            </a:r>
            <a:r>
              <a:rPr lang="en-US" sz="1600" dirty="0" smtClean="0">
                <a:latin typeface="Times New Roman" pitchFamily="18" charset="0"/>
                <a:cs typeface="Times New Roman" pitchFamily="18" charset="0"/>
              </a:rPr>
              <a:t>us experienced the symptoms </a:t>
            </a:r>
            <a:r>
              <a:rPr lang="en-US" sz="1600" dirty="0">
                <a:latin typeface="Times New Roman" pitchFamily="18" charset="0"/>
                <a:cs typeface="Times New Roman" pitchFamily="18" charset="0"/>
              </a:rPr>
              <a:t>of </a:t>
            </a:r>
            <a:r>
              <a:rPr lang="en-US" sz="1600" dirty="0" smtClean="0">
                <a:latin typeface="Times New Roman" pitchFamily="18" charset="0"/>
                <a:cs typeface="Times New Roman" pitchFamily="18" charset="0"/>
              </a:rPr>
              <a:t>burnout </a:t>
            </a:r>
            <a:r>
              <a:rPr lang="en-US" sz="1600" dirty="0">
                <a:latin typeface="Times New Roman" pitchFamily="18" charset="0"/>
                <a:cs typeface="Times New Roman" pitchFamily="18" charset="0"/>
              </a:rPr>
              <a:t>due to the </a:t>
            </a:r>
            <a:r>
              <a:rPr lang="en-US" sz="1600" dirty="0" smtClean="0">
                <a:latin typeface="Times New Roman" pitchFamily="18" charset="0"/>
                <a:cs typeface="Times New Roman" pitchFamily="18" charset="0"/>
              </a:rPr>
              <a:t>increasing </a:t>
            </a:r>
            <a:r>
              <a:rPr lang="en-US" sz="1600" dirty="0">
                <a:latin typeface="Times New Roman" pitchFamily="18" charset="0"/>
                <a:cs typeface="Times New Roman" pitchFamily="18" charset="0"/>
              </a:rPr>
              <a:t>pressures of </a:t>
            </a:r>
            <a:r>
              <a:rPr lang="en-US" sz="1600" dirty="0" smtClean="0">
                <a:latin typeface="Times New Roman" pitchFamily="18" charset="0"/>
                <a:cs typeface="Times New Roman" pitchFamily="18" charset="0"/>
              </a:rPr>
              <a:t> </a:t>
            </a:r>
            <a:r>
              <a:rPr lang="en-US" sz="1600" dirty="0">
                <a:latin typeface="Times New Roman" pitchFamily="18" charset="0"/>
                <a:cs typeface="Times New Roman" pitchFamily="18" charset="0"/>
              </a:rPr>
              <a:t>work environment. This is a shared challenge that we need to address collectively to ensure the well-being and productivity of our </a:t>
            </a:r>
            <a:r>
              <a:rPr lang="en-US" sz="1600" dirty="0" smtClean="0">
                <a:latin typeface="Times New Roman" pitchFamily="18" charset="0"/>
                <a:cs typeface="Times New Roman" pitchFamily="18" charset="0"/>
              </a:rPr>
              <a:t>team. </a:t>
            </a:r>
            <a:r>
              <a:rPr lang="en-US" sz="1600" dirty="0">
                <a:latin typeface="Times New Roman" pitchFamily="18" charset="0"/>
                <a:cs typeface="Times New Roman" pitchFamily="18" charset="0"/>
              </a:rPr>
              <a:t>I propose implementing flexible work arrangements to empower employees with greater control over their schedules and workload, thereby reducing stress and maintaining </a:t>
            </a:r>
            <a:r>
              <a:rPr lang="en-US" sz="1600" dirty="0" smtClean="0">
                <a:latin typeface="Times New Roman" pitchFamily="18" charset="0"/>
                <a:cs typeface="Times New Roman" pitchFamily="18" charset="0"/>
              </a:rPr>
              <a:t>productivity. I </a:t>
            </a:r>
            <a:r>
              <a:rPr lang="en-US" sz="1600" dirty="0">
                <a:latin typeface="Times New Roman" pitchFamily="18" charset="0"/>
                <a:cs typeface="Times New Roman" pitchFamily="18" charset="0"/>
              </a:rPr>
              <a:t>believe that with clear communication and well-defined expectations, we can effectively overcome any potential obstacles. </a:t>
            </a:r>
            <a:endParaRPr lang="en-US" sz="1600" dirty="0" smtClean="0">
              <a:latin typeface="Times New Roman" pitchFamily="18" charset="0"/>
              <a:cs typeface="Times New Roman" pitchFamily="18" charset="0"/>
            </a:endParaRPr>
          </a:p>
          <a:p>
            <a:pPr marL="0" indent="0">
              <a:buNone/>
            </a:pPr>
            <a:r>
              <a:rPr lang="en-US" sz="1600" dirty="0" smtClean="0">
                <a:latin typeface="Times New Roman" pitchFamily="18" charset="0"/>
                <a:cs typeface="Times New Roman" pitchFamily="18" charset="0"/>
              </a:rPr>
              <a:t>Additionally</a:t>
            </a:r>
            <a:r>
              <a:rPr lang="en-US" sz="1600" dirty="0">
                <a:latin typeface="Times New Roman" pitchFamily="18" charset="0"/>
                <a:cs typeface="Times New Roman" pitchFamily="18" charset="0"/>
              </a:rPr>
              <a:t>, offering support mechanisms such as regular check-ins and stress management resources can further enhance the success of this initiative. I encourage you to consider this proposal and welcome your input on how we can best implement flexible work arrangements to address employee burnout. Together, we can create a healthier and more sustainable work environment for everyone. </a:t>
            </a:r>
            <a:endParaRPr lang="en-US" sz="1600" dirty="0" smtClean="0">
              <a:latin typeface="Times New Roman" pitchFamily="18" charset="0"/>
              <a:cs typeface="Times New Roman" pitchFamily="18" charset="0"/>
            </a:endParaRPr>
          </a:p>
          <a:p>
            <a:pPr marL="0" indent="0">
              <a:buNone/>
            </a:pPr>
            <a:r>
              <a:rPr lang="en-US" sz="1600" dirty="0" smtClean="0">
                <a:latin typeface="Times New Roman" pitchFamily="18" charset="0"/>
                <a:cs typeface="Times New Roman" pitchFamily="18" charset="0"/>
              </a:rPr>
              <a:t>Thank </a:t>
            </a:r>
            <a:r>
              <a:rPr lang="en-US" sz="1600" dirty="0">
                <a:latin typeface="Times New Roman" pitchFamily="18" charset="0"/>
                <a:cs typeface="Times New Roman" pitchFamily="18" charset="0"/>
              </a:rPr>
              <a:t>you for your attention to this important matter. </a:t>
            </a:r>
            <a:endParaRPr lang="en-US" sz="1600" dirty="0" smtClean="0">
              <a:latin typeface="Times New Roman" pitchFamily="18" charset="0"/>
              <a:cs typeface="Times New Roman" pitchFamily="18" charset="0"/>
            </a:endParaRPr>
          </a:p>
          <a:p>
            <a:pPr marL="0" indent="0">
              <a:buNone/>
            </a:pPr>
            <a:r>
              <a:rPr lang="en-US" sz="1600" dirty="0" smtClean="0">
                <a:latin typeface="Times New Roman" pitchFamily="18" charset="0"/>
                <a:cs typeface="Times New Roman" pitchFamily="18" charset="0"/>
              </a:rPr>
              <a:t>Best </a:t>
            </a:r>
            <a:r>
              <a:rPr lang="en-US" sz="1600" dirty="0">
                <a:latin typeface="Times New Roman" pitchFamily="18" charset="0"/>
                <a:cs typeface="Times New Roman" pitchFamily="18" charset="0"/>
              </a:rPr>
              <a:t>R</a:t>
            </a:r>
            <a:r>
              <a:rPr lang="en-US" sz="1600" dirty="0" smtClean="0">
                <a:latin typeface="Times New Roman" pitchFamily="18" charset="0"/>
                <a:cs typeface="Times New Roman" pitchFamily="18" charset="0"/>
              </a:rPr>
              <a:t>egards</a:t>
            </a:r>
            <a:r>
              <a:rPr lang="en-US" sz="1600" dirty="0">
                <a:latin typeface="Times New Roman" pitchFamily="18" charset="0"/>
                <a:cs typeface="Times New Roman" pitchFamily="18" charset="0"/>
              </a:rPr>
              <a:t>, </a:t>
            </a:r>
            <a:endParaRPr lang="en-US" sz="1600" dirty="0" smtClean="0">
              <a:latin typeface="Times New Roman" pitchFamily="18" charset="0"/>
              <a:cs typeface="Times New Roman" pitchFamily="18" charset="0"/>
            </a:endParaRPr>
          </a:p>
          <a:p>
            <a:pPr marL="0" indent="0">
              <a:buNone/>
            </a:pPr>
            <a:r>
              <a:rPr lang="en-US" sz="1600" dirty="0" smtClean="0">
                <a:latin typeface="Times New Roman" pitchFamily="18" charset="0"/>
                <a:cs typeface="Times New Roman" pitchFamily="18" charset="0"/>
              </a:rPr>
              <a:t>[</a:t>
            </a:r>
            <a:r>
              <a:rPr lang="en-US" sz="1600" dirty="0">
                <a:latin typeface="Times New Roman" pitchFamily="18" charset="0"/>
                <a:cs typeface="Times New Roman" pitchFamily="18" charset="0"/>
              </a:rPr>
              <a:t>Your Name] </a:t>
            </a:r>
            <a:endParaRPr lang="en-US" sz="1600" dirty="0" smtClean="0">
              <a:latin typeface="Times New Roman" pitchFamily="18" charset="0"/>
              <a:cs typeface="Times New Roman" pitchFamily="18" charset="0"/>
            </a:endParaRPr>
          </a:p>
          <a:p>
            <a:pPr marL="0" indent="0">
              <a:buNone/>
            </a:pPr>
            <a:r>
              <a:rPr lang="en-US" sz="1600" dirty="0" smtClean="0">
                <a:latin typeface="Times New Roman" pitchFamily="18" charset="0"/>
                <a:cs typeface="Times New Roman" pitchFamily="18" charset="0"/>
              </a:rPr>
              <a:t>[</a:t>
            </a:r>
            <a:r>
              <a:rPr lang="en-US" sz="1600" dirty="0">
                <a:latin typeface="Times New Roman" pitchFamily="18" charset="0"/>
                <a:cs typeface="Times New Roman" pitchFamily="18" charset="0"/>
              </a:rPr>
              <a:t>Your Position] </a:t>
            </a:r>
            <a:br>
              <a:rPr lang="en-US" sz="1600" dirty="0">
                <a:latin typeface="Times New Roman" pitchFamily="18" charset="0"/>
                <a:cs typeface="Times New Roman" pitchFamily="18" charset="0"/>
              </a:rPr>
            </a:br>
            <a:endParaRPr lang="en-US" sz="1600" dirty="0">
              <a:latin typeface="Times New Roman" pitchFamily="18" charset="0"/>
              <a:cs typeface="Times New Roman" pitchFamily="18" charset="0"/>
            </a:endParaRPr>
          </a:p>
        </p:txBody>
      </p:sp>
    </p:spTree>
    <p:extLst>
      <p:ext uri="{BB962C8B-B14F-4D97-AF65-F5344CB8AC3E}">
        <p14:creationId xmlns:p14="http://schemas.microsoft.com/office/powerpoint/2010/main" val="377884063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11207"/>
            <a:ext cx="10515600" cy="4351338"/>
          </a:xfrm>
        </p:spPr>
        <p:txBody>
          <a:bodyPr>
            <a:normAutofit fontScale="77500" lnSpcReduction="20000"/>
          </a:bodyPr>
          <a:lstStyle/>
          <a:p>
            <a:pPr marL="0" indent="0">
              <a:buNone/>
            </a:pPr>
            <a:r>
              <a:rPr lang="en-US" sz="3600" b="1" dirty="0">
                <a:solidFill>
                  <a:srgbClr val="FF0000"/>
                </a:solidFill>
                <a:latin typeface="Times New Roman" pitchFamily="18" charset="0"/>
                <a:cs typeface="Times New Roman" pitchFamily="18" charset="0"/>
              </a:rPr>
              <a:t>Assignment</a:t>
            </a:r>
          </a:p>
          <a:p>
            <a:r>
              <a:rPr lang="en-US" dirty="0">
                <a:latin typeface="Times New Roman" pitchFamily="18" charset="0"/>
                <a:cs typeface="Times New Roman" pitchFamily="18" charset="0"/>
              </a:rPr>
              <a:t>Writing a </a:t>
            </a:r>
            <a:r>
              <a:rPr lang="en-US" b="1" dirty="0">
                <a:latin typeface="Times New Roman" pitchFamily="18" charset="0"/>
                <a:cs typeface="Times New Roman" pitchFamily="18" charset="0"/>
              </a:rPr>
              <a:t>Solution-Finding </a:t>
            </a:r>
            <a:r>
              <a:rPr lang="en-US" dirty="0">
                <a:latin typeface="Times New Roman" pitchFamily="18" charset="0"/>
                <a:cs typeface="Times New Roman" pitchFamily="18" charset="0"/>
              </a:rPr>
              <a:t>Email to Your Instructor</a:t>
            </a:r>
          </a:p>
          <a:p>
            <a:pPr marL="0" indent="0">
              <a:buNone/>
            </a:pPr>
            <a:r>
              <a:rPr lang="en-US" dirty="0" smtClean="0">
                <a:latin typeface="Times New Roman" pitchFamily="18" charset="0"/>
                <a:cs typeface="Times New Roman" pitchFamily="18" charset="0"/>
              </a:rPr>
              <a:t>1. Let’s </a:t>
            </a:r>
            <a:r>
              <a:rPr lang="en-US" dirty="0">
                <a:latin typeface="Times New Roman" pitchFamily="18" charset="0"/>
                <a:cs typeface="Times New Roman" pitchFamily="18" charset="0"/>
              </a:rPr>
              <a:t>say you’ve just discovered that you will have to miss your next technical communication class because you have to attend the funeral of an extended family member, but you have an assignment due at the beginning of that class. Write an email message to your instructor using the information in the previous section and the organizational pattern outlined in Figure 7.3 to help you develop and structure your communication.</a:t>
            </a:r>
          </a:p>
          <a:p>
            <a:r>
              <a:rPr lang="en-US" dirty="0">
                <a:latin typeface="Times New Roman" pitchFamily="18" charset="0"/>
                <a:cs typeface="Times New Roman" pitchFamily="18" charset="0"/>
              </a:rPr>
              <a:t>Remember, you need to both identify and solve the problem that your upcoming absence will create</a:t>
            </a:r>
            <a:r>
              <a:rPr lang="en-US" dirty="0" smtClean="0">
                <a:latin typeface="Times New Roman" pitchFamily="18" charset="0"/>
                <a:cs typeface="Times New Roman" pitchFamily="18" charset="0"/>
              </a:rPr>
              <a:t>.</a:t>
            </a:r>
            <a:r>
              <a:rPr lang="en-US" dirty="0">
                <a:latin typeface="Times New Roman" pitchFamily="18" charset="0"/>
                <a:cs typeface="Times New Roman" pitchFamily="18" charset="0"/>
              </a:rPr>
              <a:t> </a:t>
            </a:r>
            <a:endParaRPr lang="en-US" dirty="0" smtClean="0">
              <a:latin typeface="Times New Roman" pitchFamily="18" charset="0"/>
              <a:cs typeface="Times New Roman" pitchFamily="18" charset="0"/>
            </a:endParaRPr>
          </a:p>
          <a:p>
            <a:pPr marL="0" indent="0">
              <a:buNone/>
            </a:pPr>
            <a:endParaRPr lang="en-US" dirty="0" smtClean="0">
              <a:latin typeface="Times New Roman" pitchFamily="18" charset="0"/>
              <a:cs typeface="Times New Roman" pitchFamily="18" charset="0"/>
            </a:endParaRPr>
          </a:p>
          <a:p>
            <a:pPr marL="0" indent="0">
              <a:buNone/>
            </a:pPr>
            <a:r>
              <a:rPr lang="en-US" dirty="0" smtClean="0">
                <a:latin typeface="Times New Roman" pitchFamily="18" charset="0"/>
                <a:cs typeface="Times New Roman" pitchFamily="18" charset="0"/>
              </a:rPr>
              <a:t>2. As </a:t>
            </a:r>
            <a:r>
              <a:rPr lang="en-US" dirty="0">
                <a:latin typeface="Times New Roman" pitchFamily="18" charset="0"/>
                <a:cs typeface="Times New Roman" pitchFamily="18" charset="0"/>
              </a:rPr>
              <a:t>a sales officer of </a:t>
            </a:r>
            <a:r>
              <a:rPr lang="en-US" dirty="0" smtClean="0">
                <a:latin typeface="Times New Roman" pitchFamily="18" charset="0"/>
                <a:cs typeface="Times New Roman" pitchFamily="18" charset="0"/>
              </a:rPr>
              <a:t>your </a:t>
            </a:r>
            <a:r>
              <a:rPr lang="en-US" dirty="0">
                <a:latin typeface="Times New Roman" pitchFamily="18" charset="0"/>
                <a:cs typeface="Times New Roman" pitchFamily="18" charset="0"/>
              </a:rPr>
              <a:t>company</a:t>
            </a:r>
            <a:r>
              <a:rPr lang="en-US" dirty="0" smtClean="0">
                <a:latin typeface="Times New Roman" pitchFamily="18" charset="0"/>
                <a:cs typeface="Times New Roman" pitchFamily="18" charset="0"/>
              </a:rPr>
              <a:t>, draft </a:t>
            </a:r>
            <a:r>
              <a:rPr lang="en-US" dirty="0">
                <a:latin typeface="Times New Roman" pitchFamily="18" charset="0"/>
                <a:cs typeface="Times New Roman" pitchFamily="18" charset="0"/>
              </a:rPr>
              <a:t>a persuasive sales letter targeting housewives to promote the sale of </a:t>
            </a:r>
            <a:r>
              <a:rPr lang="en-US" dirty="0" smtClean="0">
                <a:latin typeface="Times New Roman" pitchFamily="18" charset="0"/>
                <a:cs typeface="Times New Roman" pitchFamily="18" charset="0"/>
              </a:rPr>
              <a:t>your </a:t>
            </a:r>
            <a:r>
              <a:rPr lang="en-US" dirty="0">
                <a:latin typeface="Times New Roman" pitchFamily="18" charset="0"/>
                <a:cs typeface="Times New Roman" pitchFamily="18" charset="0"/>
              </a:rPr>
              <a:t>recently manufactured electric milk boiler, highlighting its unique feature </a:t>
            </a:r>
            <a:r>
              <a:rPr lang="en-US" dirty="0" smtClean="0">
                <a:latin typeface="Times New Roman" pitchFamily="18" charset="0"/>
                <a:cs typeface="Times New Roman" pitchFamily="18" charset="0"/>
              </a:rPr>
              <a:t>such as automatic cut, energy efficiency, easy cleaning, durable etc</a:t>
            </a:r>
            <a:r>
              <a:rPr lang="en-US" dirty="0">
                <a:latin typeface="Times New Roman" pitchFamily="18" charset="0"/>
                <a:cs typeface="Times New Roman" pitchFamily="18" charset="0"/>
              </a:rPr>
              <a:t>.</a:t>
            </a:r>
            <a:br>
              <a:rPr lang="en-US" dirty="0">
                <a:latin typeface="Times New Roman" pitchFamily="18" charset="0"/>
                <a:cs typeface="Times New Roman" pitchFamily="18" charset="0"/>
              </a:rPr>
            </a:br>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28613401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4553</TotalTime>
  <Words>1251</Words>
  <Application>Microsoft Office PowerPoint</Application>
  <PresentationFormat>Custom</PresentationFormat>
  <Paragraphs>120</Paragraphs>
  <Slides>20</Slides>
  <Notes>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Writing Messages</vt:lpstr>
      <vt:lpstr>…</vt:lpstr>
      <vt:lpstr>PowerPoint Presentation</vt:lpstr>
      <vt:lpstr>PowerPoint Presentation</vt:lpstr>
      <vt:lpstr>…</vt:lpstr>
      <vt:lpstr>..</vt:lpstr>
      <vt:lpstr>PowerPoint Presentation</vt:lpstr>
      <vt:lpstr>PowerPoint Presentation</vt:lpstr>
      <vt:lpstr>…</vt:lpstr>
      <vt:lpstr>How to write negative message?</vt:lpstr>
      <vt:lpstr>Indirect Approach: Rejecting Application Letter</vt:lpstr>
      <vt:lpstr>PowerPoint Presentation</vt:lpstr>
      <vt:lpstr>…</vt:lpstr>
      <vt:lpstr>a. Direct request messages</vt:lpstr>
      <vt:lpstr>How to organize a direct request message</vt:lpstr>
      <vt:lpstr>PowerPoint Presentation</vt:lpstr>
      <vt:lpstr>…</vt:lpstr>
      <vt:lpstr>How to organize a solution-finding message?</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Communication Techniques</dc:title>
  <dc:creator>Microsoft account</dc:creator>
  <cp:lastModifiedBy>lenovo</cp:lastModifiedBy>
  <cp:revision>492</cp:revision>
  <dcterms:created xsi:type="dcterms:W3CDTF">2023-01-05T15:29:22Z</dcterms:created>
  <dcterms:modified xsi:type="dcterms:W3CDTF">2024-12-31T10:36:03Z</dcterms:modified>
</cp:coreProperties>
</file>