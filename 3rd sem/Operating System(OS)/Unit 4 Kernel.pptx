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315" r:id="rId4"/>
    <p:sldId id="316" r:id="rId5"/>
    <p:sldId id="317" r:id="rId6"/>
    <p:sldId id="318" r:id="rId7"/>
    <p:sldId id="320" r:id="rId8"/>
    <p:sldId id="319" r:id="rId9"/>
    <p:sldId id="31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8" autoAdjust="0"/>
    <p:restoredTop sz="93969" autoAdjust="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18/01/25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3859" y="3081589"/>
            <a:ext cx="9224010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</a:rPr>
              <a:t>sented </a:t>
            </a:r>
            <a:r>
              <a:rPr lang="en-GB" sz="3200" b="1" dirty="0">
                <a:solidFill>
                  <a:srgbClr val="FF0000"/>
                </a:solidFill>
              </a:rPr>
              <a:t>by</a:t>
            </a:r>
            <a:r>
              <a:rPr lang="en-GB" dirty="0">
                <a:solidFill>
                  <a:srgbClr val="FF0000"/>
                </a:solidFill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	</a:t>
            </a:r>
            <a:r>
              <a:rPr lang="en-GB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Er.Harendra Bikram Shah </a:t>
            </a:r>
            <a:br>
              <a:rPr lang="en-GB" b="1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		</a:t>
            </a:r>
            <a:r>
              <a:rPr lang="en-US" altLang="en-GB" dirty="0">
                <a:solidFill>
                  <a:srgbClr val="FF0000"/>
                </a:solidFill>
              </a:rPr>
              <a:t>                        </a:t>
            </a:r>
            <a:r>
              <a:rPr lang="en-GB" dirty="0">
                <a:solidFill>
                  <a:srgbClr val="FF0000"/>
                </a:solidFill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</a:rPr>
              <a:t>		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Department of Computer Engineering</a:t>
            </a:r>
          </a:p>
          <a:p>
            <a:pPr algn="l"/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r>
              <a:rPr lang="en-US" alt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			          </a:t>
            </a:r>
            <a:r>
              <a:rPr lang="en-US" altLang="en-GB" b="1" dirty="0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    NAST</a:t>
            </a:r>
            <a:r>
              <a:rPr lang="en-GB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415145" y="2159000"/>
            <a:ext cx="1882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Time: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[2hrs]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176622-8512-85E6-F980-C8F47A4CB21F}"/>
              </a:ext>
            </a:extLst>
          </p:cNvPr>
          <p:cNvSpPr txBox="1"/>
          <p:nvPr/>
        </p:nvSpPr>
        <p:spPr>
          <a:xfrm>
            <a:off x="0" y="384417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4</a:t>
            </a: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US" sz="4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 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							     		      					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rgbClr val="FF0000"/>
                </a:solidFill>
              </a:rPr>
              <a:t>OUTLINES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9A8FED43-30C6-CC34-35EB-60F3F07EB1F0}"/>
              </a:ext>
            </a:extLst>
          </p:cNvPr>
          <p:cNvSpPr txBox="1"/>
          <p:nvPr/>
        </p:nvSpPr>
        <p:spPr>
          <a:xfrm>
            <a:off x="0" y="54653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4.1 Introduction, Architecture of the Kernel ,Types of Kernels</a:t>
            </a:r>
          </a:p>
          <a:p>
            <a:pPr algn="just"/>
            <a:r>
              <a:rPr lang="en-US" dirty="0">
                <a:latin typeface="Times New Roman Regular" panose="02020603050405020304" charset="0"/>
                <a:cs typeface="Times New Roman Regular" panose="02020603050405020304" charset="0"/>
              </a:rPr>
              <a:t>4.2 Context Switching (Kernel and User Mode),Kernel Implementation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2B70A-D3BA-BF61-059E-053AA4440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F624-AF74-EB7B-149D-4CA3D8FDC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INTRODUCTION</a:t>
            </a:r>
            <a:endParaRPr lang="en-GB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C965C-069B-7B16-6BBF-32CC42641CAE}"/>
              </a:ext>
            </a:extLst>
          </p:cNvPr>
          <p:cNvSpPr txBox="1"/>
          <p:nvPr/>
        </p:nvSpPr>
        <p:spPr>
          <a:xfrm>
            <a:off x="-1" y="790931"/>
            <a:ext cx="111724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kernel is a central component of an operating system that manages the operations of computers and hardware.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acts as a bridge between software applications and the hardware of a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computer.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Kernel Architecture of Linux - Scaler Topics">
            <a:extLst>
              <a:ext uri="{FF2B5EF4-FFF2-40B4-BE49-F238E27FC236}">
                <a16:creationId xmlns:a16="http://schemas.microsoft.com/office/drawing/2014/main" id="{257392DD-D0DB-1C00-646E-ECAEB51FB8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7" t="13180" r="5236" b="16935"/>
          <a:stretch/>
        </p:blipFill>
        <p:spPr bwMode="auto">
          <a:xfrm>
            <a:off x="2779351" y="1744497"/>
            <a:ext cx="6633298" cy="475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9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9944-D318-9F88-53BE-08DFE34F2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D4F6-AF76-D603-0B53-78DFA5A8E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INTRODUCTION</a:t>
            </a:r>
            <a:endParaRPr lang="en-GB" b="1" dirty="0">
              <a:solidFill>
                <a:srgbClr val="00B0F0"/>
              </a:solidFill>
            </a:endParaRPr>
          </a:p>
        </p:txBody>
      </p:sp>
      <p:pic>
        <p:nvPicPr>
          <p:cNvPr id="3074" name="Picture 2" descr="What is Kernel">
            <a:extLst>
              <a:ext uri="{FF2B5EF4-FFF2-40B4-BE49-F238E27FC236}">
                <a16:creationId xmlns:a16="http://schemas.microsoft.com/office/drawing/2014/main" id="{4D70FFAE-08A1-C1D9-385F-3EC080335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6126" y="2654441"/>
            <a:ext cx="4396827" cy="367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76D813-6A9F-696C-2486-EDE46CE5550F}"/>
              </a:ext>
            </a:extLst>
          </p:cNvPr>
          <p:cNvSpPr txBox="1"/>
          <p:nvPr/>
        </p:nvSpPr>
        <p:spPr>
          <a:xfrm>
            <a:off x="722587" y="6300216"/>
            <a:ext cx="2125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Monolithic Kernels</a:t>
            </a:r>
          </a:p>
        </p:txBody>
      </p:sp>
      <p:pic>
        <p:nvPicPr>
          <p:cNvPr id="3076" name="Picture 4" descr="What is Kernel">
            <a:extLst>
              <a:ext uri="{FF2B5EF4-FFF2-40B4-BE49-F238E27FC236}">
                <a16:creationId xmlns:a16="http://schemas.microsoft.com/office/drawing/2014/main" id="{8E11884D-91FD-31C6-D175-7A0C0C9DE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888" y="2597330"/>
            <a:ext cx="4257566" cy="379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FB58A2-5549-0D1B-7DEA-7EB018F74711}"/>
              </a:ext>
            </a:extLst>
          </p:cNvPr>
          <p:cNvSpPr txBox="1"/>
          <p:nvPr/>
        </p:nvSpPr>
        <p:spPr>
          <a:xfrm>
            <a:off x="6721113" y="6149709"/>
            <a:ext cx="2125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 Kernels</a:t>
            </a:r>
          </a:p>
        </p:txBody>
      </p:sp>
      <p:pic>
        <p:nvPicPr>
          <p:cNvPr id="8" name="Picture 2" descr="What is Kernel">
            <a:extLst>
              <a:ext uri="{FF2B5EF4-FFF2-40B4-BE49-F238E27FC236}">
                <a16:creationId xmlns:a16="http://schemas.microsoft.com/office/drawing/2014/main" id="{C0313030-7C4C-A368-91D1-41A00F192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4190" y="500821"/>
            <a:ext cx="12065000" cy="214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32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C3464-A1FA-ECA6-13D7-CC62A6888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53D7-BA61-72C4-C715-1BB74747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785" y="6985"/>
            <a:ext cx="5836285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KERNEL TYPES</a:t>
            </a:r>
            <a:endParaRPr lang="en-GB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9CD9E-4F6A-DC41-7CB1-FE4F3B3A8042}"/>
              </a:ext>
            </a:extLst>
          </p:cNvPr>
          <p:cNvSpPr txBox="1"/>
          <p:nvPr/>
        </p:nvSpPr>
        <p:spPr>
          <a:xfrm>
            <a:off x="701566" y="5406837"/>
            <a:ext cx="2125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Kernel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A2D6E5-92A5-40BF-4135-8CB4CD0A79C7}"/>
              </a:ext>
            </a:extLst>
          </p:cNvPr>
          <p:cNvSpPr txBox="1"/>
          <p:nvPr/>
        </p:nvSpPr>
        <p:spPr>
          <a:xfrm>
            <a:off x="6096000" y="5495440"/>
            <a:ext cx="2125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Nano Kernel</a:t>
            </a:r>
          </a:p>
        </p:txBody>
      </p:sp>
      <p:pic>
        <p:nvPicPr>
          <p:cNvPr id="4098" name="Picture 2" descr="What is Kernel">
            <a:extLst>
              <a:ext uri="{FF2B5EF4-FFF2-40B4-BE49-F238E27FC236}">
                <a16:creationId xmlns:a16="http://schemas.microsoft.com/office/drawing/2014/main" id="{8377B189-AFF0-3E62-E7C0-D3F18666A9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6" r="7027"/>
          <a:stretch/>
        </p:blipFill>
        <p:spPr bwMode="auto">
          <a:xfrm>
            <a:off x="73572" y="1452618"/>
            <a:ext cx="4025462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e Choices micro-kernel is split into high level kernel code and a... |  Download Scientific Diagram">
            <a:extLst>
              <a:ext uri="{FF2B5EF4-FFF2-40B4-BE49-F238E27FC236}">
                <a16:creationId xmlns:a16="http://schemas.microsoft.com/office/drawing/2014/main" id="{74327198-A8C5-96F0-279F-253BD9FB3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096" y="1277007"/>
            <a:ext cx="3891017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tructure of Exokernel | Download Scientific Diagram">
            <a:extLst>
              <a:ext uri="{FF2B5EF4-FFF2-40B4-BE49-F238E27FC236}">
                <a16:creationId xmlns:a16="http://schemas.microsoft.com/office/drawing/2014/main" id="{0CFA904B-A06E-06D4-ECB8-A6A79DE46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835" y="1700268"/>
            <a:ext cx="2828968" cy="267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5E041-8123-C2B1-2CF5-212D70D751AC}"/>
              </a:ext>
            </a:extLst>
          </p:cNvPr>
          <p:cNvSpPr txBox="1"/>
          <p:nvPr/>
        </p:nvSpPr>
        <p:spPr>
          <a:xfrm>
            <a:off x="9450070" y="5254220"/>
            <a:ext cx="21257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Exo Kernel</a:t>
            </a:r>
          </a:p>
        </p:txBody>
      </p:sp>
    </p:spTree>
    <p:extLst>
      <p:ext uri="{BB962C8B-B14F-4D97-AF65-F5344CB8AC3E}">
        <p14:creationId xmlns:p14="http://schemas.microsoft.com/office/powerpoint/2010/main" val="4273850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9843-752D-CDD1-8923-95BD3F7FA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8325-1C5A-3C6C-6E8F-8D974D8F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9" y="6985"/>
            <a:ext cx="11056883" cy="63436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CONTEXT SWITCHING [USER MODE AND KERNEL MODE]</a:t>
            </a:r>
            <a:endParaRPr lang="en-GB" sz="2800" b="1" dirty="0">
              <a:solidFill>
                <a:srgbClr val="00B0F0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9964895-D54C-B08B-3E4B-0746DF428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813" y="777765"/>
            <a:ext cx="10216055" cy="5812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73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1F53C-F8FA-EF23-8EC0-06E712936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D33D-3D2A-4136-798E-0E694AAED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9" y="6985"/>
            <a:ext cx="11056883" cy="63436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CONTEXT SWITCHING [USER MODE AND KERNEL MODE]</a:t>
            </a:r>
            <a:endParaRPr lang="en-GB" sz="2800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0797C8-74E8-9C75-EB52-625BA43D86D0}"/>
              </a:ext>
            </a:extLst>
          </p:cNvPr>
          <p:cNvSpPr txBox="1"/>
          <p:nvPr/>
        </p:nvSpPr>
        <p:spPr>
          <a:xfrm>
            <a:off x="189185" y="641350"/>
            <a:ext cx="1159291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Mode: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managing hardware resources, scheduling processes, and handling system calls.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transition is typically triggered by a hardware interrupt or a software interrupt (system call).</a:t>
            </a:r>
          </a:p>
          <a:p>
            <a:pPr algn="just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Mode: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mode is the normal execution mode for applications.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user mode, processes have limited access to hardware and system resources.</a:t>
            </a:r>
          </a:p>
          <a:p>
            <a:pPr algn="just"/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 Process: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Interrupt or System Call: </a:t>
            </a: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Current Context: </a:t>
            </a: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Load New Context: </a:t>
            </a:r>
          </a:p>
          <a:p>
            <a:pPr algn="just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Jump to New Location: </a:t>
            </a:r>
          </a:p>
          <a:p>
            <a:pPr algn="just"/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of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Switching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Multitasking: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Management: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Calls</a:t>
            </a:r>
            <a:endParaRPr lang="en-GB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19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98EB6-0C4C-C1B4-0089-8F80B1B64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BEF7A-394E-2EFC-6791-3065C49C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69" y="6985"/>
            <a:ext cx="11056883" cy="63436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B0F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KERNEL IMPLEMENTATION PROCESS</a:t>
            </a:r>
            <a:endParaRPr lang="en-GB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A1B20-F5B4-F6A5-62DC-79D47D863F10}"/>
              </a:ext>
            </a:extLst>
          </p:cNvPr>
          <p:cNvSpPr txBox="1"/>
          <p:nvPr/>
        </p:nvSpPr>
        <p:spPr>
          <a:xfrm>
            <a:off x="10510" y="1524000"/>
            <a:ext cx="84713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Planning and Design</a:t>
            </a:r>
          </a:p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Setting Up the Development Environment</a:t>
            </a:r>
          </a:p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Implementing Core Components</a:t>
            </a:r>
          </a:p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Kernel Debugging and Testing</a:t>
            </a:r>
          </a:p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Optimization and Performance Tuning</a:t>
            </a:r>
          </a:p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 Security Implementation</a:t>
            </a:r>
          </a:p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 Documentation</a:t>
            </a:r>
          </a:p>
          <a:p>
            <a:pPr algn="just"/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 Deployment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240966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300</Words>
  <Application>Microsoft Macintosh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Times New Roman Regular</vt:lpstr>
      <vt:lpstr>Office Theme</vt:lpstr>
      <vt:lpstr>PowerPoint Presentation</vt:lpstr>
      <vt:lpstr>OUTLINES</vt:lpstr>
      <vt:lpstr> INTRODUCTION</vt:lpstr>
      <vt:lpstr> INTRODUCTION</vt:lpstr>
      <vt:lpstr> KERNEL TYPES</vt:lpstr>
      <vt:lpstr> CONTEXT SWITCHING [USER MODE AND KERNEL MODE]</vt:lpstr>
      <vt:lpstr> CONTEXT SWITCHING [USER MODE AND KERNEL MODE]</vt:lpstr>
      <vt:lpstr> KERNEL IMPLEMENTATION PROCESS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kushal pokharel</cp:lastModifiedBy>
  <cp:revision>163</cp:revision>
  <dcterms:created xsi:type="dcterms:W3CDTF">2024-09-17T11:51:34Z</dcterms:created>
  <dcterms:modified xsi:type="dcterms:W3CDTF">2025-01-18T05:15:42Z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