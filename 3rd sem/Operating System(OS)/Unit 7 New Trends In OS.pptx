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315" r:id="rId4"/>
    <p:sldId id="317" r:id="rId5"/>
    <p:sldId id="316" r:id="rId6"/>
    <p:sldId id="318" r:id="rId7"/>
    <p:sldId id="320" r:id="rId8"/>
    <p:sldId id="321" r:id="rId9"/>
    <p:sldId id="319" r:id="rId10"/>
    <p:sldId id="323" r:id="rId11"/>
    <p:sldId id="322" r:id="rId12"/>
    <p:sldId id="324" r:id="rId13"/>
    <p:sldId id="325" r:id="rId14"/>
    <p:sldId id="326" r:id="rId15"/>
    <p:sldId id="327" r:id="rId16"/>
    <p:sldId id="328" r:id="rId17"/>
    <p:sldId id="329" r:id="rId18"/>
    <p:sldId id="330" r:id="rId19"/>
    <p:sldId id="331" r:id="rId20"/>
    <p:sldId id="332" r:id="rId21"/>
    <p:sldId id="333" r:id="rId22"/>
    <p:sldId id="334" r:id="rId23"/>
    <p:sldId id="337" r:id="rId24"/>
    <p:sldId id="336" r:id="rId25"/>
    <p:sldId id="335" r:id="rId26"/>
    <p:sldId id="338" r:id="rId27"/>
    <p:sldId id="339" r:id="rId28"/>
    <p:sldId id="340" r:id="rId29"/>
    <p:sldId id="341" r:id="rId30"/>
    <p:sldId id="314" r:id="rId31"/>
    <p:sldId id="342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433" autoAdjust="0"/>
    <p:restoredTop sz="93969" autoAdjust="0"/>
  </p:normalViewPr>
  <p:slideViewPr>
    <p:cSldViewPr snapToGrid="0">
      <p:cViewPr varScale="1">
        <p:scale>
          <a:sx n="118" d="100"/>
          <a:sy n="118" d="100"/>
        </p:scale>
        <p:origin x="240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29/01/25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29/01/25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29/01/25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29/01/25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29/01/25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29/01/25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29/01/25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29/01/25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29/01/25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29/01/25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29/01/25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DFAFD-11C0-45D7-9479-D1E78EB3123D}" type="datetimeFigureOut">
              <a:rPr lang="en-IN" smtClean="0"/>
              <a:t>29/01/25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668" y="482534"/>
            <a:ext cx="12066905" cy="1676466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Times New Roman Bold" panose="02020603050405020304" charset="0"/>
                <a:cs typeface="Times New Roman Bold" panose="02020603050405020304" charset="0"/>
              </a:rPr>
              <a:t>Unit 7:</a:t>
            </a:r>
            <a:br>
              <a:rPr lang="en-US" sz="4800" b="1" dirty="0">
                <a:latin typeface="Times New Roman Bold" panose="02020603050405020304" charset="0"/>
                <a:cs typeface="Times New Roman Bold" panose="02020603050405020304" charset="0"/>
              </a:rPr>
            </a:br>
            <a:r>
              <a:rPr lang="en-US" sz="4800" b="1" dirty="0">
                <a:solidFill>
                  <a:srgbClr val="00B0F0"/>
                </a:solidFill>
                <a:latin typeface="Times New Roman Bold" panose="02020603050405020304" charset="0"/>
                <a:cs typeface="Times New Roman Bold" panose="02020603050405020304" charset="0"/>
              </a:rPr>
              <a:t>New Trends in Operating System</a:t>
            </a:r>
            <a:endParaRPr lang="en-US" altLang="en-GB" sz="4800" b="1" dirty="0">
              <a:solidFill>
                <a:srgbClr val="00B0F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6410" y="3712210"/>
            <a:ext cx="9224010" cy="2606675"/>
          </a:xfrm>
        </p:spPr>
        <p:txBody>
          <a:bodyPr>
            <a:noAutofit/>
          </a:bodyPr>
          <a:lstStyle/>
          <a:p>
            <a:pPr algn="l"/>
            <a:r>
              <a:rPr lang="en-GB" sz="3200" b="1" dirty="0">
                <a:solidFill>
                  <a:srgbClr val="FF0000"/>
                </a:solidFill>
              </a:rPr>
              <a:t>Pre</a:t>
            </a:r>
            <a:r>
              <a:rPr lang="en-US" altLang="en-GB" sz="3200" b="1" dirty="0">
                <a:solidFill>
                  <a:srgbClr val="FF0000"/>
                </a:solidFill>
              </a:rPr>
              <a:t>sented </a:t>
            </a:r>
            <a:r>
              <a:rPr lang="en-GB" sz="3200" b="1" dirty="0">
                <a:solidFill>
                  <a:srgbClr val="FF0000"/>
                </a:solidFill>
              </a:rPr>
              <a:t>by</a:t>
            </a:r>
            <a:r>
              <a:rPr lang="en-GB" dirty="0">
                <a:solidFill>
                  <a:srgbClr val="FF0000"/>
                </a:solidFill>
              </a:rPr>
              <a:t> </a:t>
            </a:r>
          </a:p>
          <a:p>
            <a:pPr algn="l"/>
            <a:r>
              <a:rPr lang="en-GB" dirty="0">
                <a:solidFill>
                  <a:srgbClr val="FF0000"/>
                </a:solidFill>
              </a:rPr>
              <a:t>			</a:t>
            </a:r>
            <a:r>
              <a:rPr lang="en-GB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Er.Harendra Bikram Shah </a:t>
            </a:r>
            <a:br>
              <a:rPr lang="en-GB" b="1" dirty="0">
                <a:solidFill>
                  <a:srgbClr val="FF0000"/>
                </a:solidFill>
              </a:rPr>
            </a:br>
            <a:r>
              <a:rPr lang="en-GB" dirty="0">
                <a:solidFill>
                  <a:srgbClr val="FF0000"/>
                </a:solidFill>
              </a:rPr>
              <a:t>		</a:t>
            </a:r>
            <a:r>
              <a:rPr lang="en-US" altLang="en-GB" dirty="0">
                <a:solidFill>
                  <a:srgbClr val="FF0000"/>
                </a:solidFill>
              </a:rPr>
              <a:t>                        </a:t>
            </a:r>
            <a:r>
              <a:rPr lang="en-GB" dirty="0">
                <a:solidFill>
                  <a:srgbClr val="FF0000"/>
                </a:solidFill>
              </a:rPr>
              <a:t>(Lecturer)</a:t>
            </a:r>
          </a:p>
          <a:p>
            <a:pPr algn="l"/>
            <a:r>
              <a:rPr lang="en-GB" dirty="0">
                <a:solidFill>
                  <a:srgbClr val="FF0000"/>
                </a:solidFill>
              </a:rPr>
              <a:t>		</a:t>
            </a:r>
            <a:r>
              <a:rPr 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Department of Computer Engineering</a:t>
            </a:r>
          </a:p>
          <a:p>
            <a:pPr algn="l"/>
            <a:r>
              <a:rPr 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 </a:t>
            </a:r>
            <a:r>
              <a:rPr lang="en-US" alt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			          </a:t>
            </a:r>
            <a:r>
              <a:rPr lang="en-US" altLang="en-GB" b="1" dirty="0"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     NAST</a:t>
            </a:r>
            <a:r>
              <a:rPr 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 </a:t>
            </a:r>
            <a:endParaRPr lang="en-GB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pPr algn="l"/>
            <a:endParaRPr lang="en-GB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9415145" y="2159000"/>
            <a:ext cx="17801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Time:</a:t>
            </a:r>
            <a:r>
              <a:rPr lang="en-US" sz="2800" b="1" dirty="0">
                <a:solidFill>
                  <a:srgbClr val="FF0000"/>
                </a:solidFill>
              </a:rPr>
              <a:t>5 </a:t>
            </a:r>
            <a:r>
              <a:rPr lang="en-US" sz="2800" b="1" dirty="0" err="1">
                <a:solidFill>
                  <a:srgbClr val="FF0000"/>
                </a:solidFill>
              </a:rPr>
              <a:t>Hrs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3785" y="6985"/>
            <a:ext cx="5836285" cy="634365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OUTLINES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4BE2A8-E785-72A0-465C-6789BF62459E}"/>
              </a:ext>
            </a:extLst>
          </p:cNvPr>
          <p:cNvSpPr txBox="1"/>
          <p:nvPr/>
        </p:nvSpPr>
        <p:spPr>
          <a:xfrm>
            <a:off x="0" y="1123192"/>
            <a:ext cx="913349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-Concept , Character and Role of Real Time Operating System</a:t>
            </a:r>
          </a:p>
          <a:p>
            <a:pPr algn="just"/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-Distributed Operating System</a:t>
            </a:r>
          </a:p>
          <a:p>
            <a:pPr algn="just"/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-Cloud Operating System</a:t>
            </a:r>
          </a:p>
          <a:p>
            <a:pPr algn="just"/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-Mobile Operating System</a:t>
            </a:r>
          </a:p>
          <a:p>
            <a:pPr algn="just"/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-Security Issues and Method of Deployment</a:t>
            </a:r>
          </a:p>
          <a:p>
            <a:pPr algn="just"/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-Memory wall and Bottleneck for Operating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E1481-C5A8-0CDA-6C6A-A7563FBD4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A7B79-C7A7-F502-A9BF-D22FD7393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857" y="31531"/>
            <a:ext cx="5836285" cy="634365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RTOS</a:t>
            </a:r>
          </a:p>
        </p:txBody>
      </p:sp>
      <p:pic>
        <p:nvPicPr>
          <p:cNvPr id="1028" name="Picture 4" descr="Components of RTOS">
            <a:extLst>
              <a:ext uri="{FF2B5EF4-FFF2-40B4-BE49-F238E27FC236}">
                <a16:creationId xmlns:a16="http://schemas.microsoft.com/office/drawing/2014/main" id="{16F7472E-826F-965C-DE56-21862593EC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71" t="6285" r="16858" b="18477"/>
          <a:stretch/>
        </p:blipFill>
        <p:spPr bwMode="auto">
          <a:xfrm>
            <a:off x="2811516" y="1076593"/>
            <a:ext cx="6568965" cy="5328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D152E1-1923-2A0B-DA37-9307B3ACC5A9}"/>
              </a:ext>
            </a:extLst>
          </p:cNvPr>
          <p:cNvSpPr txBox="1"/>
          <p:nvPr/>
        </p:nvSpPr>
        <p:spPr>
          <a:xfrm>
            <a:off x="5002690" y="6405338"/>
            <a:ext cx="24283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Components of RTOS</a:t>
            </a:r>
          </a:p>
        </p:txBody>
      </p:sp>
    </p:spTree>
    <p:extLst>
      <p:ext uri="{BB962C8B-B14F-4D97-AF65-F5344CB8AC3E}">
        <p14:creationId xmlns:p14="http://schemas.microsoft.com/office/powerpoint/2010/main" val="3069019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5ED6A-07B6-363B-09B9-AC61B28E8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What is a Real-Time Operating System? Key Features Explained.">
            <a:extLst>
              <a:ext uri="{FF2B5EF4-FFF2-40B4-BE49-F238E27FC236}">
                <a16:creationId xmlns:a16="http://schemas.microsoft.com/office/drawing/2014/main" id="{B23EF827-0E64-801E-98E3-B52FE4672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531" y="785813"/>
            <a:ext cx="9343698" cy="528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0881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DD723-DEE3-59C3-4A0E-C1CE6F62B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34822-C7AD-A429-47D2-36FFB5170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785" y="6985"/>
            <a:ext cx="5836285" cy="634365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</p:txBody>
      </p:sp>
      <p:pic>
        <p:nvPicPr>
          <p:cNvPr id="1026" name="Picture 2" descr="Types of Real-Time Operating Systems">
            <a:extLst>
              <a:ext uri="{FF2B5EF4-FFF2-40B4-BE49-F238E27FC236}">
                <a16:creationId xmlns:a16="http://schemas.microsoft.com/office/drawing/2014/main" id="{A90301B5-5A52-775A-CAB1-40BB004E9A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4" t="10687" r="11782" b="28626"/>
          <a:stretch/>
        </p:blipFill>
        <p:spPr bwMode="auto">
          <a:xfrm>
            <a:off x="2259471" y="1450427"/>
            <a:ext cx="8544912" cy="3342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9941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3537C-2A0A-0C69-2746-661EA5CDB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Real-Time Operating System (RTOS): Working and Examples | Spiceworks -  Spiceworks">
            <a:extLst>
              <a:ext uri="{FF2B5EF4-FFF2-40B4-BE49-F238E27FC236}">
                <a16:creationId xmlns:a16="http://schemas.microsoft.com/office/drawing/2014/main" id="{4DAD824A-FAAD-CB36-A2C4-C1FF39EA4D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805"/>
          <a:stretch/>
        </p:blipFill>
        <p:spPr bwMode="auto">
          <a:xfrm>
            <a:off x="994568" y="536028"/>
            <a:ext cx="10202863" cy="6117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9514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C22B8-D522-46F7-5E93-B81D8ED5C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B38544-5A42-9B37-79A3-9E96E2388C94}"/>
              </a:ext>
            </a:extLst>
          </p:cNvPr>
          <p:cNvSpPr txBox="1"/>
          <p:nvPr/>
        </p:nvSpPr>
        <p:spPr>
          <a:xfrm>
            <a:off x="4840688" y="0"/>
            <a:ext cx="25106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Distributed OS</a:t>
            </a:r>
          </a:p>
        </p:txBody>
      </p:sp>
      <p:pic>
        <p:nvPicPr>
          <p:cNvPr id="8194" name="Picture 2" descr="Distributed-Operating-System">
            <a:extLst>
              <a:ext uri="{FF2B5EF4-FFF2-40B4-BE49-F238E27FC236}">
                <a16:creationId xmlns:a16="http://schemas.microsoft.com/office/drawing/2014/main" id="{B5F51B2F-9BDB-C8CF-608E-1D5180FA4A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15" r="10086" b="17254"/>
          <a:stretch/>
        </p:blipFill>
        <p:spPr bwMode="auto">
          <a:xfrm>
            <a:off x="614855" y="1437289"/>
            <a:ext cx="10962290" cy="3983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2085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B736B-36C6-B861-48A2-CDD19EC4D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5CADD4-35C7-B587-92CD-8B9506BB379A}"/>
              </a:ext>
            </a:extLst>
          </p:cNvPr>
          <p:cNvSpPr txBox="1"/>
          <p:nvPr/>
        </p:nvSpPr>
        <p:spPr>
          <a:xfrm>
            <a:off x="4840688" y="0"/>
            <a:ext cx="25106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Distributed OS</a:t>
            </a:r>
          </a:p>
        </p:txBody>
      </p:sp>
      <p:pic>
        <p:nvPicPr>
          <p:cNvPr id="10242" name="Picture 2" descr="Lightbox">
            <a:extLst>
              <a:ext uri="{FF2B5EF4-FFF2-40B4-BE49-F238E27FC236}">
                <a16:creationId xmlns:a16="http://schemas.microsoft.com/office/drawing/2014/main" id="{814CCDA5-7945-D238-D9EE-AF38C6048A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46" t="9043" r="6045" b="7126"/>
          <a:stretch/>
        </p:blipFill>
        <p:spPr bwMode="auto">
          <a:xfrm>
            <a:off x="2102068" y="725214"/>
            <a:ext cx="8208579" cy="5749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8650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B0135-EFAE-8981-703C-A89765BBA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91DB8E-4117-9E9D-8DD3-F22CA878732F}"/>
              </a:ext>
            </a:extLst>
          </p:cNvPr>
          <p:cNvSpPr txBox="1"/>
          <p:nvPr/>
        </p:nvSpPr>
        <p:spPr>
          <a:xfrm>
            <a:off x="0" y="0"/>
            <a:ext cx="121920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50"/>
              </a:spcBef>
              <a:spcAft>
                <a:spcPts val="300"/>
              </a:spcAft>
            </a:pPr>
            <a:r>
              <a:rPr lang="en-GB" sz="2800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Distributed Operating System</a:t>
            </a:r>
          </a:p>
          <a:p>
            <a:pPr algn="just">
              <a:spcBef>
                <a:spcPts val="450"/>
              </a:spcBef>
              <a:spcAft>
                <a:spcPts val="300"/>
              </a:spcAft>
            </a:pPr>
            <a:r>
              <a:rPr lang="en-GB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Resource Sharing</a:t>
            </a:r>
          </a:p>
          <a:p>
            <a:pPr algn="just">
              <a:spcBef>
                <a:spcPts val="450"/>
              </a:spcBef>
              <a:spcAft>
                <a:spcPts val="300"/>
              </a:spcAft>
            </a:pPr>
            <a:r>
              <a:rPr lang="en-GB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Concurrency</a:t>
            </a:r>
          </a:p>
          <a:p>
            <a:pPr algn="just">
              <a:spcBef>
                <a:spcPts val="450"/>
              </a:spcBef>
              <a:spcAft>
                <a:spcPts val="300"/>
              </a:spcAft>
            </a:pPr>
            <a:r>
              <a:rPr lang="en-GB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Openness</a:t>
            </a:r>
          </a:p>
          <a:p>
            <a:pPr algn="just">
              <a:spcBef>
                <a:spcPts val="450"/>
              </a:spcBef>
              <a:spcAft>
                <a:spcPts val="300"/>
              </a:spcAft>
            </a:pPr>
            <a:r>
              <a:rPr lang="en-GB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Scalability</a:t>
            </a:r>
          </a:p>
          <a:p>
            <a:pPr algn="just">
              <a:spcBef>
                <a:spcPts val="450"/>
              </a:spcBef>
              <a:spcAft>
                <a:spcPts val="300"/>
              </a:spcAft>
            </a:pPr>
            <a:r>
              <a:rPr lang="en-GB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Fault Tolerance</a:t>
            </a:r>
          </a:p>
          <a:p>
            <a:pPr algn="just">
              <a:spcBef>
                <a:spcPts val="450"/>
              </a:spcBef>
              <a:spcAft>
                <a:spcPts val="300"/>
              </a:spcAft>
            </a:pPr>
            <a:r>
              <a:rPr lang="en-GB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 Transparency</a:t>
            </a:r>
          </a:p>
        </p:txBody>
      </p:sp>
    </p:spTree>
    <p:extLst>
      <p:ext uri="{BB962C8B-B14F-4D97-AF65-F5344CB8AC3E}">
        <p14:creationId xmlns:p14="http://schemas.microsoft.com/office/powerpoint/2010/main" val="2508165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3F4D6-320A-00B0-ABF1-814FAFE5D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C2B45C0-2C0D-9D73-3E92-4432BDFD8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76944"/>
            <a:ext cx="121920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Distributed Operating Systems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1. 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Server System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 Peer-to-peer System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AEDCDC-5269-0304-D97F-CDCD34BA32DF}"/>
              </a:ext>
            </a:extLst>
          </p:cNvPr>
          <p:cNvSpPr txBox="1"/>
          <p:nvPr/>
        </p:nvSpPr>
        <p:spPr>
          <a:xfrm>
            <a:off x="-68316" y="1759169"/>
            <a:ext cx="12260316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50"/>
              </a:spcBef>
              <a:spcAft>
                <a:spcPts val="300"/>
              </a:spcAft>
            </a:pPr>
            <a:r>
              <a:rPr lang="en-GB" sz="2400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Distributed Operating System</a:t>
            </a:r>
          </a:p>
          <a:p>
            <a:pPr algn="l">
              <a:spcBef>
                <a:spcPts val="450"/>
              </a:spcBef>
              <a:spcAft>
                <a:spcPts val="300"/>
              </a:spcAft>
            </a:pPr>
            <a:r>
              <a:rPr lang="en-GB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 Data Sharing</a:t>
            </a:r>
          </a:p>
          <a:p>
            <a:pPr algn="l">
              <a:spcBef>
                <a:spcPts val="450"/>
              </a:spcBef>
              <a:spcAft>
                <a:spcPts val="300"/>
              </a:spcAft>
            </a:pPr>
            <a:r>
              <a:rPr lang="en-GB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 Ability of extension</a:t>
            </a:r>
          </a:p>
          <a:p>
            <a:pPr algn="l">
              <a:spcBef>
                <a:spcPts val="450"/>
              </a:spcBef>
              <a:spcAft>
                <a:spcPts val="300"/>
              </a:spcAft>
            </a:pPr>
            <a:r>
              <a:rPr lang="en-GB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Error management</a:t>
            </a:r>
          </a:p>
          <a:p>
            <a:pPr algn="l">
              <a:spcBef>
                <a:spcPts val="450"/>
              </a:spcBef>
              <a:spcAft>
                <a:spcPts val="300"/>
              </a:spcAft>
            </a:pPr>
            <a:r>
              <a:rPr lang="en-GB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 Reliability</a:t>
            </a:r>
          </a:p>
          <a:p>
            <a:pPr algn="l">
              <a:spcBef>
                <a:spcPts val="450"/>
              </a:spcBef>
              <a:spcAft>
                <a:spcPts val="300"/>
              </a:spcAft>
            </a:pPr>
            <a:r>
              <a:rPr lang="en-GB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 Effective</a:t>
            </a:r>
          </a:p>
          <a:p>
            <a:pPr algn="l">
              <a:spcBef>
                <a:spcPts val="450"/>
              </a:spcBef>
              <a:spcAft>
                <a:spcPts val="300"/>
              </a:spcAft>
            </a:pPr>
            <a:r>
              <a:rPr lang="en-GB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 Less delay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82FEB8-CF61-E7A4-6BAE-11E291CCDC5F}"/>
              </a:ext>
            </a:extLst>
          </p:cNvPr>
          <p:cNvSpPr txBox="1"/>
          <p:nvPr/>
        </p:nvSpPr>
        <p:spPr>
          <a:xfrm>
            <a:off x="0" y="4498380"/>
            <a:ext cx="12192000" cy="2359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50"/>
              </a:spcBef>
              <a:spcAft>
                <a:spcPts val="300"/>
              </a:spcAft>
            </a:pPr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Distributed Operating System</a:t>
            </a:r>
          </a:p>
          <a:p>
            <a:pPr algn="l">
              <a:spcBef>
                <a:spcPts val="450"/>
              </a:spcBef>
              <a:spcAft>
                <a:spcPts val="300"/>
              </a:spcAf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 Security issues</a:t>
            </a:r>
          </a:p>
          <a:p>
            <a:pPr algn="l">
              <a:spcBef>
                <a:spcPts val="450"/>
              </a:spcBef>
              <a:spcAft>
                <a:spcPts val="300"/>
              </a:spcAf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 High setup cost</a:t>
            </a:r>
          </a:p>
          <a:p>
            <a:pPr algn="l">
              <a:spcBef>
                <a:spcPts val="450"/>
              </a:spcBef>
              <a:spcAft>
                <a:spcPts val="300"/>
              </a:spcAf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 Lost data</a:t>
            </a:r>
          </a:p>
          <a:p>
            <a:pPr algn="l">
              <a:spcBef>
                <a:spcPts val="450"/>
              </a:spcBef>
              <a:spcAft>
                <a:spcPts val="300"/>
              </a:spcAf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 Difficult to manage</a:t>
            </a:r>
          </a:p>
          <a:p>
            <a:pPr algn="l">
              <a:spcBef>
                <a:spcPts val="450"/>
              </a:spcBef>
              <a:spcAft>
                <a:spcPts val="300"/>
              </a:spcAf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 Overload problem</a:t>
            </a:r>
          </a:p>
        </p:txBody>
      </p:sp>
    </p:spTree>
    <p:extLst>
      <p:ext uri="{BB962C8B-B14F-4D97-AF65-F5344CB8AC3E}">
        <p14:creationId xmlns:p14="http://schemas.microsoft.com/office/powerpoint/2010/main" val="2042031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A0AE5-EF94-298B-1589-4C146B215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B1EC9D-E166-6D47-D452-01381300A61A}"/>
              </a:ext>
            </a:extLst>
          </p:cNvPr>
          <p:cNvSpPr txBox="1"/>
          <p:nvPr/>
        </p:nvSpPr>
        <p:spPr>
          <a:xfrm>
            <a:off x="0" y="0"/>
            <a:ext cx="12192000" cy="1941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50"/>
              </a:spcAft>
            </a:pPr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Real-life Example of Distributed Operating System</a:t>
            </a:r>
          </a:p>
          <a:p>
            <a:pPr algn="ctr"/>
            <a:r>
              <a:rPr lang="en-GB" b="0" i="0" u="none" strike="noStrike" dirty="0">
                <a:solidFill>
                  <a:srgbClr val="000000"/>
                </a:solidFill>
                <a:effectLst/>
                <a:latin typeface="Inter"/>
              </a:rPr>
              <a:t>  </a:t>
            </a:r>
          </a:p>
          <a:p>
            <a:pPr>
              <a:spcBef>
                <a:spcPts val="450"/>
              </a:spcBef>
              <a:spcAft>
                <a:spcPts val="300"/>
              </a:spcAf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 Web search</a:t>
            </a:r>
          </a:p>
          <a:p>
            <a:pPr>
              <a:spcBef>
                <a:spcPts val="450"/>
              </a:spcBef>
              <a:spcAft>
                <a:spcPts val="300"/>
              </a:spcAf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 Banking system</a:t>
            </a:r>
          </a:p>
          <a:p>
            <a:pPr>
              <a:spcBef>
                <a:spcPts val="450"/>
              </a:spcBef>
              <a:spcAft>
                <a:spcPts val="300"/>
              </a:spcAf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 Massively multiplayer online games</a:t>
            </a:r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664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927BC-C74E-A82F-2ED9-7554F720A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25E3F2-13AA-4A2F-9989-8BC18B9FA464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50"/>
              </a:spcAft>
            </a:pPr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OS</a:t>
            </a:r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362" name="Picture 2" descr="Cloud Operating Systems">
            <a:extLst>
              <a:ext uri="{FF2B5EF4-FFF2-40B4-BE49-F238E27FC236}">
                <a16:creationId xmlns:a16="http://schemas.microsoft.com/office/drawing/2014/main" id="{812D72A7-99B7-1C9A-E2B9-8E4CE28D78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51" b="14176"/>
          <a:stretch/>
        </p:blipFill>
        <p:spPr bwMode="auto">
          <a:xfrm>
            <a:off x="0" y="956441"/>
            <a:ext cx="12192000" cy="4593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6165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E6203-6FB8-769E-B90A-18C94B51C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6F3A8D-EA5B-D816-64C7-4DC79E6286C5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50"/>
              </a:spcAft>
            </a:pPr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of Cloud OS</a:t>
            </a:r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435358-DB2A-DC33-E7D8-3FF11D38FA57}"/>
              </a:ext>
            </a:extLst>
          </p:cNvPr>
          <p:cNvSpPr txBox="1"/>
          <p:nvPr/>
        </p:nvSpPr>
        <p:spPr>
          <a:xfrm>
            <a:off x="0" y="896367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Virtualization: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Elasticity: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Pooling: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On-Demand Self-Service: 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 Network Access: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Multi-Tenancy: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Measured Service:</a:t>
            </a:r>
          </a:p>
        </p:txBody>
      </p:sp>
    </p:spTree>
    <p:extLst>
      <p:ext uri="{BB962C8B-B14F-4D97-AF65-F5344CB8AC3E}">
        <p14:creationId xmlns:p14="http://schemas.microsoft.com/office/powerpoint/2010/main" val="3142674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66E59-97DC-D0C5-A2BD-13E08837A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9FFE8F-92E6-386F-A081-0F08C6BAFA14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50"/>
              </a:spcAft>
            </a:pPr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Disadvantages of Cloud OS</a:t>
            </a:r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DFB7BC-EA8E-38B3-9B6B-B40399F56767}"/>
              </a:ext>
            </a:extLst>
          </p:cNvPr>
          <p:cNvSpPr txBox="1"/>
          <p:nvPr/>
        </p:nvSpPr>
        <p:spPr>
          <a:xfrm>
            <a:off x="0" y="461665"/>
            <a:ext cx="6096000" cy="5763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Cloud Operating System</a:t>
            </a:r>
          </a:p>
          <a:p>
            <a:pPr algn="l">
              <a:spcAft>
                <a:spcPts val="300"/>
              </a:spcAft>
              <a:buFont typeface="+mj-lt"/>
              <a:buAutoNum type="arabicPeriod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Scalability: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Cost-Efficiency: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 Updates and Maintenance: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Disaster Recovery and Backup: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 Compatibility: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Centralized Management:</a:t>
            </a:r>
          </a:p>
          <a:p>
            <a:pPr algn="l"/>
            <a:endParaRPr lang="en-GB" i="0" u="none" strike="noStrike" dirty="0">
              <a:solidFill>
                <a:srgbClr val="4040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b="1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Cloud Operating System</a:t>
            </a:r>
          </a:p>
          <a:p>
            <a:pPr algn="l">
              <a:spcAft>
                <a:spcPts val="300"/>
              </a:spcAft>
              <a:buFont typeface="+mj-lt"/>
              <a:buAutoNum type="arabicPeriod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Internet Connectivity: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Privacy Concerns: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Vendor Lock-In: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Ownership Concerns: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Subscription Costs: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Downtime and Reliability: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Limitations:</a:t>
            </a:r>
          </a:p>
        </p:txBody>
      </p:sp>
    </p:spTree>
    <p:extLst>
      <p:ext uri="{BB962C8B-B14F-4D97-AF65-F5344CB8AC3E}">
        <p14:creationId xmlns:p14="http://schemas.microsoft.com/office/powerpoint/2010/main" val="790049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2164C-11F5-BE65-3B50-CCB3C35C3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1AFE05-EEEB-720D-F48F-200F20FD662A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50"/>
              </a:spcAft>
            </a:pPr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Cloud OS</a:t>
            </a:r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16DC06-CE4A-BA6E-EB17-07411606C55A}"/>
              </a:ext>
            </a:extLst>
          </p:cNvPr>
          <p:cNvSpPr txBox="1"/>
          <p:nvPr/>
        </p:nvSpPr>
        <p:spPr>
          <a:xfrm>
            <a:off x="-1" y="461665"/>
            <a:ext cx="1219199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Remote Work and Collaboration</a:t>
            </a:r>
          </a:p>
          <a:p>
            <a:pPr algn="l"/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Data Storage and Backup</a:t>
            </a:r>
          </a:p>
          <a:p>
            <a:pPr algn="l"/>
            <a:r>
              <a:rPr lang="en-GB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and Networking</a:t>
            </a:r>
          </a:p>
          <a:p>
            <a:pPr algn="l"/>
            <a:r>
              <a:rPr lang="en-GB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E-Commerce and Online Marketplaces</a:t>
            </a:r>
          </a:p>
          <a:p>
            <a:pPr algn="l"/>
            <a:r>
              <a:rPr lang="en-GB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Education and E-Learning</a:t>
            </a:r>
          </a:p>
          <a:p>
            <a:pPr algn="l"/>
            <a:r>
              <a:rPr lang="en-GB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Healthcare and Telemedicine</a:t>
            </a:r>
          </a:p>
          <a:p>
            <a:pPr algn="l"/>
            <a:r>
              <a:rPr lang="en-GB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Gaming and Entertainment</a:t>
            </a:r>
          </a:p>
          <a:p>
            <a:pPr algn="l"/>
            <a:r>
              <a:rPr lang="en-GB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Internet of Things (IoT)</a:t>
            </a:r>
          </a:p>
          <a:p>
            <a:pPr algn="l"/>
            <a:r>
              <a:rPr lang="en-GB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 </a:t>
            </a: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Government and Public Services</a:t>
            </a:r>
          </a:p>
        </p:txBody>
      </p:sp>
    </p:spTree>
    <p:extLst>
      <p:ext uri="{BB962C8B-B14F-4D97-AF65-F5344CB8AC3E}">
        <p14:creationId xmlns:p14="http://schemas.microsoft.com/office/powerpoint/2010/main" val="2472625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7A977-CA6E-B338-D3FC-1AC3EDC1D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140DF0-A238-7117-9161-D91DD7CE9FBB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50"/>
              </a:spcAft>
            </a:pPr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OS</a:t>
            </a:r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434" name="Picture 2" descr="Mobile Operating System and its Types - IP With Ease">
            <a:extLst>
              <a:ext uri="{FF2B5EF4-FFF2-40B4-BE49-F238E27FC236}">
                <a16:creationId xmlns:a16="http://schemas.microsoft.com/office/drawing/2014/main" id="{811FC7BF-7243-BE56-B993-C881C19BCE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3" t="1936" r="2414" b="7485"/>
          <a:stretch/>
        </p:blipFill>
        <p:spPr bwMode="auto">
          <a:xfrm>
            <a:off x="1229710" y="651641"/>
            <a:ext cx="9701049" cy="5234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5049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3EEF2-1BCA-7A11-D99E-CB272B26E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95163E-8216-0492-CA0F-445BC03350D5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50"/>
              </a:spcAft>
            </a:pPr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of Mobile OS</a:t>
            </a:r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82" name="Picture 2" descr="What Is a Mobile Operating System? — Techslang">
            <a:extLst>
              <a:ext uri="{FF2B5EF4-FFF2-40B4-BE49-F238E27FC236}">
                <a16:creationId xmlns:a16="http://schemas.microsoft.com/office/drawing/2014/main" id="{97AF13E1-4FB6-93FB-CC31-208ACDC440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93" b="4779"/>
          <a:stretch/>
        </p:blipFill>
        <p:spPr bwMode="auto">
          <a:xfrm>
            <a:off x="2914650" y="578068"/>
            <a:ext cx="6362700" cy="5728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20086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E5297-8D5A-D768-3712-6C26A2557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D6CBD74-E592-AC03-6046-F96224E77862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50"/>
              </a:spcAft>
            </a:pPr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of Mobile OS</a:t>
            </a:r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31CF-C1F9-12FC-DD72-3958C5C6DD56}"/>
              </a:ext>
            </a:extLst>
          </p:cNvPr>
          <p:cNvSpPr txBox="1"/>
          <p:nvPr/>
        </p:nvSpPr>
        <p:spPr>
          <a:xfrm>
            <a:off x="-1" y="461665"/>
            <a:ext cx="121919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Hardware Management</a:t>
            </a:r>
          </a:p>
          <a:p>
            <a:pPr algn="l"/>
            <a:r>
              <a:rPr lang="en-GB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App Management</a:t>
            </a:r>
          </a:p>
          <a:p>
            <a:pPr algn="l"/>
            <a:r>
              <a:rPr lang="en-GB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Security and Privacy</a:t>
            </a:r>
          </a:p>
          <a:p>
            <a:pPr algn="l"/>
            <a:r>
              <a:rPr lang="en-GB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Multitasking</a:t>
            </a:r>
          </a:p>
          <a:p>
            <a:pPr algn="l"/>
            <a:r>
              <a:rPr lang="en-GB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File Management</a:t>
            </a:r>
          </a:p>
          <a:p>
            <a:pPr algn="l"/>
            <a:r>
              <a:rPr lang="en-GB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Accessibility Features</a:t>
            </a:r>
          </a:p>
          <a:p>
            <a:pPr algn="l"/>
            <a:r>
              <a:rPr lang="en-GB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IoT and Wearable Integration</a:t>
            </a:r>
          </a:p>
          <a:p>
            <a:pPr algn="l"/>
            <a:r>
              <a:rPr lang="en-GB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Developer Support</a:t>
            </a:r>
          </a:p>
        </p:txBody>
      </p:sp>
    </p:spTree>
    <p:extLst>
      <p:ext uri="{BB962C8B-B14F-4D97-AF65-F5344CB8AC3E}">
        <p14:creationId xmlns:p14="http://schemas.microsoft.com/office/powerpoint/2010/main" val="10140114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028BF-FF70-428C-4B3C-83F1EB542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D970AF-2911-EBBC-045E-3F9AD99AF976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50"/>
              </a:spcAft>
            </a:pPr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Disadvantages of Mobile OS</a:t>
            </a:r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8AE367-88DE-DE89-B244-A25C1AF047FD}"/>
              </a:ext>
            </a:extLst>
          </p:cNvPr>
          <p:cNvSpPr txBox="1"/>
          <p:nvPr/>
        </p:nvSpPr>
        <p:spPr>
          <a:xfrm>
            <a:off x="0" y="461665"/>
            <a:ext cx="12192000" cy="5763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Mobile Operating Systems</a:t>
            </a:r>
          </a:p>
          <a:p>
            <a:pPr algn="l">
              <a:spcAft>
                <a:spcPts val="300"/>
              </a:spcAft>
              <a:buFont typeface="+mj-lt"/>
              <a:buAutoNum type="arabicPeriod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Portability and Convenience: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 Ecosystem: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Connectivity: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Multitasking: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Regular Updates: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Customization: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Multimedia Support:</a:t>
            </a:r>
          </a:p>
          <a:p>
            <a:pPr algn="l"/>
            <a:endParaRPr lang="en-GB" b="1" i="0" u="none" strike="noStrike" dirty="0">
              <a:solidFill>
                <a:srgbClr val="4040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Mobile Operating Systems</a:t>
            </a:r>
          </a:p>
          <a:p>
            <a:pPr algn="l">
              <a:spcAft>
                <a:spcPts val="300"/>
              </a:spcAft>
              <a:buFont typeface="+mj-lt"/>
              <a:buAutoNum type="arabicPeriod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Battery Life: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Risks: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Hardware Limitations: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Privacy Concerns: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Internet: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Cost:</a:t>
            </a:r>
            <a:endParaRPr lang="en-GB" b="0" i="0" u="none" strike="noStrike" dirty="0">
              <a:solidFill>
                <a:srgbClr val="4040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1186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52F45-4B99-A625-9681-8CDC5D955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3FE63C4-D30A-647B-B6A3-C44B6DCF1E5B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50"/>
              </a:spcAft>
            </a:pPr>
            <a:r>
              <a:rPr lang="en-US" sz="2400" b="1" dirty="0">
                <a:solidFill>
                  <a:srgbClr val="00B0F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Security Issues and Method of Deployment of RTOS</a:t>
            </a:r>
            <a:endParaRPr lang="en-GB" b="1" i="0" u="none" strike="noStrike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43F0C6-C179-0581-3B96-5CC3B9488039}"/>
              </a:ext>
            </a:extLst>
          </p:cNvPr>
          <p:cNvSpPr txBox="1"/>
          <p:nvPr/>
        </p:nvSpPr>
        <p:spPr>
          <a:xfrm>
            <a:off x="0" y="461665"/>
            <a:ext cx="12191999" cy="5409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Issues in RTOS</a:t>
            </a:r>
          </a:p>
          <a:p>
            <a:pPr algn="l">
              <a:spcAft>
                <a:spcPts val="300"/>
              </a:spcAft>
              <a:buFont typeface="+mj-lt"/>
              <a:buAutoNum type="arabicPeriod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Resources: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Built-in Security Features: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 to Malware: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Insecure Communication: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Physical Attacks: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Regular Updates:</a:t>
            </a:r>
          </a:p>
          <a:p>
            <a:pPr algn="l"/>
            <a:endParaRPr lang="en-GB" b="1" i="0" u="none" strike="noStrike" dirty="0">
              <a:solidFill>
                <a:srgbClr val="4040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b="1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Methods to Enhance RTOS Security</a:t>
            </a:r>
          </a:p>
          <a:p>
            <a:pPr algn="l">
              <a:spcAft>
                <a:spcPts val="300"/>
              </a:spcAft>
              <a:buFont typeface="+mj-lt"/>
              <a:buAutoNum type="arabicPeriod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Boot: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Encryption: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and Authorization: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Regular Updates and Patching: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Network Security: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Physical Security: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lang="en-GB" i="0" u="none" strike="noStrike" dirty="0">
              <a:solidFill>
                <a:srgbClr val="4040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4153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3AE61-35A8-6553-EE99-CEADD878F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0D71ED-11BD-8016-67EB-98313C17867A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50"/>
              </a:spcAft>
            </a:pPr>
            <a:r>
              <a:rPr lang="en-US" sz="2400" b="1" dirty="0">
                <a:solidFill>
                  <a:srgbClr val="00B0F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Method of Deployment of RTOS</a:t>
            </a:r>
            <a:endParaRPr lang="en-GB" b="1" i="0" u="none" strike="noStrike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ABAF4-5BC3-855B-AA6C-D7B415DB932E}"/>
              </a:ext>
            </a:extLst>
          </p:cNvPr>
          <p:cNvSpPr txBox="1"/>
          <p:nvPr/>
        </p:nvSpPr>
        <p:spPr>
          <a:xfrm>
            <a:off x="0" y="461665"/>
            <a:ext cx="12118426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Bare-Metal Deployment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RTOS runs directly on the hardware without an underlying general-purpose OS.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Cases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Embedded systems, IoT devices, and microcontrollers.</a:t>
            </a:r>
          </a:p>
          <a:p>
            <a:pPr algn="l"/>
            <a:endParaRPr lang="en-GB" b="1" i="0" u="none" strike="noStrike" dirty="0">
              <a:solidFill>
                <a:srgbClr val="4040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Hypervisor-Based Deployment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RTOS runs alongside other operating systems on a hypervisor, which manages hardware resources.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Cases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Systems requiring both real-time and general-purpose computing (e.g., automotive systems, industrial automation).</a:t>
            </a:r>
          </a:p>
          <a:p>
            <a:pPr algn="l"/>
            <a:endParaRPr lang="en-GB" b="1" i="0" u="none" strike="noStrike" dirty="0">
              <a:solidFill>
                <a:srgbClr val="4040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Dual-OS Deployment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RTOS runs alongside a general-purpose OS (e.g., Linux) on the same hardware.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Cases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Devices requiring both real-time and non-real-time functionality (e.g., robotics, medical devices).</a:t>
            </a:r>
          </a:p>
          <a:p>
            <a:pPr algn="l"/>
            <a:endParaRPr lang="en-GB" b="1" i="0" u="none" strike="noStrike" dirty="0">
              <a:solidFill>
                <a:srgbClr val="4040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Cloud-Based Deployment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RTOS runs on cloud infrastructure, with real-time tasks offloaded to edge devices.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Cases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Industrial IoT, smart cities, and large-scale automation systems.</a:t>
            </a:r>
          </a:p>
          <a:p>
            <a:pPr algn="l"/>
            <a:endParaRPr lang="en-GB" b="1" i="0" u="none" strike="noStrike" dirty="0">
              <a:solidFill>
                <a:srgbClr val="4040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0928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93A92-20C3-E796-EEA6-92BDBEA08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AD7CC7-0A9D-909B-85F5-8035456063E5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50"/>
              </a:spcAft>
            </a:pPr>
            <a:r>
              <a:rPr lang="en-US" sz="2400" b="1" dirty="0">
                <a:solidFill>
                  <a:srgbClr val="00B0F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Security Issues of DOS</a:t>
            </a:r>
            <a:endParaRPr lang="en-GB" b="1" i="0" u="none" strike="noStrike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7969D8-6E10-9EE0-7DE8-FAE3518653AA}"/>
              </a:ext>
            </a:extLst>
          </p:cNvPr>
          <p:cNvSpPr txBox="1"/>
          <p:nvPr/>
        </p:nvSpPr>
        <p:spPr>
          <a:xfrm>
            <a:off x="0" y="461665"/>
            <a:ext cx="1219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A. Data Security Issues</a:t>
            </a:r>
          </a:p>
          <a:p>
            <a:pPr algn="l"/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B. Network Security Threats</a:t>
            </a:r>
          </a:p>
          <a:p>
            <a:pPr algn="l"/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C. System Security Issues</a:t>
            </a:r>
          </a:p>
          <a:p>
            <a:pPr algn="l"/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D. Authentication and Access Control Issues</a:t>
            </a:r>
          </a:p>
        </p:txBody>
      </p:sp>
    </p:spTree>
    <p:extLst>
      <p:ext uri="{BB962C8B-B14F-4D97-AF65-F5344CB8AC3E}">
        <p14:creationId xmlns:p14="http://schemas.microsoft.com/office/powerpoint/2010/main" val="5833362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0935F-85FC-8F96-78BF-881A672E0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2A9CF3-10E0-1726-ADE1-002836DE4B2E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Measures in DOS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DDFF6A-948A-15C0-DB7E-CFBC4F2C3E38}"/>
              </a:ext>
            </a:extLst>
          </p:cNvPr>
          <p:cNvSpPr txBox="1"/>
          <p:nvPr/>
        </p:nvSpPr>
        <p:spPr>
          <a:xfrm>
            <a:off x="-1" y="553640"/>
            <a:ext cx="1156062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Strong Encryption</a:t>
            </a:r>
            <a:endParaRPr lang="en-GB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Multi-Factor Authentication (MFA) 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Intrusion Detection Systems (IDS) 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Regular Patching and Updates 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Firewall and Access Control 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Backup and Disaster Recovery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812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8C38B-DD2C-9B24-D0BE-B80DA6A15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B99B25-8C28-5033-D3CE-368FF7E52B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50"/>
              </a:spcAft>
            </a:pPr>
            <a:r>
              <a:rPr lang="en-US" sz="2400" b="1" dirty="0">
                <a:solidFill>
                  <a:srgbClr val="00B0F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Method of Deployment of DOS</a:t>
            </a:r>
            <a:endParaRPr lang="en-GB" b="1" i="0" u="none" strike="noStrike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390A15-3224-9FDF-7105-142C4CD04716}"/>
              </a:ext>
            </a:extLst>
          </p:cNvPr>
          <p:cNvSpPr txBox="1"/>
          <p:nvPr/>
        </p:nvSpPr>
        <p:spPr>
          <a:xfrm>
            <a:off x="0" y="831779"/>
            <a:ext cx="109619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A. Centralized Deployment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B. Decentralized Deployment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C. Peer-to-Peer (P2P) Deployment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D. Cloud-Based Deployment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E. Virtualization-Based Deployment</a:t>
            </a:r>
          </a:p>
        </p:txBody>
      </p:sp>
    </p:spTree>
    <p:extLst>
      <p:ext uri="{BB962C8B-B14F-4D97-AF65-F5344CB8AC3E}">
        <p14:creationId xmlns:p14="http://schemas.microsoft.com/office/powerpoint/2010/main" val="1816545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816FB-B42B-B29F-62D4-B1CA36F9C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A6571D-9AA7-D854-CD8A-B306455447D7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Measures and Best Practices in Cloud OS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6C716B-1457-F647-284C-821060CB68D3}"/>
              </a:ext>
            </a:extLst>
          </p:cNvPr>
          <p:cNvSpPr txBox="1"/>
          <p:nvPr/>
        </p:nvSpPr>
        <p:spPr>
          <a:xfrm>
            <a:off x="261256" y="544286"/>
            <a:ext cx="1193074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Security Measures in Cloud OS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A. Data Security Measures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B. Network Security Measures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C. Identity &amp; Access Management (IAM)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D. Threat Detection &amp; Incident Response</a:t>
            </a:r>
          </a:p>
          <a:p>
            <a:pPr algn="l"/>
            <a:endParaRPr lang="en-GB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for Cloud OS 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A. Secure Cloud Deployment Practices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B. Cloud Security Compliance &amp; Governance.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C. Cloud Backup &amp; Disaster Recovery </a:t>
            </a:r>
          </a:p>
        </p:txBody>
      </p:sp>
    </p:spTree>
    <p:extLst>
      <p:ext uri="{BB962C8B-B14F-4D97-AF65-F5344CB8AC3E}">
        <p14:creationId xmlns:p14="http://schemas.microsoft.com/office/powerpoint/2010/main" val="29108754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92781-B94F-1350-3D2D-7C15B0F55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loud Deployment Models">
            <a:extLst>
              <a:ext uri="{FF2B5EF4-FFF2-40B4-BE49-F238E27FC236}">
                <a16:creationId xmlns:a16="http://schemas.microsoft.com/office/drawing/2014/main" id="{72BEFBCA-AFD0-4157-A88E-E3A2DD9359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51" b="15975"/>
          <a:stretch/>
        </p:blipFill>
        <p:spPr bwMode="auto">
          <a:xfrm>
            <a:off x="381000" y="1120877"/>
            <a:ext cx="11430000" cy="4468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C8C1960-9CA9-42A7-FE04-9C6CB66B0697}"/>
              </a:ext>
            </a:extLst>
          </p:cNvPr>
          <p:cNvSpPr txBox="1"/>
          <p:nvPr/>
        </p:nvSpPr>
        <p:spPr>
          <a:xfrm>
            <a:off x="217713" y="97351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Methods of Deployment in Cloud OS</a:t>
            </a:r>
          </a:p>
        </p:txBody>
      </p:sp>
    </p:spTree>
    <p:extLst>
      <p:ext uri="{BB962C8B-B14F-4D97-AF65-F5344CB8AC3E}">
        <p14:creationId xmlns:p14="http://schemas.microsoft.com/office/powerpoint/2010/main" val="39671669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A24C6-7366-6305-BB82-9B49F7AF6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8095A0-EC55-85D7-900F-2BA7C5D0B032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50"/>
              </a:spcAft>
            </a:pPr>
            <a:r>
              <a:rPr lang="en-US" sz="2400" b="1" dirty="0">
                <a:solidFill>
                  <a:srgbClr val="00B0F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Memory wall in Operating System</a:t>
            </a:r>
            <a:endParaRPr lang="en-GB" b="1" i="0" u="none" strike="noStrike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77DEC8-4CB6-848C-D533-ECAE48B8BB2E}"/>
              </a:ext>
            </a:extLst>
          </p:cNvPr>
          <p:cNvSpPr txBox="1"/>
          <p:nvPr/>
        </p:nvSpPr>
        <p:spPr>
          <a:xfrm>
            <a:off x="0" y="751114"/>
            <a:ext cx="1211580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Memory Wall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refers to the growing performance gap between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CPU processing speed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memory access speed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buFont typeface="Wingdings" pitchFamily="2" charset="2"/>
              <a:buChar char="Ø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higher latency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 data retrieval, causing a performance bottleneck.</a:t>
            </a:r>
          </a:p>
          <a:p>
            <a:pPr algn="just"/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2400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Causes of the Memory Wall</a:t>
            </a:r>
          </a:p>
          <a:p>
            <a:pPr algn="just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CPU vs. Memory Speed Mismatch</a:t>
            </a:r>
          </a:p>
          <a:p>
            <a:pPr algn="just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Latency in Memory Hierarchy</a:t>
            </a:r>
          </a:p>
          <a:p>
            <a:pPr algn="just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Consumption &amp; Heat</a:t>
            </a:r>
          </a:p>
          <a:p>
            <a:pPr algn="just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Von Neumann Bottleneck</a:t>
            </a:r>
          </a:p>
        </p:txBody>
      </p:sp>
    </p:spTree>
    <p:extLst>
      <p:ext uri="{BB962C8B-B14F-4D97-AF65-F5344CB8AC3E}">
        <p14:creationId xmlns:p14="http://schemas.microsoft.com/office/powerpoint/2010/main" val="1133096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2E174-B86A-4668-81F7-D349B8DF6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013D76-6465-3D26-4D21-8DD4229C2BE7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50"/>
              </a:spcAft>
            </a:pPr>
            <a:r>
              <a:rPr lang="en-US" sz="2400" b="1" dirty="0">
                <a:solidFill>
                  <a:srgbClr val="00B0F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Bottleneck for Operating System</a:t>
            </a:r>
            <a:endParaRPr lang="en-GB" b="1" i="0" u="none" strike="noStrike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42088D-34AA-E734-E86E-357F1E7A7DED}"/>
              </a:ext>
            </a:extLst>
          </p:cNvPr>
          <p:cNvSpPr txBox="1"/>
          <p:nvPr/>
        </p:nvSpPr>
        <p:spPr>
          <a:xfrm>
            <a:off x="38100" y="461665"/>
            <a:ext cx="121158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OS bottleneck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occurs when system performance is restricted due to resource limitations.</a:t>
            </a:r>
          </a:p>
          <a:p>
            <a:pPr algn="ctr"/>
            <a:r>
              <a:rPr lang="en-GB" sz="2400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Types of OS Bottlenecks</a:t>
            </a:r>
          </a:p>
          <a:p>
            <a:pPr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CPU Bottleneck</a:t>
            </a:r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CPU utilization (90-100%)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causes slow system response.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Load balancing, CPU scheduling (Round Robin, Multi-Level Queue).</a:t>
            </a:r>
          </a:p>
          <a:p>
            <a:pPr lvl="1" algn="just"/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Memory Bottleneck</a:t>
            </a:r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 available RAM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leads to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paging/swapping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Use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memory compression, better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cache management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/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I/O Bottleneck</a:t>
            </a:r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Slow disk read/write speeds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limit performance.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Use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SSD/NVMe storage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optimize disk I/O scheduling.</a:t>
            </a:r>
          </a:p>
          <a:p>
            <a:pPr lvl="1" algn="just"/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Network Bottleneck</a:t>
            </a:r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bandwidth or high latency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slows communication.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Use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load balancing, QoS (Quality of Service), and better routing algorithms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287558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BC8CC-8EBF-6479-F170-CD2024027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C202004-DE6C-9277-4C57-D38BA48476D2}"/>
              </a:ext>
            </a:extLst>
          </p:cNvPr>
          <p:cNvSpPr txBox="1"/>
          <p:nvPr/>
        </p:nvSpPr>
        <p:spPr>
          <a:xfrm>
            <a:off x="0" y="587829"/>
            <a:ext cx="121920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Overcoming Memory Wall &amp; Bottlenecks</a:t>
            </a:r>
          </a:p>
          <a:p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A. Architectural Solutions</a:t>
            </a:r>
          </a:p>
          <a:p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✔ Memory Hierarchy Optimization</a:t>
            </a:r>
            <a:endParaRPr lang="en-GB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✔ Non-Volatile Memory (NVM)</a:t>
            </a:r>
          </a:p>
          <a:p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✔ Processing-in-Memory </a:t>
            </a:r>
          </a:p>
          <a:p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✔ Parallelism &amp; Multi-Threading: </a:t>
            </a:r>
          </a:p>
          <a:p>
            <a:endParaRPr lang="en-GB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B. OS-Level Solutions</a:t>
            </a:r>
          </a:p>
          <a:p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✔ Efficient Memory Management</a:t>
            </a:r>
            <a:endParaRPr lang="en-GB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✔ Smart Scheduling</a:t>
            </a:r>
            <a:b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✔ Compression &amp; Data Deduplication</a:t>
            </a:r>
          </a:p>
        </p:txBody>
      </p:sp>
    </p:spTree>
    <p:extLst>
      <p:ext uri="{BB962C8B-B14F-4D97-AF65-F5344CB8AC3E}">
        <p14:creationId xmlns:p14="http://schemas.microsoft.com/office/powerpoint/2010/main" val="23979028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63090" y="2694892"/>
            <a:ext cx="730134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End of Unit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EB552-950D-70CF-C88E-249CD0618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B4DC80-8CEC-5C2F-FD15-8C2F8A02BFF9}"/>
              </a:ext>
            </a:extLst>
          </p:cNvPr>
          <p:cNvSpPr txBox="1"/>
          <p:nvPr/>
        </p:nvSpPr>
        <p:spPr>
          <a:xfrm>
            <a:off x="2563090" y="2694892"/>
            <a:ext cx="730134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4728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1056</Words>
  <Application>Microsoft Macintosh PowerPoint</Application>
  <PresentationFormat>Widescreen</PresentationFormat>
  <Paragraphs>219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Arial</vt:lpstr>
      <vt:lpstr>Calibri</vt:lpstr>
      <vt:lpstr>Calibri Light</vt:lpstr>
      <vt:lpstr>Inter</vt:lpstr>
      <vt:lpstr>Times New Roman</vt:lpstr>
      <vt:lpstr>Times New Roman Bold</vt:lpstr>
      <vt:lpstr>Times New Roman Regular</vt:lpstr>
      <vt:lpstr>Wingdings</vt:lpstr>
      <vt:lpstr>Office Theme</vt:lpstr>
      <vt:lpstr>Unit 7: New Trends in Operating System</vt:lpstr>
      <vt:lpstr>OUTLINES</vt:lpstr>
      <vt:lpstr>RTOS</vt:lpstr>
      <vt:lpstr>PowerPoint Presentation</vt:lpstr>
      <vt:lpstr>Introduction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8 Representation and Descriptors</dc:title>
  <dc:creator>Harendra Bikram Shah</dc:creator>
  <cp:lastModifiedBy>kushal pokharel</cp:lastModifiedBy>
  <cp:revision>214</cp:revision>
  <dcterms:created xsi:type="dcterms:W3CDTF">2024-09-17T11:51:34Z</dcterms:created>
  <dcterms:modified xsi:type="dcterms:W3CDTF">2025-01-29T16:39:53Z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1033-5.7.1.8093</vt:lpwstr>
  </property>
</Properties>
</file>