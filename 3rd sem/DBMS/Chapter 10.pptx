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4"/>
  </p:sldMasterIdLst>
  <p:notesMasterIdLst>
    <p:notesMasterId r:id="rId89"/>
  </p:notesMasterIdLst>
  <p:sldIdLst>
    <p:sldId id="257" r:id="rId5"/>
    <p:sldId id="383" r:id="rId6"/>
    <p:sldId id="488" r:id="rId7"/>
    <p:sldId id="489" r:id="rId8"/>
    <p:sldId id="490" r:id="rId9"/>
    <p:sldId id="491" r:id="rId10"/>
    <p:sldId id="492" r:id="rId11"/>
    <p:sldId id="493" r:id="rId12"/>
    <p:sldId id="494" r:id="rId13"/>
    <p:sldId id="496" r:id="rId14"/>
    <p:sldId id="495" r:id="rId15"/>
    <p:sldId id="497" r:id="rId16"/>
    <p:sldId id="507" r:id="rId17"/>
    <p:sldId id="498" r:id="rId18"/>
    <p:sldId id="499" r:id="rId19"/>
    <p:sldId id="500" r:id="rId20"/>
    <p:sldId id="501" r:id="rId21"/>
    <p:sldId id="502" r:id="rId22"/>
    <p:sldId id="508" r:id="rId23"/>
    <p:sldId id="509" r:id="rId24"/>
    <p:sldId id="503" r:id="rId25"/>
    <p:sldId id="504" r:id="rId26"/>
    <p:sldId id="505" r:id="rId27"/>
    <p:sldId id="506" r:id="rId28"/>
    <p:sldId id="510" r:id="rId29"/>
    <p:sldId id="517" r:id="rId30"/>
    <p:sldId id="511" r:id="rId31"/>
    <p:sldId id="513" r:id="rId32"/>
    <p:sldId id="514" r:id="rId33"/>
    <p:sldId id="515" r:id="rId34"/>
    <p:sldId id="516" r:id="rId35"/>
    <p:sldId id="518" r:id="rId36"/>
    <p:sldId id="519" r:id="rId37"/>
    <p:sldId id="520" r:id="rId38"/>
    <p:sldId id="487" r:id="rId39"/>
    <p:sldId id="521" r:id="rId40"/>
    <p:sldId id="522" r:id="rId41"/>
    <p:sldId id="523" r:id="rId42"/>
    <p:sldId id="529" r:id="rId43"/>
    <p:sldId id="524" r:id="rId44"/>
    <p:sldId id="525" r:id="rId45"/>
    <p:sldId id="526" r:id="rId46"/>
    <p:sldId id="527" r:id="rId47"/>
    <p:sldId id="530" r:id="rId48"/>
    <p:sldId id="528" r:id="rId49"/>
    <p:sldId id="532" r:id="rId50"/>
    <p:sldId id="533" r:id="rId51"/>
    <p:sldId id="539" r:id="rId52"/>
    <p:sldId id="534" r:id="rId53"/>
    <p:sldId id="535" r:id="rId54"/>
    <p:sldId id="536" r:id="rId55"/>
    <p:sldId id="537" r:id="rId56"/>
    <p:sldId id="538" r:id="rId57"/>
    <p:sldId id="540" r:id="rId58"/>
    <p:sldId id="541" r:id="rId59"/>
    <p:sldId id="542" r:id="rId60"/>
    <p:sldId id="543" r:id="rId61"/>
    <p:sldId id="544" r:id="rId62"/>
    <p:sldId id="545" r:id="rId63"/>
    <p:sldId id="546" r:id="rId64"/>
    <p:sldId id="531" r:id="rId65"/>
    <p:sldId id="547" r:id="rId66"/>
    <p:sldId id="548" r:id="rId67"/>
    <p:sldId id="549" r:id="rId68"/>
    <p:sldId id="550" r:id="rId69"/>
    <p:sldId id="552" r:id="rId70"/>
    <p:sldId id="559" r:id="rId71"/>
    <p:sldId id="553" r:id="rId72"/>
    <p:sldId id="554" r:id="rId73"/>
    <p:sldId id="555" r:id="rId74"/>
    <p:sldId id="556" r:id="rId75"/>
    <p:sldId id="557" r:id="rId76"/>
    <p:sldId id="558" r:id="rId77"/>
    <p:sldId id="563" r:id="rId78"/>
    <p:sldId id="560" r:id="rId79"/>
    <p:sldId id="561" r:id="rId80"/>
    <p:sldId id="564" r:id="rId81"/>
    <p:sldId id="565" r:id="rId82"/>
    <p:sldId id="566" r:id="rId83"/>
    <p:sldId id="568" r:id="rId84"/>
    <p:sldId id="569" r:id="rId85"/>
    <p:sldId id="570" r:id="rId86"/>
    <p:sldId id="571" r:id="rId87"/>
    <p:sldId id="275"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notesMaster" Target="notesMasters/notes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35</a:t>
            </a:fld>
            <a:endParaRPr lang="en-US"/>
          </a:p>
        </p:txBody>
      </p:sp>
    </p:spTree>
    <p:extLst>
      <p:ext uri="{BB962C8B-B14F-4D97-AF65-F5344CB8AC3E}">
        <p14:creationId xmlns:p14="http://schemas.microsoft.com/office/powerpoint/2010/main" val="24870785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48</a:t>
            </a:fld>
            <a:endParaRPr lang="en-US"/>
          </a:p>
        </p:txBody>
      </p:sp>
    </p:spTree>
    <p:extLst>
      <p:ext uri="{BB962C8B-B14F-4D97-AF65-F5344CB8AC3E}">
        <p14:creationId xmlns:p14="http://schemas.microsoft.com/office/powerpoint/2010/main" val="24870785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49</a:t>
            </a:fld>
            <a:endParaRPr lang="en-US"/>
          </a:p>
        </p:txBody>
      </p:sp>
    </p:spTree>
    <p:extLst>
      <p:ext uri="{BB962C8B-B14F-4D97-AF65-F5344CB8AC3E}">
        <p14:creationId xmlns:p14="http://schemas.microsoft.com/office/powerpoint/2010/main" val="31913523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50</a:t>
            </a:fld>
            <a:endParaRPr lang="en-US"/>
          </a:p>
        </p:txBody>
      </p:sp>
    </p:spTree>
    <p:extLst>
      <p:ext uri="{BB962C8B-B14F-4D97-AF65-F5344CB8AC3E}">
        <p14:creationId xmlns:p14="http://schemas.microsoft.com/office/powerpoint/2010/main" val="34084025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51</a:t>
            </a:fld>
            <a:endParaRPr lang="en-US"/>
          </a:p>
        </p:txBody>
      </p:sp>
    </p:spTree>
    <p:extLst>
      <p:ext uri="{BB962C8B-B14F-4D97-AF65-F5344CB8AC3E}">
        <p14:creationId xmlns:p14="http://schemas.microsoft.com/office/powerpoint/2010/main" val="40139428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52</a:t>
            </a:fld>
            <a:endParaRPr lang="en-US"/>
          </a:p>
        </p:txBody>
      </p:sp>
    </p:spTree>
    <p:extLst>
      <p:ext uri="{BB962C8B-B14F-4D97-AF65-F5344CB8AC3E}">
        <p14:creationId xmlns:p14="http://schemas.microsoft.com/office/powerpoint/2010/main" val="8157450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53</a:t>
            </a:fld>
            <a:endParaRPr lang="en-US"/>
          </a:p>
        </p:txBody>
      </p:sp>
    </p:spTree>
    <p:extLst>
      <p:ext uri="{BB962C8B-B14F-4D97-AF65-F5344CB8AC3E}">
        <p14:creationId xmlns:p14="http://schemas.microsoft.com/office/powerpoint/2010/main" val="1465233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54</a:t>
            </a:fld>
            <a:endParaRPr lang="en-US"/>
          </a:p>
        </p:txBody>
      </p:sp>
    </p:spTree>
    <p:extLst>
      <p:ext uri="{BB962C8B-B14F-4D97-AF65-F5344CB8AC3E}">
        <p14:creationId xmlns:p14="http://schemas.microsoft.com/office/powerpoint/2010/main" val="13651850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55</a:t>
            </a:fld>
            <a:endParaRPr lang="en-US"/>
          </a:p>
        </p:txBody>
      </p:sp>
    </p:spTree>
    <p:extLst>
      <p:ext uri="{BB962C8B-B14F-4D97-AF65-F5344CB8AC3E}">
        <p14:creationId xmlns:p14="http://schemas.microsoft.com/office/powerpoint/2010/main" val="20377140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56</a:t>
            </a:fld>
            <a:endParaRPr lang="en-US"/>
          </a:p>
        </p:txBody>
      </p:sp>
    </p:spTree>
    <p:extLst>
      <p:ext uri="{BB962C8B-B14F-4D97-AF65-F5344CB8AC3E}">
        <p14:creationId xmlns:p14="http://schemas.microsoft.com/office/powerpoint/2010/main" val="13911920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57</a:t>
            </a:fld>
            <a:endParaRPr lang="en-US"/>
          </a:p>
        </p:txBody>
      </p:sp>
    </p:spTree>
    <p:extLst>
      <p:ext uri="{BB962C8B-B14F-4D97-AF65-F5344CB8AC3E}">
        <p14:creationId xmlns:p14="http://schemas.microsoft.com/office/powerpoint/2010/main" val="13911920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58</a:t>
            </a:fld>
            <a:endParaRPr lang="en-US"/>
          </a:p>
        </p:txBody>
      </p:sp>
    </p:spTree>
    <p:extLst>
      <p:ext uri="{BB962C8B-B14F-4D97-AF65-F5344CB8AC3E}">
        <p14:creationId xmlns:p14="http://schemas.microsoft.com/office/powerpoint/2010/main" val="13911920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59</a:t>
            </a:fld>
            <a:endParaRPr lang="en-US"/>
          </a:p>
        </p:txBody>
      </p:sp>
    </p:spTree>
    <p:extLst>
      <p:ext uri="{BB962C8B-B14F-4D97-AF65-F5344CB8AC3E}">
        <p14:creationId xmlns:p14="http://schemas.microsoft.com/office/powerpoint/2010/main" val="13911920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60</a:t>
            </a:fld>
            <a:endParaRPr lang="en-US"/>
          </a:p>
        </p:txBody>
      </p:sp>
    </p:spTree>
    <p:extLst>
      <p:ext uri="{BB962C8B-B14F-4D97-AF65-F5344CB8AC3E}">
        <p14:creationId xmlns:p14="http://schemas.microsoft.com/office/powerpoint/2010/main" val="13911920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61</a:t>
            </a:fld>
            <a:endParaRPr lang="en-US"/>
          </a:p>
        </p:txBody>
      </p:sp>
    </p:spTree>
    <p:extLst>
      <p:ext uri="{BB962C8B-B14F-4D97-AF65-F5344CB8AC3E}">
        <p14:creationId xmlns:p14="http://schemas.microsoft.com/office/powerpoint/2010/main" val="24870785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84</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2/1/2024</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latin typeface="Times New Roman" panose="02020603050405020304" pitchFamily="18" charset="0"/>
                <a:cs typeface="Times New Roman" panose="02020603050405020304" pitchFamily="18" charset="0"/>
              </a:rPr>
              <a:t>Chapter </a:t>
            </a:r>
            <a:r>
              <a:rPr lang="en-US" sz="2800" dirty="0" smtClean="0">
                <a:solidFill>
                  <a:schemeClr val="bg1"/>
                </a:solidFill>
                <a:latin typeface="Times New Roman" panose="02020603050405020304" pitchFamily="18" charset="0"/>
                <a:cs typeface="Times New Roman" panose="02020603050405020304" pitchFamily="18" charset="0"/>
              </a:rPr>
              <a:t>10</a:t>
            </a:r>
            <a:r>
              <a:rPr lang="en-US" sz="2800" dirty="0">
                <a:solidFill>
                  <a:schemeClr val="bg1"/>
                </a:solidFill>
                <a:latin typeface="Times New Roman" panose="02020603050405020304" pitchFamily="18" charset="0"/>
                <a:cs typeface="Times New Roman" panose="02020603050405020304" pitchFamily="18" charset="0"/>
              </a:rPr>
              <a:t> Emerging Trend in Databases </a:t>
            </a:r>
          </a:p>
        </p:txBody>
      </p:sp>
      <p:sp>
        <p:nvSpPr>
          <p:cNvPr id="3" name="Subtitle 2"/>
          <p:cNvSpPr>
            <a:spLocks noGrp="1"/>
          </p:cNvSpPr>
          <p:nvPr>
            <p:ph type="subTitle" idx="1"/>
          </p:nvPr>
        </p:nvSpPr>
        <p:spPr>
          <a:xfrm>
            <a:off x="1281567" y="1139688"/>
            <a:ext cx="8094254" cy="4929808"/>
          </a:xfrm>
        </p:spPr>
        <p:txBody>
          <a:bodyPr>
            <a:normAutofit/>
          </a:bodyPr>
          <a:lstStyle/>
          <a:p>
            <a:pPr algn="l">
              <a:buClr>
                <a:schemeClr val="tx1"/>
              </a:buClr>
              <a:buSzPct val="71000"/>
            </a:pPr>
            <a:r>
              <a:rPr lang="en-US" sz="2800" dirty="0" smtClean="0">
                <a:solidFill>
                  <a:schemeClr val="tx1"/>
                </a:solidFill>
                <a:latin typeface="Times New Roman" panose="02020603050405020304" pitchFamily="18" charset="0"/>
                <a:cs typeface="Times New Roman" panose="02020603050405020304" pitchFamily="18" charset="0"/>
              </a:rPr>
              <a:t>10</a:t>
            </a:r>
            <a:r>
              <a:rPr lang="en-US" sz="2800" dirty="0">
                <a:solidFill>
                  <a:schemeClr val="tx1"/>
                </a:solidFill>
                <a:latin typeface="Times New Roman" panose="02020603050405020304" pitchFamily="18" charset="0"/>
                <a:cs typeface="Times New Roman" panose="02020603050405020304" pitchFamily="18" charset="0"/>
              </a:rPr>
              <a:t>.1 NoSQL </a:t>
            </a:r>
            <a:r>
              <a:rPr lang="en-US" sz="2800" dirty="0" smtClean="0">
                <a:solidFill>
                  <a:schemeClr val="tx1"/>
                </a:solidFill>
                <a:latin typeface="Times New Roman" panose="02020603050405020304" pitchFamily="18" charset="0"/>
                <a:cs typeface="Times New Roman" panose="02020603050405020304" pitchFamily="18" charset="0"/>
              </a:rPr>
              <a:t>Databases</a:t>
            </a:r>
          </a:p>
          <a:p>
            <a:pPr algn="l">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10.2 Object Oriented Database and </a:t>
            </a:r>
            <a:r>
              <a:rPr lang="en-US" sz="2800" dirty="0" smtClean="0">
                <a:solidFill>
                  <a:schemeClr val="tx1"/>
                </a:solidFill>
                <a:latin typeface="Times New Roman" panose="02020603050405020304" pitchFamily="18" charset="0"/>
                <a:cs typeface="Times New Roman" panose="02020603050405020304" pitchFamily="18" charset="0"/>
              </a:rPr>
              <a:t>ORM</a:t>
            </a:r>
          </a:p>
          <a:p>
            <a:pPr algn="l">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10.3 Distributed Databases</a:t>
            </a:r>
          </a:p>
          <a:p>
            <a:pPr algn="l">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10.4 Distributed Ledged Technology: Blockchain, </a:t>
            </a:r>
          </a:p>
          <a:p>
            <a:pPr algn="l">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Cryptocurrency, Blockchain Properties   </a:t>
            </a:r>
          </a:p>
        </p:txBody>
      </p:sp>
    </p:spTree>
    <p:extLst>
      <p:ext uri="{BB962C8B-B14F-4D97-AF65-F5344CB8AC3E}">
        <p14:creationId xmlns:p14="http://schemas.microsoft.com/office/powerpoint/2010/main" val="28190787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NoSQL is a type of database management system (DBMS) that is designed to handle and store large volumes of </a:t>
            </a:r>
            <a:r>
              <a:rPr lang="en-US" sz="2800" b="1" dirty="0">
                <a:solidFill>
                  <a:srgbClr val="222222"/>
                </a:solidFill>
                <a:latin typeface="Times New Roman" panose="02020603050405020304" pitchFamily="18" charset="0"/>
                <a:cs typeface="Times New Roman" panose="02020603050405020304" pitchFamily="18" charset="0"/>
              </a:rPr>
              <a:t>unstructured and semi-structured data. </a:t>
            </a:r>
            <a:endParaRPr lang="en-US" sz="2800" b="1"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Unlike </a:t>
            </a:r>
            <a:r>
              <a:rPr lang="en-US" sz="2800" dirty="0">
                <a:solidFill>
                  <a:srgbClr val="222222"/>
                </a:solidFill>
                <a:latin typeface="Times New Roman" panose="02020603050405020304" pitchFamily="18" charset="0"/>
                <a:cs typeface="Times New Roman" panose="02020603050405020304" pitchFamily="18" charset="0"/>
              </a:rPr>
              <a:t>traditional relational databases that use tables with pre-defined schemas to store data,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NoSQL </a:t>
            </a:r>
            <a:r>
              <a:rPr lang="en-US" sz="2800" dirty="0">
                <a:solidFill>
                  <a:srgbClr val="222222"/>
                </a:solidFill>
                <a:latin typeface="Times New Roman" panose="02020603050405020304" pitchFamily="18" charset="0"/>
                <a:cs typeface="Times New Roman" panose="02020603050405020304" pitchFamily="18" charset="0"/>
              </a:rPr>
              <a:t>databases use flexible data models that can adapt to changes in data structures and are capable of scaling horizontally to handle growing amounts of data.</a:t>
            </a: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703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fontScale="85000" lnSpcReduction="1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The term NoSQL originally referred to “non-SQL” or “non-relational” databases, but the term has since evolved to mean “not only SQL,” as NoSQL databases have expanded to include a wide range of different database architectures and data models</a:t>
            </a:r>
            <a:r>
              <a:rPr lang="en-US" sz="2800" dirty="0" smtClean="0">
                <a:solidFill>
                  <a:srgbClr val="222222"/>
                </a:solidFill>
                <a:latin typeface="Times New Roman" panose="02020603050405020304" pitchFamily="18" charset="0"/>
                <a:cs typeface="Times New Roman" panose="02020603050405020304"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NoSQL relies upon a softer model known as the </a:t>
            </a:r>
            <a:r>
              <a:rPr lang="en-US" sz="2800" b="1" dirty="0">
                <a:solidFill>
                  <a:schemeClr val="tx1"/>
                </a:solidFill>
                <a:latin typeface="Times New Roman" panose="02020603050405020304" pitchFamily="18" charset="0"/>
                <a:cs typeface="Times New Roman" panose="02020603050405020304" pitchFamily="18" charset="0"/>
              </a:rPr>
              <a:t>BASE model</a:t>
            </a:r>
            <a:r>
              <a:rPr lang="en-US" sz="2800" dirty="0">
                <a:solidFill>
                  <a:schemeClr val="tx1"/>
                </a:solidFill>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BASE (Basically Available, Soft state, Eventual consistency</a:t>
            </a:r>
            <a:r>
              <a:rPr lang="en-US" sz="2800" b="1" dirty="0" smtClean="0">
                <a:solidFill>
                  <a:schemeClr val="tx1"/>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anose="02020603050405020304" pitchFamily="18" charset="0"/>
                <a:cs typeface="Times New Roman" panose="02020603050405020304" pitchFamily="18" charset="0"/>
              </a:rPr>
              <a:t>Basically Available: </a:t>
            </a:r>
            <a:r>
              <a:rPr lang="en-US" sz="2600" dirty="0">
                <a:solidFill>
                  <a:schemeClr val="tx1"/>
                </a:solidFill>
                <a:latin typeface="Times New Roman" panose="02020603050405020304" pitchFamily="18" charset="0"/>
                <a:cs typeface="Times New Roman" panose="02020603050405020304" pitchFamily="18" charset="0"/>
              </a:rPr>
              <a:t>Guarantees the availability of the data . There will be a response to any request (can be failure too</a:t>
            </a:r>
            <a:r>
              <a:rPr lang="en-US" sz="2600" dirty="0" smtClean="0">
                <a:solidFill>
                  <a:schemeClr val="tx1"/>
                </a:solidFill>
                <a:latin typeface="Times New Roman" panose="02020603050405020304" pitchFamily="18" charset="0"/>
                <a:cs typeface="Times New Roman" panose="02020603050405020304" pitchFamily="18" charset="0"/>
              </a:rPr>
              <a:t>).</a:t>
            </a:r>
            <a:endParaRPr lang="en-US" sz="2600" dirty="0">
              <a:solidFill>
                <a:schemeClr val="tx1"/>
              </a:solidFill>
              <a:latin typeface="Times New Roman" panose="02020603050405020304" pitchFamily="18" charset="0"/>
              <a:cs typeface="Times New Roman" panose="02020603050405020304" pitchFamily="18" charset="0"/>
            </a:endParaRP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anose="02020603050405020304" pitchFamily="18" charset="0"/>
                <a:cs typeface="Times New Roman" panose="02020603050405020304" pitchFamily="18" charset="0"/>
              </a:rPr>
              <a:t>Soft state: </a:t>
            </a:r>
            <a:r>
              <a:rPr lang="en-US" sz="2600" dirty="0">
                <a:solidFill>
                  <a:schemeClr val="tx1"/>
                </a:solidFill>
                <a:latin typeface="Times New Roman" panose="02020603050405020304" pitchFamily="18" charset="0"/>
                <a:cs typeface="Times New Roman" panose="02020603050405020304" pitchFamily="18" charset="0"/>
              </a:rPr>
              <a:t>The state of the system could change over time</a:t>
            </a:r>
            <a:r>
              <a:rPr lang="en-US" sz="2600" dirty="0" smtClean="0">
                <a:solidFill>
                  <a:schemeClr val="tx1"/>
                </a:solidFill>
                <a:latin typeface="Times New Roman" panose="02020603050405020304" pitchFamily="18" charset="0"/>
                <a:cs typeface="Times New Roman" panose="02020603050405020304" pitchFamily="18" charset="0"/>
              </a:rPr>
              <a:t>.</a:t>
            </a:r>
            <a:endParaRPr lang="en-US" sz="2600" dirty="0">
              <a:solidFill>
                <a:schemeClr val="tx1"/>
              </a:solidFill>
              <a:latin typeface="Times New Roman" panose="02020603050405020304" pitchFamily="18" charset="0"/>
              <a:cs typeface="Times New Roman" panose="02020603050405020304" pitchFamily="18" charset="0"/>
            </a:endParaRP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anose="02020603050405020304" pitchFamily="18" charset="0"/>
                <a:cs typeface="Times New Roman" panose="02020603050405020304" pitchFamily="18" charset="0"/>
              </a:rPr>
              <a:t>Eventual consistency: </a:t>
            </a:r>
            <a:r>
              <a:rPr lang="en-US" sz="2600" dirty="0">
                <a:solidFill>
                  <a:schemeClr val="tx1"/>
                </a:solidFill>
                <a:latin typeface="Times New Roman" panose="02020603050405020304" pitchFamily="18" charset="0"/>
                <a:cs typeface="Times New Roman" panose="02020603050405020304" pitchFamily="18" charset="0"/>
              </a:rPr>
              <a:t>The system will eventually become consistent once it stops receiving input.</a:t>
            </a:r>
          </a:p>
        </p:txBody>
      </p:sp>
    </p:spTree>
    <p:extLst>
      <p:ext uri="{BB962C8B-B14F-4D97-AF65-F5344CB8AC3E}">
        <p14:creationId xmlns:p14="http://schemas.microsoft.com/office/powerpoint/2010/main" val="9513035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Features/Characteristics</a:t>
            </a:r>
            <a:endParaRPr lang="en-US" sz="2800" b="1" dirty="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Distributed computing system.</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Higher Scalability.</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Reduced Costs.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Flexible schema design.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Process unstructured and semi-structured data.</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No complex relationship.</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Open-sourced.</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328558" y="6120684"/>
            <a:ext cx="6152646" cy="492443"/>
          </a:xfrm>
          <a:prstGeom prst="rect">
            <a:avLst/>
          </a:prstGeom>
        </p:spPr>
        <p:txBody>
          <a:bodyPr wrap="none">
            <a:spAutoFit/>
          </a:bodyPr>
          <a:lstStyle/>
          <a:p>
            <a:pPr lvl="1" algn="r">
              <a:buClr>
                <a:schemeClr val="tx1"/>
              </a:buClr>
              <a:buSzPct val="71000"/>
            </a:pPr>
            <a:r>
              <a:rPr lang="en-US" sz="2600" dirty="0" smtClean="0">
                <a:solidFill>
                  <a:srgbClr val="FF0000"/>
                </a:solidFill>
                <a:latin typeface="Times New Roman" panose="02020603050405020304" pitchFamily="18" charset="0"/>
                <a:cs typeface="Times New Roman" pitchFamily="18" charset="0"/>
              </a:rPr>
              <a:t>Explain in brief about each (Assignment)</a:t>
            </a:r>
            <a:endParaRPr lang="en-US" sz="26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5955429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8"/>
            <a:ext cx="8094254" cy="560324"/>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marL="457200" indent="-457200" algn="just">
              <a:buClr>
                <a:schemeClr val="tx1"/>
              </a:buClr>
              <a:buSzPct val="71000"/>
              <a:buFont typeface="Wingdings" panose="05000000000000000000" pitchFamily="2" charset="2"/>
              <a:buChar char="v"/>
            </a:pPr>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1026" name="Picture 2" descr="https://res.cloudinary.com/practicaldev/image/fetch/s--c5dHJonR--/c_limit%2Cf_auto%2Cfl_progressive%2Cq_auto%2Cw_880/https:/thepracticaldev.s3.amazonaws.com/i/h3qcpsvalz0mqqwnd7hk.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039" y="1894468"/>
            <a:ext cx="6684136" cy="4248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4617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1. Key-Value Store Database: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Termed to be the simplest form of NoSQL database of all other types, the key-value database is a database that stores data in a schema-less manner. This type of database stores data in the key-value format.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Herein, a data point is categorized as a key to which a value (another data point) is allotted. For instance, a key data point can be termed as 'age' while the value data point can be termed as '45'.</a:t>
            </a:r>
          </a:p>
        </p:txBody>
      </p:sp>
    </p:spTree>
    <p:extLst>
      <p:ext uri="{BB962C8B-B14F-4D97-AF65-F5344CB8AC3E}">
        <p14:creationId xmlns:p14="http://schemas.microsoft.com/office/powerpoint/2010/main" val="19885291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8"/>
            <a:ext cx="8094254" cy="1139874"/>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1. Key-Value Store Database: </a:t>
            </a:r>
          </a:p>
        </p:txBody>
      </p:sp>
      <p:pic>
        <p:nvPicPr>
          <p:cNvPr id="11266"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732" y="2229766"/>
            <a:ext cx="8039100" cy="3362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2726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1. Key-Value Store Database: </a:t>
            </a: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Features</a:t>
            </a: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Scalability: </a:t>
            </a:r>
            <a:r>
              <a:rPr lang="en-US" sz="3000" dirty="0">
                <a:solidFill>
                  <a:schemeClr val="tx1"/>
                </a:solidFill>
                <a:latin typeface="Times New Roman" panose="02020603050405020304" pitchFamily="18" charset="0"/>
                <a:cs typeface="Times New Roman" panose="02020603050405020304" pitchFamily="18" charset="0"/>
              </a:rPr>
              <a:t>Large amounts of data and users.</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Speed: </a:t>
            </a:r>
            <a:r>
              <a:rPr lang="en-US" sz="3000" dirty="0">
                <a:solidFill>
                  <a:schemeClr val="tx1"/>
                </a:solidFill>
                <a:latin typeface="Times New Roman" panose="02020603050405020304" pitchFamily="18" charset="0"/>
                <a:cs typeface="Times New Roman" panose="02020603050405020304" pitchFamily="18" charset="0"/>
              </a:rPr>
              <a:t>Large number of queries.</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Data model: </a:t>
            </a:r>
            <a:r>
              <a:rPr lang="en-US" sz="3000" dirty="0">
                <a:solidFill>
                  <a:schemeClr val="tx1"/>
                </a:solidFill>
                <a:latin typeface="Times New Roman" panose="02020603050405020304" pitchFamily="18" charset="0"/>
                <a:cs typeface="Times New Roman" panose="02020603050405020304" pitchFamily="18" charset="0"/>
              </a:rPr>
              <a:t>Key-value pairs.</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Consistency.</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Transactions.</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Querying ability</a:t>
            </a:r>
            <a:r>
              <a:rPr lang="en-US" sz="3000" b="1" dirty="0" smtClean="0">
                <a:solidFill>
                  <a:schemeClr val="tx1"/>
                </a:solidFill>
                <a:latin typeface="Times New Roman" panose="02020603050405020304" pitchFamily="18" charset="0"/>
                <a:cs typeface="Times New Roman" panose="02020603050405020304" pitchFamily="18" charset="0"/>
              </a:rPr>
              <a:t>.</a:t>
            </a:r>
            <a:endParaRPr lang="en-US" sz="3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17017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fontScale="85000" lnSpcReduction="2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1. Key-Value Store Database: </a:t>
            </a:r>
          </a:p>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Limitations</a:t>
            </a:r>
          </a:p>
          <a:p>
            <a:pPr marL="457200" indent="-457200" algn="just">
              <a:buClr>
                <a:schemeClr val="tx1"/>
              </a:buClr>
              <a:buSzPct val="71000"/>
              <a:buFont typeface="Wingdings" panose="05000000000000000000" pitchFamily="2" charset="2"/>
              <a:buChar char="v"/>
            </a:pPr>
            <a:r>
              <a:rPr lang="en-US" sz="3000" dirty="0" smtClean="0">
                <a:solidFill>
                  <a:schemeClr val="tx1"/>
                </a:solidFill>
                <a:latin typeface="Times New Roman" panose="02020603050405020304" pitchFamily="18" charset="0"/>
                <a:cs typeface="Times New Roman" panose="02020603050405020304" pitchFamily="18" charset="0"/>
              </a:rPr>
              <a:t>No </a:t>
            </a:r>
            <a:r>
              <a:rPr lang="en-US" sz="3000" dirty="0">
                <a:solidFill>
                  <a:schemeClr val="tx1"/>
                </a:solidFill>
                <a:latin typeface="Times New Roman" panose="02020603050405020304" pitchFamily="18" charset="0"/>
                <a:cs typeface="Times New Roman" panose="02020603050405020304" pitchFamily="18" charset="0"/>
              </a:rPr>
              <a:t>relationships among Multiple-Data.</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Multi-operation Transactions: </a:t>
            </a:r>
            <a:r>
              <a:rPr lang="en-US" sz="3000" dirty="0">
                <a:solidFill>
                  <a:schemeClr val="tx1"/>
                </a:solidFill>
                <a:latin typeface="Times New Roman" panose="02020603050405020304" pitchFamily="18" charset="0"/>
                <a:cs typeface="Times New Roman" panose="02020603050405020304" pitchFamily="18" charset="0"/>
              </a:rPr>
              <a:t>If you are storing many keys and there is a failure to save one of the keys, you can’t roll back the rest of the operations.</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Query Data by 'value': </a:t>
            </a:r>
            <a:r>
              <a:rPr lang="en-US" sz="3000" dirty="0">
                <a:solidFill>
                  <a:schemeClr val="tx1"/>
                </a:solidFill>
                <a:latin typeface="Times New Roman" panose="02020603050405020304" pitchFamily="18" charset="0"/>
                <a:cs typeface="Times New Roman" panose="02020603050405020304" pitchFamily="18" charset="0"/>
              </a:rPr>
              <a:t>Searching the 'keys' based on some info found in the 'value' part of the key-value pairs.</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Operation by groups: </a:t>
            </a:r>
            <a:r>
              <a:rPr lang="en-US" sz="3000" dirty="0">
                <a:solidFill>
                  <a:schemeClr val="tx1"/>
                </a:solidFill>
                <a:latin typeface="Times New Roman" panose="02020603050405020304" pitchFamily="18" charset="0"/>
                <a:cs typeface="Times New Roman" panose="02020603050405020304" pitchFamily="18" charset="0"/>
              </a:rPr>
              <a:t>As operations are confined to one key at a time, there exists no way to run several keys simultaneously.</a:t>
            </a:r>
          </a:p>
        </p:txBody>
      </p:sp>
    </p:spTree>
    <p:extLst>
      <p:ext uri="{BB962C8B-B14F-4D97-AF65-F5344CB8AC3E}">
        <p14:creationId xmlns:p14="http://schemas.microsoft.com/office/powerpoint/2010/main" val="1861486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fontScale="92500" lnSpcReduction="1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1. Key-Value Store Database: </a:t>
            </a:r>
          </a:p>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Real life examples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Key-Value would be best-fit to store user profile</a:t>
            </a:r>
            <a:r>
              <a:rPr lang="en-US" sz="2800" dirty="0" smtClean="0">
                <a:solidFill>
                  <a:schemeClr val="tx1"/>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marL="914389" lvl="1" indent="-457200" algn="just">
              <a:buClr>
                <a:schemeClr val="tx1"/>
              </a:buClr>
              <a:buSzPct val="71000"/>
              <a:buFont typeface="Wingdings" panose="05000000000000000000" pitchFamily="2" charset="2"/>
              <a:buChar char="v"/>
            </a:pPr>
            <a:r>
              <a:rPr lang="en-US" sz="2600" dirty="0" err="1">
                <a:solidFill>
                  <a:schemeClr val="tx1"/>
                </a:solidFill>
                <a:latin typeface="Times New Roman" panose="02020603050405020304" pitchFamily="18" charset="0"/>
                <a:cs typeface="Times New Roman" panose="02020603050405020304" pitchFamily="18" charset="0"/>
              </a:rPr>
              <a:t>userId</a:t>
            </a:r>
            <a:r>
              <a:rPr lang="en-US" sz="2600" dirty="0">
                <a:solidFill>
                  <a:schemeClr val="tx1"/>
                </a:solidFill>
                <a:latin typeface="Times New Roman" panose="02020603050405020304" pitchFamily="18" charset="0"/>
                <a:cs typeface="Times New Roman" panose="02020603050405020304" pitchFamily="18" charset="0"/>
              </a:rPr>
              <a:t>, username.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additional attributes/preferences: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anose="02020603050405020304" pitchFamily="18" charset="0"/>
                <a:cs typeface="Times New Roman" panose="02020603050405020304" pitchFamily="18" charset="0"/>
              </a:rPr>
              <a:t>Language</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anose="02020603050405020304" pitchFamily="18" charset="0"/>
                <a:cs typeface="Times New Roman" panose="02020603050405020304" pitchFamily="18" charset="0"/>
              </a:rPr>
              <a:t>Country</a:t>
            </a:r>
          </a:p>
          <a:p>
            <a:pPr marL="914389" lvl="1" indent="-457200" algn="just">
              <a:buClr>
                <a:schemeClr val="tx1"/>
              </a:buClr>
              <a:buSzPct val="71000"/>
              <a:buFont typeface="Wingdings" panose="05000000000000000000" pitchFamily="2" charset="2"/>
              <a:buChar char="v"/>
            </a:pPr>
            <a:r>
              <a:rPr lang="en-US" sz="2600" dirty="0" err="1">
                <a:solidFill>
                  <a:schemeClr val="tx1"/>
                </a:solidFill>
                <a:latin typeface="Times New Roman" panose="02020603050405020304" pitchFamily="18" charset="0"/>
                <a:cs typeface="Times New Roman" panose="02020603050405020304" pitchFamily="18" charset="0"/>
              </a:rPr>
              <a:t>Timezone</a:t>
            </a:r>
            <a:endParaRPr lang="en-US" sz="2600" dirty="0">
              <a:solidFill>
                <a:schemeClr val="tx1"/>
              </a:solidFill>
              <a:latin typeface="Times New Roman" panose="02020603050405020304" pitchFamily="18" charset="0"/>
              <a:cs typeface="Times New Roman" panose="02020603050405020304" pitchFamily="18" charset="0"/>
            </a:endParaRP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anose="02020603050405020304" pitchFamily="18" charset="0"/>
                <a:cs typeface="Times New Roman" panose="02020603050405020304" pitchFamily="18" charset="0"/>
              </a:rPr>
              <a:t>User favorites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anose="02020603050405020304" pitchFamily="18" charset="0"/>
                <a:cs typeface="Times New Roman" panose="02020603050405020304" pitchFamily="18" charset="0"/>
              </a:rPr>
              <a:t>and so on</a:t>
            </a: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55205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1. Key-Value Store Database: </a:t>
            </a:r>
          </a:p>
          <a:p>
            <a:pPr marL="457200" indent="-457200" algn="just">
              <a:buClr>
                <a:schemeClr val="tx1"/>
              </a:buClr>
              <a:buSzPct val="71000"/>
              <a:buFont typeface="Wingdings" panose="05000000000000000000" pitchFamily="2" charset="2"/>
              <a:buChar char="v"/>
            </a:pPr>
            <a:r>
              <a:rPr lang="en-US" sz="3000" dirty="0" err="1" smtClean="0">
                <a:solidFill>
                  <a:schemeClr val="tx1"/>
                </a:solidFill>
                <a:latin typeface="Times New Roman" panose="02020603050405020304" pitchFamily="18" charset="0"/>
                <a:cs typeface="Times New Roman" panose="02020603050405020304" pitchFamily="18" charset="0"/>
              </a:rPr>
              <a:t>DynamoDB</a:t>
            </a:r>
            <a:endParaRPr lang="en-US" sz="30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dirty="0" err="1">
                <a:solidFill>
                  <a:schemeClr val="tx1"/>
                </a:solidFill>
                <a:latin typeface="Times New Roman" panose="02020603050405020304" pitchFamily="18" charset="0"/>
                <a:cs typeface="Times New Roman" panose="02020603050405020304" pitchFamily="18" charset="0"/>
              </a:rPr>
              <a:t>Riak</a:t>
            </a:r>
            <a:endParaRPr lang="en-US" sz="30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dirty="0">
                <a:solidFill>
                  <a:schemeClr val="tx1"/>
                </a:solidFill>
                <a:latin typeface="Times New Roman" panose="02020603050405020304" pitchFamily="18" charset="0"/>
                <a:cs typeface="Times New Roman" panose="02020603050405020304" pitchFamily="18" charset="0"/>
              </a:rPr>
              <a:t>Berkeley DB</a:t>
            </a:r>
          </a:p>
          <a:p>
            <a:pPr marL="457200" indent="-457200" algn="just">
              <a:buClr>
                <a:schemeClr val="tx1"/>
              </a:buClr>
              <a:buSzPct val="71000"/>
              <a:buFont typeface="Wingdings" panose="05000000000000000000" pitchFamily="2" charset="2"/>
              <a:buChar char="v"/>
            </a:pPr>
            <a:r>
              <a:rPr lang="en-US" sz="3000" dirty="0" err="1">
                <a:solidFill>
                  <a:schemeClr val="tx1"/>
                </a:solidFill>
                <a:latin typeface="Times New Roman" panose="02020603050405020304" pitchFamily="18" charset="0"/>
                <a:cs typeface="Times New Roman" panose="02020603050405020304" pitchFamily="18" charset="0"/>
              </a:rPr>
              <a:t>Redis</a:t>
            </a:r>
            <a:endParaRPr lang="en-US" sz="3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17253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fontScale="92500" lnSpcReduction="1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2</a:t>
            </a:r>
            <a:r>
              <a:rPr lang="en-US" sz="2800" b="1" dirty="0">
                <a:solidFill>
                  <a:srgbClr val="FF0000"/>
                </a:solidFill>
                <a:latin typeface="Times New Roman" panose="02020603050405020304" pitchFamily="18" charset="0"/>
                <a:cs typeface="Times New Roman" panose="02020603050405020304" pitchFamily="18" charset="0"/>
              </a:rPr>
              <a:t>. Column Store Database</a:t>
            </a:r>
            <a:r>
              <a:rPr lang="en-US" sz="2800" b="1" dirty="0" smtClean="0">
                <a:solidFill>
                  <a:srgbClr val="FF0000"/>
                </a:solidFill>
                <a:latin typeface="Times New Roman" panose="02020603050405020304" pitchFamily="18" charset="0"/>
                <a:cs typeface="Times New Roman" panose="02020603050405020304" pitchFamily="18" charset="0"/>
              </a:rPr>
              <a:t>: </a:t>
            </a:r>
            <a:endParaRPr lang="en-US" sz="2800" b="1" dirty="0">
              <a:solidFill>
                <a:srgbClr val="FF0000"/>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Another type of NoSQL database is the column-oriented database. This type of database stores data in the form of columns that segregates information into homogenous categories.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This allows the user to access only the desired data without having to retrieve unnecessary information.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When it comes to data analytics in social media networking sites, the column-oriented database works very efficiently by showcasing data that is prevalent in the search results. </a:t>
            </a:r>
          </a:p>
        </p:txBody>
      </p:sp>
    </p:spTree>
    <p:extLst>
      <p:ext uri="{BB962C8B-B14F-4D97-AF65-F5344CB8AC3E}">
        <p14:creationId xmlns:p14="http://schemas.microsoft.com/office/powerpoint/2010/main" val="32531003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107547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2</a:t>
            </a:r>
            <a:r>
              <a:rPr lang="en-US" sz="2800" b="1" dirty="0">
                <a:solidFill>
                  <a:srgbClr val="FF0000"/>
                </a:solidFill>
                <a:latin typeface="Times New Roman" panose="02020603050405020304" pitchFamily="18" charset="0"/>
                <a:cs typeface="Times New Roman" panose="02020603050405020304" pitchFamily="18" charset="0"/>
              </a:rPr>
              <a:t>. Column Store Database</a:t>
            </a:r>
            <a:r>
              <a:rPr lang="en-US" sz="2800" b="1" dirty="0" smtClean="0">
                <a:solidFill>
                  <a:srgbClr val="FF0000"/>
                </a:solidFill>
                <a:latin typeface="Times New Roman" panose="02020603050405020304" pitchFamily="18" charset="0"/>
                <a:cs typeface="Times New Roman" panose="02020603050405020304" pitchFamily="18" charset="0"/>
              </a:rPr>
              <a:t>: </a:t>
            </a:r>
            <a:endParaRPr lang="en-US" sz="2800" b="1" dirty="0">
              <a:solidFill>
                <a:srgbClr val="FF0000"/>
              </a:solidFill>
              <a:latin typeface="Times New Roman" panose="02020603050405020304" pitchFamily="18" charset="0"/>
              <a:cs typeface="Times New Roman" panose="02020603050405020304" pitchFamily="18" charset="0"/>
            </a:endParaRPr>
          </a:p>
        </p:txBody>
      </p:sp>
      <p:pic>
        <p:nvPicPr>
          <p:cNvPr id="13314" name="Picture 2" descr="https://res.cloudinary.com/practicaldev/image/fetch/s--pTpGdcIL--/c_limit%2Cf_auto%2Cfl_progressive%2Cq_auto%2Cw_880/https:/thepracticaldev.s3.amazonaws.com/i/96bmmqj5jrvwnusc0kx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3164" y="2195539"/>
            <a:ext cx="6592954" cy="4429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69633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fontScale="77500" lnSpcReduction="2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2. Column Store Database: </a:t>
            </a: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Features</a:t>
            </a: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Compression: </a:t>
            </a:r>
            <a:r>
              <a:rPr lang="en-US" sz="3000" dirty="0">
                <a:solidFill>
                  <a:schemeClr val="tx1"/>
                </a:solidFill>
                <a:latin typeface="Times New Roman" panose="02020603050405020304" pitchFamily="18" charset="0"/>
                <a:cs typeface="Times New Roman" panose="02020603050405020304" pitchFamily="18" charset="0"/>
              </a:rPr>
              <a:t>Column stores are very efficient at data compression and/or partitioning.</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Aggregation queries: </a:t>
            </a:r>
            <a:r>
              <a:rPr lang="en-US" sz="3000" dirty="0">
                <a:solidFill>
                  <a:schemeClr val="tx1"/>
                </a:solidFill>
                <a:latin typeface="Times New Roman" panose="02020603050405020304" pitchFamily="18" charset="0"/>
                <a:cs typeface="Times New Roman" panose="02020603050405020304" pitchFamily="18" charset="0"/>
              </a:rPr>
              <a:t>Due to their structure, columnar databases perform particularly well with aggregation queries (such as SUM, COUNT, AVG, </a:t>
            </a:r>
            <a:r>
              <a:rPr lang="en-US" sz="3000" dirty="0" err="1">
                <a:solidFill>
                  <a:schemeClr val="tx1"/>
                </a:solidFill>
                <a:latin typeface="Times New Roman" panose="02020603050405020304" pitchFamily="18" charset="0"/>
                <a:cs typeface="Times New Roman" panose="02020603050405020304" pitchFamily="18" charset="0"/>
              </a:rPr>
              <a:t>etc</a:t>
            </a:r>
            <a:r>
              <a:rPr lang="en-US" sz="3000" dirty="0">
                <a:solidFill>
                  <a:schemeClr val="tx1"/>
                </a:solidFill>
                <a:latin typeface="Times New Roman" panose="02020603050405020304" pitchFamily="18" charset="0"/>
                <a:cs typeface="Times New Roman" panose="02020603050405020304" pitchFamily="18" charset="0"/>
              </a:rPr>
              <a:t>).</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Scalability: </a:t>
            </a:r>
            <a:r>
              <a:rPr lang="en-US" sz="3000" dirty="0">
                <a:solidFill>
                  <a:schemeClr val="tx1"/>
                </a:solidFill>
                <a:latin typeface="Times New Roman" panose="02020603050405020304" pitchFamily="18" charset="0"/>
                <a:cs typeface="Times New Roman" panose="02020603050405020304" pitchFamily="18" charset="0"/>
              </a:rPr>
              <a:t>Columnar databases are very scalable. They are well suited to massively parallel processing, which involves having data spread across a large cluster of machines – often thousands of machines.</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Fast to load and query: </a:t>
            </a:r>
            <a:r>
              <a:rPr lang="en-US" sz="3000" dirty="0">
                <a:solidFill>
                  <a:schemeClr val="tx1"/>
                </a:solidFill>
                <a:latin typeface="Times New Roman" panose="02020603050405020304" pitchFamily="18" charset="0"/>
                <a:cs typeface="Times New Roman" panose="02020603050405020304" pitchFamily="18" charset="0"/>
              </a:rPr>
              <a:t>Columnar stores can be loaded extremely fast. A billion row table could be loaded within a few seconds.</a:t>
            </a:r>
          </a:p>
        </p:txBody>
      </p:sp>
    </p:spTree>
    <p:extLst>
      <p:ext uri="{BB962C8B-B14F-4D97-AF65-F5344CB8AC3E}">
        <p14:creationId xmlns:p14="http://schemas.microsoft.com/office/powerpoint/2010/main" val="11394762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2. Column Store Database: </a:t>
            </a: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Limitations</a:t>
            </a: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Incremental data loading: </a:t>
            </a:r>
            <a:r>
              <a:rPr lang="en-US" sz="3000" dirty="0">
                <a:solidFill>
                  <a:schemeClr val="tx1"/>
                </a:solidFill>
                <a:latin typeface="Times New Roman" panose="02020603050405020304" pitchFamily="18" charset="0"/>
                <a:cs typeface="Times New Roman" panose="02020603050405020304" pitchFamily="18" charset="0"/>
              </a:rPr>
              <a:t>It takes more time writing data than reading. Online Transaction Processing (OLTP) usage.</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Queries against only a few rows: </a:t>
            </a:r>
            <a:r>
              <a:rPr lang="en-US" sz="3000" dirty="0">
                <a:solidFill>
                  <a:schemeClr val="tx1"/>
                </a:solidFill>
                <a:latin typeface="Times New Roman" panose="02020603050405020304" pitchFamily="18" charset="0"/>
                <a:cs typeface="Times New Roman" panose="02020603050405020304" pitchFamily="18" charset="0"/>
              </a:rPr>
              <a:t>Reading specific data takes more time than intended.</a:t>
            </a:r>
          </a:p>
        </p:txBody>
      </p:sp>
    </p:spTree>
    <p:extLst>
      <p:ext uri="{BB962C8B-B14F-4D97-AF65-F5344CB8AC3E}">
        <p14:creationId xmlns:p14="http://schemas.microsoft.com/office/powerpoint/2010/main" val="37726982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2. Column Store Database: </a:t>
            </a: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Real </a:t>
            </a:r>
            <a:r>
              <a:rPr lang="en-US" sz="2800" b="1" dirty="0">
                <a:solidFill>
                  <a:schemeClr val="tx1"/>
                </a:solidFill>
                <a:latin typeface="Times New Roman" panose="02020603050405020304" pitchFamily="18" charset="0"/>
                <a:cs typeface="Times New Roman" panose="02020603050405020304" pitchFamily="18" charset="0"/>
              </a:rPr>
              <a:t>life examples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 column family for vegetables of a supermarket.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 column family for clients.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 column family for users.</a:t>
            </a:r>
          </a:p>
        </p:txBody>
      </p:sp>
    </p:spTree>
    <p:extLst>
      <p:ext uri="{BB962C8B-B14F-4D97-AF65-F5344CB8AC3E}">
        <p14:creationId xmlns:p14="http://schemas.microsoft.com/office/powerpoint/2010/main" val="36428144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2. Column Store Database: </a:t>
            </a:r>
          </a:p>
          <a:p>
            <a:pPr marL="457200" indent="-457200" algn="just">
              <a:buClr>
                <a:schemeClr val="tx1"/>
              </a:buClr>
              <a:buSzPct val="71000"/>
              <a:buFont typeface="Wingdings" panose="05000000000000000000" pitchFamily="2" charset="2"/>
              <a:buChar char="v"/>
            </a:pPr>
            <a:r>
              <a:rPr lang="en-US" sz="3000" dirty="0" smtClean="0">
                <a:solidFill>
                  <a:schemeClr val="tx1"/>
                </a:solidFill>
                <a:latin typeface="Times New Roman" panose="02020603050405020304" pitchFamily="18" charset="0"/>
                <a:cs typeface="Times New Roman" panose="02020603050405020304" pitchFamily="18" charset="0"/>
              </a:rPr>
              <a:t>Cassandra</a:t>
            </a:r>
            <a:endParaRPr lang="en-US" sz="30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dirty="0" err="1">
                <a:solidFill>
                  <a:schemeClr val="tx1"/>
                </a:solidFill>
                <a:latin typeface="Times New Roman" panose="02020603050405020304" pitchFamily="18" charset="0"/>
                <a:cs typeface="Times New Roman" panose="02020603050405020304" pitchFamily="18" charset="0"/>
              </a:rPr>
              <a:t>HBase</a:t>
            </a:r>
            <a:endParaRPr lang="en-US" sz="30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dirty="0">
                <a:solidFill>
                  <a:schemeClr val="tx1"/>
                </a:solidFill>
                <a:latin typeface="Times New Roman" panose="02020603050405020304" pitchFamily="18" charset="0"/>
                <a:cs typeface="Times New Roman" panose="02020603050405020304" pitchFamily="18" charset="0"/>
              </a:rPr>
              <a:t>Kudu</a:t>
            </a:r>
          </a:p>
        </p:txBody>
      </p:sp>
    </p:spTree>
    <p:extLst>
      <p:ext uri="{BB962C8B-B14F-4D97-AF65-F5344CB8AC3E}">
        <p14:creationId xmlns:p14="http://schemas.microsoft.com/office/powerpoint/2010/main" val="6561070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lnSpcReduction="1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3</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Document Database: </a:t>
            </a:r>
            <a:endParaRPr lang="en-US" sz="2800" b="1" dirty="0" smtClean="0">
              <a:solidFill>
                <a:srgbClr val="FF0000"/>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The document database fetches and accumulates data in form of key-value pairs but here, the values are called as Documents</a:t>
            </a:r>
            <a:r>
              <a:rPr lang="en-US" sz="2800" dirty="0" smtClean="0">
                <a:solidFill>
                  <a:schemeClr val="tx1"/>
                </a:solidFill>
                <a:latin typeface="Times New Roman" panose="02020603050405020304" pitchFamily="18" charset="0"/>
                <a:cs typeface="Times New Roman" panose="02020603050405020304"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anose="02020603050405020304" pitchFamily="18" charset="0"/>
                <a:cs typeface="Times New Roman" panose="02020603050405020304" pitchFamily="18" charset="0"/>
              </a:rPr>
              <a:t>Document </a:t>
            </a:r>
            <a:r>
              <a:rPr lang="en-US" sz="2800" dirty="0">
                <a:solidFill>
                  <a:schemeClr val="tx1"/>
                </a:solidFill>
                <a:latin typeface="Times New Roman" panose="02020603050405020304" pitchFamily="18" charset="0"/>
                <a:cs typeface="Times New Roman" panose="02020603050405020304" pitchFamily="18" charset="0"/>
              </a:rPr>
              <a:t>can be stated as a complex data structure. Document here can be a form of text, arrays, strings, JSON, XML or any such format. </a:t>
            </a:r>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anose="02020603050405020304" pitchFamily="18" charset="0"/>
                <a:cs typeface="Times New Roman" panose="02020603050405020304" pitchFamily="18" charset="0"/>
              </a:rPr>
              <a:t>The </a:t>
            </a:r>
            <a:r>
              <a:rPr lang="en-US" sz="2800" dirty="0">
                <a:solidFill>
                  <a:schemeClr val="tx1"/>
                </a:solidFill>
                <a:latin typeface="Times New Roman" panose="02020603050405020304" pitchFamily="18" charset="0"/>
                <a:cs typeface="Times New Roman" panose="02020603050405020304" pitchFamily="18" charset="0"/>
              </a:rPr>
              <a:t>use of nested documents is also very common. It is very effective as most of the data created is usually in form of JSONs and is unstructured. </a:t>
            </a:r>
          </a:p>
        </p:txBody>
      </p:sp>
    </p:spTree>
    <p:extLst>
      <p:ext uri="{BB962C8B-B14F-4D97-AF65-F5344CB8AC3E}">
        <p14:creationId xmlns:p14="http://schemas.microsoft.com/office/powerpoint/2010/main" val="36033360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1036843"/>
          </a:xfrm>
        </p:spPr>
        <p:txBody>
          <a:bodyPr>
            <a:normAutofit lnSpcReduction="1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3</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Document Database</a:t>
            </a:r>
            <a:r>
              <a:rPr lang="en-US" sz="2800" b="1" dirty="0" smtClean="0">
                <a:solidFill>
                  <a:srgbClr val="FF0000"/>
                </a:solidFill>
                <a:latin typeface="Times New Roman" panose="02020603050405020304" pitchFamily="18" charset="0"/>
                <a:cs typeface="Times New Roman" panose="02020603050405020304" pitchFamily="18" charset="0"/>
              </a:rPr>
              <a:t>:</a:t>
            </a:r>
          </a:p>
        </p:txBody>
      </p:sp>
      <p:pic>
        <p:nvPicPr>
          <p:cNvPr id="19460" name="Picture 4" descr="https://res.cloudinary.com/practicaldev/image/fetch/s--G9faRw5C--/c_limit%2Cf_auto%2Cfl_progressive%2Cq_auto%2Cw_880/https:/thepracticaldev.s3.amazonaws.com/i/2mpaf258xcbvq13h2y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505" y="2095232"/>
            <a:ext cx="10320920" cy="402223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013656" y="6064807"/>
            <a:ext cx="3799267" cy="523220"/>
          </a:xfrm>
          <a:prstGeom prst="rect">
            <a:avLst/>
          </a:prstGeom>
        </p:spPr>
        <p:txBody>
          <a:bodyPr wrap="square">
            <a:spAutoFit/>
          </a:bodyPr>
          <a:lstStyle/>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JSON </a:t>
            </a:r>
            <a:r>
              <a:rPr lang="en-US" sz="2800" b="1" dirty="0" smtClean="0">
                <a:solidFill>
                  <a:srgbClr val="FF0000"/>
                </a:solidFill>
                <a:latin typeface="Times New Roman" panose="02020603050405020304" pitchFamily="18" charset="0"/>
                <a:cs typeface="Times New Roman" panose="02020603050405020304" pitchFamily="18" charset="0"/>
              </a:rPr>
              <a:t>Databases</a:t>
            </a:r>
            <a:endParaRPr lang="en-US" sz="28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64503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1036843"/>
          </a:xfrm>
        </p:spPr>
        <p:txBody>
          <a:bodyPr>
            <a:normAutofit lnSpcReduction="1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3</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Document Database: </a:t>
            </a:r>
            <a:endParaRPr lang="en-US" sz="2800" b="1" dirty="0" smtClean="0">
              <a:solidFill>
                <a:srgbClr val="FF0000"/>
              </a:solidFill>
              <a:latin typeface="Times New Roman" panose="02020603050405020304" pitchFamily="18" charset="0"/>
              <a:cs typeface="Times New Roman" panose="02020603050405020304" pitchFamily="18" charset="0"/>
            </a:endParaRPr>
          </a:p>
        </p:txBody>
      </p:sp>
      <p:pic>
        <p:nvPicPr>
          <p:cNvPr id="19458" name="Picture 2" descr="https://media.geeksforgeeks.org/wp-content/uploads/20191224145116/do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0798" y="1275007"/>
            <a:ext cx="4546705" cy="3747645"/>
          </a:xfrm>
          <a:prstGeom prst="rect">
            <a:avLst/>
          </a:prstGeom>
          <a:noFill/>
          <a:extLst>
            <a:ext uri="{909E8E84-426E-40DD-AFC4-6F175D3DCCD1}">
              <a14:hiddenFill xmlns:a14="http://schemas.microsoft.com/office/drawing/2010/main">
                <a:solidFill>
                  <a:srgbClr val="FFFFFF"/>
                </a:solidFill>
              </a14:hiddenFill>
            </a:ext>
          </a:extLst>
        </p:spPr>
      </p:pic>
      <p:pic>
        <p:nvPicPr>
          <p:cNvPr id="20482" name="Picture 2" descr="https://res.cloudinary.com/practicaldev/image/fetch/s--2vzHiSi9--/c_limit%2Cf_auto%2Cfl_progressive%2Cq_auto%2Cw_880/https:/thepracticaldev.s3.amazonaws.com/i/valby86btntl0ildccq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791" y="2082063"/>
            <a:ext cx="6425529" cy="431482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001671" y="5678440"/>
            <a:ext cx="2958249" cy="523220"/>
          </a:xfrm>
          <a:prstGeom prst="rect">
            <a:avLst/>
          </a:prstGeom>
        </p:spPr>
        <p:txBody>
          <a:bodyPr wrap="square">
            <a:spAutoFit/>
          </a:bodyPr>
          <a:lstStyle/>
          <a:p>
            <a:r>
              <a:rPr lang="en-US" sz="2800" b="1" dirty="0">
                <a:solidFill>
                  <a:srgbClr val="FF0000"/>
                </a:solidFill>
              </a:rPr>
              <a:t>Data modelling</a:t>
            </a:r>
            <a:endParaRPr lang="en-US" sz="2800" dirty="0">
              <a:solidFill>
                <a:srgbClr val="FF0000"/>
              </a:solidFill>
            </a:endParaRPr>
          </a:p>
        </p:txBody>
      </p:sp>
    </p:spTree>
    <p:extLst>
      <p:ext uri="{BB962C8B-B14F-4D97-AF65-F5344CB8AC3E}">
        <p14:creationId xmlns:p14="http://schemas.microsoft.com/office/powerpoint/2010/main" val="8891436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fontScale="77500" lnSpcReduction="2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3. Document Database: </a:t>
            </a: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Features</a:t>
            </a: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Scalability: </a:t>
            </a:r>
            <a:r>
              <a:rPr lang="en-US" sz="3000" dirty="0">
                <a:solidFill>
                  <a:schemeClr val="tx1"/>
                </a:solidFill>
                <a:latin typeface="Times New Roman" panose="02020603050405020304" pitchFamily="18" charset="0"/>
                <a:cs typeface="Times New Roman" panose="02020603050405020304" pitchFamily="18" charset="0"/>
              </a:rPr>
              <a:t>For more complex objects.</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Data model: </a:t>
            </a:r>
            <a:r>
              <a:rPr lang="en-US" sz="3000" dirty="0">
                <a:solidFill>
                  <a:schemeClr val="tx1"/>
                </a:solidFill>
                <a:latin typeface="Times New Roman" panose="02020603050405020304" pitchFamily="18" charset="0"/>
                <a:cs typeface="Times New Roman" panose="02020603050405020304" pitchFamily="18" charset="0"/>
              </a:rPr>
              <a:t>Collection of documents.</a:t>
            </a:r>
          </a:p>
          <a:p>
            <a:pPr marL="914389" lvl="1"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Similar to JSON and XML.</a:t>
            </a:r>
          </a:p>
          <a:p>
            <a:pPr marL="457200" indent="-457200" algn="just">
              <a:buClr>
                <a:schemeClr val="tx1"/>
              </a:buClr>
              <a:buSzPct val="71000"/>
              <a:buFont typeface="Wingdings" panose="05000000000000000000" pitchFamily="2" charset="2"/>
              <a:buChar char="v"/>
            </a:pPr>
            <a:r>
              <a:rPr lang="en-US" sz="3000" dirty="0">
                <a:solidFill>
                  <a:schemeClr val="tx1"/>
                </a:solidFill>
                <a:latin typeface="Times New Roman" panose="02020603050405020304" pitchFamily="18" charset="0"/>
                <a:cs typeface="Times New Roman" panose="02020603050405020304" pitchFamily="18" charset="0"/>
              </a:rPr>
              <a:t>Implements ACID transactions and adapt RDBMS characteristics.</a:t>
            </a:r>
          </a:p>
          <a:p>
            <a:pPr marL="914389" lvl="1"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Allows indexing of documents based on its primary identifier and properties.</a:t>
            </a:r>
          </a:p>
          <a:p>
            <a:pPr marL="914389" lvl="1"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Supports Query transactions (to an extent).</a:t>
            </a:r>
          </a:p>
          <a:p>
            <a:pPr marL="457200" indent="-457200" algn="just">
              <a:buClr>
                <a:schemeClr val="tx1"/>
              </a:buClr>
              <a:buSzPct val="71000"/>
              <a:buFont typeface="Wingdings" panose="05000000000000000000" pitchFamily="2" charset="2"/>
              <a:buChar char="v"/>
            </a:pPr>
            <a:r>
              <a:rPr lang="en-US" sz="3000" dirty="0">
                <a:solidFill>
                  <a:schemeClr val="tx1"/>
                </a:solidFill>
                <a:latin typeface="Times New Roman" panose="02020603050405020304" pitchFamily="18" charset="0"/>
                <a:cs typeface="Times New Roman" panose="02020603050405020304" pitchFamily="18" charset="0"/>
              </a:rPr>
              <a:t>Design pattern allows retrieving info in a single operation.</a:t>
            </a:r>
          </a:p>
          <a:p>
            <a:pPr marL="457200" indent="-457200" algn="just">
              <a:buClr>
                <a:schemeClr val="tx1"/>
              </a:buClr>
              <a:buSzPct val="71000"/>
              <a:buFont typeface="Wingdings" panose="05000000000000000000" pitchFamily="2" charset="2"/>
              <a:buChar char="v"/>
            </a:pPr>
            <a:r>
              <a:rPr lang="en-US" sz="3000" dirty="0">
                <a:solidFill>
                  <a:schemeClr val="tx1"/>
                </a:solidFill>
                <a:latin typeface="Times New Roman" panose="02020603050405020304" pitchFamily="18" charset="0"/>
                <a:cs typeface="Times New Roman" panose="02020603050405020304" pitchFamily="18" charset="0"/>
              </a:rPr>
              <a:t>Avoids performing joins within the application.</a:t>
            </a:r>
          </a:p>
        </p:txBody>
      </p:sp>
    </p:spTree>
    <p:extLst>
      <p:ext uri="{BB962C8B-B14F-4D97-AF65-F5344CB8AC3E}">
        <p14:creationId xmlns:p14="http://schemas.microsoft.com/office/powerpoint/2010/main" val="31754859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3. Document Database: </a:t>
            </a: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Limitations</a:t>
            </a: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dirty="0">
                <a:solidFill>
                  <a:schemeClr val="tx1"/>
                </a:solidFill>
                <a:latin typeface="Times New Roman" panose="02020603050405020304" pitchFamily="18" charset="0"/>
                <a:cs typeface="Times New Roman" panose="02020603050405020304" pitchFamily="18" charset="0"/>
              </a:rPr>
              <a:t>Base info duplication across multiple documents</a:t>
            </a:r>
          </a:p>
          <a:p>
            <a:pPr marL="457200" indent="-457200" algn="just">
              <a:buClr>
                <a:schemeClr val="tx1"/>
              </a:buClr>
              <a:buSzPct val="71000"/>
              <a:buFont typeface="Wingdings" panose="05000000000000000000" pitchFamily="2" charset="2"/>
              <a:buChar char="v"/>
            </a:pPr>
            <a:r>
              <a:rPr lang="en-US" sz="3000" dirty="0">
                <a:solidFill>
                  <a:schemeClr val="tx1"/>
                </a:solidFill>
                <a:latin typeface="Times New Roman" panose="02020603050405020304" pitchFamily="18" charset="0"/>
                <a:cs typeface="Times New Roman" panose="02020603050405020304" pitchFamily="18" charset="0"/>
              </a:rPr>
              <a:t>Complicates design resulting in inconsistency.</a:t>
            </a:r>
          </a:p>
          <a:p>
            <a:pPr marL="914389" lvl="1"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Solution: </a:t>
            </a:r>
            <a:r>
              <a:rPr lang="en-US" sz="2800" dirty="0">
                <a:solidFill>
                  <a:schemeClr val="tx1"/>
                </a:solidFill>
                <a:latin typeface="Times New Roman" panose="02020603050405020304" pitchFamily="18" charset="0"/>
                <a:cs typeface="Times New Roman" panose="02020603050405020304" pitchFamily="18" charset="0"/>
              </a:rPr>
              <a:t>Link multiple documents using document identifiers (resembles foreign key in RDBMS)</a:t>
            </a:r>
          </a:p>
        </p:txBody>
      </p:sp>
    </p:spTree>
    <p:extLst>
      <p:ext uri="{BB962C8B-B14F-4D97-AF65-F5344CB8AC3E}">
        <p14:creationId xmlns:p14="http://schemas.microsoft.com/office/powerpoint/2010/main" val="38810875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fontScale="925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3. Document Database: </a:t>
            </a: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Real </a:t>
            </a:r>
            <a:r>
              <a:rPr lang="en-US" sz="2800" b="1" dirty="0">
                <a:solidFill>
                  <a:schemeClr val="tx1"/>
                </a:solidFill>
                <a:latin typeface="Times New Roman" panose="02020603050405020304" pitchFamily="18" charset="0"/>
                <a:cs typeface="Times New Roman" panose="02020603050405020304" pitchFamily="18" charset="0"/>
              </a:rPr>
              <a:t>life </a:t>
            </a:r>
            <a:r>
              <a:rPr lang="en-US" sz="2800" b="1" dirty="0" smtClean="0">
                <a:solidFill>
                  <a:schemeClr val="tx1"/>
                </a:solidFill>
                <a:latin typeface="Times New Roman" panose="02020603050405020304" pitchFamily="18" charset="0"/>
                <a:cs typeface="Times New Roman" panose="02020603050405020304" pitchFamily="18" charset="0"/>
              </a:rPr>
              <a:t>examples</a:t>
            </a:r>
            <a:endParaRPr lang="en-US" sz="28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err="1">
                <a:solidFill>
                  <a:schemeClr val="tx1"/>
                </a:solidFill>
                <a:latin typeface="Times New Roman" panose="02020603050405020304" pitchFamily="18" charset="0"/>
                <a:cs typeface="Times New Roman" panose="02020603050405020304" pitchFamily="18" charset="0"/>
              </a:rPr>
              <a:t>Shutterfly</a:t>
            </a:r>
            <a:r>
              <a:rPr lang="en-US" sz="2800" dirty="0">
                <a:solidFill>
                  <a:schemeClr val="tx1"/>
                </a:solidFill>
                <a:latin typeface="Times New Roman" panose="02020603050405020304" pitchFamily="18" charset="0"/>
                <a:cs typeface="Times New Roman" panose="02020603050405020304" pitchFamily="18" charset="0"/>
              </a:rPr>
              <a:t> is a popular internet-based photo sharing and personal publishing company that manages a store of more than 6 billion images with a transaction rate of up to 10,000 operations per second</a:t>
            </a:r>
            <a:r>
              <a:rPr lang="en-US" sz="2800" dirty="0" smtClean="0">
                <a:solidFill>
                  <a:schemeClr val="tx1"/>
                </a:solidFill>
                <a:latin typeface="Times New Roman" panose="02020603050405020304" pitchFamily="18" charset="0"/>
                <a:cs typeface="Times New Roman" panose="02020603050405020304"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eBay has a number of projects running on MongoDB for search suggestions, metadata storage, cloud management and merchandizing categorization.</a:t>
            </a:r>
          </a:p>
        </p:txBody>
      </p:sp>
    </p:spTree>
    <p:extLst>
      <p:ext uri="{BB962C8B-B14F-4D97-AF65-F5344CB8AC3E}">
        <p14:creationId xmlns:p14="http://schemas.microsoft.com/office/powerpoint/2010/main" val="38549383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3. Document Database: </a:t>
            </a:r>
          </a:p>
          <a:p>
            <a:pPr marL="457200" indent="-457200" algn="just">
              <a:buClr>
                <a:schemeClr val="tx1"/>
              </a:buClr>
              <a:buSzPct val="71000"/>
              <a:buFont typeface="Wingdings" panose="05000000000000000000" pitchFamily="2" charset="2"/>
              <a:buChar char="v"/>
            </a:pPr>
            <a:r>
              <a:rPr lang="en-US" sz="3000" dirty="0" smtClean="0">
                <a:solidFill>
                  <a:schemeClr val="tx1"/>
                </a:solidFill>
                <a:latin typeface="Times New Roman" panose="02020603050405020304" pitchFamily="18" charset="0"/>
                <a:cs typeface="Times New Roman" panose="02020603050405020304" pitchFamily="18" charset="0"/>
              </a:rPr>
              <a:t>MongoDB</a:t>
            </a:r>
            <a:endParaRPr lang="en-US" sz="30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dirty="0" err="1">
                <a:solidFill>
                  <a:schemeClr val="tx1"/>
                </a:solidFill>
                <a:latin typeface="Times New Roman" panose="02020603050405020304" pitchFamily="18" charset="0"/>
                <a:cs typeface="Times New Roman" panose="02020603050405020304" pitchFamily="18" charset="0"/>
              </a:rPr>
              <a:t>CouchDB</a:t>
            </a:r>
            <a:endParaRPr lang="en-US" sz="3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81319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fontScale="925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4</a:t>
            </a:r>
            <a:r>
              <a:rPr lang="en-US" sz="2800" b="1" dirty="0" smtClean="0">
                <a:solidFill>
                  <a:srgbClr val="FF0000"/>
                </a:solidFill>
                <a:latin typeface="Times New Roman" panose="02020603050405020304" pitchFamily="18" charset="0"/>
                <a:cs typeface="Times New Roman" panose="02020603050405020304" pitchFamily="18" charset="0"/>
              </a:rPr>
              <a:t>. Graph </a:t>
            </a:r>
            <a:r>
              <a:rPr lang="en-US" sz="2800" b="1" dirty="0">
                <a:solidFill>
                  <a:srgbClr val="FF0000"/>
                </a:solidFill>
                <a:latin typeface="Times New Roman" panose="02020603050405020304" pitchFamily="18" charset="0"/>
                <a:cs typeface="Times New Roman" panose="02020603050405020304" pitchFamily="18" charset="0"/>
              </a:rPr>
              <a:t>Database: </a:t>
            </a:r>
            <a:endParaRPr lang="en-US" sz="2800" b="1" dirty="0" smtClean="0">
              <a:solidFill>
                <a:srgbClr val="FF0000"/>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Graph Based Data Model in NoSQL is a type of Data Model which tries to focus on building the relationship between data elements</a:t>
            </a:r>
            <a:r>
              <a:rPr lang="en-US" sz="2800" dirty="0" smtClean="0">
                <a:solidFill>
                  <a:schemeClr val="tx1"/>
                </a:solidFill>
                <a:latin typeface="Times New Roman" panose="02020603050405020304" pitchFamily="18" charset="0"/>
                <a:cs typeface="Times New Roman" panose="02020603050405020304"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Graphs are basically structures that depict connections between two or more objects in some data</a:t>
            </a:r>
            <a:r>
              <a:rPr lang="en-US" sz="2800" dirty="0" smtClean="0">
                <a:solidFill>
                  <a:schemeClr val="tx1"/>
                </a:solidFill>
                <a:latin typeface="Times New Roman" panose="02020603050405020304" pitchFamily="18" charset="0"/>
                <a:cs typeface="Times New Roman" panose="02020603050405020304" pitchFamily="18" charset="0"/>
              </a:rPr>
              <a:t>. </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anose="02020603050405020304" pitchFamily="18" charset="0"/>
                <a:cs typeface="Times New Roman" panose="02020603050405020304" pitchFamily="18" charset="0"/>
              </a:rPr>
              <a:t>This </a:t>
            </a:r>
            <a:r>
              <a:rPr lang="en-US" sz="2800" dirty="0">
                <a:solidFill>
                  <a:schemeClr val="tx1"/>
                </a:solidFill>
                <a:latin typeface="Times New Roman" panose="02020603050405020304" pitchFamily="18" charset="0"/>
                <a:cs typeface="Times New Roman" panose="02020603050405020304" pitchFamily="18" charset="0"/>
              </a:rPr>
              <a:t>pattern is very commonly used in social networks where there are a large number of entities and each entity has one or many characteristics which are connected by edges.</a:t>
            </a:r>
          </a:p>
        </p:txBody>
      </p:sp>
    </p:spTree>
    <p:extLst>
      <p:ext uri="{BB962C8B-B14F-4D97-AF65-F5344CB8AC3E}">
        <p14:creationId xmlns:p14="http://schemas.microsoft.com/office/powerpoint/2010/main" val="19379895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4</a:t>
            </a:r>
            <a:r>
              <a:rPr lang="en-US" sz="2800" b="1" dirty="0" smtClean="0">
                <a:solidFill>
                  <a:srgbClr val="FF0000"/>
                </a:solidFill>
                <a:latin typeface="Times New Roman" panose="02020603050405020304" pitchFamily="18" charset="0"/>
                <a:cs typeface="Times New Roman" panose="02020603050405020304" pitchFamily="18" charset="0"/>
              </a:rPr>
              <a:t>. Graph </a:t>
            </a:r>
            <a:r>
              <a:rPr lang="en-US" sz="2800" b="1" dirty="0">
                <a:solidFill>
                  <a:srgbClr val="FF0000"/>
                </a:solidFill>
                <a:latin typeface="Times New Roman" panose="02020603050405020304" pitchFamily="18" charset="0"/>
                <a:cs typeface="Times New Roman" panose="02020603050405020304" pitchFamily="18" charset="0"/>
              </a:rPr>
              <a:t>Database: </a:t>
            </a:r>
            <a:endParaRPr lang="en-US" sz="2800" b="1" dirty="0" smtClean="0">
              <a:solidFill>
                <a:srgbClr val="FF0000"/>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Parts of a </a:t>
            </a:r>
            <a:r>
              <a:rPr lang="en-US" sz="2800" b="1" dirty="0" smtClean="0">
                <a:solidFill>
                  <a:schemeClr val="tx1"/>
                </a:solidFill>
                <a:latin typeface="Times New Roman" panose="02020603050405020304" pitchFamily="18" charset="0"/>
                <a:cs typeface="Times New Roman" panose="02020603050405020304" pitchFamily="18" charset="0"/>
              </a:rPr>
              <a:t>graph</a:t>
            </a: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Nodes -</a:t>
            </a:r>
            <a:r>
              <a:rPr lang="en-US" sz="2800" dirty="0">
                <a:solidFill>
                  <a:schemeClr val="tx1"/>
                </a:solidFill>
                <a:latin typeface="Times New Roman" panose="02020603050405020304" pitchFamily="18" charset="0"/>
                <a:cs typeface="Times New Roman" panose="02020603050405020304" pitchFamily="18" charset="0"/>
              </a:rPr>
              <a:t> representation of entities.</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Properties - </a:t>
            </a:r>
            <a:r>
              <a:rPr lang="en-US" sz="2800" dirty="0">
                <a:solidFill>
                  <a:schemeClr val="tx1"/>
                </a:solidFill>
                <a:latin typeface="Times New Roman" panose="02020603050405020304" pitchFamily="18" charset="0"/>
                <a:cs typeface="Times New Roman" panose="02020603050405020304" pitchFamily="18" charset="0"/>
              </a:rPr>
              <a:t>Information about nodes.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anose="02020603050405020304" pitchFamily="18" charset="0"/>
                <a:cs typeface="Times New Roman" panose="02020603050405020304" pitchFamily="18" charset="0"/>
              </a:rPr>
              <a:t>Can be indexed.</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Edges - </a:t>
            </a:r>
            <a:r>
              <a:rPr lang="en-US" sz="2800" dirty="0">
                <a:solidFill>
                  <a:schemeClr val="tx1"/>
                </a:solidFill>
                <a:latin typeface="Times New Roman" panose="02020603050405020304" pitchFamily="18" charset="0"/>
                <a:cs typeface="Times New Roman" panose="02020603050405020304" pitchFamily="18" charset="0"/>
              </a:rPr>
              <a:t>Relationships between nodes.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anose="02020603050405020304" pitchFamily="18" charset="0"/>
                <a:cs typeface="Times New Roman" panose="02020603050405020304" pitchFamily="18" charset="0"/>
              </a:rPr>
              <a:t>Can be indexed.</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anose="02020603050405020304" pitchFamily="18" charset="0"/>
                <a:cs typeface="Times New Roman" panose="02020603050405020304" pitchFamily="18" charset="0"/>
              </a:rPr>
              <a:t>Unidirectional or bidirectional, no limit of edges.</a:t>
            </a:r>
          </a:p>
        </p:txBody>
      </p:sp>
    </p:spTree>
    <p:extLst>
      <p:ext uri="{BB962C8B-B14F-4D97-AF65-F5344CB8AC3E}">
        <p14:creationId xmlns:p14="http://schemas.microsoft.com/office/powerpoint/2010/main" val="33856424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1036843"/>
          </a:xfrm>
        </p:spPr>
        <p:txBody>
          <a:bodyPr>
            <a:normAutofit lnSpcReduction="1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4. Graph </a:t>
            </a:r>
            <a:r>
              <a:rPr lang="en-US" sz="2800" b="1" dirty="0">
                <a:solidFill>
                  <a:srgbClr val="FF0000"/>
                </a:solidFill>
                <a:latin typeface="Times New Roman" panose="02020603050405020304" pitchFamily="18" charset="0"/>
                <a:cs typeface="Times New Roman" panose="02020603050405020304" pitchFamily="18" charset="0"/>
              </a:rPr>
              <a:t>Database: </a:t>
            </a:r>
          </a:p>
        </p:txBody>
      </p:sp>
      <p:pic>
        <p:nvPicPr>
          <p:cNvPr id="27650" name="Picture 2" descr="https://res.cloudinary.com/practicaldev/image/fetch/s--KN1iHKtk--/c_limit%2Cf_auto%2Cfl_progressive%2Cq_auto%2Cw_880/https:/thepracticaldev.s3.amazonaws.com/i/zrn6wxokavk2ni3jnit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9074" y="2188223"/>
            <a:ext cx="5848350" cy="436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57548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4. Graph </a:t>
            </a:r>
            <a:r>
              <a:rPr lang="en-US" sz="2800" b="1" dirty="0">
                <a:solidFill>
                  <a:srgbClr val="FF0000"/>
                </a:solidFill>
                <a:latin typeface="Times New Roman" panose="02020603050405020304" pitchFamily="18" charset="0"/>
                <a:cs typeface="Times New Roman" panose="02020603050405020304" pitchFamily="18" charset="0"/>
              </a:rPr>
              <a:t>Database: </a:t>
            </a: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Features</a:t>
            </a: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dirty="0">
                <a:solidFill>
                  <a:schemeClr val="tx1"/>
                </a:solidFill>
                <a:latin typeface="Times New Roman" panose="02020603050405020304" pitchFamily="18" charset="0"/>
                <a:cs typeface="Times New Roman" panose="02020603050405020304" pitchFamily="18" charset="0"/>
              </a:rPr>
              <a:t>Scales to the complexity of data.</a:t>
            </a:r>
          </a:p>
          <a:p>
            <a:pPr marL="457200" indent="-457200" algn="just">
              <a:buClr>
                <a:schemeClr val="tx1"/>
              </a:buClr>
              <a:buSzPct val="71000"/>
              <a:buFont typeface="Wingdings" panose="05000000000000000000" pitchFamily="2" charset="2"/>
              <a:buChar char="v"/>
            </a:pPr>
            <a:r>
              <a:rPr lang="en-US" sz="3000" dirty="0">
                <a:solidFill>
                  <a:schemeClr val="tx1"/>
                </a:solidFill>
                <a:latin typeface="Times New Roman" panose="02020603050405020304" pitchFamily="18" charset="0"/>
                <a:cs typeface="Times New Roman" panose="02020603050405020304" pitchFamily="18" charset="0"/>
              </a:rPr>
              <a:t>Focus on interconnectivity.</a:t>
            </a:r>
          </a:p>
          <a:p>
            <a:pPr marL="457200" indent="-457200" algn="just">
              <a:buClr>
                <a:schemeClr val="tx1"/>
              </a:buClr>
              <a:buSzPct val="71000"/>
              <a:buFont typeface="Wingdings" panose="05000000000000000000" pitchFamily="2" charset="2"/>
              <a:buChar char="v"/>
            </a:pPr>
            <a:r>
              <a:rPr lang="en-US" sz="3000" dirty="0">
                <a:solidFill>
                  <a:schemeClr val="tx1"/>
                </a:solidFill>
                <a:latin typeface="Times New Roman" panose="02020603050405020304" pitchFamily="18" charset="0"/>
                <a:cs typeface="Times New Roman" panose="02020603050405020304" pitchFamily="18" charset="0"/>
              </a:rPr>
              <a:t>Many query languages.</a:t>
            </a:r>
          </a:p>
        </p:txBody>
      </p:sp>
    </p:spTree>
    <p:extLst>
      <p:ext uri="{BB962C8B-B14F-4D97-AF65-F5344CB8AC3E}">
        <p14:creationId xmlns:p14="http://schemas.microsoft.com/office/powerpoint/2010/main" val="10678273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fontScale="77500" lnSpcReduction="2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4. Graph </a:t>
            </a:r>
            <a:r>
              <a:rPr lang="en-US" sz="2800" b="1" dirty="0">
                <a:solidFill>
                  <a:srgbClr val="FF0000"/>
                </a:solidFill>
                <a:latin typeface="Times New Roman" panose="02020603050405020304" pitchFamily="18" charset="0"/>
                <a:cs typeface="Times New Roman" panose="02020603050405020304" pitchFamily="18" charset="0"/>
              </a:rPr>
              <a:t>Database: </a:t>
            </a: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Limitations</a:t>
            </a: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Lack of high performance concurrency: </a:t>
            </a:r>
            <a:r>
              <a:rPr lang="en-US" sz="3000" dirty="0">
                <a:solidFill>
                  <a:schemeClr val="tx1"/>
                </a:solidFill>
                <a:latin typeface="Times New Roman" panose="02020603050405020304" pitchFamily="18" charset="0"/>
                <a:cs typeface="Times New Roman" panose="02020603050405020304" pitchFamily="18" charset="0"/>
              </a:rPr>
              <a:t>In many cases, Graph Databases provide multiple reader and single writer type of transactions, which hinders their concurrency and performance as a consequence, somewhat limiting the threaded parallelism.</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Lack of standard languages: </a:t>
            </a:r>
            <a:r>
              <a:rPr lang="en-US" sz="3000" dirty="0">
                <a:solidFill>
                  <a:schemeClr val="tx1"/>
                </a:solidFill>
                <a:latin typeface="Times New Roman" panose="02020603050405020304" pitchFamily="18" charset="0"/>
                <a:cs typeface="Times New Roman" panose="02020603050405020304" pitchFamily="18" charset="0"/>
              </a:rPr>
              <a:t>The lack of a well established and standard declarative language is being a problem nowadays. Neo4j is proposing Cypher and Oracle is working on a language.</a:t>
            </a:r>
          </a:p>
          <a:p>
            <a:pPr marL="457200" indent="-457200" algn="just">
              <a:buClr>
                <a:schemeClr val="tx1"/>
              </a:buClr>
              <a:buSzPct val="71000"/>
              <a:buFont typeface="Wingdings" panose="05000000000000000000" pitchFamily="2" charset="2"/>
              <a:buChar char="v"/>
            </a:pPr>
            <a:r>
              <a:rPr lang="en-US" sz="3000" b="1" dirty="0">
                <a:solidFill>
                  <a:schemeClr val="tx1"/>
                </a:solidFill>
                <a:latin typeface="Times New Roman" panose="02020603050405020304" pitchFamily="18" charset="0"/>
                <a:cs typeface="Times New Roman" panose="02020603050405020304" pitchFamily="18" charset="0"/>
              </a:rPr>
              <a:t>Lack of parallelism: </a:t>
            </a:r>
            <a:r>
              <a:rPr lang="en-US" sz="3000" dirty="0">
                <a:solidFill>
                  <a:schemeClr val="tx1"/>
                </a:solidFill>
                <a:latin typeface="Times New Roman" panose="02020603050405020304" pitchFamily="18" charset="0"/>
                <a:cs typeface="Times New Roman" panose="02020603050405020304" pitchFamily="18" charset="0"/>
              </a:rPr>
              <a:t>One important issue is the fact that partitioning a graph is a problem. Thus, most do not provide shared nothing parallel queries on very large graphs. Thus, allowing for parallelism is intrinsically a problem.</a:t>
            </a:r>
          </a:p>
        </p:txBody>
      </p:sp>
    </p:spTree>
    <p:extLst>
      <p:ext uri="{BB962C8B-B14F-4D97-AF65-F5344CB8AC3E}">
        <p14:creationId xmlns:p14="http://schemas.microsoft.com/office/powerpoint/2010/main" val="8251241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fontScale="92500" lnSpcReduction="1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4. Graph </a:t>
            </a:r>
            <a:r>
              <a:rPr lang="en-US" sz="2800" b="1" dirty="0">
                <a:solidFill>
                  <a:srgbClr val="FF0000"/>
                </a:solidFill>
                <a:latin typeface="Times New Roman" panose="02020603050405020304" pitchFamily="18" charset="0"/>
                <a:cs typeface="Times New Roman" panose="02020603050405020304" pitchFamily="18" charset="0"/>
              </a:rPr>
              <a:t>Database: </a:t>
            </a: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Real </a:t>
            </a:r>
            <a:r>
              <a:rPr lang="en-US" sz="2800" b="1" dirty="0">
                <a:solidFill>
                  <a:schemeClr val="tx1"/>
                </a:solidFill>
                <a:latin typeface="Times New Roman" panose="02020603050405020304" pitchFamily="18" charset="0"/>
                <a:cs typeface="Times New Roman" panose="02020603050405020304" pitchFamily="18" charset="0"/>
              </a:rPr>
              <a:t>life </a:t>
            </a:r>
            <a:r>
              <a:rPr lang="en-US" sz="2800" b="1" dirty="0" smtClean="0">
                <a:solidFill>
                  <a:schemeClr val="tx1"/>
                </a:solidFill>
                <a:latin typeface="Times New Roman" panose="02020603050405020304" pitchFamily="18" charset="0"/>
                <a:cs typeface="Times New Roman" panose="02020603050405020304" pitchFamily="18" charset="0"/>
              </a:rPr>
              <a:t>examples</a:t>
            </a:r>
            <a:endParaRPr lang="en-US" sz="2800" dirty="0">
              <a:solidFill>
                <a:schemeClr val="tx1"/>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Graph Store is used to model all kind of different scenarios such as</a:t>
            </a:r>
            <a:r>
              <a:rPr lang="en-US" sz="2800" dirty="0" smtClean="0">
                <a:solidFill>
                  <a:schemeClr val="tx1"/>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Construction of a space rocket.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Transportation system (roads and trains).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Supply-chain and Logistics.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Medical history.</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Fraud Detection.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Network and IT Operations.</a:t>
            </a:r>
          </a:p>
        </p:txBody>
      </p:sp>
    </p:spTree>
    <p:extLst>
      <p:ext uri="{BB962C8B-B14F-4D97-AF65-F5344CB8AC3E}">
        <p14:creationId xmlns:p14="http://schemas.microsoft.com/office/powerpoint/2010/main" val="32278257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Types(Categories) </a:t>
            </a:r>
            <a:r>
              <a:rPr lang="en-US" sz="2800" b="1" dirty="0">
                <a:solidFill>
                  <a:srgbClr val="222222"/>
                </a:solidFill>
                <a:latin typeface="Times New Roman" panose="02020603050405020304" pitchFamily="18" charset="0"/>
                <a:cs typeface="Times New Roman" panose="02020603050405020304" pitchFamily="18" charset="0"/>
              </a:rPr>
              <a:t>of </a:t>
            </a:r>
            <a:r>
              <a:rPr lang="en-US" sz="2800" b="1" dirty="0" smtClean="0">
                <a:solidFill>
                  <a:srgbClr val="222222"/>
                </a:solidFill>
                <a:latin typeface="Times New Roman" panose="02020603050405020304" pitchFamily="18" charset="0"/>
                <a:cs typeface="Times New Roman" panose="02020603050405020304" pitchFamily="18" charset="0"/>
              </a:rPr>
              <a:t>NoSQL databases</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4. Graph </a:t>
            </a:r>
            <a:r>
              <a:rPr lang="en-US" sz="2800" b="1" dirty="0">
                <a:solidFill>
                  <a:srgbClr val="FF0000"/>
                </a:solidFill>
                <a:latin typeface="Times New Roman" panose="02020603050405020304" pitchFamily="18" charset="0"/>
                <a:cs typeface="Times New Roman" panose="02020603050405020304" pitchFamily="18" charset="0"/>
              </a:rPr>
              <a:t>Database: </a:t>
            </a:r>
          </a:p>
          <a:p>
            <a:pPr marL="457200" indent="-457200" algn="just">
              <a:buClr>
                <a:schemeClr val="tx1"/>
              </a:buClr>
              <a:buSzPct val="71000"/>
              <a:buFont typeface="Wingdings" panose="05000000000000000000" pitchFamily="2" charset="2"/>
              <a:buChar char="v"/>
            </a:pPr>
            <a:r>
              <a:rPr lang="en-US" sz="3000" smtClean="0">
                <a:solidFill>
                  <a:schemeClr val="tx1"/>
                </a:solidFill>
                <a:latin typeface="Times New Roman" panose="02020603050405020304" pitchFamily="18" charset="0"/>
                <a:cs typeface="Times New Roman" panose="02020603050405020304" pitchFamily="18" charset="0"/>
              </a:rPr>
              <a:t>Neo4J</a:t>
            </a:r>
            <a:endParaRPr lang="en-US" sz="30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3000" dirty="0" err="1">
                <a:solidFill>
                  <a:schemeClr val="tx1"/>
                </a:solidFill>
                <a:latin typeface="Times New Roman" panose="02020603050405020304" pitchFamily="18" charset="0"/>
                <a:cs typeface="Times New Roman" panose="02020603050405020304" pitchFamily="18" charset="0"/>
              </a:rPr>
              <a:t>Giraph</a:t>
            </a:r>
            <a:r>
              <a:rPr lang="en-US" sz="3000"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780294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The CAP </a:t>
            </a:r>
            <a:r>
              <a:rPr lang="en-US" sz="2800" b="1" dirty="0" smtClean="0">
                <a:solidFill>
                  <a:srgbClr val="222222"/>
                </a:solidFill>
                <a:latin typeface="Times New Roman" panose="02020603050405020304" pitchFamily="18" charset="0"/>
                <a:cs typeface="Times New Roman" panose="02020603050405020304" pitchFamily="18" charset="0"/>
              </a:rPr>
              <a:t>Theorem</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It is very important to understand the limitations of NoSQL database. NoSQL can not provide consistency and high availability together. This was first expressed by Eric Brewer in CAP Theorem</a:t>
            </a:r>
            <a:r>
              <a:rPr lang="en-US" sz="2800" dirty="0" smtClean="0">
                <a:solidFill>
                  <a:schemeClr val="tx1"/>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CAP theorem or Eric Brewers theorem </a:t>
            </a:r>
            <a:r>
              <a:rPr lang="en-US" sz="2800" dirty="0">
                <a:solidFill>
                  <a:schemeClr val="tx1"/>
                </a:solidFill>
                <a:latin typeface="Times New Roman" panose="02020603050405020304" pitchFamily="18" charset="0"/>
                <a:cs typeface="Times New Roman" panose="02020603050405020304" pitchFamily="18" charset="0"/>
              </a:rPr>
              <a:t>states that we can only achieve at most two out of three guarantees for a database: Consistency, Availability and Partition Tolerance.</a:t>
            </a:r>
          </a:p>
        </p:txBody>
      </p:sp>
    </p:spTree>
    <p:extLst>
      <p:ext uri="{BB962C8B-B14F-4D97-AF65-F5344CB8AC3E}">
        <p14:creationId xmlns:p14="http://schemas.microsoft.com/office/powerpoint/2010/main" val="29380306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183839"/>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The CAP </a:t>
            </a:r>
            <a:r>
              <a:rPr lang="en-US" sz="2800" b="1" dirty="0" smtClean="0">
                <a:solidFill>
                  <a:srgbClr val="222222"/>
                </a:solidFill>
                <a:latin typeface="Times New Roman" panose="02020603050405020304" pitchFamily="18" charset="0"/>
                <a:cs typeface="Times New Roman" panose="02020603050405020304" pitchFamily="18" charset="0"/>
              </a:rPr>
              <a:t>Theorem</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Consistency: </a:t>
            </a:r>
            <a:r>
              <a:rPr lang="en-US" sz="2800" dirty="0">
                <a:solidFill>
                  <a:schemeClr val="tx1"/>
                </a:solidFill>
                <a:latin typeface="Times New Roman" panose="02020603050405020304" pitchFamily="18" charset="0"/>
                <a:cs typeface="Times New Roman" panose="02020603050405020304" pitchFamily="18" charset="0"/>
              </a:rPr>
              <a:t>Every read receives the most recent write or an error.</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Availability: </a:t>
            </a:r>
            <a:r>
              <a:rPr lang="en-US" sz="2800" dirty="0">
                <a:solidFill>
                  <a:schemeClr val="tx1"/>
                </a:solidFill>
                <a:latin typeface="Times New Roman" panose="02020603050405020304" pitchFamily="18" charset="0"/>
                <a:cs typeface="Times New Roman" panose="02020603050405020304" pitchFamily="18" charset="0"/>
              </a:rPr>
              <a:t>Every request receives a (non-error) response – without the guarantee that it contains the most recent write.</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Partition tolerance: </a:t>
            </a:r>
            <a:r>
              <a:rPr lang="en-US" sz="2800" dirty="0">
                <a:solidFill>
                  <a:schemeClr val="tx1"/>
                </a:solidFill>
                <a:latin typeface="Times New Roman" panose="02020603050405020304" pitchFamily="18" charset="0"/>
                <a:cs typeface="Times New Roman" panose="02020603050405020304" pitchFamily="18" charset="0"/>
              </a:rPr>
              <a:t>Even if there is a network outage in the data center and some of the computers are unreachable, still the system continues to perform.</a:t>
            </a:r>
          </a:p>
        </p:txBody>
      </p:sp>
    </p:spTree>
    <p:extLst>
      <p:ext uri="{BB962C8B-B14F-4D97-AF65-F5344CB8AC3E}">
        <p14:creationId xmlns:p14="http://schemas.microsoft.com/office/powerpoint/2010/main" val="205867544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10.1 NoSQL Databases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508809"/>
          </a:xfrm>
        </p:spPr>
        <p:txBody>
          <a:bodyPr>
            <a:normAutofit lnSpcReduction="10000"/>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The CAP </a:t>
            </a:r>
            <a:r>
              <a:rPr lang="en-US" sz="2800" b="1" dirty="0" smtClean="0">
                <a:solidFill>
                  <a:srgbClr val="222222"/>
                </a:solidFill>
                <a:latin typeface="Times New Roman" panose="02020603050405020304" pitchFamily="18" charset="0"/>
                <a:cs typeface="Times New Roman" panose="02020603050405020304" pitchFamily="18" charset="0"/>
              </a:rPr>
              <a:t>Theorem</a:t>
            </a:r>
          </a:p>
        </p:txBody>
      </p:sp>
      <p:pic>
        <p:nvPicPr>
          <p:cNvPr id="30722" name="Picture 2" descr="https://res.cloudinary.com/practicaldev/image/fetch/s--cYcceEJt--/c_limit%2Cf_auto%2Cfl_progressive%2Cq_auto%2Cw_880/https:/thepracticaldev.s3.amazonaws.com/i/xkiuv5g9bdllz1cxmfj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1038" y="1584212"/>
            <a:ext cx="6618713" cy="363140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69879" y="5275821"/>
            <a:ext cx="8796094" cy="1200329"/>
          </a:xfrm>
          <a:prstGeom prst="rect">
            <a:avLst/>
          </a:prstGeom>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No system can provide more than 2 guarantees. </a:t>
            </a:r>
            <a:r>
              <a:rPr lang="en-US" sz="2400" dirty="0">
                <a:latin typeface="Times New Roman" panose="02020603050405020304" pitchFamily="18" charset="0"/>
                <a:cs typeface="Times New Roman" panose="02020603050405020304" pitchFamily="18" charset="0"/>
              </a:rPr>
              <a:t>In the case of a distributed systems, the partitioning of the network is a must, so the trade-off is always between consistency and availability.</a:t>
            </a:r>
          </a:p>
        </p:txBody>
      </p:sp>
    </p:spTree>
    <p:extLst>
      <p:ext uri="{BB962C8B-B14F-4D97-AF65-F5344CB8AC3E}">
        <p14:creationId xmlns:p14="http://schemas.microsoft.com/office/powerpoint/2010/main" val="318327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Assignment</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Advantages and Disadvantages of NoSQL</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NoSQL vs SQL</a:t>
            </a:r>
          </a:p>
          <a:p>
            <a:pPr marL="457200" indent="-457200" algn="just">
              <a:buClr>
                <a:schemeClr val="tx1"/>
              </a:buClr>
              <a:buSzPct val="71000"/>
              <a:buFont typeface="Wingdings" panose="05000000000000000000" pitchFamily="2" charset="2"/>
              <a:buChar char="v"/>
            </a:pP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39302564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3" name="Subtitle 2"/>
          <p:cNvSpPr>
            <a:spLocks noGrp="1"/>
          </p:cNvSpPr>
          <p:nvPr>
            <p:ph type="subTitle" idx="1"/>
          </p:nvPr>
        </p:nvSpPr>
        <p:spPr>
          <a:xfrm>
            <a:off x="1242931" y="1139687"/>
            <a:ext cx="8094254" cy="4990657"/>
          </a:xfrm>
        </p:spPr>
        <p:txBody>
          <a:bodyPr>
            <a:normAutofit lnSpcReduction="10000"/>
          </a:bodyPr>
          <a:lstStyle/>
          <a:p>
            <a:pPr marL="457200" indent="-457200" algn="just">
              <a:buClr>
                <a:schemeClr val="tx1"/>
              </a:buClr>
              <a:buSzPct val="71000"/>
              <a:buFont typeface="Wingdings" panose="05000000000000000000" pitchFamily="2" charset="2"/>
              <a:buChar char="v"/>
            </a:pPr>
            <a:r>
              <a:rPr lang="en-US" sz="2800" b="1" dirty="0">
                <a:solidFill>
                  <a:srgbClr val="222222"/>
                </a:solidFill>
                <a:latin typeface="Times New Roman" panose="02020603050405020304" pitchFamily="18" charset="0"/>
                <a:cs typeface="Times New Roman" panose="02020603050405020304" pitchFamily="18" charset="0"/>
              </a:rPr>
              <a:t>ODBMS</a:t>
            </a:r>
            <a:r>
              <a:rPr lang="en-US" sz="2800" dirty="0">
                <a:solidFill>
                  <a:srgbClr val="222222"/>
                </a:solidFill>
                <a:latin typeface="Times New Roman" panose="02020603050405020304" pitchFamily="18" charset="0"/>
                <a:cs typeface="Times New Roman" panose="02020603050405020304" pitchFamily="18" charset="0"/>
              </a:rPr>
              <a:t> stands for Object-Oriented Database Management System, which is a type of database management system that is designed to store and manage object-oriented data.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Object-oriented </a:t>
            </a:r>
            <a:r>
              <a:rPr lang="en-US" sz="2800" dirty="0">
                <a:solidFill>
                  <a:srgbClr val="222222"/>
                </a:solidFill>
                <a:latin typeface="Times New Roman" panose="02020603050405020304" pitchFamily="18" charset="0"/>
                <a:cs typeface="Times New Roman" panose="02020603050405020304" pitchFamily="18" charset="0"/>
              </a:rPr>
              <a:t>data is data that is represented using objects, which encapsulate data and behavior into a single entity</a:t>
            </a:r>
            <a:r>
              <a:rPr lang="en-US" sz="2800" dirty="0" smtClean="0">
                <a:solidFill>
                  <a:srgbClr val="222222"/>
                </a:solidFill>
                <a:latin typeface="Times New Roman" panose="02020603050405020304" pitchFamily="18" charset="0"/>
                <a:cs typeface="Times New Roman" panose="02020603050405020304"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Object oriented data model is based upon real world situations. </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anose="02020603050405020304" pitchFamily="18" charset="0"/>
                <a:cs typeface="Times New Roman" panose="02020603050405020304" pitchFamily="18" charset="0"/>
              </a:rPr>
              <a:t>All </a:t>
            </a:r>
            <a:r>
              <a:rPr lang="en-US" sz="2800" dirty="0">
                <a:solidFill>
                  <a:schemeClr val="tx1"/>
                </a:solidFill>
                <a:latin typeface="Times New Roman" panose="02020603050405020304" pitchFamily="18" charset="0"/>
                <a:cs typeface="Times New Roman" panose="02020603050405020304" pitchFamily="18" charset="0"/>
              </a:rPr>
              <a:t>these object have multiple relationships between them</a:t>
            </a:r>
            <a:r>
              <a:rPr lang="en-US" sz="2800" dirty="0" smtClean="0">
                <a:solidFill>
                  <a:schemeClr val="tx1"/>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79605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3" name="Subtitle 2"/>
          <p:cNvSpPr>
            <a:spLocks noGrp="1"/>
          </p:cNvSpPr>
          <p:nvPr>
            <p:ph type="subTitle" idx="1"/>
          </p:nvPr>
        </p:nvSpPr>
        <p:spPr>
          <a:xfrm>
            <a:off x="1242931"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It maintains correspondence between real world and database objects without loosing integrity and identity.</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Object has state and behavior</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Entity is represented as a class.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Instances of the class are objects.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Within an object , the class attributes takes specific values.</a:t>
            </a:r>
          </a:p>
        </p:txBody>
      </p:sp>
    </p:spTree>
    <p:extLst>
      <p:ext uri="{BB962C8B-B14F-4D97-AF65-F5344CB8AC3E}">
        <p14:creationId xmlns:p14="http://schemas.microsoft.com/office/powerpoint/2010/main" val="9152908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Elements of object oriented model</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Object</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Attributes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Methods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Class</a:t>
            </a:r>
          </a:p>
        </p:txBody>
      </p:sp>
    </p:spTree>
    <p:extLst>
      <p:ext uri="{BB962C8B-B14F-4D97-AF65-F5344CB8AC3E}">
        <p14:creationId xmlns:p14="http://schemas.microsoft.com/office/powerpoint/2010/main" val="114876021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3" name="Subtitle 2"/>
          <p:cNvSpPr>
            <a:spLocks noGrp="1"/>
          </p:cNvSpPr>
          <p:nvPr>
            <p:ph type="subTitle" idx="1"/>
          </p:nvPr>
        </p:nvSpPr>
        <p:spPr>
          <a:xfrm>
            <a:off x="1242931" y="1139687"/>
            <a:ext cx="8094254" cy="508809"/>
          </a:xfrm>
        </p:spPr>
        <p:txBody>
          <a:bodyPr>
            <a:normAutofit lnSpcReduction="10000"/>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Object v/s Relational Model</a:t>
            </a:r>
          </a:p>
        </p:txBody>
      </p:sp>
      <p:pic>
        <p:nvPicPr>
          <p:cNvPr id="4" name="Picture 3"/>
          <p:cNvPicPr>
            <a:picLocks noChangeAspect="1"/>
          </p:cNvPicPr>
          <p:nvPr/>
        </p:nvPicPr>
        <p:blipFill>
          <a:blip r:embed="rId3"/>
          <a:stretch>
            <a:fillRect/>
          </a:stretch>
        </p:blipFill>
        <p:spPr>
          <a:xfrm>
            <a:off x="1281567" y="1931830"/>
            <a:ext cx="8094254" cy="4481849"/>
          </a:xfrm>
          <a:prstGeom prst="rect">
            <a:avLst/>
          </a:prstGeom>
        </p:spPr>
      </p:pic>
    </p:spTree>
    <p:extLst>
      <p:ext uri="{BB962C8B-B14F-4D97-AF65-F5344CB8AC3E}">
        <p14:creationId xmlns:p14="http://schemas.microsoft.com/office/powerpoint/2010/main" val="72424673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3" name="Subtitle 2"/>
          <p:cNvSpPr>
            <a:spLocks noGrp="1"/>
          </p:cNvSpPr>
          <p:nvPr>
            <p:ph type="subTitle" idx="1"/>
          </p:nvPr>
        </p:nvSpPr>
        <p:spPr>
          <a:xfrm>
            <a:off x="1242931" y="1139687"/>
            <a:ext cx="8094254" cy="4990657"/>
          </a:xfrm>
        </p:spPr>
        <p:txBody>
          <a:bodyPr>
            <a:normAutofit fontScale="925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Feature </a:t>
            </a:r>
            <a:r>
              <a:rPr lang="en-US" sz="2800" b="1" dirty="0">
                <a:solidFill>
                  <a:srgbClr val="222222"/>
                </a:solidFill>
                <a:latin typeface="Times New Roman" panose="02020603050405020304" pitchFamily="18" charset="0"/>
                <a:cs typeface="Times New Roman" panose="02020603050405020304" pitchFamily="18" charset="0"/>
              </a:rPr>
              <a:t>of object oriented </a:t>
            </a:r>
            <a:r>
              <a:rPr lang="en-US" sz="2800" b="1" dirty="0" smtClean="0">
                <a:solidFill>
                  <a:srgbClr val="222222"/>
                </a:solidFill>
                <a:latin typeface="Times New Roman" panose="02020603050405020304" pitchFamily="18" charset="0"/>
                <a:cs typeface="Times New Roman" panose="02020603050405020304" pitchFamily="18" charset="0"/>
              </a:rPr>
              <a:t>Database</a:t>
            </a:r>
            <a:endParaRPr lang="en-US" sz="2800" b="1" dirty="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Times New Roman" panose="02020603050405020304" pitchFamily="18" charset="0"/>
                <a:cs typeface="Times New Roman" panose="02020603050405020304" pitchFamily="18" charset="0"/>
              </a:rPr>
              <a:t>Object-Oriented Data Model: </a:t>
            </a:r>
            <a:r>
              <a:rPr lang="en-US" sz="2800" dirty="0">
                <a:solidFill>
                  <a:srgbClr val="222222"/>
                </a:solidFill>
                <a:latin typeface="Times New Roman" panose="02020603050405020304" pitchFamily="18" charset="0"/>
                <a:cs typeface="Times New Roman" panose="02020603050405020304" pitchFamily="18" charset="0"/>
              </a:rPr>
              <a:t>OODBs use an object-oriented data model to represent data as objects, which consist of attributes and methods.</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Times New Roman" panose="02020603050405020304" pitchFamily="18" charset="0"/>
                <a:cs typeface="Times New Roman" panose="02020603050405020304" pitchFamily="18" charset="0"/>
              </a:rPr>
              <a:t>Encapsulation: </a:t>
            </a:r>
            <a:r>
              <a:rPr lang="en-US" sz="2800" dirty="0">
                <a:solidFill>
                  <a:srgbClr val="222222"/>
                </a:solidFill>
                <a:latin typeface="Times New Roman" panose="02020603050405020304" pitchFamily="18" charset="0"/>
                <a:cs typeface="Times New Roman" panose="02020603050405020304" pitchFamily="18" charset="0"/>
              </a:rPr>
              <a:t>OODBs support encapsulation, which means that an object's data and methods are bundled together, providing data security and integrity.</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Times New Roman" panose="02020603050405020304" pitchFamily="18" charset="0"/>
                <a:cs typeface="Times New Roman" panose="02020603050405020304" pitchFamily="18" charset="0"/>
              </a:rPr>
              <a:t>Inheritance: </a:t>
            </a:r>
            <a:r>
              <a:rPr lang="en-US" sz="2800" dirty="0">
                <a:solidFill>
                  <a:srgbClr val="222222"/>
                </a:solidFill>
                <a:latin typeface="Times New Roman" panose="02020603050405020304" pitchFamily="18" charset="0"/>
                <a:cs typeface="Times New Roman" panose="02020603050405020304" pitchFamily="18" charset="0"/>
              </a:rPr>
              <a:t>OODBs allow objects to inherit attributes and methods from other objects, enabling the creation of hierarchical relationships and code reuse.</a:t>
            </a:r>
          </a:p>
        </p:txBody>
      </p:sp>
    </p:spTree>
    <p:extLst>
      <p:ext uri="{BB962C8B-B14F-4D97-AF65-F5344CB8AC3E}">
        <p14:creationId xmlns:p14="http://schemas.microsoft.com/office/powerpoint/2010/main" val="42666522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3" name="Subtitle 2"/>
          <p:cNvSpPr>
            <a:spLocks noGrp="1"/>
          </p:cNvSpPr>
          <p:nvPr>
            <p:ph type="subTitle" idx="1"/>
          </p:nvPr>
        </p:nvSpPr>
        <p:spPr>
          <a:xfrm>
            <a:off x="1242931" y="1139687"/>
            <a:ext cx="8094254" cy="4990657"/>
          </a:xfrm>
        </p:spPr>
        <p:txBody>
          <a:bodyPr>
            <a:normAutofit lnSpcReduction="1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Feature </a:t>
            </a:r>
            <a:r>
              <a:rPr lang="en-US" sz="2800" b="1" dirty="0">
                <a:solidFill>
                  <a:srgbClr val="222222"/>
                </a:solidFill>
                <a:latin typeface="Times New Roman" panose="02020603050405020304" pitchFamily="18" charset="0"/>
                <a:cs typeface="Times New Roman" panose="02020603050405020304" pitchFamily="18" charset="0"/>
              </a:rPr>
              <a:t>of object oriented </a:t>
            </a:r>
            <a:r>
              <a:rPr lang="en-US" sz="2800" b="1" dirty="0" smtClean="0">
                <a:solidFill>
                  <a:srgbClr val="222222"/>
                </a:solidFill>
                <a:latin typeface="Times New Roman" panose="02020603050405020304" pitchFamily="18" charset="0"/>
                <a:cs typeface="Times New Roman" panose="02020603050405020304" pitchFamily="18" charset="0"/>
              </a:rPr>
              <a:t>Database</a:t>
            </a:r>
            <a:endParaRPr lang="en-US" sz="2800" b="1" dirty="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b="1" dirty="0" smtClean="0">
                <a:solidFill>
                  <a:srgbClr val="222222"/>
                </a:solidFill>
                <a:latin typeface="Times New Roman" panose="02020603050405020304" pitchFamily="18" charset="0"/>
                <a:cs typeface="Times New Roman" panose="02020603050405020304" pitchFamily="18" charset="0"/>
              </a:rPr>
              <a:t>Polymorphism: </a:t>
            </a:r>
            <a:r>
              <a:rPr lang="en-US" sz="2800" dirty="0" smtClean="0">
                <a:solidFill>
                  <a:srgbClr val="222222"/>
                </a:solidFill>
                <a:latin typeface="Times New Roman" panose="02020603050405020304" pitchFamily="18" charset="0"/>
                <a:cs typeface="Times New Roman" panose="02020603050405020304" pitchFamily="18" charset="0"/>
              </a:rPr>
              <a:t>OODBs support polymorphism, allowing objects to be treated as instances of their parent class, enabling flexibility and extensibility.</a:t>
            </a:r>
          </a:p>
          <a:p>
            <a:pPr marL="457200" indent="-457200" algn="just">
              <a:buClr>
                <a:schemeClr val="tx1"/>
              </a:buClr>
              <a:buSzPct val="71000"/>
              <a:buFont typeface="Wingdings" panose="05000000000000000000" pitchFamily="2" charset="2"/>
              <a:buChar char="v"/>
            </a:pPr>
            <a:r>
              <a:rPr lang="en-US" sz="2800" b="1" dirty="0" smtClean="0">
                <a:solidFill>
                  <a:srgbClr val="222222"/>
                </a:solidFill>
                <a:latin typeface="Times New Roman" panose="02020603050405020304" pitchFamily="18" charset="0"/>
                <a:cs typeface="Times New Roman" panose="02020603050405020304" pitchFamily="18" charset="0"/>
              </a:rPr>
              <a:t>Complex Data Types: </a:t>
            </a:r>
            <a:r>
              <a:rPr lang="en-US" sz="2800" dirty="0" smtClean="0">
                <a:solidFill>
                  <a:srgbClr val="222222"/>
                </a:solidFill>
                <a:latin typeface="Times New Roman" panose="02020603050405020304" pitchFamily="18" charset="0"/>
                <a:cs typeface="Times New Roman" panose="02020603050405020304" pitchFamily="18" charset="0"/>
              </a:rPr>
              <a:t>OODBs support complex data types, such as arrays, lists, and sets, providing flexibility in data representation.</a:t>
            </a:r>
          </a:p>
          <a:p>
            <a:pPr marL="457200" indent="-457200" algn="just">
              <a:buClr>
                <a:schemeClr val="tx1"/>
              </a:buClr>
              <a:buSzPct val="71000"/>
              <a:buFont typeface="Wingdings" panose="05000000000000000000" pitchFamily="2" charset="2"/>
              <a:buChar char="v"/>
            </a:pPr>
            <a:r>
              <a:rPr lang="en-US" sz="2800" b="1" dirty="0" smtClean="0">
                <a:solidFill>
                  <a:srgbClr val="222222"/>
                </a:solidFill>
                <a:latin typeface="Times New Roman" panose="02020603050405020304" pitchFamily="18" charset="0"/>
                <a:cs typeface="Times New Roman" panose="02020603050405020304" pitchFamily="18" charset="0"/>
              </a:rPr>
              <a:t>Query Language: </a:t>
            </a:r>
            <a:r>
              <a:rPr lang="en-US" sz="2800" dirty="0" smtClean="0">
                <a:solidFill>
                  <a:srgbClr val="222222"/>
                </a:solidFill>
                <a:latin typeface="Times New Roman" panose="02020603050405020304" pitchFamily="18" charset="0"/>
                <a:cs typeface="Times New Roman" panose="02020603050405020304" pitchFamily="18" charset="0"/>
              </a:rPr>
              <a:t>OODBs provide a query language that allows users to retrieve and manipulate objects using a language tailored for object-oriented data.</a:t>
            </a:r>
            <a:endParaRPr lang="en-US" sz="2800" dirty="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664474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3" name="Subtitle 2"/>
          <p:cNvSpPr>
            <a:spLocks noGrp="1"/>
          </p:cNvSpPr>
          <p:nvPr>
            <p:ph type="subTitle" idx="1"/>
          </p:nvPr>
        </p:nvSpPr>
        <p:spPr>
          <a:xfrm>
            <a:off x="1242931"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b="1" dirty="0">
                <a:solidFill>
                  <a:srgbClr val="222222"/>
                </a:solidFill>
                <a:latin typeface="Times New Roman" panose="02020603050405020304" pitchFamily="18" charset="0"/>
                <a:cs typeface="Times New Roman" panose="02020603050405020304" pitchFamily="18" charset="0"/>
              </a:rPr>
              <a:t>Object Relational Mapping (ORM) </a:t>
            </a:r>
            <a:r>
              <a:rPr lang="en-US" sz="2800" dirty="0">
                <a:solidFill>
                  <a:srgbClr val="222222"/>
                </a:solidFill>
                <a:latin typeface="Times New Roman" panose="02020603050405020304" pitchFamily="18" charset="0"/>
                <a:cs typeface="Times New Roman" panose="02020603050405020304" pitchFamily="18" charset="0"/>
              </a:rPr>
              <a:t>is a technique used in creating a "bridge" between object-oriented programs and, </a:t>
            </a:r>
            <a:r>
              <a:rPr lang="en-US" sz="2800" dirty="0" smtClean="0">
                <a:solidFill>
                  <a:srgbClr val="222222"/>
                </a:solidFill>
                <a:latin typeface="Times New Roman" panose="02020603050405020304" pitchFamily="18" charset="0"/>
                <a:cs typeface="Times New Roman" panose="02020603050405020304" pitchFamily="18" charset="0"/>
              </a:rPr>
              <a:t>in </a:t>
            </a:r>
            <a:r>
              <a:rPr lang="en-US" sz="2800" dirty="0">
                <a:solidFill>
                  <a:srgbClr val="222222"/>
                </a:solidFill>
                <a:latin typeface="Times New Roman" panose="02020603050405020304" pitchFamily="18" charset="0"/>
                <a:cs typeface="Times New Roman" panose="02020603050405020304" pitchFamily="18" charset="0"/>
              </a:rPr>
              <a:t>most cases, relational databases</a:t>
            </a:r>
            <a:r>
              <a:rPr lang="en-US" sz="2800" dirty="0" smtClean="0">
                <a:solidFill>
                  <a:srgbClr val="222222"/>
                </a:solidFill>
                <a:latin typeface="Times New Roman" panose="02020603050405020304" pitchFamily="18" charset="0"/>
                <a:cs typeface="Times New Roman" panose="02020603050405020304" pitchFamily="18" charset="0"/>
              </a:rPr>
              <a:t>.</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The idea of ORM is </a:t>
            </a:r>
            <a:r>
              <a:rPr lang="en-US" sz="2800" b="1" dirty="0">
                <a:solidFill>
                  <a:srgbClr val="222222"/>
                </a:solidFill>
                <a:latin typeface="Times New Roman" panose="02020603050405020304" pitchFamily="18" charset="0"/>
                <a:cs typeface="Times New Roman" panose="02020603050405020304" pitchFamily="18" charset="0"/>
              </a:rPr>
              <a:t>based on abstraction</a:t>
            </a:r>
            <a:r>
              <a:rPr lang="en-US" sz="2800" dirty="0">
                <a:solidFill>
                  <a:srgbClr val="222222"/>
                </a:solidFill>
                <a:latin typeface="Times New Roman" panose="02020603050405020304" pitchFamily="18" charset="0"/>
                <a:cs typeface="Times New Roman" panose="02020603050405020304" pitchFamily="18" charset="0"/>
              </a:rPr>
              <a:t>. The ORM mechanism makes it possible to address, access and manipulate objects without having to consider how those objects relate to their data sources.</a:t>
            </a:r>
          </a:p>
        </p:txBody>
      </p:sp>
    </p:spTree>
    <p:extLst>
      <p:ext uri="{BB962C8B-B14F-4D97-AF65-F5344CB8AC3E}">
        <p14:creationId xmlns:p14="http://schemas.microsoft.com/office/powerpoint/2010/main" val="37349281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3" name="Subtitle 2"/>
          <p:cNvSpPr>
            <a:spLocks noGrp="1"/>
          </p:cNvSpPr>
          <p:nvPr>
            <p:ph type="subTitle" idx="1"/>
          </p:nvPr>
        </p:nvSpPr>
        <p:spPr>
          <a:xfrm>
            <a:off x="1242931"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b="1" dirty="0">
                <a:solidFill>
                  <a:srgbClr val="222222"/>
                </a:solidFill>
                <a:latin typeface="Times New Roman" panose="02020603050405020304" pitchFamily="18" charset="0"/>
                <a:cs typeface="Times New Roman" panose="02020603050405020304" pitchFamily="18" charset="0"/>
              </a:rPr>
              <a:t>ORM </a:t>
            </a:r>
            <a:r>
              <a:rPr lang="en-US" sz="2800" dirty="0">
                <a:solidFill>
                  <a:srgbClr val="222222"/>
                </a:solidFill>
                <a:latin typeface="Times New Roman" panose="02020603050405020304" pitchFamily="18" charset="0"/>
                <a:cs typeface="Times New Roman" panose="02020603050405020304" pitchFamily="18" charset="0"/>
              </a:rPr>
              <a:t>is a programming technique for converting data between incompatible type systems into object oriented programming language.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This creates a virtual object database , which can be used from within the programming language.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It is necessary because objects are almost non-scales values while the DBMS can only store and manipulate scalar values organized within tables.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ORM convert object values into group of singular values for storages in the database.</a:t>
            </a:r>
          </a:p>
        </p:txBody>
      </p:sp>
    </p:spTree>
    <p:extLst>
      <p:ext uri="{BB962C8B-B14F-4D97-AF65-F5344CB8AC3E}">
        <p14:creationId xmlns:p14="http://schemas.microsoft.com/office/powerpoint/2010/main" val="37317098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4" name="AutoShape 2" descr="OR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2773" name="Picture 5" descr="Best ORM Tools for Java, Python. and .NET: When to Use Th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87" y="1262264"/>
            <a:ext cx="8730583" cy="4829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1026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4" name="AutoShape 2" descr="OR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27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189" y="1378038"/>
            <a:ext cx="9567015" cy="4082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979574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4" name="AutoShape 2" descr="OR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dirty="0">
                <a:solidFill>
                  <a:srgbClr val="222222"/>
                </a:solidFill>
                <a:latin typeface="Times New Roman" panose="02020603050405020304" pitchFamily="18" charset="0"/>
                <a:cs typeface="Times New Roman" panose="02020603050405020304" pitchFamily="18" charset="0"/>
              </a:rPr>
              <a:t>Here's an example of SQL code that retrieves information about a particular user from a database</a:t>
            </a:r>
            <a:r>
              <a:rPr lang="en-US" sz="2800" dirty="0" smtClean="0">
                <a:solidFill>
                  <a:srgbClr val="222222"/>
                </a:solidFill>
                <a:latin typeface="Times New Roman" panose="02020603050405020304" pitchFamily="18" charset="0"/>
                <a:cs typeface="Times New Roman" panose="02020603050405020304" pitchFamily="18" charset="0"/>
              </a:rPr>
              <a:t>:</a:t>
            </a:r>
            <a:endParaRPr lang="en-US" sz="2800" dirty="0">
              <a:solidFill>
                <a:srgbClr val="222222"/>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SELECT </a:t>
            </a:r>
            <a:r>
              <a:rPr lang="en-US" sz="2800" b="1" dirty="0">
                <a:solidFill>
                  <a:srgbClr val="222222"/>
                </a:solidFill>
                <a:latin typeface="Times New Roman" panose="02020603050405020304" pitchFamily="18" charset="0"/>
                <a:cs typeface="Times New Roman" panose="02020603050405020304" pitchFamily="18" charset="0"/>
              </a:rPr>
              <a:t>id, name, email, country, </a:t>
            </a:r>
            <a:r>
              <a:rPr lang="en-US" sz="2800" b="1" dirty="0" err="1">
                <a:solidFill>
                  <a:srgbClr val="222222"/>
                </a:solidFill>
                <a:latin typeface="Times New Roman" panose="02020603050405020304" pitchFamily="18" charset="0"/>
                <a:cs typeface="Times New Roman" panose="02020603050405020304" pitchFamily="18" charset="0"/>
              </a:rPr>
              <a:t>phone_number</a:t>
            </a:r>
            <a:r>
              <a:rPr lang="en-US" sz="2800" b="1" dirty="0">
                <a:solidFill>
                  <a:srgbClr val="222222"/>
                </a:solidFill>
                <a:latin typeface="Times New Roman" panose="02020603050405020304" pitchFamily="18" charset="0"/>
                <a:cs typeface="Times New Roman" panose="02020603050405020304" pitchFamily="18" charset="0"/>
              </a:rPr>
              <a:t> FROM users </a:t>
            </a:r>
            <a:r>
              <a:rPr lang="en-US" sz="2800" b="1" dirty="0" smtClean="0">
                <a:solidFill>
                  <a:srgbClr val="222222"/>
                </a:solidFill>
                <a:latin typeface="Times New Roman" panose="02020603050405020304" pitchFamily="18" charset="0"/>
                <a:cs typeface="Times New Roman" panose="02020603050405020304" pitchFamily="18" charset="0"/>
              </a:rPr>
              <a:t>WHERE </a:t>
            </a:r>
            <a:r>
              <a:rPr lang="en-US" sz="2800" b="1" dirty="0">
                <a:solidFill>
                  <a:srgbClr val="222222"/>
                </a:solidFill>
                <a:latin typeface="Times New Roman" panose="02020603050405020304" pitchFamily="18" charset="0"/>
                <a:cs typeface="Times New Roman" panose="02020603050405020304" pitchFamily="18" charset="0"/>
              </a:rPr>
              <a:t>id = </a:t>
            </a:r>
            <a:r>
              <a:rPr lang="en-US" sz="2800" b="1" dirty="0" smtClean="0">
                <a:solidFill>
                  <a:srgbClr val="222222"/>
                </a:solidFill>
                <a:latin typeface="Times New Roman" panose="02020603050405020304" pitchFamily="18" charset="0"/>
                <a:cs typeface="Times New Roman" panose="02020603050405020304" pitchFamily="18" charset="0"/>
              </a:rPr>
              <a:t>20;</a:t>
            </a:r>
          </a:p>
          <a:p>
            <a:pPr algn="just">
              <a:buClr>
                <a:schemeClr val="tx1"/>
              </a:buClr>
              <a:buSzPct val="71000"/>
            </a:pPr>
            <a:r>
              <a:rPr lang="en-US" sz="2800" dirty="0">
                <a:solidFill>
                  <a:srgbClr val="222222"/>
                </a:solidFill>
                <a:latin typeface="Times New Roman" panose="02020603050405020304" pitchFamily="18" charset="0"/>
                <a:cs typeface="Times New Roman" panose="02020603050405020304" pitchFamily="18" charset="0"/>
              </a:rPr>
              <a:t>On the other hand, an ORM tool can do the same query as above with simpler methods. That is</a:t>
            </a:r>
            <a:r>
              <a:rPr lang="en-US" sz="2800" dirty="0" smtClean="0">
                <a:solidFill>
                  <a:srgbClr val="222222"/>
                </a:solidFill>
                <a:latin typeface="Times New Roman" panose="02020603050405020304" pitchFamily="18" charset="0"/>
                <a:cs typeface="Times New Roman" panose="02020603050405020304" pitchFamily="18" charset="0"/>
              </a:rPr>
              <a:t>:</a:t>
            </a:r>
            <a:endParaRPr lang="en-US" sz="2800" dirty="0">
              <a:solidFill>
                <a:srgbClr val="222222"/>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b="1" dirty="0" err="1">
                <a:solidFill>
                  <a:srgbClr val="222222"/>
                </a:solidFill>
                <a:latin typeface="Times New Roman" panose="02020603050405020304" pitchFamily="18" charset="0"/>
                <a:cs typeface="Times New Roman" panose="02020603050405020304" pitchFamily="18" charset="0"/>
              </a:rPr>
              <a:t>users.GetById</a:t>
            </a:r>
            <a:r>
              <a:rPr lang="en-US" sz="2800" b="1" dirty="0">
                <a:solidFill>
                  <a:srgbClr val="222222"/>
                </a:solidFill>
                <a:latin typeface="Times New Roman" panose="02020603050405020304" pitchFamily="18" charset="0"/>
                <a:cs typeface="Times New Roman" panose="02020603050405020304" pitchFamily="18" charset="0"/>
              </a:rPr>
              <a:t>(20</a:t>
            </a:r>
            <a:r>
              <a:rPr lang="en-US" sz="2800" b="1" dirty="0" smtClean="0">
                <a:solidFill>
                  <a:srgbClr val="222222"/>
                </a:solidFill>
                <a:latin typeface="Times New Roman" panose="02020603050405020304" pitchFamily="18" charset="0"/>
                <a:cs typeface="Times New Roman" panose="02020603050405020304" pitchFamily="18" charset="0"/>
              </a:rPr>
              <a:t>);</a:t>
            </a:r>
          </a:p>
          <a:p>
            <a:pPr algn="just">
              <a:buClr>
                <a:schemeClr val="tx1"/>
              </a:buClr>
              <a:buSzPct val="71000"/>
            </a:pPr>
            <a:r>
              <a:rPr lang="en-US" sz="2400" i="1" dirty="0">
                <a:solidFill>
                  <a:srgbClr val="222222"/>
                </a:solidFill>
                <a:latin typeface="Times New Roman" panose="02020603050405020304" pitchFamily="18" charset="0"/>
                <a:cs typeface="Times New Roman" panose="02020603050405020304" pitchFamily="18" charset="0"/>
              </a:rPr>
              <a:t>So the code above does the same as the SQL query. Note that every ORM tool is built differently so the methods are never the same, but the general purpose is similar.</a:t>
            </a:r>
          </a:p>
          <a:p>
            <a:pPr algn="just">
              <a:buClr>
                <a:schemeClr val="tx1"/>
              </a:buClr>
              <a:buSzPct val="71000"/>
            </a:pPr>
            <a:endParaRPr lang="en-US" sz="2800" b="1" dirty="0" smtClean="0">
              <a:solidFill>
                <a:srgbClr val="222222"/>
              </a:solidFill>
              <a:latin typeface="Times New Roman" panose="02020603050405020304" pitchFamily="18" charset="0"/>
              <a:cs typeface="Times New Roman" panose="02020603050405020304" pitchFamily="18" charset="0"/>
            </a:endParaRPr>
          </a:p>
          <a:p>
            <a:pPr algn="just">
              <a:buClr>
                <a:schemeClr val="tx1"/>
              </a:buClr>
              <a:buSzPct val="71000"/>
            </a:pPr>
            <a:endParaRPr lang="en-US" sz="2800" b="1" dirty="0">
              <a:solidFill>
                <a:srgbClr val="222222"/>
              </a:solidFill>
              <a:latin typeface="Times New Roman" panose="02020603050405020304" pitchFamily="18" charset="0"/>
              <a:cs typeface="Times New Roman" panose="02020603050405020304" pitchFamily="18" charset="0"/>
            </a:endParaRPr>
          </a:p>
          <a:p>
            <a:pPr algn="just">
              <a:buClr>
                <a:schemeClr val="tx1"/>
              </a:buClr>
              <a:buSzPct val="71000"/>
            </a:pPr>
            <a:endParaRPr lang="en-US" sz="2800" dirty="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06819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latin typeface="Times New Roman" panose="02020603050405020304" pitchFamily="18" charset="0"/>
                <a:cs typeface="Times New Roman" panose="02020603050405020304" pitchFamily="18" charset="0"/>
              </a:rPr>
              <a:t>10.2 Object Oriented Database and ORM</a:t>
            </a: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Popular ORM Tools for </a:t>
            </a:r>
            <a:r>
              <a:rPr lang="en-US" sz="2800" b="1" dirty="0" smtClean="0">
                <a:solidFill>
                  <a:schemeClr val="tx1"/>
                </a:solidFill>
                <a:latin typeface="Times New Roman" panose="02020603050405020304" pitchFamily="18" charset="0"/>
                <a:cs typeface="Times New Roman" panose="02020603050405020304" pitchFamily="18" charset="0"/>
              </a:rPr>
              <a:t>Java</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anose="02020603050405020304" pitchFamily="18" charset="0"/>
                <a:cs typeface="Times New Roman" panose="02020603050405020304" pitchFamily="18" charset="0"/>
              </a:rPr>
              <a:t>Hibernate, Apache </a:t>
            </a:r>
            <a:r>
              <a:rPr lang="en-US" sz="2600" dirty="0" err="1">
                <a:solidFill>
                  <a:schemeClr val="tx1"/>
                </a:solidFill>
                <a:latin typeface="Times New Roman" panose="02020603050405020304" pitchFamily="18" charset="0"/>
                <a:cs typeface="Times New Roman" panose="02020603050405020304" pitchFamily="18" charset="0"/>
              </a:rPr>
              <a:t>OpenJPA</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EclipseLink</a:t>
            </a:r>
            <a:endParaRPr lang="en-US" sz="2600" dirty="0">
              <a:solidFill>
                <a:schemeClr val="tx1"/>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b="1" dirty="0" smtClean="0">
                <a:solidFill>
                  <a:schemeClr val="tx1"/>
                </a:solidFill>
                <a:latin typeface="Times New Roman" panose="02020603050405020304" pitchFamily="18" charset="0"/>
                <a:cs typeface="Times New Roman" panose="02020603050405020304" pitchFamily="18" charset="0"/>
              </a:rPr>
              <a:t>Popular </a:t>
            </a:r>
            <a:r>
              <a:rPr lang="en-US" sz="2800" b="1" dirty="0">
                <a:solidFill>
                  <a:schemeClr val="tx1"/>
                </a:solidFill>
                <a:latin typeface="Times New Roman" panose="02020603050405020304" pitchFamily="18" charset="0"/>
                <a:cs typeface="Times New Roman" panose="02020603050405020304" pitchFamily="18" charset="0"/>
              </a:rPr>
              <a:t>ORM Tools for </a:t>
            </a:r>
            <a:r>
              <a:rPr lang="en-US" sz="2800" b="1" dirty="0" smtClean="0">
                <a:solidFill>
                  <a:schemeClr val="tx1"/>
                </a:solidFill>
                <a:latin typeface="Times New Roman" panose="02020603050405020304" pitchFamily="18" charset="0"/>
                <a:cs typeface="Times New Roman" panose="02020603050405020304" pitchFamily="18" charset="0"/>
              </a:rPr>
              <a:t>Python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anose="02020603050405020304" pitchFamily="18" charset="0"/>
                <a:cs typeface="Times New Roman" panose="02020603050405020304" pitchFamily="18" charset="0"/>
              </a:rPr>
              <a:t>Django, Web2py, </a:t>
            </a:r>
            <a:r>
              <a:rPr lang="en-US" sz="2600" dirty="0" err="1" smtClean="0">
                <a:solidFill>
                  <a:schemeClr val="tx1"/>
                </a:solidFill>
                <a:latin typeface="Times New Roman" panose="02020603050405020304" pitchFamily="18" charset="0"/>
                <a:cs typeface="Times New Roman" panose="02020603050405020304" pitchFamily="18" charset="0"/>
              </a:rPr>
              <a:t>SQLObject</a:t>
            </a:r>
            <a:endParaRPr lang="en-US" sz="2600" dirty="0" smtClean="0">
              <a:solidFill>
                <a:schemeClr val="tx1"/>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Popular ORM Tools for </a:t>
            </a:r>
            <a:r>
              <a:rPr lang="en-US" sz="2800" b="1" dirty="0" smtClean="0">
                <a:solidFill>
                  <a:schemeClr val="tx1"/>
                </a:solidFill>
                <a:latin typeface="Times New Roman" panose="02020603050405020304" pitchFamily="18" charset="0"/>
                <a:cs typeface="Times New Roman" panose="02020603050405020304" pitchFamily="18" charset="0"/>
              </a:rPr>
              <a:t>PHP</a:t>
            </a:r>
          </a:p>
          <a:p>
            <a:pPr marL="914389" lvl="1" indent="-457200" algn="just">
              <a:buClr>
                <a:schemeClr val="tx1"/>
              </a:buClr>
              <a:buSzPct val="71000"/>
              <a:buFont typeface="Wingdings" panose="05000000000000000000" pitchFamily="2" charset="2"/>
              <a:buChar char="v"/>
            </a:pPr>
            <a:r>
              <a:rPr lang="en-US" sz="2600" dirty="0" err="1">
                <a:solidFill>
                  <a:schemeClr val="tx1"/>
                </a:solidFill>
                <a:latin typeface="Times New Roman" panose="02020603050405020304" pitchFamily="18" charset="0"/>
                <a:cs typeface="Times New Roman" panose="02020603050405020304" pitchFamily="18" charset="0"/>
              </a:rPr>
              <a:t>Laravel</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smtClean="0">
                <a:solidFill>
                  <a:schemeClr val="tx1"/>
                </a:solidFill>
                <a:latin typeface="Times New Roman" panose="02020603050405020304" pitchFamily="18" charset="0"/>
                <a:cs typeface="Times New Roman" panose="02020603050405020304" pitchFamily="18" charset="0"/>
              </a:rPr>
              <a:t>CakePHP</a:t>
            </a:r>
            <a:r>
              <a:rPr lang="en-US" sz="2600" dirty="0" smtClean="0">
                <a:solidFill>
                  <a:schemeClr val="tx1"/>
                </a:solidFill>
                <a:latin typeface="Times New Roman" panose="02020603050405020304" pitchFamily="18" charset="0"/>
                <a:cs typeface="Times New Roman" panose="02020603050405020304" pitchFamily="18" charset="0"/>
              </a:rPr>
              <a:t>, Doctrine</a:t>
            </a:r>
          </a:p>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Popular ORM Tools for .</a:t>
            </a:r>
            <a:r>
              <a:rPr lang="en-US" sz="2800" b="1" dirty="0" smtClean="0">
                <a:solidFill>
                  <a:schemeClr val="tx1"/>
                </a:solidFill>
                <a:latin typeface="Times New Roman" panose="02020603050405020304" pitchFamily="18" charset="0"/>
                <a:cs typeface="Times New Roman" panose="02020603050405020304" pitchFamily="18" charset="0"/>
              </a:rPr>
              <a:t>NET</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anose="02020603050405020304" pitchFamily="18" charset="0"/>
                <a:cs typeface="Times New Roman" panose="02020603050405020304" pitchFamily="18" charset="0"/>
              </a:rPr>
              <a:t>Entity Framework, </a:t>
            </a:r>
            <a:r>
              <a:rPr lang="en-US" sz="2600" dirty="0" err="1">
                <a:solidFill>
                  <a:schemeClr val="tx1"/>
                </a:solidFill>
                <a:latin typeface="Times New Roman" panose="02020603050405020304" pitchFamily="18" charset="0"/>
                <a:cs typeface="Times New Roman" panose="02020603050405020304" pitchFamily="18" charset="0"/>
              </a:rPr>
              <a:t>Nhibernate</a:t>
            </a:r>
            <a:r>
              <a:rPr lang="en-US" sz="2600" dirty="0">
                <a:solidFill>
                  <a:schemeClr val="tx1"/>
                </a:solidFill>
                <a:latin typeface="Times New Roman" panose="02020603050405020304" pitchFamily="18" charset="0"/>
                <a:cs typeface="Times New Roman" panose="02020603050405020304" pitchFamily="18" charset="0"/>
              </a:rPr>
              <a:t>, Dapper</a:t>
            </a:r>
          </a:p>
        </p:txBody>
      </p:sp>
    </p:spTree>
    <p:extLst>
      <p:ext uri="{BB962C8B-B14F-4D97-AF65-F5344CB8AC3E}">
        <p14:creationId xmlns:p14="http://schemas.microsoft.com/office/powerpoint/2010/main" val="14003306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Assignment</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Advantages and Disadvantages of ODBMS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Advantages and Disadvantages of </a:t>
            </a:r>
            <a:r>
              <a:rPr lang="en-US" sz="2800" dirty="0" smtClean="0">
                <a:solidFill>
                  <a:srgbClr val="222222"/>
                </a:solidFill>
                <a:latin typeface="arial" panose="020B0604020202020204" pitchFamily="34" charset="0"/>
              </a:rPr>
              <a:t>ORM</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ODBMS vs RDBMS</a:t>
            </a:r>
          </a:p>
          <a:p>
            <a:pPr marL="457200" indent="-457200" algn="just">
              <a:buClr>
                <a:schemeClr val="tx1"/>
              </a:buClr>
              <a:buSzPct val="71000"/>
              <a:buFont typeface="Wingdings" panose="05000000000000000000" pitchFamily="2" charset="2"/>
              <a:buChar char="v"/>
            </a:pP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246999336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11.3 Distributed Database</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The database is stored on several computers known as sites.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Each </a:t>
            </a:r>
            <a:r>
              <a:rPr lang="en-US" sz="2800" dirty="0">
                <a:solidFill>
                  <a:srgbClr val="222222"/>
                </a:solidFill>
                <a:latin typeface="Times New Roman" panose="02020603050405020304" pitchFamily="18" charset="0"/>
                <a:cs typeface="Times New Roman" panose="02020603050405020304" pitchFamily="18" charset="0"/>
              </a:rPr>
              <a:t>site is largely coupled.</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There </a:t>
            </a:r>
            <a:r>
              <a:rPr lang="en-US" sz="2800" dirty="0">
                <a:solidFill>
                  <a:srgbClr val="222222"/>
                </a:solidFill>
                <a:latin typeface="Times New Roman" panose="02020603050405020304" pitchFamily="18" charset="0"/>
                <a:cs typeface="Times New Roman" panose="02020603050405020304" pitchFamily="18" charset="0"/>
              </a:rPr>
              <a:t>is no any stored physical component.</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Communication </a:t>
            </a:r>
            <a:r>
              <a:rPr lang="en-US" sz="2800" dirty="0">
                <a:solidFill>
                  <a:srgbClr val="222222"/>
                </a:solidFill>
                <a:latin typeface="Times New Roman" panose="02020603050405020304" pitchFamily="18" charset="0"/>
                <a:cs typeface="Times New Roman" panose="02020603050405020304" pitchFamily="18" charset="0"/>
              </a:rPr>
              <a:t>between sites is done with network.</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Local </a:t>
            </a:r>
            <a:r>
              <a:rPr lang="en-US" sz="2800" dirty="0">
                <a:solidFill>
                  <a:srgbClr val="222222"/>
                </a:solidFill>
                <a:latin typeface="Times New Roman" panose="02020603050405020304" pitchFamily="18" charset="0"/>
                <a:cs typeface="Times New Roman" panose="02020603050405020304" pitchFamily="18" charset="0"/>
              </a:rPr>
              <a:t>transaction access data only from site where it was initiated.</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Global </a:t>
            </a:r>
            <a:r>
              <a:rPr lang="en-US" sz="2800" dirty="0">
                <a:solidFill>
                  <a:srgbClr val="222222"/>
                </a:solidFill>
                <a:latin typeface="Times New Roman" panose="02020603050405020304" pitchFamily="18" charset="0"/>
                <a:cs typeface="Times New Roman" panose="02020603050405020304" pitchFamily="18" charset="0"/>
              </a:rPr>
              <a:t>transaction access data from different sites.</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490686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11.3.1 Heterogeneous Database</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Each site uses different schema.</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Difficulty </a:t>
            </a:r>
            <a:r>
              <a:rPr lang="en-US" sz="2800" dirty="0">
                <a:solidFill>
                  <a:srgbClr val="222222"/>
                </a:solidFill>
                <a:latin typeface="Times New Roman" panose="02020603050405020304" pitchFamily="18" charset="0"/>
                <a:cs typeface="Times New Roman" panose="02020603050405020304" pitchFamily="18" charset="0"/>
              </a:rPr>
              <a:t>in query and transaction processing.</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Provide </a:t>
            </a:r>
            <a:r>
              <a:rPr lang="en-US" sz="2800" dirty="0">
                <a:solidFill>
                  <a:srgbClr val="222222"/>
                </a:solidFill>
                <a:latin typeface="Times New Roman" panose="02020603050405020304" pitchFamily="18" charset="0"/>
                <a:cs typeface="Times New Roman" panose="02020603050405020304" pitchFamily="18" charset="0"/>
              </a:rPr>
              <a:t>limited facility for </a:t>
            </a:r>
            <a:r>
              <a:rPr lang="en-US" sz="2800" dirty="0" smtClean="0">
                <a:solidFill>
                  <a:srgbClr val="222222"/>
                </a:solidFill>
                <a:latin typeface="Times New Roman" panose="02020603050405020304" pitchFamily="18" charset="0"/>
                <a:cs typeface="Times New Roman" panose="02020603050405020304" pitchFamily="18" charset="0"/>
              </a:rPr>
              <a:t>cooperation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Also, a particular site might be completely unaware of the other sites.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Different computers may use a different operating system, different database application.</a:t>
            </a:r>
          </a:p>
        </p:txBody>
      </p:sp>
    </p:spTree>
    <p:extLst>
      <p:ext uri="{BB962C8B-B14F-4D97-AF65-F5344CB8AC3E}">
        <p14:creationId xmlns:p14="http://schemas.microsoft.com/office/powerpoint/2010/main" val="151428056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11.3.2 Homogeneous Database</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All sites have identical </a:t>
            </a:r>
            <a:r>
              <a:rPr lang="en-US" sz="2800" dirty="0" err="1">
                <a:solidFill>
                  <a:srgbClr val="222222"/>
                </a:solidFill>
                <a:latin typeface="Times New Roman" panose="02020603050405020304" pitchFamily="18" charset="0"/>
                <a:cs typeface="Times New Roman" panose="02020603050405020304" pitchFamily="18" charset="0"/>
              </a:rPr>
              <a:t>dbms</a:t>
            </a:r>
            <a:r>
              <a:rPr lang="en-US" sz="2800" dirty="0">
                <a:solidFill>
                  <a:srgbClr val="222222"/>
                </a:solidFill>
                <a:latin typeface="Times New Roman" panose="02020603050405020304" pitchFamily="18" charset="0"/>
                <a:cs typeface="Times New Roman" panose="02020603050405020304" pitchFamily="18" charset="0"/>
              </a:rPr>
              <a:t> </a:t>
            </a:r>
            <a:r>
              <a:rPr lang="en-US" sz="2800" dirty="0" smtClean="0">
                <a:solidFill>
                  <a:srgbClr val="222222"/>
                </a:solidFill>
                <a:latin typeface="Times New Roman" panose="02020603050405020304" pitchFamily="18" charset="0"/>
                <a:cs typeface="Times New Roman" panose="02020603050405020304" pitchFamily="18" charset="0"/>
              </a:rPr>
              <a:t>software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The operating system, database management system and the data structures used – all are same at all sites.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Agree </a:t>
            </a:r>
            <a:r>
              <a:rPr lang="en-US" sz="2800" dirty="0">
                <a:solidFill>
                  <a:srgbClr val="222222"/>
                </a:solidFill>
                <a:latin typeface="Times New Roman" panose="02020603050405020304" pitchFamily="18" charset="0"/>
                <a:cs typeface="Times New Roman" panose="02020603050405020304" pitchFamily="18" charset="0"/>
              </a:rPr>
              <a:t>to cooperate in processing user requests.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Each </a:t>
            </a:r>
            <a:r>
              <a:rPr lang="en-US" sz="2800" dirty="0">
                <a:solidFill>
                  <a:srgbClr val="222222"/>
                </a:solidFill>
                <a:latin typeface="Times New Roman" panose="02020603050405020304" pitchFamily="18" charset="0"/>
                <a:cs typeface="Times New Roman" panose="02020603050405020304" pitchFamily="18" charset="0"/>
              </a:rPr>
              <a:t>site surrender part of anatomy as a right to change schema</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It </a:t>
            </a:r>
            <a:r>
              <a:rPr lang="en-US" sz="2800" dirty="0">
                <a:solidFill>
                  <a:srgbClr val="222222"/>
                </a:solidFill>
                <a:latin typeface="Times New Roman" panose="02020603050405020304" pitchFamily="18" charset="0"/>
                <a:cs typeface="Times New Roman" panose="02020603050405020304" pitchFamily="18" charset="0"/>
              </a:rPr>
              <a:t>appears as a single system for users.</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905419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11.3.3 Data </a:t>
            </a:r>
            <a:r>
              <a:rPr lang="en-US" sz="2800" dirty="0">
                <a:solidFill>
                  <a:schemeClr val="bg1"/>
                </a:solidFill>
                <a:latin typeface="Times New Roman" panose="02020603050405020304" pitchFamily="18" charset="0"/>
                <a:cs typeface="Times New Roman" panose="02020603050405020304" pitchFamily="18" charset="0"/>
              </a:rPr>
              <a:t>replication</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Approach to store distributed data in which system contains multiple copies of data in different sites.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Full </a:t>
            </a:r>
            <a:r>
              <a:rPr lang="en-US" sz="2800" dirty="0">
                <a:solidFill>
                  <a:srgbClr val="222222"/>
                </a:solidFill>
                <a:latin typeface="Times New Roman" panose="02020603050405020304" pitchFamily="18" charset="0"/>
                <a:cs typeface="Times New Roman" panose="02020603050405020304" pitchFamily="18" charset="0"/>
              </a:rPr>
              <a:t>replication indicates storing at all sites,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Fully </a:t>
            </a:r>
            <a:r>
              <a:rPr lang="en-US" sz="2800" dirty="0">
                <a:solidFill>
                  <a:srgbClr val="222222"/>
                </a:solidFill>
                <a:latin typeface="Times New Roman" panose="02020603050405020304" pitchFamily="18" charset="0"/>
                <a:cs typeface="Times New Roman" panose="02020603050405020304" pitchFamily="18" charset="0"/>
              </a:rPr>
              <a:t>redundant indicates each site having entire copy of database.</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It </a:t>
            </a:r>
            <a:r>
              <a:rPr lang="en-US" sz="2800" dirty="0">
                <a:solidFill>
                  <a:srgbClr val="222222"/>
                </a:solidFill>
                <a:latin typeface="Times New Roman" panose="02020603050405020304" pitchFamily="18" charset="0"/>
                <a:cs typeface="Times New Roman" panose="02020603050405020304" pitchFamily="18" charset="0"/>
              </a:rPr>
              <a:t>ensures availability ,parallelism and reduced data transfer</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Update </a:t>
            </a:r>
            <a:r>
              <a:rPr lang="en-US" sz="2800" dirty="0">
                <a:solidFill>
                  <a:srgbClr val="222222"/>
                </a:solidFill>
                <a:latin typeface="Times New Roman" panose="02020603050405020304" pitchFamily="18" charset="0"/>
                <a:cs typeface="Times New Roman" panose="02020603050405020304" pitchFamily="18" charset="0"/>
              </a:rPr>
              <a:t>cost is high</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Difficult </a:t>
            </a:r>
            <a:r>
              <a:rPr lang="en-US" sz="2800" dirty="0">
                <a:solidFill>
                  <a:srgbClr val="222222"/>
                </a:solidFill>
                <a:latin typeface="Times New Roman" panose="02020603050405020304" pitchFamily="18" charset="0"/>
                <a:cs typeface="Times New Roman" panose="02020603050405020304" pitchFamily="18" charset="0"/>
              </a:rPr>
              <a:t>for concurrency control</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843261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11.3.4 Data </a:t>
            </a:r>
            <a:r>
              <a:rPr lang="en-US" sz="2800" dirty="0">
                <a:solidFill>
                  <a:schemeClr val="bg1"/>
                </a:solidFill>
                <a:latin typeface="Times New Roman" panose="02020603050405020304" pitchFamily="18" charset="0"/>
                <a:cs typeface="Times New Roman" panose="02020603050405020304" pitchFamily="18" charset="0"/>
              </a:rPr>
              <a:t>fragmentation</a:t>
            </a:r>
          </a:p>
        </p:txBody>
      </p:sp>
      <p:sp>
        <p:nvSpPr>
          <p:cNvPr id="3" name="Subtitle 2"/>
          <p:cNvSpPr>
            <a:spLocks noGrp="1"/>
          </p:cNvSpPr>
          <p:nvPr>
            <p:ph type="subTitle" idx="1"/>
          </p:nvPr>
        </p:nvSpPr>
        <p:spPr>
          <a:xfrm>
            <a:off x="1281567" y="1139687"/>
            <a:ext cx="8094254" cy="4990657"/>
          </a:xfrm>
        </p:spPr>
        <p:txBody>
          <a:bodyPr>
            <a:normAutofit fontScale="925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Approach to store distributed in which relation r is divided.</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Fragments </a:t>
            </a:r>
            <a:r>
              <a:rPr lang="en-US" sz="2800" dirty="0">
                <a:solidFill>
                  <a:srgbClr val="222222"/>
                </a:solidFill>
                <a:latin typeface="Times New Roman" panose="02020603050405020304" pitchFamily="18" charset="0"/>
                <a:cs typeface="Times New Roman" panose="02020603050405020304" pitchFamily="18" charset="0"/>
              </a:rPr>
              <a:t>with sufficient information to reconstruct r</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Each </a:t>
            </a:r>
            <a:r>
              <a:rPr lang="en-US" sz="2800" dirty="0">
                <a:solidFill>
                  <a:srgbClr val="222222"/>
                </a:solidFill>
                <a:latin typeface="Times New Roman" panose="02020603050405020304" pitchFamily="18" charset="0"/>
                <a:cs typeface="Times New Roman" panose="02020603050405020304" pitchFamily="18" charset="0"/>
              </a:rPr>
              <a:t>schema should have common candidate key to ensure lossless join.</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In </a:t>
            </a:r>
            <a:r>
              <a:rPr lang="en-US" sz="2800" dirty="0">
                <a:solidFill>
                  <a:srgbClr val="222222"/>
                </a:solidFill>
                <a:latin typeface="Times New Roman" panose="02020603050405020304" pitchFamily="18" charset="0"/>
                <a:cs typeface="Times New Roman" panose="02020603050405020304" pitchFamily="18" charset="0"/>
              </a:rPr>
              <a:t>horizontal each tuple of r is assigned to one or more </a:t>
            </a:r>
            <a:r>
              <a:rPr lang="en-US" sz="2800" dirty="0" smtClean="0">
                <a:solidFill>
                  <a:srgbClr val="222222"/>
                </a:solidFill>
                <a:latin typeface="Times New Roman" panose="02020603050405020304" pitchFamily="18" charset="0"/>
                <a:cs typeface="Times New Roman" panose="02020603050405020304" pitchFamily="18" charset="0"/>
              </a:rPr>
              <a:t>fragments.</a:t>
            </a:r>
            <a:endParaRPr lang="en-US" sz="2800" dirty="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It </a:t>
            </a:r>
            <a:r>
              <a:rPr lang="en-US" sz="2800" dirty="0">
                <a:solidFill>
                  <a:srgbClr val="222222"/>
                </a:solidFill>
                <a:latin typeface="Times New Roman" panose="02020603050405020304" pitchFamily="18" charset="0"/>
                <a:cs typeface="Times New Roman" panose="02020603050405020304" pitchFamily="18" charset="0"/>
              </a:rPr>
              <a:t>allows parallel processing and easy access.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In </a:t>
            </a:r>
            <a:r>
              <a:rPr lang="en-US" sz="2800" dirty="0">
                <a:solidFill>
                  <a:srgbClr val="222222"/>
                </a:solidFill>
                <a:latin typeface="Times New Roman" panose="02020603050405020304" pitchFamily="18" charset="0"/>
                <a:cs typeface="Times New Roman" panose="02020603050405020304" pitchFamily="18" charset="0"/>
              </a:rPr>
              <a:t>vertical schema is split into several smaller </a:t>
            </a:r>
            <a:r>
              <a:rPr lang="en-US" sz="2800" dirty="0" smtClean="0">
                <a:solidFill>
                  <a:srgbClr val="222222"/>
                </a:solidFill>
                <a:latin typeface="Times New Roman" panose="02020603050405020304" pitchFamily="18" charset="0"/>
                <a:cs typeface="Times New Roman" panose="02020603050405020304" pitchFamily="18" charset="0"/>
              </a:rPr>
              <a:t>schemes.</a:t>
            </a:r>
            <a:endParaRPr lang="en-US" sz="2800" dirty="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It </a:t>
            </a:r>
            <a:r>
              <a:rPr lang="en-US" sz="2800" dirty="0">
                <a:solidFill>
                  <a:srgbClr val="222222"/>
                </a:solidFill>
                <a:latin typeface="Times New Roman" panose="02020603050405020304" pitchFamily="18" charset="0"/>
                <a:cs typeface="Times New Roman" panose="02020603050405020304" pitchFamily="18" charset="0"/>
              </a:rPr>
              <a:t>allows parallel processing on </a:t>
            </a:r>
            <a:r>
              <a:rPr lang="en-US" sz="2800" dirty="0" smtClean="0">
                <a:solidFill>
                  <a:srgbClr val="222222"/>
                </a:solidFill>
                <a:latin typeface="Times New Roman" panose="02020603050405020304" pitchFamily="18" charset="0"/>
                <a:cs typeface="Times New Roman" panose="02020603050405020304" pitchFamily="18" charset="0"/>
              </a:rPr>
              <a:t>relation.</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101190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Data Warehouse</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Data warehouse </a:t>
            </a:r>
            <a:r>
              <a:rPr lang="en-US" sz="2800" dirty="0">
                <a:solidFill>
                  <a:srgbClr val="222222"/>
                </a:solidFill>
                <a:latin typeface="Times New Roman" panose="02020603050405020304" pitchFamily="18" charset="0"/>
                <a:cs typeface="Times New Roman" panose="02020603050405020304" pitchFamily="18" charset="0"/>
              </a:rPr>
              <a:t>is a single ,complete and consistent data store obtained from a variety of sources made available to end users in the understandable form and used as a business context.</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It </a:t>
            </a:r>
            <a:r>
              <a:rPr lang="en-US" sz="2800" dirty="0">
                <a:solidFill>
                  <a:srgbClr val="222222"/>
                </a:solidFill>
                <a:latin typeface="Times New Roman" panose="02020603050405020304" pitchFamily="18" charset="0"/>
                <a:cs typeface="Times New Roman" panose="02020603050405020304" pitchFamily="18" charset="0"/>
              </a:rPr>
              <a:t>is subject oriented, integrated , time-variant and non-volatile collection of data to support decision making process.</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54475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Data </a:t>
            </a:r>
            <a:r>
              <a:rPr lang="en-US" sz="2800" dirty="0">
                <a:solidFill>
                  <a:schemeClr val="bg1"/>
                </a:solidFill>
                <a:latin typeface="Times New Roman" panose="02020603050405020304" pitchFamily="18" charset="0"/>
                <a:cs typeface="Times New Roman" panose="02020603050405020304" pitchFamily="18" charset="0"/>
              </a:rPr>
              <a:t>Warehouse</a:t>
            </a:r>
          </a:p>
        </p:txBody>
      </p:sp>
      <p:pic>
        <p:nvPicPr>
          <p:cNvPr id="1026" name="Picture 2" descr="Data Warehouse - Last Night Stud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2529" y="2053843"/>
            <a:ext cx="6272329" cy="3406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56107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Online Analytical Processing (</a:t>
            </a:r>
            <a:r>
              <a:rPr lang="en-US" sz="2800" dirty="0" err="1">
                <a:solidFill>
                  <a:schemeClr val="bg1"/>
                </a:solidFill>
              </a:rPr>
              <a:t>OLAP</a:t>
            </a:r>
            <a:r>
              <a:rPr lang="en-US" sz="2800" dirty="0">
                <a:solidFill>
                  <a:schemeClr val="bg1"/>
                </a:solidFill>
              </a:rPr>
              <a:t>)</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marL="457200" indent="-457200" algn="just">
              <a:buClr>
                <a:schemeClr val="tx1"/>
              </a:buClr>
              <a:buSzPct val="71000"/>
              <a:buFont typeface="Wingdings" panose="05000000000000000000" pitchFamily="2" charset="2"/>
              <a:buChar char="v"/>
            </a:pPr>
            <a:r>
              <a:rPr lang="en-US" sz="2800" dirty="0" err="1" smtClean="0">
                <a:solidFill>
                  <a:srgbClr val="222222"/>
                </a:solidFill>
                <a:latin typeface="Times New Roman" panose="02020603050405020304" pitchFamily="18" charset="0"/>
                <a:cs typeface="Times New Roman" panose="02020603050405020304" pitchFamily="18" charset="0"/>
              </a:rPr>
              <a:t>OLAP</a:t>
            </a:r>
            <a:r>
              <a:rPr lang="en-US" sz="2800" dirty="0" smtClean="0">
                <a:solidFill>
                  <a:srgbClr val="222222"/>
                </a:solidFill>
                <a:latin typeface="Times New Roman" panose="02020603050405020304" pitchFamily="18" charset="0"/>
                <a:cs typeface="Times New Roman" panose="02020603050405020304" pitchFamily="18" charset="0"/>
              </a:rPr>
              <a:t> </a:t>
            </a:r>
            <a:r>
              <a:rPr lang="en-US" sz="2800" dirty="0">
                <a:solidFill>
                  <a:srgbClr val="222222"/>
                </a:solidFill>
                <a:latin typeface="Times New Roman" panose="02020603050405020304" pitchFamily="18" charset="0"/>
                <a:cs typeface="Times New Roman" panose="02020603050405020304" pitchFamily="18" charset="0"/>
              </a:rPr>
              <a:t>systems have the capability to analyze database information of multiple systems at the current time.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The </a:t>
            </a:r>
            <a:r>
              <a:rPr lang="en-US" sz="2800" dirty="0">
                <a:solidFill>
                  <a:srgbClr val="222222"/>
                </a:solidFill>
                <a:latin typeface="Times New Roman" panose="02020603050405020304" pitchFamily="18" charset="0"/>
                <a:cs typeface="Times New Roman" panose="02020603050405020304" pitchFamily="18" charset="0"/>
              </a:rPr>
              <a:t>primary goal of </a:t>
            </a:r>
            <a:r>
              <a:rPr lang="en-US" sz="2800" dirty="0" err="1">
                <a:solidFill>
                  <a:srgbClr val="222222"/>
                </a:solidFill>
                <a:latin typeface="Times New Roman" panose="02020603050405020304" pitchFamily="18" charset="0"/>
                <a:cs typeface="Times New Roman" panose="02020603050405020304" pitchFamily="18" charset="0"/>
              </a:rPr>
              <a:t>OLAP</a:t>
            </a:r>
            <a:r>
              <a:rPr lang="en-US" sz="2800" dirty="0">
                <a:solidFill>
                  <a:srgbClr val="222222"/>
                </a:solidFill>
                <a:latin typeface="Times New Roman" panose="02020603050405020304" pitchFamily="18" charset="0"/>
                <a:cs typeface="Times New Roman" panose="02020603050405020304" pitchFamily="18" charset="0"/>
              </a:rPr>
              <a:t> Service is data analysis and not data processing</a:t>
            </a:r>
            <a:r>
              <a:rPr lang="en-US" sz="2800" dirty="0" smtClean="0">
                <a:solidFill>
                  <a:srgbClr val="222222"/>
                </a:solidFill>
                <a:latin typeface="Times New Roman" panose="02020603050405020304" pitchFamily="18" charset="0"/>
                <a:cs typeface="Times New Roman" panose="02020603050405020304" pitchFamily="18" charset="0"/>
              </a:rPr>
              <a:t>.</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Online Analytical Processing (</a:t>
            </a:r>
            <a:r>
              <a:rPr lang="en-US" sz="2800" dirty="0" err="1">
                <a:solidFill>
                  <a:srgbClr val="222222"/>
                </a:solidFill>
                <a:latin typeface="Times New Roman" panose="02020603050405020304" pitchFamily="18" charset="0"/>
                <a:cs typeface="Times New Roman" panose="02020603050405020304" pitchFamily="18" charset="0"/>
              </a:rPr>
              <a:t>OLAP</a:t>
            </a:r>
            <a:r>
              <a:rPr lang="en-US" sz="2800" dirty="0">
                <a:solidFill>
                  <a:srgbClr val="222222"/>
                </a:solidFill>
                <a:latin typeface="Times New Roman" panose="02020603050405020304" pitchFamily="18" charset="0"/>
                <a:cs typeface="Times New Roman" panose="02020603050405020304" pitchFamily="18" charset="0"/>
              </a:rPr>
              <a:t>) consists of a type of software tool that is used for data analysis for business decisions.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err="1" smtClean="0">
                <a:solidFill>
                  <a:srgbClr val="222222"/>
                </a:solidFill>
                <a:latin typeface="Times New Roman" panose="02020603050405020304" pitchFamily="18" charset="0"/>
                <a:cs typeface="Times New Roman" panose="02020603050405020304" pitchFamily="18" charset="0"/>
              </a:rPr>
              <a:t>OLAP</a:t>
            </a:r>
            <a:r>
              <a:rPr lang="en-US" sz="2800" dirty="0" smtClean="0">
                <a:solidFill>
                  <a:srgbClr val="222222"/>
                </a:solidFill>
                <a:latin typeface="Times New Roman" panose="02020603050405020304" pitchFamily="18" charset="0"/>
                <a:cs typeface="Times New Roman" panose="02020603050405020304" pitchFamily="18" charset="0"/>
              </a:rPr>
              <a:t> </a:t>
            </a:r>
            <a:r>
              <a:rPr lang="en-US" sz="2800" dirty="0">
                <a:solidFill>
                  <a:srgbClr val="222222"/>
                </a:solidFill>
                <a:latin typeface="Times New Roman" panose="02020603050405020304" pitchFamily="18" charset="0"/>
                <a:cs typeface="Times New Roman" panose="02020603050405020304" pitchFamily="18" charset="0"/>
              </a:rPr>
              <a:t>provides an environment to get insights from the database retrieved from multiple database systems at one time.  </a:t>
            </a:r>
            <a:endParaRPr lang="en-US" sz="2800" dirty="0" smtClean="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264471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Online Analytical Processing (</a:t>
            </a:r>
            <a:r>
              <a:rPr lang="en-US" sz="2800" dirty="0" err="1">
                <a:solidFill>
                  <a:schemeClr val="bg1"/>
                </a:solidFill>
              </a:rPr>
              <a:t>OLAP</a:t>
            </a:r>
            <a:r>
              <a:rPr lang="en-US" sz="2800" dirty="0">
                <a:solidFill>
                  <a:schemeClr val="bg1"/>
                </a:solidFill>
              </a:rPr>
              <a:t>)</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err="1">
                <a:solidFill>
                  <a:srgbClr val="222222"/>
                </a:solidFill>
                <a:latin typeface="Times New Roman" panose="02020603050405020304" pitchFamily="18" charset="0"/>
                <a:cs typeface="Times New Roman" panose="02020603050405020304" pitchFamily="18" charset="0"/>
              </a:rPr>
              <a:t>OLAP</a:t>
            </a:r>
            <a:r>
              <a:rPr lang="en-US" sz="2800" b="1" dirty="0">
                <a:solidFill>
                  <a:srgbClr val="222222"/>
                </a:solidFill>
                <a:latin typeface="Times New Roman" panose="02020603050405020304" pitchFamily="18" charset="0"/>
                <a:cs typeface="Times New Roman" panose="02020603050405020304" pitchFamily="18" charset="0"/>
              </a:rPr>
              <a:t> Examples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Any type of Data Warehouse System is an </a:t>
            </a:r>
            <a:r>
              <a:rPr lang="en-US" sz="2800" dirty="0" err="1">
                <a:solidFill>
                  <a:srgbClr val="222222"/>
                </a:solidFill>
                <a:latin typeface="Times New Roman" panose="02020603050405020304" pitchFamily="18" charset="0"/>
                <a:cs typeface="Times New Roman" panose="02020603050405020304" pitchFamily="18" charset="0"/>
              </a:rPr>
              <a:t>OLAP</a:t>
            </a:r>
            <a:r>
              <a:rPr lang="en-US" sz="2800" dirty="0">
                <a:solidFill>
                  <a:srgbClr val="222222"/>
                </a:solidFill>
                <a:latin typeface="Times New Roman" panose="02020603050405020304" pitchFamily="18" charset="0"/>
                <a:cs typeface="Times New Roman" panose="02020603050405020304" pitchFamily="18" charset="0"/>
              </a:rPr>
              <a:t> system.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The </a:t>
            </a:r>
            <a:r>
              <a:rPr lang="en-US" sz="2800" dirty="0">
                <a:solidFill>
                  <a:srgbClr val="222222"/>
                </a:solidFill>
                <a:latin typeface="Times New Roman" panose="02020603050405020304" pitchFamily="18" charset="0"/>
                <a:cs typeface="Times New Roman" panose="02020603050405020304" pitchFamily="18" charset="0"/>
              </a:rPr>
              <a:t>uses of the </a:t>
            </a:r>
            <a:r>
              <a:rPr lang="en-US" sz="2800" dirty="0" err="1">
                <a:solidFill>
                  <a:srgbClr val="222222"/>
                </a:solidFill>
                <a:latin typeface="Times New Roman" panose="02020603050405020304" pitchFamily="18" charset="0"/>
                <a:cs typeface="Times New Roman" panose="02020603050405020304" pitchFamily="18" charset="0"/>
              </a:rPr>
              <a:t>OLAP</a:t>
            </a:r>
            <a:r>
              <a:rPr lang="en-US" sz="2800" dirty="0">
                <a:solidFill>
                  <a:srgbClr val="222222"/>
                </a:solidFill>
                <a:latin typeface="Times New Roman" panose="02020603050405020304" pitchFamily="18" charset="0"/>
                <a:cs typeface="Times New Roman" panose="02020603050405020304" pitchFamily="18" charset="0"/>
              </a:rPr>
              <a:t> System are described below</a:t>
            </a:r>
            <a:r>
              <a:rPr lang="en-US" sz="2800" dirty="0" smtClean="0">
                <a:solidFill>
                  <a:srgbClr val="222222"/>
                </a:solidFill>
                <a:latin typeface="Times New Roman" panose="02020603050405020304" pitchFamily="18" charset="0"/>
                <a:cs typeface="Times New Roman" panose="02020603050405020304" pitchFamily="18" charset="0"/>
              </a:rPr>
              <a:t>.</a:t>
            </a:r>
            <a:endParaRPr lang="en-US" sz="2800" dirty="0">
              <a:solidFill>
                <a:srgbClr val="222222"/>
              </a:solidFill>
              <a:latin typeface="Times New Roman" panose="02020603050405020304" pitchFamily="18" charset="0"/>
              <a:cs typeface="Times New Roman" panose="02020603050405020304" pitchFamily="18" charset="0"/>
            </a:endParaRPr>
          </a:p>
          <a:p>
            <a:pPr marL="914389" lvl="1" indent="-457200" algn="just">
              <a:buClr>
                <a:schemeClr val="tx1"/>
              </a:buClr>
              <a:buSzPct val="71000"/>
              <a:buFont typeface="Wingdings" panose="05000000000000000000" pitchFamily="2" charset="2"/>
              <a:buChar char="v"/>
            </a:pPr>
            <a:r>
              <a:rPr lang="en-US" sz="2600" dirty="0" err="1">
                <a:solidFill>
                  <a:srgbClr val="222222"/>
                </a:solidFill>
                <a:latin typeface="Times New Roman" panose="02020603050405020304" pitchFamily="18" charset="0"/>
                <a:cs typeface="Times New Roman" panose="02020603050405020304" pitchFamily="18" charset="0"/>
              </a:rPr>
              <a:t>Spotify</a:t>
            </a:r>
            <a:r>
              <a:rPr lang="en-US" sz="2600" dirty="0">
                <a:solidFill>
                  <a:srgbClr val="222222"/>
                </a:solidFill>
                <a:latin typeface="Times New Roman" panose="02020603050405020304" pitchFamily="18" charset="0"/>
                <a:cs typeface="Times New Roman" panose="02020603050405020304" pitchFamily="18" charset="0"/>
              </a:rPr>
              <a:t> analyzed songs by users to come up with a personalized homepage of their songs and playlist.</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Times New Roman" panose="02020603050405020304" pitchFamily="18" charset="0"/>
                <a:cs typeface="Times New Roman" panose="02020603050405020304" pitchFamily="18" charset="0"/>
              </a:rPr>
              <a:t>Netflix movie recommendation system.</a:t>
            </a:r>
          </a:p>
        </p:txBody>
      </p:sp>
    </p:spTree>
    <p:extLst>
      <p:ext uri="{BB962C8B-B14F-4D97-AF65-F5344CB8AC3E}">
        <p14:creationId xmlns:p14="http://schemas.microsoft.com/office/powerpoint/2010/main" val="192672427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Online Analytical Processing (</a:t>
            </a:r>
            <a:r>
              <a:rPr lang="en-US" sz="2800" dirty="0" err="1">
                <a:solidFill>
                  <a:schemeClr val="bg1"/>
                </a:solidFill>
              </a:rPr>
              <a:t>OLAP</a:t>
            </a:r>
            <a:r>
              <a:rPr lang="en-US" sz="2800" dirty="0">
                <a:solidFill>
                  <a:schemeClr val="bg1"/>
                </a:solidFill>
              </a:rPr>
              <a:t>)</a:t>
            </a:r>
          </a:p>
        </p:txBody>
      </p:sp>
      <p:sp>
        <p:nvSpPr>
          <p:cNvPr id="5" name="AutoShape 2" descr="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Lightbox"/>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AutoShape 6" descr="Lightbox"/>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AutoShape 8" descr="Lightbox"/>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3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447" y="1336675"/>
            <a:ext cx="8417708" cy="4729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961238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Online Transaction Processing (</a:t>
            </a:r>
            <a:r>
              <a:rPr lang="en-US" sz="2800" dirty="0" err="1">
                <a:solidFill>
                  <a:schemeClr val="bg1"/>
                </a:solidFill>
              </a:rPr>
              <a:t>OLTP</a:t>
            </a:r>
            <a:r>
              <a:rPr lang="en-US" sz="2800" dirty="0">
                <a:solidFill>
                  <a:schemeClr val="bg1"/>
                </a:solidFill>
              </a:rPr>
              <a:t>)</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err="1">
                <a:solidFill>
                  <a:srgbClr val="222222"/>
                </a:solidFill>
                <a:latin typeface="Times New Roman" panose="02020603050405020304" pitchFamily="18" charset="0"/>
                <a:cs typeface="Times New Roman" panose="02020603050405020304" pitchFamily="18" charset="0"/>
              </a:rPr>
              <a:t>OLTP</a:t>
            </a:r>
            <a:r>
              <a:rPr lang="en-US" sz="2800" dirty="0">
                <a:solidFill>
                  <a:srgbClr val="222222"/>
                </a:solidFill>
                <a:latin typeface="Times New Roman" panose="02020603050405020304" pitchFamily="18" charset="0"/>
                <a:cs typeface="Times New Roman" panose="02020603050405020304" pitchFamily="18" charset="0"/>
              </a:rPr>
              <a:t> has the work to administer day-to-day transactions in any organization.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The </a:t>
            </a:r>
            <a:r>
              <a:rPr lang="en-US" sz="2800" dirty="0">
                <a:solidFill>
                  <a:srgbClr val="222222"/>
                </a:solidFill>
                <a:latin typeface="Times New Roman" panose="02020603050405020304" pitchFamily="18" charset="0"/>
                <a:cs typeface="Times New Roman" panose="02020603050405020304" pitchFamily="18" charset="0"/>
              </a:rPr>
              <a:t>main goal of </a:t>
            </a:r>
            <a:r>
              <a:rPr lang="en-US" sz="2800" dirty="0" err="1">
                <a:solidFill>
                  <a:srgbClr val="222222"/>
                </a:solidFill>
                <a:latin typeface="Times New Roman" panose="02020603050405020304" pitchFamily="18" charset="0"/>
                <a:cs typeface="Times New Roman" panose="02020603050405020304" pitchFamily="18" charset="0"/>
              </a:rPr>
              <a:t>OLTP</a:t>
            </a:r>
            <a:r>
              <a:rPr lang="en-US" sz="2800" dirty="0">
                <a:solidFill>
                  <a:srgbClr val="222222"/>
                </a:solidFill>
                <a:latin typeface="Times New Roman" panose="02020603050405020304" pitchFamily="18" charset="0"/>
                <a:cs typeface="Times New Roman" panose="02020603050405020304" pitchFamily="18" charset="0"/>
              </a:rPr>
              <a:t> is data processing not data analysis</a:t>
            </a:r>
            <a:r>
              <a:rPr lang="en-US" sz="2800" dirty="0" smtClean="0">
                <a:solidFill>
                  <a:srgbClr val="222222"/>
                </a:solidFill>
                <a:latin typeface="Times New Roman" panose="02020603050405020304" pitchFamily="18" charset="0"/>
                <a:cs typeface="Times New Roman" panose="02020603050405020304" pitchFamily="18" charset="0"/>
              </a:rPr>
              <a:t>.</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Online transaction processing provides transaction-oriented applications in a 3-tier architecture.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err="1" smtClean="0">
                <a:solidFill>
                  <a:srgbClr val="222222"/>
                </a:solidFill>
                <a:latin typeface="Times New Roman" panose="02020603050405020304" pitchFamily="18" charset="0"/>
                <a:cs typeface="Times New Roman" panose="02020603050405020304" pitchFamily="18" charset="0"/>
              </a:rPr>
              <a:t>OLTP</a:t>
            </a:r>
            <a:r>
              <a:rPr lang="en-US" sz="2800" dirty="0" smtClean="0">
                <a:solidFill>
                  <a:srgbClr val="222222"/>
                </a:solidFill>
                <a:latin typeface="Times New Roman" panose="02020603050405020304" pitchFamily="18" charset="0"/>
                <a:cs typeface="Times New Roman" panose="02020603050405020304" pitchFamily="18" charset="0"/>
              </a:rPr>
              <a:t> </a:t>
            </a:r>
            <a:r>
              <a:rPr lang="en-US" sz="2800" dirty="0">
                <a:solidFill>
                  <a:srgbClr val="222222"/>
                </a:solidFill>
                <a:latin typeface="Times New Roman" panose="02020603050405020304" pitchFamily="18" charset="0"/>
                <a:cs typeface="Times New Roman" panose="02020603050405020304" pitchFamily="18" charset="0"/>
              </a:rPr>
              <a:t>administers the day-to-day transactions of an organization. </a:t>
            </a:r>
            <a:endParaRPr lang="en-US" sz="2800" dirty="0" smtClean="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86562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Online Transaction Processing (</a:t>
            </a:r>
            <a:r>
              <a:rPr lang="en-US" sz="2800" dirty="0" err="1">
                <a:solidFill>
                  <a:schemeClr val="bg1"/>
                </a:solidFill>
              </a:rPr>
              <a:t>OLTP</a:t>
            </a:r>
            <a:r>
              <a:rPr lang="en-US" sz="2800" dirty="0">
                <a:solidFill>
                  <a:schemeClr val="bg1"/>
                </a:solidFill>
              </a:rPr>
              <a:t>)</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OLTP Examples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An example considered for OLTP System is ATM Center a person who authenticates first will receive the amount first and the condition is that the amount to be withdrawn must be present in the ATM.</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 The uses of the OLTP System are described below.</a:t>
            </a:r>
          </a:p>
          <a:p>
            <a:pPr marL="914389" lvl="1" indent="-457200" algn="just">
              <a:buClr>
                <a:schemeClr val="tx1"/>
              </a:buClr>
              <a:buSzPct val="71000"/>
              <a:buFont typeface="Wingdings" panose="05000000000000000000" pitchFamily="2" charset="2"/>
              <a:buChar char="v"/>
            </a:pPr>
            <a:r>
              <a:rPr lang="en-US" sz="2600" dirty="0" smtClean="0">
                <a:solidFill>
                  <a:srgbClr val="222222"/>
                </a:solidFill>
                <a:latin typeface="Times New Roman" panose="02020603050405020304" pitchFamily="18" charset="0"/>
                <a:cs typeface="Times New Roman" panose="02020603050405020304" pitchFamily="18" charset="0"/>
              </a:rPr>
              <a:t>ATM center is an OLTP application.</a:t>
            </a:r>
          </a:p>
          <a:p>
            <a:pPr marL="914389" lvl="1" indent="-457200" algn="just">
              <a:buClr>
                <a:schemeClr val="tx1"/>
              </a:buClr>
              <a:buSzPct val="71000"/>
              <a:buFont typeface="Wingdings" panose="05000000000000000000" pitchFamily="2" charset="2"/>
              <a:buChar char="v"/>
            </a:pPr>
            <a:r>
              <a:rPr lang="en-US" sz="2600" dirty="0" smtClean="0">
                <a:solidFill>
                  <a:srgbClr val="222222"/>
                </a:solidFill>
                <a:latin typeface="Times New Roman" panose="02020603050405020304" pitchFamily="18" charset="0"/>
                <a:cs typeface="Times New Roman" panose="02020603050405020304" pitchFamily="18" charset="0"/>
              </a:rPr>
              <a:t>OLTP handles the ACID properties during data transactions via the application.</a:t>
            </a:r>
          </a:p>
          <a:p>
            <a:pPr marL="914389" lvl="1" indent="-457200" algn="just">
              <a:buClr>
                <a:schemeClr val="tx1"/>
              </a:buClr>
              <a:buSzPct val="71000"/>
              <a:buFont typeface="Wingdings" panose="05000000000000000000" pitchFamily="2" charset="2"/>
              <a:buChar char="v"/>
            </a:pPr>
            <a:r>
              <a:rPr lang="en-US" sz="2600" dirty="0" smtClean="0">
                <a:solidFill>
                  <a:srgbClr val="222222"/>
                </a:solidFill>
                <a:latin typeface="Times New Roman" panose="02020603050405020304" pitchFamily="18" charset="0"/>
                <a:cs typeface="Times New Roman" panose="02020603050405020304" pitchFamily="18" charset="0"/>
              </a:rPr>
              <a:t>It’s also used for Online banking, Online airline ticket booking, sending a text message, add a book to the shopping cart.</a:t>
            </a:r>
          </a:p>
        </p:txBody>
      </p:sp>
    </p:spTree>
    <p:extLst>
      <p:ext uri="{BB962C8B-B14F-4D97-AF65-F5344CB8AC3E}">
        <p14:creationId xmlns:p14="http://schemas.microsoft.com/office/powerpoint/2010/main" val="412347871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Assignment</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Advantages and Disadvantages of Distributed Database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Distributed v/s Parallel Processing</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Advantages and disadvantages of data warehouse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OLAP v/s </a:t>
            </a:r>
            <a:r>
              <a:rPr lang="en-US" sz="2800" dirty="0" smtClean="0">
                <a:solidFill>
                  <a:srgbClr val="222222"/>
                </a:solidFill>
                <a:latin typeface="arial" panose="020B0604020202020204" pitchFamily="34" charset="0"/>
              </a:rPr>
              <a:t>OLTP</a:t>
            </a:r>
          </a:p>
        </p:txBody>
      </p:sp>
    </p:spTree>
    <p:extLst>
      <p:ext uri="{BB962C8B-B14F-4D97-AF65-F5344CB8AC3E}">
        <p14:creationId xmlns:p14="http://schemas.microsoft.com/office/powerpoint/2010/main" val="37450489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b="1" dirty="0">
                <a:solidFill>
                  <a:srgbClr val="222222"/>
                </a:solidFill>
                <a:latin typeface="Times New Roman" panose="02020603050405020304" pitchFamily="18" charset="0"/>
                <a:cs typeface="Times New Roman" panose="02020603050405020304" pitchFamily="18" charset="0"/>
              </a:rPr>
              <a:t>Distributed Ledger Technology (DLT) </a:t>
            </a:r>
            <a:r>
              <a:rPr lang="en-US" sz="2800" dirty="0">
                <a:solidFill>
                  <a:srgbClr val="222222"/>
                </a:solidFill>
                <a:latin typeface="Times New Roman" panose="02020603050405020304" pitchFamily="18" charset="0"/>
                <a:cs typeface="Times New Roman" panose="02020603050405020304" pitchFamily="18" charset="0"/>
              </a:rPr>
              <a:t>is centered around an encoded and distributed database where records regarding transactions are stored.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A </a:t>
            </a:r>
            <a:r>
              <a:rPr lang="en-US" sz="2800" dirty="0">
                <a:solidFill>
                  <a:srgbClr val="222222"/>
                </a:solidFill>
                <a:latin typeface="Times New Roman" panose="02020603050405020304" pitchFamily="18" charset="0"/>
                <a:cs typeface="Times New Roman" panose="02020603050405020304" pitchFamily="18" charset="0"/>
              </a:rPr>
              <a:t>distributed ledger is a database that is spread across various computers, nodes, institutions, or countries accessible by multiple people around the globe.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4762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fontScale="92500" lnSpcReduction="1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DLT allows </a:t>
            </a:r>
            <a:r>
              <a:rPr lang="en-US" sz="2800" b="1" dirty="0">
                <a:solidFill>
                  <a:srgbClr val="222222"/>
                </a:solidFill>
                <a:latin typeface="Times New Roman" panose="02020603050405020304" pitchFamily="18" charset="0"/>
                <a:cs typeface="Times New Roman" panose="02020603050405020304" pitchFamily="18" charset="0"/>
              </a:rPr>
              <a:t>real-time sharing </a:t>
            </a:r>
            <a:r>
              <a:rPr lang="en-US" sz="2800" dirty="0">
                <a:solidFill>
                  <a:srgbClr val="222222"/>
                </a:solidFill>
                <a:latin typeface="Times New Roman" panose="02020603050405020304" pitchFamily="18" charset="0"/>
                <a:cs typeface="Times New Roman" panose="02020603050405020304" pitchFamily="18" charset="0"/>
              </a:rPr>
              <a:t>of data with </a:t>
            </a:r>
            <a:r>
              <a:rPr lang="en-US" sz="2800" b="1" dirty="0">
                <a:solidFill>
                  <a:srgbClr val="222222"/>
                </a:solidFill>
                <a:latin typeface="Times New Roman" panose="02020603050405020304" pitchFamily="18" charset="0"/>
                <a:cs typeface="Times New Roman" panose="02020603050405020304" pitchFamily="18" charset="0"/>
              </a:rPr>
              <a:t>transparency</a:t>
            </a:r>
            <a:r>
              <a:rPr lang="en-US" sz="2800" dirty="0">
                <a:solidFill>
                  <a:srgbClr val="222222"/>
                </a:solidFill>
                <a:latin typeface="Times New Roman" panose="02020603050405020304" pitchFamily="18" charset="0"/>
                <a:cs typeface="Times New Roman" panose="02020603050405020304" pitchFamily="18" charset="0"/>
              </a:rPr>
              <a:t> which gives trust that data in the ledger is up to date and legitimate.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Distributed </a:t>
            </a:r>
            <a:r>
              <a:rPr lang="en-US" sz="2800" dirty="0">
                <a:solidFill>
                  <a:srgbClr val="222222"/>
                </a:solidFill>
                <a:latin typeface="Times New Roman" panose="02020603050405020304" pitchFamily="18" charset="0"/>
                <a:cs typeface="Times New Roman" panose="02020603050405020304" pitchFamily="18" charset="0"/>
              </a:rPr>
              <a:t>Ledger Technology eliminates the single point of failure which </a:t>
            </a:r>
            <a:r>
              <a:rPr lang="en-US" sz="2800" b="1" dirty="0">
                <a:solidFill>
                  <a:srgbClr val="222222"/>
                </a:solidFill>
                <a:latin typeface="Times New Roman" panose="02020603050405020304" pitchFamily="18" charset="0"/>
                <a:cs typeface="Times New Roman" panose="02020603050405020304" pitchFamily="18" charset="0"/>
              </a:rPr>
              <a:t>prevents</a:t>
            </a:r>
            <a:r>
              <a:rPr lang="en-US" sz="2800" dirty="0">
                <a:solidFill>
                  <a:srgbClr val="222222"/>
                </a:solidFill>
                <a:latin typeface="Times New Roman" panose="02020603050405020304" pitchFamily="18" charset="0"/>
                <a:cs typeface="Times New Roman" panose="02020603050405020304" pitchFamily="18" charset="0"/>
              </a:rPr>
              <a:t> data in the ledger from </a:t>
            </a:r>
            <a:r>
              <a:rPr lang="en-US" sz="2800" b="1" dirty="0">
                <a:solidFill>
                  <a:srgbClr val="222222"/>
                </a:solidFill>
                <a:latin typeface="Times New Roman" panose="02020603050405020304" pitchFamily="18" charset="0"/>
                <a:cs typeface="Times New Roman" panose="02020603050405020304" pitchFamily="18" charset="0"/>
              </a:rPr>
              <a:t>being manipulations and errors. </a:t>
            </a:r>
            <a:endParaRPr lang="en-US" sz="2800" b="1"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In </a:t>
            </a:r>
            <a:r>
              <a:rPr lang="en-US" sz="2800" dirty="0">
                <a:solidFill>
                  <a:srgbClr val="222222"/>
                </a:solidFill>
                <a:latin typeface="Times New Roman" panose="02020603050405020304" pitchFamily="18" charset="0"/>
                <a:cs typeface="Times New Roman" panose="02020603050405020304" pitchFamily="18" charset="0"/>
              </a:rPr>
              <a:t>DLT, there is </a:t>
            </a:r>
            <a:r>
              <a:rPr lang="en-US" sz="2800" b="1" dirty="0">
                <a:solidFill>
                  <a:srgbClr val="222222"/>
                </a:solidFill>
                <a:latin typeface="Times New Roman" panose="02020603050405020304" pitchFamily="18" charset="0"/>
                <a:cs typeface="Times New Roman" panose="02020603050405020304" pitchFamily="18" charset="0"/>
              </a:rPr>
              <a:t>no need for a central authority </a:t>
            </a:r>
            <a:r>
              <a:rPr lang="en-US" sz="2800" dirty="0">
                <a:solidFill>
                  <a:srgbClr val="222222"/>
                </a:solidFill>
                <a:latin typeface="Times New Roman" panose="02020603050405020304" pitchFamily="18" charset="0"/>
                <a:cs typeface="Times New Roman" panose="02020603050405020304" pitchFamily="18" charset="0"/>
              </a:rPr>
              <a:t>to validate transactions here different consensus mechanisms are used to validate transactions which eventually makes this process very fast and real-time. </a:t>
            </a:r>
            <a:endParaRPr lang="en-US" sz="2800" dirty="0" smtClean="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Similarly</a:t>
            </a:r>
            <a:r>
              <a:rPr lang="en-US" sz="2800" dirty="0">
                <a:solidFill>
                  <a:srgbClr val="222222"/>
                </a:solidFill>
                <a:latin typeface="Times New Roman" panose="02020603050405020304" pitchFamily="18" charset="0"/>
                <a:cs typeface="Times New Roman" panose="02020603050405020304" pitchFamily="18" charset="0"/>
              </a:rPr>
              <a:t>, DLT can </a:t>
            </a:r>
            <a:r>
              <a:rPr lang="en-US" sz="2800" b="1" dirty="0">
                <a:solidFill>
                  <a:srgbClr val="222222"/>
                </a:solidFill>
                <a:latin typeface="Times New Roman" panose="02020603050405020304" pitchFamily="18" charset="0"/>
                <a:cs typeface="Times New Roman" panose="02020603050405020304" pitchFamily="18" charset="0"/>
              </a:rPr>
              <a:t>reduce the cost </a:t>
            </a:r>
            <a:r>
              <a:rPr lang="en-US" sz="2800" dirty="0">
                <a:solidFill>
                  <a:srgbClr val="222222"/>
                </a:solidFill>
                <a:latin typeface="Times New Roman" panose="02020603050405020304" pitchFamily="18" charset="0"/>
                <a:cs typeface="Times New Roman" panose="02020603050405020304" pitchFamily="18" charset="0"/>
              </a:rPr>
              <a:t>of transactions because of this process.</a:t>
            </a: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700422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pic>
        <p:nvPicPr>
          <p:cNvPr id="35842" name="Picture 2" descr="Types of D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307" y="1255690"/>
            <a:ext cx="8802225" cy="5054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68817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b="1" dirty="0" smtClean="0">
                <a:solidFill>
                  <a:srgbClr val="222222"/>
                </a:solidFill>
                <a:latin typeface="Times New Roman" panose="02020603050405020304" pitchFamily="18" charset="0"/>
                <a:cs typeface="Times New Roman" panose="02020603050405020304" pitchFamily="18" charset="0"/>
              </a:rPr>
              <a:t>A blockchain </a:t>
            </a:r>
            <a:r>
              <a:rPr lang="en-US" sz="2800" dirty="0" smtClean="0">
                <a:solidFill>
                  <a:srgbClr val="222222"/>
                </a:solidFill>
                <a:latin typeface="Times New Roman" panose="02020603050405020304" pitchFamily="18" charset="0"/>
                <a:cs typeface="Times New Roman" panose="02020603050405020304" pitchFamily="18" charset="0"/>
              </a:rPr>
              <a:t>is a decentralized ledger that records all transactions that are visible on a public network. a blockchain’s architecture allows these transactions to be autonomous and immutable while using cryptography and a decentralized network design for security. </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Times New Roman" panose="02020603050405020304" pitchFamily="18" charset="0"/>
                <a:cs typeface="Times New Roman" panose="02020603050405020304" pitchFamily="18" charset="0"/>
              </a:rPr>
              <a:t>Every transaction is permanently recorded to the blockchain and cannot be altered in any way.</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anose="02020603050405020304" pitchFamily="18" charset="0"/>
                <a:cs typeface="Times New Roman" panose="02020603050405020304" pitchFamily="18" charset="0"/>
              </a:rPr>
              <a:t>Blockchain was invented by </a:t>
            </a:r>
            <a:r>
              <a:rPr lang="en-US" sz="2800" b="1" dirty="0" smtClean="0">
                <a:solidFill>
                  <a:schemeClr val="tx1"/>
                </a:solidFill>
                <a:latin typeface="Times New Roman" panose="02020603050405020304" pitchFamily="18" charset="0"/>
                <a:cs typeface="Times New Roman" panose="02020603050405020304" pitchFamily="18" charset="0"/>
              </a:rPr>
              <a:t>Satoshi </a:t>
            </a:r>
            <a:r>
              <a:rPr lang="en-US" sz="2800" b="1" dirty="0" err="1" smtClean="0">
                <a:solidFill>
                  <a:schemeClr val="tx1"/>
                </a:solidFill>
                <a:latin typeface="Times New Roman" panose="02020603050405020304" pitchFamily="18" charset="0"/>
                <a:cs typeface="Times New Roman" panose="02020603050405020304" pitchFamily="18" charset="0"/>
              </a:rPr>
              <a:t>Nakamoto</a:t>
            </a:r>
            <a:r>
              <a:rPr lang="en-US" sz="2800" dirty="0" smtClean="0">
                <a:solidFill>
                  <a:schemeClr val="tx1"/>
                </a:solidFill>
                <a:latin typeface="Times New Roman" panose="02020603050405020304" pitchFamily="18" charset="0"/>
                <a:cs typeface="Times New Roman" panose="02020603050405020304" pitchFamily="18" charset="0"/>
              </a:rPr>
              <a:t>. </a:t>
            </a:r>
          </a:p>
          <a:p>
            <a:pPr marL="457200" indent="-457200" algn="just">
              <a:buClr>
                <a:schemeClr val="tx1"/>
              </a:buClr>
              <a:buSzPct val="71000"/>
              <a:buFont typeface="Wingdings" panose="05000000000000000000" pitchFamily="2" charset="2"/>
              <a:buChar char="v"/>
            </a:pP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391154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A blockchain uses several technologies like digital signatures, distributed networks, and encryption/ decryption methods including distributed ledger technology to enable blockchain applications</a:t>
            </a:r>
            <a:r>
              <a:rPr lang="en-US" sz="2800" dirty="0" smtClean="0">
                <a:solidFill>
                  <a:srgbClr val="222222"/>
                </a:solidFill>
                <a:latin typeface="Times New Roman" panose="02020603050405020304" pitchFamily="18" charset="0"/>
                <a:cs typeface="Times New Roman" panose="02020603050405020304"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Blockchain is one of the types of DLT in which transactions are recorded with an unchangeable cryptographic signature called a hash. That is why distributed ledgers are often called </a:t>
            </a:r>
            <a:r>
              <a:rPr lang="en-US" sz="2800" dirty="0" err="1">
                <a:solidFill>
                  <a:schemeClr val="tx1"/>
                </a:solidFill>
                <a:latin typeface="Times New Roman" panose="02020603050405020304" pitchFamily="18" charset="0"/>
                <a:cs typeface="Times New Roman" panose="02020603050405020304" pitchFamily="18" charset="0"/>
              </a:rPr>
              <a:t>blockchains</a:t>
            </a:r>
            <a:r>
              <a:rPr lang="en-US" sz="2800"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8343364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Blockchain is a combination of three leading technologies</a:t>
            </a:r>
            <a:r>
              <a:rPr lang="en-US" sz="2800" b="1" dirty="0" smtClean="0">
                <a:solidFill>
                  <a:srgbClr val="222222"/>
                </a:solidFill>
                <a:latin typeface="Times New Roman" panose="02020603050405020304" pitchFamily="18" charset="0"/>
                <a:cs typeface="Times New Roman" panose="02020603050405020304" pitchFamily="18" charset="0"/>
              </a:rPr>
              <a:t>:</a:t>
            </a:r>
            <a:endParaRPr lang="en-US" sz="2800" b="1" dirty="0">
              <a:solidFill>
                <a:srgbClr val="222222"/>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Cryptographic keys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A peer-to-peer network containing a shared ledger</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A means of computing, to store the transactions and records of the network</a:t>
            </a: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995226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Key elements of a </a:t>
            </a:r>
            <a:r>
              <a:rPr lang="en-US" sz="2800" b="1" dirty="0" smtClean="0">
                <a:solidFill>
                  <a:srgbClr val="222222"/>
                </a:solidFill>
                <a:latin typeface="Times New Roman" panose="02020603050405020304" pitchFamily="18" charset="0"/>
                <a:cs typeface="Times New Roman" panose="02020603050405020304" pitchFamily="18" charset="0"/>
              </a:rPr>
              <a:t>blockchain</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1. Distributed </a:t>
            </a:r>
            <a:r>
              <a:rPr lang="en-US" sz="2800" b="1" dirty="0">
                <a:solidFill>
                  <a:srgbClr val="FF0000"/>
                </a:solidFill>
                <a:latin typeface="Times New Roman" panose="02020603050405020304" pitchFamily="18" charset="0"/>
                <a:cs typeface="Times New Roman" panose="02020603050405020304" pitchFamily="18" charset="0"/>
              </a:rPr>
              <a:t>ledger technology</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All network participants have access to the distributed ledger and its immutable record of transactions. With this shared ledger, transactions are recorded only once, eliminating the duplication of effort that’s typical of traditional business networks.</a:t>
            </a:r>
          </a:p>
        </p:txBody>
      </p:sp>
    </p:spTree>
    <p:extLst>
      <p:ext uri="{BB962C8B-B14F-4D97-AF65-F5344CB8AC3E}">
        <p14:creationId xmlns:p14="http://schemas.microsoft.com/office/powerpoint/2010/main" val="280097126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Key elements of a </a:t>
            </a:r>
            <a:r>
              <a:rPr lang="en-US" sz="2800" b="1" dirty="0" smtClean="0">
                <a:solidFill>
                  <a:srgbClr val="222222"/>
                </a:solidFill>
                <a:latin typeface="Times New Roman" panose="02020603050405020304" pitchFamily="18" charset="0"/>
                <a:cs typeface="Times New Roman" panose="02020603050405020304" pitchFamily="18" charset="0"/>
              </a:rPr>
              <a:t>blockchain</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2. Immutable </a:t>
            </a:r>
            <a:r>
              <a:rPr lang="en-US" sz="2800" b="1" dirty="0" smtClean="0">
                <a:solidFill>
                  <a:srgbClr val="FF0000"/>
                </a:solidFill>
                <a:latin typeface="Times New Roman" panose="02020603050405020304" pitchFamily="18" charset="0"/>
                <a:cs typeface="Times New Roman" panose="02020603050405020304" pitchFamily="18" charset="0"/>
              </a:rPr>
              <a:t>records</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No participant can change or tamper with a transaction after it’s been recorded to the shared ledger. If a transaction record includes an error, a new transaction must be added to reverse the error, and both transactions are then visible.</a:t>
            </a:r>
          </a:p>
        </p:txBody>
      </p:sp>
    </p:spTree>
    <p:extLst>
      <p:ext uri="{BB962C8B-B14F-4D97-AF65-F5344CB8AC3E}">
        <p14:creationId xmlns:p14="http://schemas.microsoft.com/office/powerpoint/2010/main" val="251903183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Key elements of a </a:t>
            </a:r>
            <a:r>
              <a:rPr lang="en-US" sz="2800" b="1" dirty="0" smtClean="0">
                <a:solidFill>
                  <a:srgbClr val="222222"/>
                </a:solidFill>
                <a:latin typeface="Times New Roman" panose="02020603050405020304" pitchFamily="18" charset="0"/>
                <a:cs typeface="Times New Roman" panose="02020603050405020304" pitchFamily="18" charset="0"/>
              </a:rPr>
              <a:t>blockchain</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3</a:t>
            </a:r>
            <a:r>
              <a:rPr lang="en-US" sz="2800" b="1" dirty="0">
                <a:solidFill>
                  <a:srgbClr val="FF0000"/>
                </a:solidFill>
                <a:latin typeface="Times New Roman" panose="02020603050405020304" pitchFamily="18" charset="0"/>
                <a:cs typeface="Times New Roman" panose="02020603050405020304" pitchFamily="18" charset="0"/>
              </a:rPr>
              <a:t>. Smart </a:t>
            </a:r>
            <a:r>
              <a:rPr lang="en-US" sz="2800" b="1" dirty="0" smtClean="0">
                <a:solidFill>
                  <a:srgbClr val="FF0000"/>
                </a:solidFill>
                <a:latin typeface="Times New Roman" panose="02020603050405020304" pitchFamily="18" charset="0"/>
                <a:cs typeface="Times New Roman" panose="02020603050405020304" pitchFamily="18" charset="0"/>
              </a:rPr>
              <a:t>contracts</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To speed transactions, a set of rules — called a smart contract — is stored on the blockchain and executed automatically. A smart contract can define conditions for corporate bond transfers, include terms for travel insurance to be paid and much more.</a:t>
            </a:r>
          </a:p>
        </p:txBody>
      </p:sp>
    </p:spTree>
    <p:extLst>
      <p:ext uri="{BB962C8B-B14F-4D97-AF65-F5344CB8AC3E}">
        <p14:creationId xmlns:p14="http://schemas.microsoft.com/office/powerpoint/2010/main" val="288818343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How blockchain </a:t>
            </a:r>
            <a:r>
              <a:rPr lang="en-US" sz="2800" b="1" dirty="0" smtClean="0">
                <a:solidFill>
                  <a:srgbClr val="222222"/>
                </a:solidFill>
                <a:latin typeface="Times New Roman" panose="02020603050405020304" pitchFamily="18" charset="0"/>
                <a:cs typeface="Times New Roman" panose="02020603050405020304" pitchFamily="18" charset="0"/>
              </a:rPr>
              <a:t>works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As each transaction occurs, it is recorded as a “block” of </a:t>
            </a:r>
            <a:r>
              <a:rPr lang="en-US" sz="2800" b="1" dirty="0" smtClean="0">
                <a:solidFill>
                  <a:srgbClr val="FF0000"/>
                </a:solidFill>
                <a:latin typeface="Times New Roman" panose="02020603050405020304" pitchFamily="18" charset="0"/>
                <a:cs typeface="Times New Roman" panose="02020603050405020304" pitchFamily="18" charset="0"/>
              </a:rPr>
              <a:t>data</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Those transactions show the movement of an asset that can be tangible (a product) or intangible (intellectual). The data block can record the information of your choice: who, what, when, where, how much and even the condition — such as the temperature of a food shipment.</a:t>
            </a:r>
          </a:p>
        </p:txBody>
      </p:sp>
    </p:spTree>
    <p:extLst>
      <p:ext uri="{BB962C8B-B14F-4D97-AF65-F5344CB8AC3E}">
        <p14:creationId xmlns:p14="http://schemas.microsoft.com/office/powerpoint/2010/main" val="374805272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How blockchain </a:t>
            </a:r>
            <a:r>
              <a:rPr lang="en-US" sz="2800" b="1" dirty="0" smtClean="0">
                <a:solidFill>
                  <a:srgbClr val="222222"/>
                </a:solidFill>
                <a:latin typeface="Times New Roman" panose="02020603050405020304" pitchFamily="18" charset="0"/>
                <a:cs typeface="Times New Roman" panose="02020603050405020304" pitchFamily="18" charset="0"/>
              </a:rPr>
              <a:t>works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Each block is connected to the ones before and after </a:t>
            </a:r>
            <a:r>
              <a:rPr lang="en-US" sz="2800" b="1" dirty="0" smtClean="0">
                <a:solidFill>
                  <a:srgbClr val="FF0000"/>
                </a:solidFill>
                <a:latin typeface="Times New Roman" panose="02020603050405020304" pitchFamily="18" charset="0"/>
                <a:cs typeface="Times New Roman" panose="02020603050405020304" pitchFamily="18" charset="0"/>
              </a:rPr>
              <a:t>it</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These blocks form a chain of data as an asset moves from place to place or ownership changes hands. The blocks confirm the exact time and sequence of transactions, and the blocks link securely together to prevent any block from being altered or a block being inserted between two existing blocks.</a:t>
            </a:r>
          </a:p>
        </p:txBody>
      </p:sp>
    </p:spTree>
    <p:extLst>
      <p:ext uri="{BB962C8B-B14F-4D97-AF65-F5344CB8AC3E}">
        <p14:creationId xmlns:p14="http://schemas.microsoft.com/office/powerpoint/2010/main" val="78014659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How blockchain </a:t>
            </a:r>
            <a:r>
              <a:rPr lang="en-US" sz="2800" b="1" dirty="0" smtClean="0">
                <a:solidFill>
                  <a:srgbClr val="222222"/>
                </a:solidFill>
                <a:latin typeface="Times New Roman" panose="02020603050405020304" pitchFamily="18" charset="0"/>
                <a:cs typeface="Times New Roman" panose="02020603050405020304" pitchFamily="18" charset="0"/>
              </a:rPr>
              <a:t>works</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Transactions are blocked together in an irreversible chain: a </a:t>
            </a:r>
            <a:r>
              <a:rPr lang="en-US" sz="2800" b="1" dirty="0" smtClean="0">
                <a:solidFill>
                  <a:srgbClr val="FF0000"/>
                </a:solidFill>
                <a:latin typeface="Times New Roman" panose="02020603050405020304" pitchFamily="18" charset="0"/>
                <a:cs typeface="Times New Roman" panose="02020603050405020304" pitchFamily="18" charset="0"/>
              </a:rPr>
              <a:t>blockchain</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Each additional block strengthens the verification of the previous block and hence the entire blockchain. This renders the blockchain tamper-evident, delivering the key strength of immutability. This removes the possibility of tampering by a malicious actor — and builds a ledger of transactions you and other network members can trust.</a:t>
            </a:r>
          </a:p>
        </p:txBody>
      </p:sp>
    </p:spTree>
    <p:extLst>
      <p:ext uri="{BB962C8B-B14F-4D97-AF65-F5344CB8AC3E}">
        <p14:creationId xmlns:p14="http://schemas.microsoft.com/office/powerpoint/2010/main" val="90101969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8"/>
            <a:ext cx="8094254" cy="470172"/>
          </a:xfrm>
        </p:spPr>
        <p:txBody>
          <a:bodyPr>
            <a:normAutofit fontScale="92500" lnSpcReduction="10000"/>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How blockchain </a:t>
            </a:r>
            <a:r>
              <a:rPr lang="en-US" sz="2800" b="1" dirty="0" smtClean="0">
                <a:solidFill>
                  <a:srgbClr val="222222"/>
                </a:solidFill>
                <a:latin typeface="Times New Roman" panose="02020603050405020304" pitchFamily="18" charset="0"/>
                <a:cs typeface="Times New Roman" panose="02020603050405020304" pitchFamily="18" charset="0"/>
              </a:rPr>
              <a:t>works</a:t>
            </a:r>
          </a:p>
        </p:txBody>
      </p:sp>
      <p:pic>
        <p:nvPicPr>
          <p:cNvPr id="36866" name="Picture 2" descr="Making sense of bitcoin and blockchain technology: Pw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845" y="1590540"/>
            <a:ext cx="9337183" cy="5254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74887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Cryptocurrency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Cryptocurrency, sometimes called crypto-currency or crypto, is any form of currency that exists digitally or virtually and uses cryptography to secure transactions. </a:t>
            </a:r>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anose="02020603050405020304" pitchFamily="18" charset="0"/>
                <a:cs typeface="Times New Roman" panose="02020603050405020304" pitchFamily="18" charset="0"/>
              </a:rPr>
              <a:t>Cryptocurrencies </a:t>
            </a:r>
            <a:r>
              <a:rPr lang="en-US" sz="2800" dirty="0">
                <a:solidFill>
                  <a:schemeClr val="tx1"/>
                </a:solidFill>
                <a:latin typeface="Times New Roman" panose="02020603050405020304" pitchFamily="18" charset="0"/>
                <a:cs typeface="Times New Roman" panose="02020603050405020304" pitchFamily="18" charset="0"/>
              </a:rPr>
              <a:t>don't have a central issuing or regulating authority, instead using a decentralized system to record transactions and issue new units.</a:t>
            </a:r>
          </a:p>
        </p:txBody>
      </p:sp>
    </p:spTree>
    <p:extLst>
      <p:ext uri="{BB962C8B-B14F-4D97-AF65-F5344CB8AC3E}">
        <p14:creationId xmlns:p14="http://schemas.microsoft.com/office/powerpoint/2010/main" val="254981194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smtClean="0">
                <a:solidFill>
                  <a:srgbClr val="222222"/>
                </a:solidFill>
                <a:latin typeface="Times New Roman" panose="02020603050405020304" pitchFamily="18" charset="0"/>
                <a:cs typeface="Times New Roman" panose="02020603050405020304" pitchFamily="18" charset="0"/>
              </a:rPr>
              <a:t>Cryptocurrency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Cryptocurrency is a digital payment system that doesn't rely on banks to verify transactions. </a:t>
            </a:r>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anose="02020603050405020304" pitchFamily="18" charset="0"/>
                <a:cs typeface="Times New Roman" panose="02020603050405020304" pitchFamily="18" charset="0"/>
              </a:rPr>
              <a:t>It’s </a:t>
            </a:r>
            <a:r>
              <a:rPr lang="en-US" sz="2800" dirty="0">
                <a:solidFill>
                  <a:schemeClr val="tx1"/>
                </a:solidFill>
                <a:latin typeface="Times New Roman" panose="02020603050405020304" pitchFamily="18" charset="0"/>
                <a:cs typeface="Times New Roman" panose="02020603050405020304" pitchFamily="18" charset="0"/>
              </a:rPr>
              <a:t>a peer-to-peer system that can enable anyone anywhere to send and receive payments. </a:t>
            </a:r>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anose="02020603050405020304" pitchFamily="18" charset="0"/>
                <a:cs typeface="Times New Roman" panose="02020603050405020304" pitchFamily="18" charset="0"/>
              </a:rPr>
              <a:t>When </a:t>
            </a:r>
            <a:r>
              <a:rPr lang="en-US" sz="2800" dirty="0">
                <a:solidFill>
                  <a:schemeClr val="tx1"/>
                </a:solidFill>
                <a:latin typeface="Times New Roman" panose="02020603050405020304" pitchFamily="18" charset="0"/>
                <a:cs typeface="Times New Roman" panose="02020603050405020304" pitchFamily="18" charset="0"/>
              </a:rPr>
              <a:t>you transfer cryptocurrency funds, the transactions are recorded in a public ledger. Cryptocurrency is stored in digital wallets.</a:t>
            </a:r>
          </a:p>
        </p:txBody>
      </p:sp>
    </p:spTree>
    <p:extLst>
      <p:ext uri="{BB962C8B-B14F-4D97-AF65-F5344CB8AC3E}">
        <p14:creationId xmlns:p14="http://schemas.microsoft.com/office/powerpoint/2010/main" val="357886108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fontScale="92500"/>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How does cryptocurrency work</a:t>
            </a:r>
            <a:r>
              <a:rPr lang="en-US" sz="2800" b="1" dirty="0" smtClean="0">
                <a:solidFill>
                  <a:srgbClr val="222222"/>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Units of cryptocurrency are created through a process called mining, which involves using computer power to solve complicated mathematical problems that generate coins. </a:t>
            </a:r>
            <a:endParaRPr lang="en-US" sz="2800" dirty="0" smtClean="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anose="02020603050405020304" pitchFamily="18" charset="0"/>
                <a:cs typeface="Times New Roman" panose="02020603050405020304" pitchFamily="18" charset="0"/>
              </a:rPr>
              <a:t>Users </a:t>
            </a:r>
            <a:r>
              <a:rPr lang="en-US" sz="2800" dirty="0">
                <a:solidFill>
                  <a:schemeClr val="tx1"/>
                </a:solidFill>
                <a:latin typeface="Times New Roman" panose="02020603050405020304" pitchFamily="18" charset="0"/>
                <a:cs typeface="Times New Roman" panose="02020603050405020304" pitchFamily="18" charset="0"/>
              </a:rPr>
              <a:t>can also buy the currencies from brokers, then store and spend them using cryptographic wallets</a:t>
            </a:r>
            <a:r>
              <a:rPr lang="en-US" sz="2800" dirty="0" smtClean="0">
                <a:solidFill>
                  <a:schemeClr val="tx1"/>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If you own cryptocurrency, you don’t own anything tangible. What you own is a key that allows you to move a record or a unit of measure from one person to another without a trusted third party.</a:t>
            </a:r>
          </a:p>
        </p:txBody>
      </p:sp>
    </p:spTree>
    <p:extLst>
      <p:ext uri="{BB962C8B-B14F-4D97-AF65-F5344CB8AC3E}">
        <p14:creationId xmlns:p14="http://schemas.microsoft.com/office/powerpoint/2010/main" val="276948580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fontScale="92500"/>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Cryptocurrency </a:t>
            </a:r>
            <a:r>
              <a:rPr lang="en-US" sz="2800" b="1" dirty="0" smtClean="0">
                <a:solidFill>
                  <a:srgbClr val="222222"/>
                </a:solidFill>
                <a:latin typeface="Times New Roman" panose="02020603050405020304" pitchFamily="18" charset="0"/>
                <a:cs typeface="Times New Roman" panose="02020603050405020304" pitchFamily="18" charset="0"/>
              </a:rPr>
              <a:t>examples</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1. Bitcoin:</a:t>
            </a:r>
            <a:endParaRPr lang="en-US" sz="2800" b="1" dirty="0">
              <a:solidFill>
                <a:srgbClr val="FF0000"/>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Founded in 2009, Bitcoin was the first cryptocurrency and is still the most commonly traded. The currency was developed by Satoshi </a:t>
            </a:r>
            <a:r>
              <a:rPr lang="en-US" sz="2800" dirty="0" err="1">
                <a:solidFill>
                  <a:schemeClr val="tx1"/>
                </a:solidFill>
                <a:latin typeface="Times New Roman" panose="02020603050405020304" pitchFamily="18" charset="0"/>
                <a:cs typeface="Times New Roman" panose="02020603050405020304" pitchFamily="18" charset="0"/>
              </a:rPr>
              <a:t>Nakamoto</a:t>
            </a:r>
            <a:r>
              <a:rPr lang="en-US" sz="2800" dirty="0">
                <a:solidFill>
                  <a:schemeClr val="tx1"/>
                </a:solidFill>
                <a:latin typeface="Times New Roman" panose="02020603050405020304" pitchFamily="18" charset="0"/>
                <a:cs typeface="Times New Roman" panose="02020603050405020304" pitchFamily="18" charset="0"/>
              </a:rPr>
              <a:t> – widely believed to be a pseudonym for an individual or group of people whose precise identity remains unknown</a:t>
            </a:r>
            <a:r>
              <a:rPr lang="en-US" sz="2800" dirty="0" smtClean="0">
                <a:solidFill>
                  <a:schemeClr val="tx1"/>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2. </a:t>
            </a:r>
            <a:r>
              <a:rPr lang="en-US" sz="2800" b="1" dirty="0" err="1" smtClean="0">
                <a:solidFill>
                  <a:srgbClr val="FF0000"/>
                </a:solidFill>
                <a:latin typeface="Times New Roman" panose="02020603050405020304" pitchFamily="18" charset="0"/>
                <a:cs typeface="Times New Roman" panose="02020603050405020304" pitchFamily="18" charset="0"/>
              </a:rPr>
              <a:t>Ethereum</a:t>
            </a:r>
            <a:r>
              <a:rPr lang="en-US" sz="2800" b="1" dirty="0" smtClean="0">
                <a:solidFill>
                  <a:srgbClr val="FF0000"/>
                </a:solidFill>
                <a:latin typeface="Times New Roman" panose="02020603050405020304" pitchFamily="18" charset="0"/>
                <a:cs typeface="Times New Roman" panose="02020603050405020304" pitchFamily="18" charset="0"/>
              </a:rPr>
              <a:t>:</a:t>
            </a:r>
            <a:endParaRPr lang="en-US" sz="2800" b="1" dirty="0">
              <a:solidFill>
                <a:srgbClr val="FF0000"/>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Developed in 2015, </a:t>
            </a:r>
            <a:r>
              <a:rPr lang="en-US" sz="2800" dirty="0" err="1">
                <a:solidFill>
                  <a:schemeClr val="tx1"/>
                </a:solidFill>
                <a:latin typeface="Times New Roman" panose="02020603050405020304" pitchFamily="18" charset="0"/>
                <a:cs typeface="Times New Roman" panose="02020603050405020304" pitchFamily="18" charset="0"/>
              </a:rPr>
              <a:t>Ethereum</a:t>
            </a:r>
            <a:r>
              <a:rPr lang="en-US" sz="2800" dirty="0">
                <a:solidFill>
                  <a:schemeClr val="tx1"/>
                </a:solidFill>
                <a:latin typeface="Times New Roman" panose="02020603050405020304" pitchFamily="18" charset="0"/>
                <a:cs typeface="Times New Roman" panose="02020603050405020304" pitchFamily="18" charset="0"/>
              </a:rPr>
              <a:t> is a blockchain platform with its own cryptocurrency, called Ether (ETH) or </a:t>
            </a:r>
            <a:r>
              <a:rPr lang="en-US" sz="2800" dirty="0" err="1">
                <a:solidFill>
                  <a:schemeClr val="tx1"/>
                </a:solidFill>
                <a:latin typeface="Times New Roman" panose="02020603050405020304" pitchFamily="18" charset="0"/>
                <a:cs typeface="Times New Roman" panose="02020603050405020304" pitchFamily="18" charset="0"/>
              </a:rPr>
              <a:t>Ethereum</a:t>
            </a:r>
            <a:r>
              <a:rPr lang="en-US" sz="2800" dirty="0">
                <a:solidFill>
                  <a:schemeClr val="tx1"/>
                </a:solidFill>
                <a:latin typeface="Times New Roman" panose="02020603050405020304" pitchFamily="18" charset="0"/>
                <a:cs typeface="Times New Roman" panose="02020603050405020304" pitchFamily="18" charset="0"/>
              </a:rPr>
              <a:t>. It is the most popular cryptocurrency after Bitcoin.</a:t>
            </a:r>
          </a:p>
        </p:txBody>
      </p:sp>
    </p:spTree>
    <p:extLst>
      <p:ext uri="{BB962C8B-B14F-4D97-AF65-F5344CB8AC3E}">
        <p14:creationId xmlns:p14="http://schemas.microsoft.com/office/powerpoint/2010/main" val="232811327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fontScale="92500"/>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Cryptocurrency </a:t>
            </a:r>
            <a:r>
              <a:rPr lang="en-US" sz="2800" b="1" dirty="0" smtClean="0">
                <a:solidFill>
                  <a:srgbClr val="222222"/>
                </a:solidFill>
                <a:latin typeface="Times New Roman" panose="02020603050405020304" pitchFamily="18" charset="0"/>
                <a:cs typeface="Times New Roman" panose="02020603050405020304" pitchFamily="18" charset="0"/>
              </a:rPr>
              <a:t>examples</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3. </a:t>
            </a:r>
            <a:r>
              <a:rPr lang="en-US" sz="2800" b="1" dirty="0" err="1" smtClean="0">
                <a:solidFill>
                  <a:srgbClr val="FF0000"/>
                </a:solidFill>
                <a:latin typeface="Times New Roman" panose="02020603050405020304" pitchFamily="18" charset="0"/>
                <a:cs typeface="Times New Roman" panose="02020603050405020304" pitchFamily="18" charset="0"/>
              </a:rPr>
              <a:t>Litecoin</a:t>
            </a:r>
            <a:r>
              <a:rPr lang="en-US" sz="2800" b="1" dirty="0" smtClean="0">
                <a:solidFill>
                  <a:srgbClr val="FF0000"/>
                </a:solidFill>
                <a:latin typeface="Times New Roman" panose="02020603050405020304" pitchFamily="18" charset="0"/>
                <a:cs typeface="Times New Roman" panose="02020603050405020304" pitchFamily="18" charset="0"/>
              </a:rPr>
              <a:t>:</a:t>
            </a:r>
            <a:endParaRPr lang="en-US" sz="2800" b="1" dirty="0">
              <a:solidFill>
                <a:srgbClr val="FF0000"/>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This currency is most similar to bitcoin but has moved more quickly to develop new innovations, including faster payments and processes to allow more transactions</a:t>
            </a:r>
            <a:r>
              <a:rPr lang="en-US" sz="2800" dirty="0" smtClean="0">
                <a:solidFill>
                  <a:schemeClr val="tx1"/>
                </a:solidFill>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4. Ripple:</a:t>
            </a:r>
            <a:endParaRPr lang="en-US" sz="2800" b="1" dirty="0">
              <a:solidFill>
                <a:srgbClr val="FF0000"/>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Ripple is a distributed ledger system that was founded in 2012. Ripple can be used to track different kinds of transactions, not just cryptocurrency. The company behind it has worked with various banks and financial institutions.</a:t>
            </a:r>
          </a:p>
        </p:txBody>
      </p:sp>
    </p:spTree>
    <p:extLst>
      <p:ext uri="{BB962C8B-B14F-4D97-AF65-F5344CB8AC3E}">
        <p14:creationId xmlns:p14="http://schemas.microsoft.com/office/powerpoint/2010/main" val="318330672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Properties / Features of Blockchain</a:t>
            </a:r>
          </a:p>
          <a:p>
            <a:pPr algn="just">
              <a:buClr>
                <a:schemeClr val="tx1"/>
              </a:buClr>
              <a:buSzPct val="71000"/>
            </a:pPr>
            <a:r>
              <a:rPr lang="en-US" sz="2800" b="1" dirty="0" smtClean="0">
                <a:solidFill>
                  <a:srgbClr val="FF0000"/>
                </a:solidFill>
                <a:latin typeface="Times New Roman" panose="02020603050405020304" pitchFamily="18" charset="0"/>
                <a:cs typeface="Times New Roman" panose="02020603050405020304" pitchFamily="18" charset="0"/>
              </a:rPr>
              <a:t>1. Immutable</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Immutability means that the blockchain is a permanent and unalterable network. Once a transaction is recorded on the blockchain, it cannot be modified or deleted.</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2. </a:t>
            </a:r>
            <a:r>
              <a:rPr lang="en-US" sz="2800" b="1" dirty="0" smtClean="0">
                <a:solidFill>
                  <a:srgbClr val="FF0000"/>
                </a:solidFill>
                <a:latin typeface="Times New Roman" panose="02020603050405020304" pitchFamily="18" charset="0"/>
                <a:cs typeface="Times New Roman" panose="02020603050405020304" pitchFamily="18" charset="0"/>
              </a:rPr>
              <a:t>Distributed</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All network participants have a copy of the ledger for complete transparency. A public ledger will provide complete information about all the participants on the network and transactions.</a:t>
            </a:r>
          </a:p>
        </p:txBody>
      </p:sp>
    </p:spTree>
    <p:extLst>
      <p:ext uri="{BB962C8B-B14F-4D97-AF65-F5344CB8AC3E}">
        <p14:creationId xmlns:p14="http://schemas.microsoft.com/office/powerpoint/2010/main" val="68314880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fontScale="92500"/>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Properties / Features of Blockchain</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3. </a:t>
            </a:r>
            <a:r>
              <a:rPr lang="en-US" sz="2800" b="1" dirty="0" smtClean="0">
                <a:solidFill>
                  <a:srgbClr val="FF0000"/>
                </a:solidFill>
                <a:latin typeface="Times New Roman" panose="02020603050405020304" pitchFamily="18" charset="0"/>
                <a:cs typeface="Times New Roman" panose="02020603050405020304" pitchFamily="18" charset="0"/>
              </a:rPr>
              <a:t>Decentralized</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Blockchain technology is a decentralized system, which means that there is no central authority controlling the network. </a:t>
            </a:r>
            <a:r>
              <a:rPr lang="en-US" sz="2800" dirty="0" smtClean="0">
                <a:solidFill>
                  <a:schemeClr val="tx1"/>
                </a:solidFill>
                <a:latin typeface="Times New Roman" panose="02020603050405020304" pitchFamily="18" charset="0"/>
                <a:cs typeface="Times New Roman" panose="02020603050405020304" pitchFamily="18" charset="0"/>
              </a:rPr>
              <a:t>Each </a:t>
            </a:r>
            <a:r>
              <a:rPr lang="en-US" sz="2800" dirty="0">
                <a:solidFill>
                  <a:schemeClr val="tx1"/>
                </a:solidFill>
                <a:latin typeface="Times New Roman" panose="02020603050405020304" pitchFamily="18" charset="0"/>
                <a:cs typeface="Times New Roman" panose="02020603050405020304" pitchFamily="18" charset="0"/>
              </a:rPr>
              <a:t>and every node in the blockchain network will have the same copy of the ledger</a:t>
            </a:r>
            <a:r>
              <a:rPr lang="en-US" sz="2800" dirty="0" smtClean="0">
                <a:solidFill>
                  <a:schemeClr val="tx1"/>
                </a:solidFill>
                <a:latin typeface="Times New Roman" panose="02020603050405020304" pitchFamily="18" charset="0"/>
                <a:cs typeface="Times New Roman" panose="02020603050405020304" pitchFamily="18" charset="0"/>
              </a:rPr>
              <a:t>.</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4. </a:t>
            </a:r>
            <a:r>
              <a:rPr lang="en-US" sz="2800" b="1" dirty="0" smtClean="0">
                <a:solidFill>
                  <a:srgbClr val="FF0000"/>
                </a:solidFill>
                <a:latin typeface="Times New Roman" panose="02020603050405020304" pitchFamily="18" charset="0"/>
                <a:cs typeface="Times New Roman" panose="02020603050405020304" pitchFamily="18" charset="0"/>
              </a:rPr>
              <a:t>Secure</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All the records in the blockchain are individually encrypted. Every information on the blockchain is hashed cryptographically which means that every piece of data has a unique identity on the network.</a:t>
            </a:r>
            <a:endParaRPr lang="en-US" sz="2800" dirty="0" smtClean="0">
              <a:solidFill>
                <a:schemeClr val="tx1"/>
              </a:solidFill>
              <a:latin typeface="Times New Roman" panose="02020603050405020304" pitchFamily="18" charset="0"/>
              <a:cs typeface="Times New Roman" panose="02020603050405020304" pitchFamily="18" charset="0"/>
            </a:endParaRPr>
          </a:p>
          <a:p>
            <a:pPr algn="just">
              <a:buClr>
                <a:schemeClr val="tx1"/>
              </a:buClr>
              <a:buSzPct val="71000"/>
            </a:pP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785201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fontScale="92500" lnSpcReduction="20000"/>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Properties / Features of Blockchain</a:t>
            </a: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5. </a:t>
            </a:r>
            <a:r>
              <a:rPr lang="en-US" sz="2800" b="1" dirty="0" smtClean="0">
                <a:solidFill>
                  <a:srgbClr val="FF0000"/>
                </a:solidFill>
                <a:latin typeface="Times New Roman" panose="02020603050405020304" pitchFamily="18" charset="0"/>
                <a:cs typeface="Times New Roman" panose="02020603050405020304" pitchFamily="18" charset="0"/>
              </a:rPr>
              <a:t>Consensus</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Every blockchain has a consensus to help the network to make quick and unbiased decisions. Consensus is a decision-making algorithm for the group of nodes active on the network to reach an agreement quickly and faster and for the smooth functioning of the system. </a:t>
            </a:r>
            <a:endParaRPr lang="en-US" sz="2800" dirty="0" smtClean="0">
              <a:solidFill>
                <a:schemeClr val="tx1"/>
              </a:solidFill>
              <a:latin typeface="Times New Roman" panose="02020603050405020304" pitchFamily="18" charset="0"/>
              <a:cs typeface="Times New Roman" panose="02020603050405020304" pitchFamily="18" charset="0"/>
            </a:endParaRPr>
          </a:p>
          <a:p>
            <a:pPr algn="just">
              <a:buClr>
                <a:schemeClr val="tx1"/>
              </a:buClr>
              <a:buSzPct val="71000"/>
            </a:pPr>
            <a:r>
              <a:rPr lang="en-US" sz="2800" b="1" dirty="0">
                <a:solidFill>
                  <a:srgbClr val="FF0000"/>
                </a:solidFill>
                <a:latin typeface="Times New Roman" panose="02020603050405020304" pitchFamily="18" charset="0"/>
                <a:cs typeface="Times New Roman" panose="02020603050405020304" pitchFamily="18" charset="0"/>
              </a:rPr>
              <a:t>6. </a:t>
            </a:r>
            <a:r>
              <a:rPr lang="en-US" sz="2800" b="1" dirty="0" smtClean="0">
                <a:solidFill>
                  <a:srgbClr val="FF0000"/>
                </a:solidFill>
                <a:latin typeface="Times New Roman" panose="02020603050405020304" pitchFamily="18" charset="0"/>
                <a:cs typeface="Times New Roman" panose="02020603050405020304" pitchFamily="18" charset="0"/>
              </a:rPr>
              <a:t>Unanimous</a:t>
            </a:r>
          </a:p>
          <a:p>
            <a:pPr algn="just">
              <a:buClr>
                <a:schemeClr val="tx1"/>
              </a:buClr>
              <a:buSzPct val="71000"/>
            </a:pPr>
            <a:r>
              <a:rPr lang="en-US" sz="2800" dirty="0">
                <a:solidFill>
                  <a:schemeClr val="tx1"/>
                </a:solidFill>
                <a:latin typeface="Times New Roman" panose="02020603050405020304" pitchFamily="18" charset="0"/>
                <a:cs typeface="Times New Roman" panose="02020603050405020304" pitchFamily="18" charset="0"/>
              </a:rPr>
              <a:t>All the network participants agree to the validity of the records before they can be added to the network. When a node wants to add a block to the network then it must get majority voting otherwise the block cannot be added to the network.</a:t>
            </a:r>
          </a:p>
        </p:txBody>
      </p:sp>
    </p:spTree>
    <p:extLst>
      <p:ext uri="{BB962C8B-B14F-4D97-AF65-F5344CB8AC3E}">
        <p14:creationId xmlns:p14="http://schemas.microsoft.com/office/powerpoint/2010/main" val="290957592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latin typeface="Times New Roman" panose="02020603050405020304" pitchFamily="18" charset="0"/>
                <a:cs typeface="Times New Roman" panose="02020603050405020304" pitchFamily="18" charset="0"/>
              </a:rPr>
              <a:t>10.4 Distributed </a:t>
            </a:r>
            <a:r>
              <a:rPr lang="en-US" sz="2800" dirty="0">
                <a:solidFill>
                  <a:schemeClr val="bg1"/>
                </a:solidFill>
                <a:latin typeface="Times New Roman" panose="02020603050405020304" pitchFamily="18" charset="0"/>
                <a:cs typeface="Times New Roman" panose="02020603050405020304" pitchFamily="18" charset="0"/>
              </a:rPr>
              <a:t>Ledged Technology: </a:t>
            </a:r>
            <a:r>
              <a:rPr lang="en-US" sz="2800" dirty="0" smtClean="0">
                <a:solidFill>
                  <a:schemeClr val="bg1"/>
                </a:solidFill>
                <a:latin typeface="Times New Roman" panose="02020603050405020304" pitchFamily="18" charset="0"/>
                <a:cs typeface="Times New Roman" panose="02020603050405020304" pitchFamily="18" charset="0"/>
              </a:rPr>
              <a:t>Blockchain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42931" y="1139687"/>
            <a:ext cx="8094254" cy="4990657"/>
          </a:xfrm>
        </p:spPr>
        <p:txBody>
          <a:bodyPr>
            <a:normAutofit/>
          </a:bodyPr>
          <a:lstStyle/>
          <a:p>
            <a:pPr algn="just">
              <a:buClr>
                <a:schemeClr val="tx1"/>
              </a:buClr>
              <a:buSzPct val="71000"/>
            </a:pPr>
            <a:r>
              <a:rPr lang="en-US" sz="2800" b="1" dirty="0">
                <a:solidFill>
                  <a:srgbClr val="222222"/>
                </a:solidFill>
                <a:latin typeface="Times New Roman" panose="02020603050405020304" pitchFamily="18" charset="0"/>
                <a:cs typeface="Times New Roman" panose="02020603050405020304" pitchFamily="18" charset="0"/>
              </a:rPr>
              <a:t>Properties / Features of </a:t>
            </a:r>
            <a:r>
              <a:rPr lang="en-US" sz="2800" b="1" dirty="0" smtClean="0">
                <a:solidFill>
                  <a:srgbClr val="222222"/>
                </a:solidFill>
                <a:latin typeface="Times New Roman" panose="02020603050405020304" pitchFamily="18" charset="0"/>
                <a:cs typeface="Times New Roman" panose="02020603050405020304" pitchFamily="18" charset="0"/>
              </a:rPr>
              <a:t>Blockchain</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Times New Roman" panose="02020603050405020304" pitchFamily="18" charset="0"/>
                <a:cs typeface="Times New Roman" panose="02020603050405020304" pitchFamily="18" charset="0"/>
              </a:rPr>
              <a:t>Smart </a:t>
            </a:r>
            <a:r>
              <a:rPr lang="en-US" sz="2800" b="1" dirty="0" smtClean="0">
                <a:solidFill>
                  <a:srgbClr val="222222"/>
                </a:solidFill>
                <a:latin typeface="Times New Roman" panose="02020603050405020304" pitchFamily="18" charset="0"/>
                <a:cs typeface="Times New Roman" panose="02020603050405020304" pitchFamily="18" charset="0"/>
              </a:rPr>
              <a:t>Contracts</a:t>
            </a:r>
          </a:p>
          <a:p>
            <a:pPr marL="457200" indent="-457200" algn="just">
              <a:buClr>
                <a:schemeClr val="tx1"/>
              </a:buClr>
              <a:buSzPct val="71000"/>
              <a:buFont typeface="Wingdings" panose="05000000000000000000" pitchFamily="2" charset="2"/>
              <a:buChar char="v"/>
            </a:pPr>
            <a:r>
              <a:rPr lang="en-US" sz="2800" b="1" dirty="0" smtClean="0">
                <a:solidFill>
                  <a:srgbClr val="222222"/>
                </a:solidFill>
                <a:latin typeface="Times New Roman" panose="02020603050405020304" pitchFamily="18" charset="0"/>
                <a:cs typeface="Times New Roman" panose="02020603050405020304" pitchFamily="18" charset="0"/>
              </a:rPr>
              <a:t>Transparency</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Times New Roman" panose="02020603050405020304" pitchFamily="18" charset="0"/>
                <a:cs typeface="Times New Roman" panose="02020603050405020304" pitchFamily="18" charset="0"/>
              </a:rPr>
              <a:t>Faster Settlement</a:t>
            </a:r>
          </a:p>
        </p:txBody>
      </p:sp>
    </p:spTree>
    <p:extLst>
      <p:ext uri="{BB962C8B-B14F-4D97-AF65-F5344CB8AC3E}">
        <p14:creationId xmlns:p14="http://schemas.microsoft.com/office/powerpoint/2010/main" val="295044228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258956" y="2644170"/>
            <a:ext cx="8507895" cy="1569660"/>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This is the end of the lecture!</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I hope you enjoyed it.</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Thank You</a:t>
            </a:r>
            <a:endParaRPr lang="en-US" sz="3200" b="0" cap="none" spc="0" dirty="0">
              <a:ln w="0"/>
              <a:solidFill>
                <a:schemeClr val="tx1"/>
              </a:solidFill>
              <a:effectLst>
                <a:outerShdw blurRad="38100" dist="19050" dir="2700000" algn="tl" rotWithShape="0">
                  <a:schemeClr val="dk1">
                    <a:alpha val="40000"/>
                  </a:schemeClr>
                </a:outerShdw>
              </a:effectLst>
              <a:latin typeface="Eras Medium ITC" panose="020B0602030504020804" pitchFamily="34" charset="0"/>
            </a:endParaRPr>
          </a:p>
        </p:txBody>
      </p:sp>
    </p:spTree>
    <p:extLst>
      <p:ext uri="{BB962C8B-B14F-4D97-AF65-F5344CB8AC3E}">
        <p14:creationId xmlns:p14="http://schemas.microsoft.com/office/powerpoint/2010/main" val="393073177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5BD02F5E4BC024DA86DFA7D8823C79F" ma:contentTypeVersion="2" ma:contentTypeDescription="Create a new document." ma:contentTypeScope="" ma:versionID="6e895eb2d3355a5bd38350496b6864ca">
  <xsd:schema xmlns:xsd="http://www.w3.org/2001/XMLSchema" xmlns:xs="http://www.w3.org/2001/XMLSchema" xmlns:p="http://schemas.microsoft.com/office/2006/metadata/properties" xmlns:ns2="4f2457a7-20ce-4dfa-a6dc-1acba1606d34" targetNamespace="http://schemas.microsoft.com/office/2006/metadata/properties" ma:root="true" ma:fieldsID="eec91d1fba82f9c905ffb3aa848bfe8c" ns2:_="">
    <xsd:import namespace="4f2457a7-20ce-4dfa-a6dc-1acba1606d34"/>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2457a7-20ce-4dfa-a6dc-1acba1606d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6A5CB58-7963-4873-BCC7-C9199920F948}">
  <ds:schemaRefs>
    <ds:schemaRef ds:uri="http://schemas.microsoft.com/sharepoint/v3/contenttype/forms"/>
  </ds:schemaRefs>
</ds:datastoreItem>
</file>

<file path=customXml/itemProps2.xml><?xml version="1.0" encoding="utf-8"?>
<ds:datastoreItem xmlns:ds="http://schemas.openxmlformats.org/officeDocument/2006/customXml" ds:itemID="{52AA085C-F54A-4454-A583-FAA093E58743}">
  <ds:schemaRefs>
    <ds:schemaRef ds:uri="4f2457a7-20ce-4dfa-a6dc-1acba1606d34"/>
    <ds:schemaRef ds:uri="http://schemas.openxmlformats.org/package/2006/metadata/core-properties"/>
    <ds:schemaRef ds:uri="http://schemas.microsoft.com/office/2006/documentManagement/types"/>
    <ds:schemaRef ds:uri="http://www.w3.org/XML/1998/namespace"/>
    <ds:schemaRef ds:uri="http://purl.org/dc/terms/"/>
    <ds:schemaRef ds:uri="http://purl.org/dc/elements/1.1/"/>
    <ds:schemaRef ds:uri="http://purl.org/dc/dcmitype/"/>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EB854575-B785-45FD-8F15-75A3162CF2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2457a7-20ce-4dfa-a6dc-1acba1606d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3590</TotalTime>
  <Words>4608</Words>
  <Application>Microsoft Office PowerPoint</Application>
  <PresentationFormat>Custom</PresentationFormat>
  <Paragraphs>529</Paragraphs>
  <Slides>84</Slides>
  <Notes>84</Notes>
  <HiddenSlides>0</HiddenSlides>
  <MMClips>0</MMClips>
  <ScaleCrop>false</ScaleCrop>
  <HeadingPairs>
    <vt:vector size="4" baseType="variant">
      <vt:variant>
        <vt:lpstr>Theme</vt:lpstr>
      </vt:variant>
      <vt:variant>
        <vt:i4>1</vt:i4>
      </vt:variant>
      <vt:variant>
        <vt:lpstr>Slide Titles</vt:lpstr>
      </vt:variant>
      <vt:variant>
        <vt:i4>84</vt:i4>
      </vt:variant>
    </vt:vector>
  </HeadingPairs>
  <TitlesOfParts>
    <vt:vector size="85" baseType="lpstr">
      <vt:lpstr>Facet</vt:lpstr>
      <vt:lpstr>Chapter 10 Emerging Trend in Databases </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10.1 NoSQL Databases</vt:lpstr>
      <vt:lpstr>Assignment</vt:lpstr>
      <vt:lpstr>10.2 Object Oriented Database and ORM</vt:lpstr>
      <vt:lpstr>10.2 Object Oriented Database and ORM</vt:lpstr>
      <vt:lpstr>10.2 Object Oriented Database and ORM</vt:lpstr>
      <vt:lpstr>10.2 Object Oriented Database and ORM</vt:lpstr>
      <vt:lpstr>10.2 Object Oriented Database and ORM</vt:lpstr>
      <vt:lpstr>10.2 Object Oriented Database and ORM</vt:lpstr>
      <vt:lpstr>10.2 Object Oriented Database and ORM</vt:lpstr>
      <vt:lpstr>10.2 Object Oriented Database and ORM</vt:lpstr>
      <vt:lpstr>10.2 Object Oriented Database and ORM</vt:lpstr>
      <vt:lpstr>10.2 Object Oriented Database and ORM</vt:lpstr>
      <vt:lpstr>10.2 Object Oriented Database and ORM</vt:lpstr>
      <vt:lpstr>10.2 Object Oriented Database and ORM</vt:lpstr>
      <vt:lpstr>Assignment</vt:lpstr>
      <vt:lpstr>11.3 Distributed Database</vt:lpstr>
      <vt:lpstr>11.3.1 Heterogeneous Database</vt:lpstr>
      <vt:lpstr>11.3.2 Homogeneous Database</vt:lpstr>
      <vt:lpstr>11.3.3 Data replication</vt:lpstr>
      <vt:lpstr>11.3.4 Data fragmentation</vt:lpstr>
      <vt:lpstr>Data Warehouse</vt:lpstr>
      <vt:lpstr>Data Warehouse</vt:lpstr>
      <vt:lpstr>Online Analytical Processing (OLAP)</vt:lpstr>
      <vt:lpstr>Online Analytical Processing (OLAP)</vt:lpstr>
      <vt:lpstr>Online Analytical Processing (OLAP)</vt:lpstr>
      <vt:lpstr>Online Transaction Processing (OLTP)</vt:lpstr>
      <vt:lpstr>Online Transaction Processing (OLTP)</vt:lpstr>
      <vt:lpstr>Assignment</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10.4 Distributed Ledged Technology: Blockchain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Er. Ravi</cp:lastModifiedBy>
  <cp:revision>739</cp:revision>
  <dcterms:created xsi:type="dcterms:W3CDTF">2017-09-13T07:21:00Z</dcterms:created>
  <dcterms:modified xsi:type="dcterms:W3CDTF">2024-02-01T15:18:14Z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0x01010065BD02F5E4BC024DA86DFA7D8823C79F</vt:lpwstr>
  </property>
</Properties>
</file>